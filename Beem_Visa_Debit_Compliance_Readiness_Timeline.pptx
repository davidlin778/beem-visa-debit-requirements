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14-Week Program Timeline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31 – December 4, 2026  ·  Beem Visa Debit Compliance Readiness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48840" y="1170432"/>
            <a:ext cx="2738759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148840" y="1170432"/>
            <a:ext cx="2738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87599" y="1170432"/>
            <a:ext cx="2738759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87599" y="1170432"/>
            <a:ext cx="2738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626357" y="1170432"/>
            <a:ext cx="2738759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26357" y="1170432"/>
            <a:ext cx="2738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365116" y="1170432"/>
            <a:ext cx="1369379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365116" y="1170432"/>
            <a:ext cx="1369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1426464"/>
            <a:ext cx="684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48840" y="1627632"/>
            <a:ext cx="0" cy="4160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33530" y="1426464"/>
            <a:ext cx="684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833530" y="1627632"/>
            <a:ext cx="0" cy="4160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18219" y="1426464"/>
            <a:ext cx="684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518219" y="1627632"/>
            <a:ext cx="0" cy="4160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02909" y="1426464"/>
            <a:ext cx="684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02909" y="1627632"/>
            <a:ext cx="0" cy="4160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87599" y="1426464"/>
            <a:ext cx="684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87599" y="1627632"/>
            <a:ext cx="0" cy="4160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72288" y="1426464"/>
            <a:ext cx="684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572288" y="1627632"/>
            <a:ext cx="0" cy="4160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56978" y="1426464"/>
            <a:ext cx="684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256978" y="1627632"/>
            <a:ext cx="0" cy="4160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1668" y="1426464"/>
            <a:ext cx="684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941668" y="1627632"/>
            <a:ext cx="0" cy="4160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26357" y="1426464"/>
            <a:ext cx="684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626357" y="1627632"/>
            <a:ext cx="0" cy="4160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11047" y="1426464"/>
            <a:ext cx="684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311047" y="1627632"/>
            <a:ext cx="0" cy="4160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95737" y="1426464"/>
            <a:ext cx="684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995737" y="1627632"/>
            <a:ext cx="0" cy="4160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80426" y="1426464"/>
            <a:ext cx="684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680426" y="1627632"/>
            <a:ext cx="0" cy="4160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65116" y="1426464"/>
            <a:ext cx="684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0365116" y="1627632"/>
            <a:ext cx="0" cy="4160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1049806" y="1426464"/>
            <a:ext cx="684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1049806" y="1627632"/>
            <a:ext cx="0" cy="4160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734495" y="1627632"/>
            <a:ext cx="0" cy="4160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48840" y="1691640"/>
            <a:ext cx="4053274" cy="420624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368296" y="1691640"/>
            <a:ext cx="361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&amp; SOPs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41668" y="1691640"/>
            <a:ext cx="2683895" cy="420624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161124" y="1691640"/>
            <a:ext cx="224498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Detection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833530" y="2176272"/>
            <a:ext cx="4053274" cy="420624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3052986" y="2176272"/>
            <a:ext cx="361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DataVisor Requirements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56978" y="2176272"/>
            <a:ext cx="4053274" cy="420624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476434" y="2176272"/>
            <a:ext cx="361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Everlink → DataVisor Roadmap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202909" y="2660904"/>
            <a:ext cx="3368584" cy="420624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422365" y="2660904"/>
            <a:ext cx="2929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Reporting Framework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" y="1691640"/>
            <a:ext cx="1581912" cy="1389888"/>
          </a:xfrm>
          <a:prstGeom prst="roundRect">
            <a:avLst>
              <a:gd name="adj" fmla="val 3947"/>
            </a:avLst>
          </a:prstGeom>
          <a:solidFill>
            <a:srgbClr val="1E2761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548640" y="1691640"/>
            <a:ext cx="139903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148840" y="3236976"/>
            <a:ext cx="4053274" cy="420624"/>
          </a:xfrm>
          <a:prstGeom prst="chevron">
            <a:avLst/>
          </a:prstGeom>
          <a:solidFill>
            <a:srgbClr val="2E45A8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2368296" y="3236976"/>
            <a:ext cx="361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Framework Review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518219" y="3721608"/>
            <a:ext cx="6107343" cy="420624"/>
          </a:xfrm>
          <a:prstGeom prst="chevron">
            <a:avLst/>
          </a:prstGeom>
          <a:solidFill>
            <a:srgbClr val="2E45A8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3737675" y="3721608"/>
            <a:ext cx="56684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Monitoring Build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87599" y="4206240"/>
            <a:ext cx="3368584" cy="420624"/>
          </a:xfrm>
          <a:prstGeom prst="chevron">
            <a:avLst/>
          </a:prstGeom>
          <a:solidFill>
            <a:srgbClr val="2E45A8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5107055" y="4206240"/>
            <a:ext cx="2929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Reporting Framework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3236976"/>
            <a:ext cx="1581912" cy="1389888"/>
          </a:xfrm>
          <a:prstGeom prst="roundRect">
            <a:avLst>
              <a:gd name="adj" fmla="val 3947"/>
            </a:avLst>
          </a:prstGeom>
          <a:solidFill>
            <a:srgbClr val="2E45A8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548640" y="3236976"/>
            <a:ext cx="139903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2148840" y="4782312"/>
            <a:ext cx="2683895" cy="420624"/>
          </a:xfrm>
          <a:prstGeom prst="chevron">
            <a:avLst/>
          </a:prstGeom>
          <a:solidFill>
            <a:srgbClr val="4C67C4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2368296" y="4782312"/>
            <a:ext cx="224498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Target-State Design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202909" y="4782312"/>
            <a:ext cx="1999205" cy="420624"/>
          </a:xfrm>
          <a:prstGeom prst="chevron">
            <a:avLst/>
          </a:prstGeom>
          <a:solidFill>
            <a:srgbClr val="4C67C4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4422365" y="4782312"/>
            <a:ext cx="15602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Compare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572288" y="4782312"/>
            <a:ext cx="2683895" cy="420624"/>
          </a:xfrm>
          <a:prstGeom prst="chevron">
            <a:avLst/>
          </a:prstGeom>
          <a:solidFill>
            <a:srgbClr val="4C67C4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5791744" y="4782312"/>
            <a:ext cx="224498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SOPs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782312"/>
            <a:ext cx="1581912" cy="420624"/>
          </a:xfrm>
          <a:prstGeom prst="roundRect">
            <a:avLst>
              <a:gd name="adj" fmla="val 13043"/>
            </a:avLst>
          </a:prstGeom>
          <a:solidFill>
            <a:srgbClr val="4C67C4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548640" y="4782312"/>
            <a:ext cx="1399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Resolution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572288" y="5358384"/>
            <a:ext cx="2683895" cy="420624"/>
          </a:xfrm>
          <a:prstGeom prst="chevron">
            <a:avLst/>
          </a:prstGeom>
          <a:solidFill>
            <a:srgbClr val="5A72B8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5791744" y="5358384"/>
            <a:ext cx="224498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TPRM Process Review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626357" y="5358384"/>
            <a:ext cx="1999205" cy="420624"/>
          </a:xfrm>
          <a:prstGeom prst="chevron">
            <a:avLst/>
          </a:prstGeom>
          <a:solidFill>
            <a:srgbClr val="5A72B8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7845813" y="5358384"/>
            <a:ext cx="15602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Attestation (ICICI)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995737" y="5358384"/>
            <a:ext cx="1999205" cy="420624"/>
          </a:xfrm>
          <a:prstGeom prst="chevron">
            <a:avLst/>
          </a:prstGeom>
          <a:solidFill>
            <a:srgbClr val="5A72B8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9215193" y="5358384"/>
            <a:ext cx="15602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Repository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57200" y="5358384"/>
            <a:ext cx="1581912" cy="420624"/>
          </a:xfrm>
          <a:prstGeom prst="roundRect">
            <a:avLst>
              <a:gd name="adj" fmla="val 13043"/>
            </a:avLst>
          </a:prstGeom>
          <a:solidFill>
            <a:srgbClr val="5A72B8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548640" y="5358384"/>
            <a:ext cx="1399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TPRM &amp; Oversight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4887599" y="1627632"/>
            <a:ext cx="0" cy="4151376"/>
          </a:xfrm>
          <a:prstGeom prst="line">
            <a:avLst/>
          </a:prstGeom>
          <a:noFill/>
          <a:ln w="15875">
            <a:solidFill>
              <a:srgbClr val="D6455D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4832735" y="1572768"/>
            <a:ext cx="109728" cy="109728"/>
          </a:xfrm>
          <a:prstGeom prst="diamond">
            <a:avLst/>
          </a:prstGeom>
          <a:solidFill>
            <a:srgbClr val="D6455D"/>
          </a:solidFill>
          <a:ln/>
        </p:spPr>
      </p:sp>
      <p:sp>
        <p:nvSpPr>
          <p:cNvPr id="79" name="Shape 77"/>
          <p:cNvSpPr/>
          <p:nvPr/>
        </p:nvSpPr>
        <p:spPr>
          <a:xfrm>
            <a:off x="8311047" y="1627632"/>
            <a:ext cx="0" cy="4151376"/>
          </a:xfrm>
          <a:prstGeom prst="line">
            <a:avLst/>
          </a:prstGeom>
          <a:noFill/>
          <a:ln w="15875">
            <a:solidFill>
              <a:srgbClr val="D6455D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8256183" y="1572768"/>
            <a:ext cx="109728" cy="109728"/>
          </a:xfrm>
          <a:prstGeom prst="diamond">
            <a:avLst/>
          </a:prstGeom>
          <a:solidFill>
            <a:srgbClr val="D6455D"/>
          </a:solidFill>
          <a:ln/>
        </p:spPr>
      </p:sp>
      <p:sp>
        <p:nvSpPr>
          <p:cNvPr id="81" name="Shape 79"/>
          <p:cNvSpPr/>
          <p:nvPr/>
        </p:nvSpPr>
        <p:spPr>
          <a:xfrm>
            <a:off x="11734495" y="1627632"/>
            <a:ext cx="0" cy="4151376"/>
          </a:xfrm>
          <a:prstGeom prst="line">
            <a:avLst/>
          </a:prstGeom>
          <a:noFill/>
          <a:ln w="15875">
            <a:solidFill>
              <a:srgbClr val="D6455D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>
            <a:off x="11679631" y="1572768"/>
            <a:ext cx="109728" cy="109728"/>
          </a:xfrm>
          <a:prstGeom prst="diamond">
            <a:avLst/>
          </a:prstGeom>
          <a:solidFill>
            <a:srgbClr val="D6455D"/>
          </a:solidFill>
          <a:ln/>
        </p:spPr>
      </p:sp>
      <p:sp>
        <p:nvSpPr>
          <p:cNvPr id="83" name="Shape 81"/>
          <p:cNvSpPr/>
          <p:nvPr/>
        </p:nvSpPr>
        <p:spPr>
          <a:xfrm>
            <a:off x="457200" y="594360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57200" y="601675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Notes: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TPRM &amp; Oversight activities intentionally begin Oct/Nov, sequenced behind Fraud and AML priorities.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reporting-framework activities are scheduled in later weeks once core operating models are defined.  </a:t>
            </a:r>
            <a:pPr indent="0" marL="0">
              <a:buNone/>
            </a:pPr>
            <a:r>
              <a:rPr lang="en-US" sz="1000" b="1" dirty="0">
                <a:solidFill>
                  <a:srgbClr val="D64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invoice milestone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tmp/claude-0/-home-user-Beem-Visa-Debit-Requirements/58049547-0d80-580f-b5f7-e9c0eac0e1bc/scratchpad/deck/icon_fra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4663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29260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170432" y="69494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fraud investigation operating model, reporting framework, analytics, and Everlink → DataVisor transition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77295" cy="5212080"/>
        </p:xfrm>
        <a:graphic>
          <a:graphicData uri="http://schemas.openxmlformats.org/drawingml/2006/table">
            <a:tbl>
              <a:tblPr/>
              <a:tblGrid>
                <a:gridCol w="3566160"/>
                <a:gridCol w="6126480"/>
                <a:gridCol w="1581912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Docs Needed / Next Steps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</a:rPr>
                        <a:t>Design &amp; document fraud investigation operating model &amp; SOPs (workflows, decisioning, escalation, disposition, transaction review, first-party fraud governance) across eDetect &amp; eAuthenticate</a:t>
                      </a:r>
                      <a:endParaRPr lang="en-US" sz="95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5384A"/>
                          </a:solidFill>
                        </a:rPr>
                        <a:t>Beem: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Fraud policies and procedures; current-state fraud workflows/SOPs; Everlink eDetect &amp; eAuthenticate documentation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</a:rPr>
                        <a:t>Deloitte: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Lead operating model design and SOP drafting</a:t>
                      </a:r>
                      <a:endParaRPr lang="en-US" sz="120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2B8"/>
                          </a:solidFill>
                        </a:rPr>
                        <a:t>Joint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</a:rPr>
                        <a:t>Design &amp; implement internal fraud reporting framework (loss reporting, Visa threshold monitoring, management reporting, Sponsor Bank &amp; Visa reporting)</a:t>
                      </a:r>
                      <a:endParaRPr lang="en-US" sz="95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5384A"/>
                          </a:solidFill>
                        </a:rPr>
                        <a:t>Beem: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Existing fraud reports/dashboards; current reporting cadence and formats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</a:rPr>
                        <a:t>Deloitte: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Design reporting framework and templates</a:t>
                      </a:r>
                      <a:endParaRPr lang="en-US" sz="120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2B8"/>
                          </a:solidFill>
                        </a:rPr>
                        <a:t>Joint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</a:rPr>
                        <a:t>Develop analytics-driven fraud detection process to identify emerging trends/anomalies from authentication failure patterns (Net New)</a:t>
                      </a:r>
                      <a:endParaRPr lang="en-US" sz="95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</a:rPr>
                        <a:t>Deloitte: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Design net-new analytics process; no existing Beem documentation required</a:t>
                      </a:r>
                      <a:endParaRPr lang="en-US" sz="120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Deloitte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</a:rPr>
                        <a:t>Design DataVisor Visa Debit fraud monitoring requirements (data integration architecture, monitoring use cases, detection rules, governance)</a:t>
                      </a:r>
                      <a:endParaRPr lang="en-US" sz="95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5384A"/>
                          </a:solidFill>
                        </a:rPr>
                        <a:t>Beem: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Schedule stakeholder session with Tech/Architecture to confirm data source (DNA vs. Everlink); provide current DataVisor architecture/design documentation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</a:rPr>
                        <a:t>Deloitte: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Lead requirements design once data source is confirmed</a:t>
                      </a:r>
                      <a:endParaRPr lang="en-US" sz="120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2B8"/>
                          </a:solidFill>
                        </a:rPr>
                        <a:t>Joint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</a:rPr>
                        <a:t>Develop Everlink → DataVisor transition roadmap (data integration, sequencing, testing, cutover, risk mitigation, governance)</a:t>
                      </a:r>
                      <a:endParaRPr lang="en-US" sz="95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</a:rPr>
                        <a:t>Deloitte: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No additional documentation identified; dependent on completion of DataVisor requirements</a:t>
                      </a:r>
                      <a:endParaRPr lang="en-US" sz="120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Deloitte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6501384"/>
            <a:ext cx="109728" cy="109728"/>
          </a:xfrm>
          <a:prstGeom prst="ellipse">
            <a:avLst/>
          </a:prstGeom>
          <a:solidFill>
            <a:srgbClr val="B5384A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21792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1508760" y="650138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673352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560320" y="6501384"/>
            <a:ext cx="109728" cy="109728"/>
          </a:xfrm>
          <a:prstGeom prst="ellipse">
            <a:avLst/>
          </a:prstGeom>
          <a:solidFill>
            <a:srgbClr val="5A72B8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724912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566928"/>
          </a:xfrm>
          <a:prstGeom prst="ellipse">
            <a:avLst/>
          </a:prstGeom>
          <a:solidFill>
            <a:srgbClr val="2E45A8"/>
          </a:solidFill>
          <a:ln/>
        </p:spPr>
      </p:sp>
      <p:pic>
        <p:nvPicPr>
          <p:cNvPr id="3" name="Image 0" descr="/tmp/claude-0/-home-user-Beem-Visa-Debit-Requirements/58049547-0d80-580f-b5f7-e9c0eac0e1bc/scratchpad/deck/icon_am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4663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29260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AML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170432" y="69494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framework enhancement, internal reporting, and monitoring framework build for Visa Debit activity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77295" cy="5212080"/>
        </p:xfrm>
        <a:graphic>
          <a:graphicData uri="http://schemas.openxmlformats.org/drawingml/2006/table">
            <a:tbl>
              <a:tblPr/>
              <a:tblGrid>
                <a:gridCol w="3566160"/>
                <a:gridCol w="6126480"/>
                <a:gridCol w="1581912"/>
              </a:tblGrid>
              <a:tr h="1303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Docs Needed / Next Steps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303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</a:rPr>
                        <a:t>Review &amp; enhance AML framework for Visa Debit (policies, procedures, governance controls, sanctions screening, investigation processes, regulatory/Sponsor Bank/Visa reporting obligations)</a:t>
                      </a:r>
                      <a:endParaRPr lang="en-US" sz="95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5384A"/>
                          </a:solidFill>
                        </a:rPr>
                        <a:t>Beem: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Current AML program documentation (investigation process, SOPs, policies); current reporting examples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</a:rPr>
                        <a:t>Deloitte: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Connect with SME (potentially Navaera) to discuss PCI workaround</a:t>
                      </a:r>
                      <a:endParaRPr lang="en-US" sz="120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2B8"/>
                          </a:solidFill>
                        </a:rPr>
                        <a:t>Joint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3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</a:rPr>
                        <a:t>Design &amp; implement internal AML reporting framework (operational and analytics performance reports)</a:t>
                      </a:r>
                      <a:endParaRPr lang="en-US" sz="95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5384A"/>
                          </a:solidFill>
                        </a:rPr>
                        <a:t>Beem: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Share current AML reporting format and output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</a:rPr>
                        <a:t>Deloitte: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Design reporting framework</a:t>
                      </a:r>
                      <a:endParaRPr lang="en-US" sz="120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2B8"/>
                          </a:solidFill>
                        </a:rPr>
                        <a:t>Joint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1303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</a:rPr>
                        <a:t>Design, build &amp; operationalize AML monitoring framework for Visa Debit activity (methodologies, rules, alert scenarios, testing, production readiness)</a:t>
                      </a:r>
                      <a:endParaRPr lang="en-US" sz="95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5384A"/>
                          </a:solidFill>
                        </a:rPr>
                        <a:t>Beem: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Connect with Navaera to assess whether existing workaround meets requirements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</a:rPr>
                        <a:t>Deloitte: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If Navaera workaround is insufficient, lead monitoring framework build</a:t>
                      </a:r>
                      <a:endParaRPr lang="en-US" sz="120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2B8"/>
                          </a:solidFill>
                        </a:rPr>
                        <a:t>Joint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6501384"/>
            <a:ext cx="109728" cy="109728"/>
          </a:xfrm>
          <a:prstGeom prst="ellipse">
            <a:avLst/>
          </a:prstGeom>
          <a:solidFill>
            <a:srgbClr val="B5384A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21792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1508760" y="650138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673352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560320" y="6501384"/>
            <a:ext cx="109728" cy="109728"/>
          </a:xfrm>
          <a:prstGeom prst="ellipse">
            <a:avLst/>
          </a:prstGeom>
          <a:solidFill>
            <a:srgbClr val="5A72B8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724912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566928"/>
          </a:xfrm>
          <a:prstGeom prst="ellipse">
            <a:avLst/>
          </a:prstGeom>
          <a:solidFill>
            <a:srgbClr val="4C67C4"/>
          </a:solidFill>
          <a:ln/>
        </p:spPr>
      </p:sp>
      <p:pic>
        <p:nvPicPr>
          <p:cNvPr id="3" name="Image 0" descr="/tmp/claude-0/-home-user-Beem-Visa-Debit-Requirements/58049547-0d80-580f-b5f7-e9c0eac0e1bc/scratchpad/deck/icon_disp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4663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29260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&amp; Non-Fraud Dispute Resolution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170432" y="69494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dispute management lifecycle: target-state design, current-state comparison, and finalized SOPs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77295" cy="5212080"/>
        </p:xfrm>
        <a:graphic>
          <a:graphicData uri="http://schemas.openxmlformats.org/drawingml/2006/table">
            <a:tbl>
              <a:tblPr/>
              <a:tblGrid>
                <a:gridCol w="3566160"/>
                <a:gridCol w="6126480"/>
                <a:gridCol w="1581912"/>
              </a:tblGrid>
              <a:tr h="1303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Docs Needed / Next Steps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303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</a:rPr>
                        <a:t>Design target-state, end-to-end dispute management lifecycle (intake, fraud/non-fraud determination, provisional credit, chargeback submission via Central 1, Visa dispute processing, funds recovery)</a:t>
                      </a:r>
                      <a:endParaRPr lang="en-US" sz="95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</a:rPr>
                        <a:t>Deloitte: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Design target-state process first, ahead of current-state comparison</a:t>
                      </a:r>
                      <a:endParaRPr lang="en-US" sz="120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Deloitte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3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</a:rPr>
                        <a:t>Compare target-state design against Beem's current-state dispute process to identify gaps</a:t>
                      </a:r>
                      <a:endParaRPr lang="en-US" sz="95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</a:rPr>
                        <a:t>Deloitte: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Complete gap analysis once target-state design is finalized</a:t>
                      </a:r>
                      <a:endParaRPr lang="en-US" sz="120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Deloitte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1303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</a:rPr>
                        <a:t>Finalize end-to-end dispute SOPs, process maps, and operational controls</a:t>
                      </a:r>
                      <a:endParaRPr lang="en-US" sz="95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5384A"/>
                          </a:solidFill>
                        </a:rPr>
                        <a:t>Beem: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Jesse (Fraud Disputes Owner) and Pattie to work through all dispute processes and investigation workflows with Deloitte</a:t>
                      </a:r>
                      <a:endParaRPr lang="en-US" sz="120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2B8"/>
                          </a:solidFill>
                        </a:rPr>
                        <a:t>Joint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6501384"/>
            <a:ext cx="109728" cy="109728"/>
          </a:xfrm>
          <a:prstGeom prst="ellipse">
            <a:avLst/>
          </a:prstGeom>
          <a:solidFill>
            <a:srgbClr val="B5384A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21792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1508760" y="650138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673352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560320" y="6501384"/>
            <a:ext cx="109728" cy="109728"/>
          </a:xfrm>
          <a:prstGeom prst="ellipse">
            <a:avLst/>
          </a:prstGeom>
          <a:solidFill>
            <a:srgbClr val="5A72B8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724912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566928"/>
          </a:xfrm>
          <a:prstGeom prst="ellipse">
            <a:avLst/>
          </a:prstGeom>
          <a:solidFill>
            <a:srgbClr val="5A72B8"/>
          </a:solidFill>
          <a:ln/>
        </p:spPr>
      </p:sp>
      <p:pic>
        <p:nvPicPr>
          <p:cNvPr id="3" name="Image 0" descr="/tmp/claude-0/-home-user-Beem-Visa-Debit-Requirements/58049547-0d80-580f-b5f7-e9c0eac0e1bc/scratchpad/deck/icon_tp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4663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29260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TPRM &amp; Oversight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170432" y="69494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risk management enhancement, annual attestation process, and centralized oversight repository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77295" cy="5212080"/>
        </p:xfrm>
        <a:graphic>
          <a:graphicData uri="http://schemas.openxmlformats.org/drawingml/2006/table">
            <a:tbl>
              <a:tblPr/>
              <a:tblGrid>
                <a:gridCol w="3566160"/>
                <a:gridCol w="6126480"/>
                <a:gridCol w="1581912"/>
              </a:tblGrid>
              <a:tr h="1303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Docs Needed / Next Steps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303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</a:rPr>
                        <a:t>Review &amp; enhance existing TPRM processes to incorporate Visa Debit and BIN Sponsorship requirements</a:t>
                      </a:r>
                      <a:endParaRPr lang="en-US" sz="95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5384A"/>
                          </a:solidFill>
                        </a:rPr>
                        <a:t>Beem: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Current TPRM process documentation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</a:rPr>
                        <a:t>Deloitte: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Review and enhance against Visa/BIN Sponsor requirements</a:t>
                      </a:r>
                      <a:endParaRPr lang="en-US" sz="120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2B8"/>
                          </a:solidFill>
                        </a:rPr>
                        <a:t>Joint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3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</a:rPr>
                        <a:t>Establish process to submit annual Attestation of Compliance to ICICI Bank</a:t>
                      </a:r>
                      <a:endParaRPr lang="en-US" sz="95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</a:rPr>
                        <a:t>Deloitte: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Design and document submission process (requirements TBD with Beem)</a:t>
                      </a:r>
                      <a:endParaRPr lang="en-US" sz="120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Deloitte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1303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</a:rPr>
                        <a:t>Design &amp; implement centralized artifact repository and communication framework (policies, procedures, reporting artifacts, compliance evidence, governance docs, issue logs, correspondence)</a:t>
                      </a:r>
                      <a:endParaRPr lang="en-US" sz="95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</a:rPr>
                        <a:t>Deloitte: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Design repository structure and communication framework</a:t>
                      </a:r>
                      <a:endParaRPr lang="en-US" sz="1200" dirty="0"/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Deloitte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6501384"/>
            <a:ext cx="109728" cy="109728"/>
          </a:xfrm>
          <a:prstGeom prst="ellipse">
            <a:avLst/>
          </a:prstGeom>
          <a:solidFill>
            <a:srgbClr val="B5384A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21792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1508760" y="650138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673352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560320" y="6501384"/>
            <a:ext cx="109728" cy="109728"/>
          </a:xfrm>
          <a:prstGeom prst="ellipse">
            <a:avLst/>
          </a:prstGeom>
          <a:solidFill>
            <a:srgbClr val="5A72B8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724912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2026-09-04T19:18:06Z</dcterms:created>
  <dcterms:modified xsi:type="dcterms:W3CDTF">2026-09-04T19:18:06Z</dcterms:modified>
</cp:coreProperties>
</file>