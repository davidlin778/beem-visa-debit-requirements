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4A_99EAD49.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4.xml" ContentType="application/vnd.openxmlformats-officedocument.presentationml.tags+xml"/>
  <Override PartName="/ppt/notesSlides/notesSlide1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tags/tag5.xml" ContentType="application/vnd.openxmlformats-officedocument.presentationml.tags+xml"/>
  <Override PartName="/ppt/notesSlides/notesSlide1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chartEx1.xml" ContentType="application/vnd.ms-office.chartex+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 id="2147483680" r:id="rId2"/>
    <p:sldMasterId id="2147483686" r:id="rId3"/>
  </p:sldMasterIdLst>
  <p:notesMasterIdLst>
    <p:notesMasterId r:id="rId22"/>
  </p:notesMasterIdLst>
  <p:sldIdLst>
    <p:sldId id="2147483631" r:id="rId4"/>
    <p:sldId id="326" r:id="rId5"/>
    <p:sldId id="329" r:id="rId6"/>
    <p:sldId id="2147483632" r:id="rId7"/>
    <p:sldId id="323" r:id="rId8"/>
    <p:sldId id="315" r:id="rId9"/>
    <p:sldId id="316" r:id="rId10"/>
    <p:sldId id="317" r:id="rId11"/>
    <p:sldId id="330" r:id="rId12"/>
    <p:sldId id="293" r:id="rId13"/>
    <p:sldId id="327" r:id="rId14"/>
    <p:sldId id="319" r:id="rId15"/>
    <p:sldId id="332" r:id="rId16"/>
    <p:sldId id="2147483612" r:id="rId17"/>
    <p:sldId id="270" r:id="rId18"/>
    <p:sldId id="271" r:id="rId19"/>
    <p:sldId id="272" r:id="rId20"/>
    <p:sldId id="214748361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EA3D190-9A50-4EAB-B243-E24A11598C44}">
          <p14:sldIdLst>
            <p14:sldId id="2147483631"/>
            <p14:sldId id="326"/>
            <p14:sldId id="329"/>
            <p14:sldId id="2147483632"/>
            <p14:sldId id="323"/>
            <p14:sldId id="315"/>
            <p14:sldId id="316"/>
            <p14:sldId id="317"/>
            <p14:sldId id="330"/>
            <p14:sldId id="293"/>
            <p14:sldId id="327"/>
            <p14:sldId id="319"/>
            <p14:sldId id="332"/>
          </p14:sldIdLst>
        </p14:section>
        <p14:section name="Example Appendicies from another survey" id="{43EF1A97-A2C0-439A-9F69-C944959AF1A2}">
          <p14:sldIdLst>
            <p14:sldId id="2147483612"/>
            <p14:sldId id="270"/>
            <p14:sldId id="271"/>
            <p14:sldId id="272"/>
            <p14:sldId id="214748361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96EFA7-0D1E-03B8-0ACB-0E639503A15F}" name="Bruce, Riley" initials="RB" userId="S::ribruce@deloitte.ca::fd24e7a2-1291-4fd2-836d-943cf2436b48" providerId="AD"/>
  <p188:author id="{41239FBB-7C6A-8AFA-2D62-F020A8490F80}" name="Lin, David" initials="DL" userId="S::davlin@deloitte.ca::ce1f04b3-c96a-433f-995d-d2a58be28702" providerId="AD"/>
  <p188:author id="{4D942AE9-6EA2-E243-FB88-4244E123F471}" name="Luh, Kevin" initials="KL" userId="S::kluh@deloitte.ca::b0cf5418-ad74-4820-a41c-cc0e018a4c6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26" autoAdjust="0"/>
    <p:restoredTop sz="69649" autoAdjust="0"/>
  </p:normalViewPr>
  <p:slideViewPr>
    <p:cSldViewPr snapToGrid="0">
      <p:cViewPr varScale="1">
        <p:scale>
          <a:sx n="77" d="100"/>
          <a:sy n="77" d="100"/>
        </p:scale>
        <p:origin x="129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https://candeloitte.sharepoint.com/sites/FraudPursuitsResearch/Shared%20Documents/General/Riskified%20x%20Deloitte%20Partnership/Deloitte%20x%20Riskified%20-%20Agentic%20AI%20POV/GLG%20Survey/Crosstab%20expor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candeloitte.sharepoint.com/sites/FraudPursuitsResearch/Shared%20Documents/General/Riskified%20x%20Deloitte%20Partnership/Deloitte%20x%20Riskified%20-%20Agentic%20AI%20POV/GLG%20Survey/Crosstab%20expor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candeloitte.sharepoint.com/sites/FraudPursuitsResearch/Shared%20Documents/General/Riskified%20x%20Deloitte%20Partnership/Deloitte%20x%20Riskified%20-%20Agentic%20AI%20POV/GLG%20Survey/Survey%20Raw%20Data%20_%20Use%20for%20long%20form%20text%20answers."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candeloitte.sharepoint.com/sites/FraudPursuitsResearch/Shared%20Documents/General/Riskified%20x%20Deloitte%20Partnership/Deloitte%20x%20Riskified%20-%20Agentic%20AI%20POV/GLG%20Survey/Crosstab%20expor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oleObject" Target="https://candeloitte.sharepoint.com/sites/FraudPursuitsResearch/Shared%20Documents/General/Riskified%20x%20Deloitte%20Partnership/Deloitte%20x%20Riskified%20-%20Agentic%20AI%20POV/GLG%20Survey/Crosstab%20export.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https://candeloitte.sharepoint.com/sites/FraudPursuitsResearch/Shared%20Documents/General/Riskified%20x%20Deloitte%20Partnership/Deloitte%20x%20Riskified%20-%20Agentic%20AI%20POV/GLG%20Survey/Crosstab%20export.xlsx" TargetMode="External"/><Relationship Id="rId2" Type="http://schemas.microsoft.com/office/2011/relationships/chartColorStyle" Target="colors6.xml"/><Relationship Id="rId1" Type="http://schemas.microsoft.com/office/2011/relationships/chartStyle" Target="style6.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https://candeloitte.sharepoint.com/sites/FraudPursuitsResearch/Shared%20Documents/General/Riskified%20x%20Deloitte%20Partnership/Deloitte%20x%20Riskified%20-%20Agentic%20AI%20POV/GLG%20Survey/Crosstab%20expor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75000"/>
                    <a:lumOff val="25000"/>
                  </a:schemeClr>
                </a:solidFill>
                <a:latin typeface="Segoe UI" panose="020B0502040204020203" pitchFamily="34" charset="0"/>
                <a:ea typeface="+mn-ea"/>
                <a:cs typeface="Segoe UI" panose="020B0502040204020203" pitchFamily="34" charset="0"/>
              </a:defRPr>
            </a:pPr>
            <a:r>
              <a:rPr lang="en-US" b="1">
                <a:solidFill>
                  <a:schemeClr val="tx1">
                    <a:lumMod val="75000"/>
                    <a:lumOff val="25000"/>
                  </a:schemeClr>
                </a:solidFill>
              </a:rPr>
              <a:t>Channels Used by Merchants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title>
    <c:autoTitleDeleted val="0"/>
    <c:plotArea>
      <c:layout>
        <c:manualLayout>
          <c:layoutTarget val="inner"/>
          <c:xMode val="edge"/>
          <c:yMode val="edge"/>
          <c:x val="8.1230514347965632E-2"/>
          <c:y val="0.175554237550126"/>
          <c:w val="0.91427658205848394"/>
          <c:h val="0.62098779135050997"/>
        </c:manualLayout>
      </c:layout>
      <c:barChart>
        <c:barDir val="col"/>
        <c:grouping val="clustered"/>
        <c:varyColors val="0"/>
        <c:ser>
          <c:idx val="0"/>
          <c:order val="0"/>
          <c:spPr>
            <a:solidFill>
              <a:srgbClr val="4EA72E"/>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Percentages!$A$230:$A$233</c:f>
              <c:strCache>
                <c:ptCount val="4"/>
                <c:pt idx="0">
                  <c:v>Brick and mortar</c:v>
                </c:pt>
                <c:pt idx="1">
                  <c:v>Website</c:v>
                </c:pt>
                <c:pt idx="2">
                  <c:v>Mobile app</c:v>
                </c:pt>
                <c:pt idx="3">
                  <c:v>Marketplace (e.g., third-party platforms)</c:v>
                </c:pt>
              </c:strCache>
            </c:strRef>
          </c:cat>
          <c:val>
            <c:numRef>
              <c:f>Percentages!$B$230:$B$233</c:f>
              <c:numCache>
                <c:formatCode>0%</c:formatCode>
                <c:ptCount val="4"/>
                <c:pt idx="0">
                  <c:v>0.61538462000000005</c:v>
                </c:pt>
                <c:pt idx="1">
                  <c:v>0.97435896999999994</c:v>
                </c:pt>
                <c:pt idx="2">
                  <c:v>0.66666667000000002</c:v>
                </c:pt>
                <c:pt idx="3">
                  <c:v>0.56410255999999992</c:v>
                </c:pt>
              </c:numCache>
            </c:numRef>
          </c:val>
          <c:extLst>
            <c:ext xmlns:c16="http://schemas.microsoft.com/office/drawing/2014/chart" uri="{C3380CC4-5D6E-409C-BE32-E72D297353CC}">
              <c16:uniqueId val="{00000000-E4CB-43D0-9761-D94E8F48269B}"/>
            </c:ext>
          </c:extLst>
        </c:ser>
        <c:dLbls>
          <c:dLblPos val="outEnd"/>
          <c:showLegendKey val="0"/>
          <c:showVal val="1"/>
          <c:showCatName val="0"/>
          <c:showSerName val="0"/>
          <c:showPercent val="0"/>
          <c:showBubbleSize val="0"/>
        </c:dLbls>
        <c:gapWidth val="219"/>
        <c:overlap val="-27"/>
        <c:axId val="1387602383"/>
        <c:axId val="1387617743"/>
      </c:barChart>
      <c:catAx>
        <c:axId val="13876023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387617743"/>
        <c:crosses val="autoZero"/>
        <c:auto val="1"/>
        <c:lblAlgn val="ctr"/>
        <c:lblOffset val="100"/>
        <c:noMultiLvlLbl val="0"/>
      </c:catAx>
      <c:valAx>
        <c:axId val="1387617743"/>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387602383"/>
        <c:crosses val="autoZero"/>
        <c:crossBetween val="between"/>
        <c:majorUnit val="0.2"/>
      </c:valAx>
      <c:spPr>
        <a:solidFill>
          <a:schemeClr val="bg1"/>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lumMod val="75000"/>
              <a:lumOff val="25000"/>
            </a:schemeClr>
          </a:solidFill>
          <a:latin typeface="Segoe UI" panose="020B0502040204020203" pitchFamily="34" charset="0"/>
          <a:cs typeface="Segoe UI" panose="020B0502040204020203"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rgbClr val="4EA72E"/>
            </a:solidFill>
            <a:ln>
              <a:noFill/>
            </a:ln>
            <a:effectLst/>
          </c:spPr>
          <c:invertIfNegative val="0"/>
          <c:dLbls>
            <c:dLbl>
              <c:idx val="1"/>
              <c:tx>
                <c:rich>
                  <a:bodyPr/>
                  <a:lstStyle/>
                  <a:p>
                    <a:fld id="{6CA95950-6B79-4A11-8CC7-AE92E9B7057B}" type="VALUE">
                      <a:rPr lang="en-US">
                        <a:solidFill>
                          <a:schemeClr val="bg1"/>
                        </a:solidFill>
                      </a:rPr>
                      <a:pPr/>
                      <a:t>[VALUE]</a:t>
                    </a:fld>
                    <a:endParaRPr lang="en-CA"/>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707C-4A81-A544-534C25799FBA}"/>
                </c:ext>
              </c:extLst>
            </c:dLbl>
            <c:dLbl>
              <c:idx val="2"/>
              <c:tx>
                <c:rich>
                  <a:bodyPr/>
                  <a:lstStyle/>
                  <a:p>
                    <a:fld id="{91975AF4-EC73-40AA-9722-5B53FC317BDD}" type="VALUE">
                      <a:rPr lang="en-US">
                        <a:solidFill>
                          <a:schemeClr val="bg1"/>
                        </a:solidFill>
                      </a:rPr>
                      <a:pPr/>
                      <a:t>[VALUE]</a:t>
                    </a:fld>
                    <a:endParaRPr lang="en-CA"/>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07C-4A81-A544-534C25799FBA}"/>
                </c:ext>
              </c:extLst>
            </c:dLbl>
            <c:dLbl>
              <c:idx val="3"/>
              <c:tx>
                <c:rich>
                  <a:bodyPr/>
                  <a:lstStyle/>
                  <a:p>
                    <a:fld id="{4DFE4054-5D9E-4705-A414-B960ACA6090F}" type="VALUE">
                      <a:rPr lang="en-US">
                        <a:solidFill>
                          <a:schemeClr val="bg1"/>
                        </a:solidFill>
                      </a:rPr>
                      <a:pPr/>
                      <a:t>[VALUE]</a:t>
                    </a:fld>
                    <a:endParaRPr lang="en-CA"/>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707C-4A81-A544-534C25799FBA}"/>
                </c:ext>
              </c:extLst>
            </c:dLbl>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Percentages!$A$269:$A$272</c:f>
              <c:strCache>
                <c:ptCount val="4"/>
                <c:pt idx="0">
                  <c:v>Not at all</c:v>
                </c:pt>
                <c:pt idx="1">
                  <c:v>Slightly</c:v>
                </c:pt>
                <c:pt idx="2">
                  <c:v>Moderately</c:v>
                </c:pt>
                <c:pt idx="3">
                  <c:v>A lot</c:v>
                </c:pt>
              </c:strCache>
            </c:strRef>
          </c:cat>
          <c:val>
            <c:numRef>
              <c:f>Percentages!$B$269:$B$272</c:f>
              <c:numCache>
                <c:formatCode>0%</c:formatCode>
                <c:ptCount val="4"/>
                <c:pt idx="0">
                  <c:v>0</c:v>
                </c:pt>
                <c:pt idx="1">
                  <c:v>0.12820513</c:v>
                </c:pt>
                <c:pt idx="2">
                  <c:v>0.53846154000000002</c:v>
                </c:pt>
                <c:pt idx="3">
                  <c:v>0.33333332999999998</c:v>
                </c:pt>
              </c:numCache>
            </c:numRef>
          </c:val>
          <c:extLst>
            <c:ext xmlns:c16="http://schemas.microsoft.com/office/drawing/2014/chart" uri="{C3380CC4-5D6E-409C-BE32-E72D297353CC}">
              <c16:uniqueId val="{00000003-707C-4A81-A544-534C25799FBA}"/>
            </c:ext>
          </c:extLst>
        </c:ser>
        <c:dLbls>
          <c:dLblPos val="outEnd"/>
          <c:showLegendKey val="0"/>
          <c:showVal val="1"/>
          <c:showCatName val="0"/>
          <c:showSerName val="0"/>
          <c:showPercent val="0"/>
          <c:showBubbleSize val="0"/>
        </c:dLbls>
        <c:gapWidth val="60"/>
        <c:axId val="1709241775"/>
        <c:axId val="1709231695"/>
      </c:barChart>
      <c:catAx>
        <c:axId val="170924177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709231695"/>
        <c:crosses val="autoZero"/>
        <c:auto val="1"/>
        <c:lblAlgn val="ctr"/>
        <c:lblOffset val="100"/>
        <c:noMultiLvlLbl val="0"/>
      </c:catAx>
      <c:valAx>
        <c:axId val="1709231695"/>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7092417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egoe UI" panose="020B0502040204020203" pitchFamily="34" charset="0"/>
          <a:cs typeface="Segoe UI" panose="020B0502040204020203"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757227343311196"/>
          <c:y val="5.5977647408138757E-2"/>
          <c:w val="0.82046783625730979"/>
          <c:h val="0.54690401937139144"/>
        </c:manualLayout>
      </c:layout>
      <c:barChart>
        <c:barDir val="col"/>
        <c:grouping val="clustered"/>
        <c:varyColors val="0"/>
        <c:ser>
          <c:idx val="0"/>
          <c:order val="0"/>
          <c:spPr>
            <a:solidFill>
              <a:srgbClr val="4EA72E"/>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'[Survey Raw Data _ Use for long form text answers.xlsx]A1'!$FK$41:$FM$41</c:f>
              <c:strCache>
                <c:ptCount val="3"/>
                <c:pt idx="0">
                  <c:v>Funding/Budget</c:v>
                </c:pt>
                <c:pt idx="1">
                  <c:v>Resource Skillsets</c:v>
                </c:pt>
                <c:pt idx="2">
                  <c:v>Tech Limitations</c:v>
                </c:pt>
              </c:strCache>
            </c:strRef>
          </c:cat>
          <c:val>
            <c:numRef>
              <c:f>'[Survey Raw Data _ Use for long form text answers.xlsx]A1'!$FK$45:$FM$45</c:f>
              <c:numCache>
                <c:formatCode>0%</c:formatCode>
                <c:ptCount val="3"/>
                <c:pt idx="0">
                  <c:v>0.51515151515151514</c:v>
                </c:pt>
                <c:pt idx="1">
                  <c:v>0.38235294117647056</c:v>
                </c:pt>
                <c:pt idx="2">
                  <c:v>0.34482758620689657</c:v>
                </c:pt>
              </c:numCache>
            </c:numRef>
          </c:val>
          <c:extLst>
            <c:ext xmlns:c16="http://schemas.microsoft.com/office/drawing/2014/chart" uri="{C3380CC4-5D6E-409C-BE32-E72D297353CC}">
              <c16:uniqueId val="{00000000-CC0D-4CA8-AC63-0AD400DBCE89}"/>
            </c:ext>
          </c:extLst>
        </c:ser>
        <c:dLbls>
          <c:showLegendKey val="0"/>
          <c:showVal val="0"/>
          <c:showCatName val="0"/>
          <c:showSerName val="0"/>
          <c:showPercent val="0"/>
          <c:showBubbleSize val="0"/>
        </c:dLbls>
        <c:gapWidth val="130"/>
        <c:overlap val="-27"/>
        <c:axId val="1667179007"/>
        <c:axId val="1667175647"/>
      </c:barChart>
      <c:catAx>
        <c:axId val="1667179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667175647"/>
        <c:crosses val="autoZero"/>
        <c:auto val="1"/>
        <c:lblAlgn val="ctr"/>
        <c:lblOffset val="100"/>
        <c:noMultiLvlLbl val="0"/>
      </c:catAx>
      <c:valAx>
        <c:axId val="1667175647"/>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667179007"/>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egoe UI" panose="020B0502040204020203" pitchFamily="34" charset="0"/>
          <a:cs typeface="Segoe UI" panose="020B0502040204020203"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84244144861151"/>
          <c:y val="0.22940836015232449"/>
          <c:w val="0.78556377966335289"/>
          <c:h val="0.5977711667274932"/>
        </c:manualLayout>
      </c:layout>
      <c:barChart>
        <c:barDir val="col"/>
        <c:grouping val="clustered"/>
        <c:varyColors val="0"/>
        <c:ser>
          <c:idx val="0"/>
          <c:order val="0"/>
          <c:spPr>
            <a:solidFill>
              <a:srgbClr val="4EA72E"/>
            </a:solidFill>
            <a:ln>
              <a:noFill/>
            </a:ln>
            <a:effectLst/>
          </c:spPr>
          <c:invertIfNegative val="0"/>
          <c:dLbls>
            <c:dLbl>
              <c:idx val="4"/>
              <c:tx>
                <c:rich>
                  <a:bodyPr/>
                  <a:lstStyle/>
                  <a:p>
                    <a:fld id="{74A2815A-11F6-4547-AE07-39CD0A68AB6F}" type="VALUE">
                      <a:rPr lang="en-US">
                        <a:solidFill>
                          <a:schemeClr val="tx1">
                            <a:lumMod val="75000"/>
                            <a:lumOff val="25000"/>
                          </a:schemeClr>
                        </a:solidFill>
                      </a:rPr>
                      <a:pPr/>
                      <a:t>[VALUE]</a:t>
                    </a:fld>
                    <a:endParaRPr lang="en-CA"/>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859-4009-BC99-FB15D70D61FE}"/>
                </c:ext>
              </c:extLst>
            </c:dLbl>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Percentages!$A$304:$A$308</c:f>
              <c:strCache>
                <c:ptCount val="5"/>
                <c:pt idx="0">
                  <c:v>Very Unprepared</c:v>
                </c:pt>
                <c:pt idx="1">
                  <c:v>Somewhat unprepared</c:v>
                </c:pt>
                <c:pt idx="2">
                  <c:v>Neutral</c:v>
                </c:pt>
                <c:pt idx="3">
                  <c:v>Somewhat prepared</c:v>
                </c:pt>
                <c:pt idx="4">
                  <c:v>Very prepared</c:v>
                </c:pt>
              </c:strCache>
            </c:strRef>
          </c:cat>
          <c:val>
            <c:numRef>
              <c:f>Percentages!$B$304:$B$308</c:f>
              <c:numCache>
                <c:formatCode>0%</c:formatCode>
                <c:ptCount val="5"/>
                <c:pt idx="0">
                  <c:v>7.6923079999999991E-2</c:v>
                </c:pt>
                <c:pt idx="1">
                  <c:v>0.30769231000000002</c:v>
                </c:pt>
                <c:pt idx="2">
                  <c:v>0.30769231000000002</c:v>
                </c:pt>
                <c:pt idx="3">
                  <c:v>0.28205128000000002</c:v>
                </c:pt>
                <c:pt idx="4">
                  <c:v>2.5641029999999999E-2</c:v>
                </c:pt>
              </c:numCache>
            </c:numRef>
          </c:val>
          <c:extLst>
            <c:ext xmlns:c16="http://schemas.microsoft.com/office/drawing/2014/chart" uri="{C3380CC4-5D6E-409C-BE32-E72D297353CC}">
              <c16:uniqueId val="{00000000-D8C1-4D71-AD86-C6E54DF2CAC0}"/>
            </c:ext>
          </c:extLst>
        </c:ser>
        <c:dLbls>
          <c:showLegendKey val="0"/>
          <c:showVal val="0"/>
          <c:showCatName val="0"/>
          <c:showSerName val="0"/>
          <c:showPercent val="0"/>
          <c:showBubbleSize val="0"/>
        </c:dLbls>
        <c:gapWidth val="60"/>
        <c:overlap val="-27"/>
        <c:axId val="1881612831"/>
        <c:axId val="1881613311"/>
      </c:barChart>
      <c:catAx>
        <c:axId val="18816128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881613311"/>
        <c:crosses val="autoZero"/>
        <c:auto val="1"/>
        <c:lblAlgn val="ctr"/>
        <c:lblOffset val="100"/>
        <c:noMultiLvlLbl val="0"/>
      </c:catAx>
      <c:valAx>
        <c:axId val="1881613311"/>
        <c:scaling>
          <c:orientation val="minMax"/>
          <c:max val="0.4"/>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881612831"/>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20000"/>
        <a:lumOff val="80000"/>
      </a:schemeClr>
    </a:solidFill>
    <a:ln>
      <a:noFill/>
    </a:ln>
    <a:effectLst/>
  </c:spPr>
  <c:txPr>
    <a:bodyPr/>
    <a:lstStyle/>
    <a:p>
      <a:pPr>
        <a:defRPr>
          <a:latin typeface="Segoe UI" panose="020B0502040204020203" pitchFamily="34" charset="0"/>
          <a:cs typeface="Segoe UI" panose="020B0502040204020203"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rgbClr val="4EA72E"/>
            </a:solidFill>
            <a:ln>
              <a:noFill/>
            </a:ln>
            <a:effectLst/>
          </c:spPr>
          <c:invertIfNegative val="0"/>
          <c:dLbls>
            <c:spPr>
              <a:noFill/>
              <a:ln>
                <a:noFill/>
              </a:ln>
              <a:effectLst/>
            </c:spPr>
            <c:txPr>
              <a:bodyPr rot="0" spcFirstLastPara="1" vertOverflow="ellipsis" vert="horz" wrap="square" lIns="0" rIns="0" anchor="ctr" anchorCtr="1"/>
              <a:lstStyle/>
              <a:p>
                <a:pPr>
                  <a:defRPr sz="1200" b="1"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Percentages!$A$321:$A$324</c:f>
              <c:strCache>
                <c:ptCount val="4"/>
                <c:pt idx="0">
                  <c:v>Stronger customer authentication</c:v>
                </c:pt>
                <c:pt idx="1">
                  <c:v>Investment in advanced fraud detection tools</c:v>
                </c:pt>
                <c:pt idx="2">
                  <c:v>External collaborations (law enforcement, data consortiums)</c:v>
                </c:pt>
                <c:pt idx="3">
                  <c:v>Enhanced human review &amp; operational processes</c:v>
                </c:pt>
              </c:strCache>
            </c:strRef>
          </c:cat>
          <c:val>
            <c:numRef>
              <c:f>Percentages!$B$321:$B$324</c:f>
              <c:numCache>
                <c:formatCode>0%</c:formatCode>
                <c:ptCount val="4"/>
                <c:pt idx="0">
                  <c:v>0.71794871999999998</c:v>
                </c:pt>
                <c:pt idx="1">
                  <c:v>0.82051282000000003</c:v>
                </c:pt>
                <c:pt idx="2">
                  <c:v>0.17948718</c:v>
                </c:pt>
                <c:pt idx="3">
                  <c:v>0.51282051000000006</c:v>
                </c:pt>
              </c:numCache>
            </c:numRef>
          </c:val>
          <c:extLst>
            <c:ext xmlns:c16="http://schemas.microsoft.com/office/drawing/2014/chart" uri="{C3380CC4-5D6E-409C-BE32-E72D297353CC}">
              <c16:uniqueId val="{00000001-4EE0-4F3D-93C7-A34811E64F14}"/>
            </c:ext>
          </c:extLst>
        </c:ser>
        <c:dLbls>
          <c:showLegendKey val="0"/>
          <c:showVal val="0"/>
          <c:showCatName val="0"/>
          <c:showSerName val="0"/>
          <c:showPercent val="0"/>
          <c:showBubbleSize val="0"/>
        </c:dLbls>
        <c:gapWidth val="60"/>
        <c:axId val="1770682463"/>
        <c:axId val="1677569471"/>
      </c:barChart>
      <c:catAx>
        <c:axId val="177068246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677569471"/>
        <c:crosses val="autoZero"/>
        <c:auto val="1"/>
        <c:lblAlgn val="ctr"/>
        <c:lblOffset val="100"/>
        <c:noMultiLvlLbl val="0"/>
      </c:catAx>
      <c:valAx>
        <c:axId val="1677569471"/>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crossAx val="17706824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egoe UI" panose="020B0502040204020203" pitchFamily="34" charset="0"/>
          <a:cs typeface="Segoe UI" panose="020B0502040204020203" pitchFamily="34" charset="0"/>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2"/>
              </a:solidFill>
              <a:ln w="19050">
                <a:solidFill>
                  <a:schemeClr val="lt1"/>
                </a:solidFill>
              </a:ln>
              <a:effectLst/>
            </c:spPr>
            <c:extLst>
              <c:ext xmlns:c16="http://schemas.microsoft.com/office/drawing/2014/chart" uri="{C3380CC4-5D6E-409C-BE32-E72D297353CC}">
                <c16:uniqueId val="{00000001-F5BF-41C3-AD02-F2BABB214C91}"/>
              </c:ext>
            </c:extLst>
          </c:dPt>
          <c:dPt>
            <c:idx val="1"/>
            <c:bubble3D val="0"/>
            <c:spPr>
              <a:solidFill>
                <a:srgbClr val="4EA72E"/>
              </a:solidFill>
              <a:ln w="19050">
                <a:solidFill>
                  <a:schemeClr val="lt1"/>
                </a:solidFill>
              </a:ln>
              <a:effectLst/>
            </c:spPr>
            <c:extLst>
              <c:ext xmlns:c16="http://schemas.microsoft.com/office/drawing/2014/chart" uri="{C3380CC4-5D6E-409C-BE32-E72D297353CC}">
                <c16:uniqueId val="{00000003-F5BF-41C3-AD02-F2BABB214C91}"/>
              </c:ext>
            </c:extLst>
          </c:dPt>
          <c:dPt>
            <c:idx val="2"/>
            <c:bubble3D val="0"/>
            <c:spPr>
              <a:solidFill>
                <a:srgbClr val="7F7F7F"/>
              </a:solidFill>
              <a:ln w="19050">
                <a:solidFill>
                  <a:schemeClr val="lt1"/>
                </a:solidFill>
              </a:ln>
              <a:effectLst/>
            </c:spPr>
            <c:extLst>
              <c:ext xmlns:c16="http://schemas.microsoft.com/office/drawing/2014/chart" uri="{C3380CC4-5D6E-409C-BE32-E72D297353CC}">
                <c16:uniqueId val="{00000005-F5BF-41C3-AD02-F2BABB214C91}"/>
              </c:ext>
            </c:extLst>
          </c:dPt>
          <c:dPt>
            <c:idx val="3"/>
            <c:bubble3D val="0"/>
            <c:spPr>
              <a:solidFill>
                <a:schemeClr val="tx1">
                  <a:lumMod val="85000"/>
                  <a:lumOff val="15000"/>
                </a:schemeClr>
              </a:solidFill>
              <a:ln w="19050">
                <a:solidFill>
                  <a:schemeClr val="lt1"/>
                </a:solidFill>
              </a:ln>
              <a:effectLst/>
            </c:spPr>
            <c:extLst>
              <c:ext xmlns:c16="http://schemas.microsoft.com/office/drawing/2014/chart" uri="{C3380CC4-5D6E-409C-BE32-E72D297353CC}">
                <c16:uniqueId val="{00000007-F5BF-41C3-AD02-F2BABB214C91}"/>
              </c:ext>
            </c:extLst>
          </c:dPt>
          <c:dLbls>
            <c:dLbl>
              <c:idx val="0"/>
              <c:layout>
                <c:manualLayout>
                  <c:x val="3.0119730554965196E-2"/>
                  <c:y val="2.179784959677392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5BF-41C3-AD02-F2BABB214C91}"/>
                </c:ext>
              </c:extLst>
            </c:dLbl>
            <c:dLbl>
              <c:idx val="1"/>
              <c:layout>
                <c:manualLayout>
                  <c:x val="0.1238916727754133"/>
                  <c:y val="-4.5167645001952875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5BF-41C3-AD02-F2BABB214C91}"/>
                </c:ext>
              </c:extLst>
            </c:dLbl>
            <c:dLbl>
              <c:idx val="2"/>
              <c:layout>
                <c:manualLayout>
                  <c:x val="-2.5985794698463523E-2"/>
                  <c:y val="-7.4582049085497783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5BF-41C3-AD02-F2BABB214C91}"/>
                </c:ext>
              </c:extLst>
            </c:dLbl>
            <c:dLbl>
              <c:idx val="3"/>
              <c:layout>
                <c:manualLayout>
                  <c:x val="-4.1296403680565495E-2"/>
                  <c:y val="0"/>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5BF-41C3-AD02-F2BABB214C91}"/>
                </c:ext>
              </c:extLst>
            </c:dLbl>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Percentages!$A$283:$A$286</c:f>
              <c:strCache>
                <c:ptCount val="4"/>
                <c:pt idx="0">
                  <c:v>Yes, fully implemented with controls in place</c:v>
                </c:pt>
                <c:pt idx="1">
                  <c:v>Yes, initial implementation under development</c:v>
                </c:pt>
                <c:pt idx="2">
                  <c:v>No, but planning to implement soon</c:v>
                </c:pt>
                <c:pt idx="3">
                  <c:v>No, and don't plan on implementing soon</c:v>
                </c:pt>
              </c:strCache>
            </c:strRef>
          </c:cat>
          <c:val>
            <c:numRef>
              <c:f>Percentages!$B$283:$B$286</c:f>
              <c:numCache>
                <c:formatCode>0%</c:formatCode>
                <c:ptCount val="4"/>
                <c:pt idx="0">
                  <c:v>0.17948718</c:v>
                </c:pt>
                <c:pt idx="1">
                  <c:v>0.58974358999999998</c:v>
                </c:pt>
                <c:pt idx="2">
                  <c:v>0.17948718</c:v>
                </c:pt>
                <c:pt idx="3">
                  <c:v>5.1282050000000003E-2</c:v>
                </c:pt>
              </c:numCache>
            </c:numRef>
          </c:val>
          <c:extLst>
            <c:ext xmlns:c16="http://schemas.microsoft.com/office/drawing/2014/chart" uri="{C3380CC4-5D6E-409C-BE32-E72D297353CC}">
              <c16:uniqueId val="{00000008-F5BF-41C3-AD02-F2BABB214C91}"/>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Segoe UI" panose="020B0502040204020203" pitchFamily="34" charset="0"/>
          <a:cs typeface="Segoe UI" panose="020B0502040204020203" pitchFamily="34" charset="0"/>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Percentages!$A$332:$A$335</cx:f>
        <cx:lvl ptCount="4">
          <cx:pt idx="0">Industry standards and best practices</cx:pt>
          <cx:pt idx="1">Information-sharing platforms</cx:pt>
          <cx:pt idx="2">Regulatory guidance</cx:pt>
          <cx:pt idx="3">Joint task forces</cx:pt>
        </cx:lvl>
      </cx:strDim>
      <cx:numDim type="size">
        <cx:f>Percentages!$B$332:$B$335</cx:f>
        <cx:lvl ptCount="4" formatCode="0%">
          <cx:pt idx="0">0.51282051000000006</cx:pt>
          <cx:pt idx="1">0.33333332999999998</cx:pt>
          <cx:pt idx="2">0.10256410000000001</cx:pt>
          <cx:pt idx="3">0.051282050000000003</cx:pt>
        </cx:lvl>
      </cx:numDim>
    </cx:data>
  </cx:chartData>
  <cx:chart>
    <cx:plotArea>
      <cx:plotAreaRegion>
        <cx:series layoutId="treemap" uniqueId="{092CB04B-A647-4FDA-A622-D643DF1F6EF5}">
          <cx:dataPt idx="0">
            <cx:spPr>
              <a:solidFill>
                <a:srgbClr val="4EA72E"/>
              </a:solidFill>
            </cx:spPr>
          </cx:dataPt>
          <cx:dataPt idx="1">
            <cx:spPr>
              <a:solidFill>
                <a:srgbClr val="046A38"/>
              </a:solidFill>
            </cx:spPr>
          </cx:dataPt>
          <cx:dataPt idx="2">
            <cx:spPr>
              <a:solidFill>
                <a:srgbClr val="7F7F7F"/>
              </a:solidFill>
            </cx:spPr>
          </cx:dataPt>
          <cx:dataPt idx="3">
            <cx:spPr>
              <a:solidFill>
                <a:srgbClr val="000000">
                  <a:lumMod val="85000"/>
                  <a:lumOff val="15000"/>
                </a:srgbClr>
              </a:solidFill>
            </cx:spPr>
          </cx:dataPt>
          <cx:dataLabels>
            <cx:txPr>
              <a:bodyPr spcFirstLastPara="1" vertOverflow="ellipsis" horzOverflow="overflow" wrap="square" lIns="0" tIns="0" rIns="0" bIns="0" anchor="ctr" anchorCtr="1"/>
              <a:lstStyle/>
              <a:p>
                <a:pPr algn="ctr" rtl="0">
                  <a:defRPr sz="1200" b="1">
                    <a:latin typeface="Segoe UI" panose="020B0502040204020203" pitchFamily="34" charset="0"/>
                    <a:ea typeface="Segoe UI" panose="020B0502040204020203" pitchFamily="34" charset="0"/>
                    <a:cs typeface="Segoe UI" panose="020B0502040204020203" pitchFamily="34" charset="0"/>
                  </a:defRPr>
                </a:pPr>
                <a:endParaRPr lang="en-US" sz="1200" b="1" i="0" u="none" strike="noStrike" baseline="0">
                  <a:solidFill>
                    <a:prstClr val="white"/>
                  </a:solidFill>
                  <a:latin typeface="Segoe UI" panose="020B0502040204020203" pitchFamily="34" charset="0"/>
                  <a:cs typeface="Segoe UI" panose="020B0502040204020203" pitchFamily="34" charset="0"/>
                </a:endParaRPr>
              </a:p>
            </cx:txPr>
            <cx:visibility seriesName="0" categoryName="0" value="1"/>
            <cx:separator>, </cx:separator>
          </cx:dataLabels>
          <cx:dataId val="0"/>
          <cx:layoutPr>
            <cx:parentLabelLayout val="banner"/>
          </cx:layoutPr>
        </cx:series>
      </cx:plotAreaRegion>
    </cx:plotArea>
    <cx:legend pos="t" align="ctr" overlay="0">
      <cx:txPr>
        <a:bodyPr spcFirstLastPara="1" vertOverflow="ellipsis" horzOverflow="overflow" wrap="square" lIns="0" tIns="0" rIns="0" bIns="0" anchor="ctr" anchorCtr="1"/>
        <a:lstStyle/>
        <a:p>
          <a:pPr algn="ctr" rtl="0">
            <a:defRPr sz="1000">
              <a:solidFill>
                <a:schemeClr val="tx1">
                  <a:lumMod val="75000"/>
                  <a:lumOff val="25000"/>
                </a:schemeClr>
              </a:solidFill>
              <a:latin typeface="Segoe UI" panose="020B0502040204020203" pitchFamily="34" charset="0"/>
              <a:ea typeface="Segoe UI" panose="020B0502040204020203" pitchFamily="34" charset="0"/>
              <a:cs typeface="Segoe UI" panose="020B0502040204020203" pitchFamily="34" charset="0"/>
            </a:defRPr>
          </a:pPr>
          <a:endParaRPr lang="en-US" sz="1000" b="0" i="0" u="none" strike="noStrike" baseline="0">
            <a:solidFill>
              <a:schemeClr val="tx1">
                <a:lumMod val="75000"/>
                <a:lumOff val="25000"/>
              </a:schemeClr>
            </a:solidFill>
            <a:latin typeface="Segoe UI" panose="020B0502040204020203" pitchFamily="34" charset="0"/>
            <a:cs typeface="Segoe UI" panose="020B0502040204020203" pitchFamily="34" charset="0"/>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lt1"/>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4A_99EAD49.xml><?xml version="1.0" encoding="utf-8"?>
<p188:cmLst xmlns:a="http://schemas.openxmlformats.org/drawingml/2006/main" xmlns:r="http://schemas.openxmlformats.org/officeDocument/2006/relationships" xmlns:p188="http://schemas.microsoft.com/office/powerpoint/2018/8/main">
  <p188:cm id="{CA0ADC5D-A1F5-45FA-B115-CD3DCBC88EF3}" authorId="{D296EFA7-0D1E-03B8-0ACB-0E639503A15F}" created="2026-10-15T15:42:59.557">
    <pc:sldMkLst xmlns:pc="http://schemas.microsoft.com/office/powerpoint/2013/main/command">
      <pc:docMk/>
      <pc:sldMk cId="161393993" sldId="330"/>
    </pc:sldMkLst>
    <p188:txBody>
      <a:bodyPr/>
      <a:lstStyle/>
      <a:p>
        <a:r>
          <a:rPr lang="en-CA"/>
          <a:t>Riley to fix</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6407DD-7D4F-4149-BFC1-D4208C42B517}" type="datetimeFigureOut">
              <a:rPr lang="en-CA" smtClean="0"/>
              <a:t>2026-10-17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940475-704E-42FA-B5AE-EB50A7D18FBD}" type="slidenum">
              <a:rPr lang="en-CA" smtClean="0"/>
              <a:t>‹#›</a:t>
            </a:fld>
            <a:endParaRPr lang="en-CA"/>
          </a:p>
        </p:txBody>
      </p:sp>
    </p:spTree>
    <p:extLst>
      <p:ext uri="{BB962C8B-B14F-4D97-AF65-F5344CB8AC3E}">
        <p14:creationId xmlns:p14="http://schemas.microsoft.com/office/powerpoint/2010/main" val="3901676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prstClr val="black"/>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a:t>
            </a:fld>
            <a:endParaRPr kumimoji="0" lang="en-US" sz="1300" b="0" i="0" u="none" strike="noStrike" kern="0" cap="none" spc="0" normalizeH="0" baseline="0" noProof="0" dirty="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245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FA0EC-BB42-8B06-0C4A-C84FE7204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6F23C-384D-2B19-7A82-C2C17DE41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9EDD2-1EF3-D057-6760-80B29A8A06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78F03E-C65C-0AAA-C575-0D1E13C28F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383399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4AA23-8896-F3DA-EF4E-4187E0AB1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0BB72-072F-909A-3EC0-BBAA4EB944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13345-1E92-0915-E607-F6A80C39BE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556EDB-D76E-8EAE-9DA6-4A472B00CB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97090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A6454-9110-0FD4-92F8-C62588504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6349F-3731-8C0A-66D2-C7BB78306D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AD7FF4-371E-7BD2-45F1-2DBCD0EF8746}"/>
              </a:ext>
            </a:extLst>
          </p:cNvPr>
          <p:cNvSpPr>
            <a:spLocks noGrp="1"/>
          </p:cNvSpPr>
          <p:nvPr>
            <p:ph type="body" idx="1"/>
          </p:nvPr>
        </p:nvSpPr>
        <p:spPr/>
        <p:txBody>
          <a:bodyPr/>
          <a:lstStyle/>
          <a:p>
            <a:pPr fontAlgn="t"/>
            <a:endParaRPr lang="en-US" b="1" dirty="0"/>
          </a:p>
        </p:txBody>
      </p:sp>
      <p:sp>
        <p:nvSpPr>
          <p:cNvPr id="4" name="Slide Number Placeholder 3">
            <a:extLst>
              <a:ext uri="{FF2B5EF4-FFF2-40B4-BE49-F238E27FC236}">
                <a16:creationId xmlns:a16="http://schemas.microsoft.com/office/drawing/2014/main" id="{8CC4CA3B-D6A4-28B0-BEE3-8DC44ECD89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768624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0E8A2-8805-0E3A-3C9A-59BF9B367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B78FF-10C6-91C8-DCFA-FE2F1AB82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51B92-A267-6AAB-0F9D-7C818DCCB88A}"/>
              </a:ext>
            </a:extLst>
          </p:cNvPr>
          <p:cNvSpPr>
            <a:spLocks noGrp="1"/>
          </p:cNvSpPr>
          <p:nvPr>
            <p:ph type="body" idx="1"/>
          </p:nvPr>
        </p:nvSpPr>
        <p:spPr/>
        <p:txBody>
          <a:bodyPr/>
          <a:lstStyle/>
          <a:p>
            <a:pPr fontAlgn="t"/>
            <a:endParaRPr lang="en-US" b="1" dirty="0"/>
          </a:p>
        </p:txBody>
      </p:sp>
      <p:sp>
        <p:nvSpPr>
          <p:cNvPr id="4" name="Slide Number Placeholder 3">
            <a:extLst>
              <a:ext uri="{FF2B5EF4-FFF2-40B4-BE49-F238E27FC236}">
                <a16:creationId xmlns:a16="http://schemas.microsoft.com/office/drawing/2014/main" id="{35AFFE38-61E5-55DC-D6D2-6E33AF8231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167873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22DDF-16E1-CEFE-5D99-6331EE60F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F54D8-CA83-5496-F9CC-4D7205FE6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D0D38-73BD-1388-09F7-9B52C03EF24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0358813-98DF-E40E-A4E8-2452E5D439B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a:t>
            </a:fld>
            <a:endParaRPr kumimoji="0" lang="en-US" sz="13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573334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404F9-5881-FFF9-7105-80422C659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AF416-5BB9-5867-7FA6-EF424DEF8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8B15B-09DF-F6DE-5342-C111919AEE12}"/>
              </a:ext>
            </a:extLst>
          </p:cNvPr>
          <p:cNvSpPr>
            <a:spLocks noGrp="1"/>
          </p:cNvSpPr>
          <p:nvPr>
            <p:ph type="body" idx="1"/>
          </p:nvPr>
        </p:nvSpPr>
        <p:spPr/>
        <p:txBody>
          <a:bodyPr/>
          <a:lstStyle/>
          <a:p>
            <a:pPr fontAlgn="t"/>
            <a:endParaRPr lang="en-US" b="1" dirty="0"/>
          </a:p>
        </p:txBody>
      </p:sp>
      <p:sp>
        <p:nvSpPr>
          <p:cNvPr id="4" name="Slide Number Placeholder 3">
            <a:extLst>
              <a:ext uri="{FF2B5EF4-FFF2-40B4-BE49-F238E27FC236}">
                <a16:creationId xmlns:a16="http://schemas.microsoft.com/office/drawing/2014/main" id="{AF5A5554-9E64-37B2-6D0B-A261D01999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466579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612E6-CB3E-C769-F412-4FF77E41B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260CE-E488-5523-C7B9-972F86964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03467-C3E3-4D72-A14D-08504903D581}"/>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CA" sz="1200" b="0" i="0" u="none" strike="noStrike" cap="none">
              <a:solidFill>
                <a:schemeClr val="dk1"/>
              </a:solidFill>
              <a:effectLst/>
              <a:latin typeface="Calibri"/>
              <a:ea typeface="Calibri"/>
              <a:cs typeface="Calibri"/>
              <a:sym typeface="Calibri"/>
            </a:endParaRPr>
          </a:p>
        </p:txBody>
      </p:sp>
      <p:sp>
        <p:nvSpPr>
          <p:cNvPr id="4" name="Slide Number Placeholder 3">
            <a:extLst>
              <a:ext uri="{FF2B5EF4-FFF2-40B4-BE49-F238E27FC236}">
                <a16:creationId xmlns:a16="http://schemas.microsoft.com/office/drawing/2014/main" id="{4035C75D-D272-41AF-58E6-7063D3B1549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11</a:t>
            </a:fld>
            <a:endParaRPr kumimoji="0" lang="en-US" sz="13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36870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6BA71-B6DD-3194-8FA5-80257E183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3674E-FC46-2C01-2D4E-C63930590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51925-6F7A-E84C-7418-FD064917C489}"/>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CA" sz="1200" b="0" i="0" u="none" strike="noStrike" cap="none" dirty="0">
              <a:solidFill>
                <a:schemeClr val="dk1"/>
              </a:solidFill>
              <a:effectLst/>
              <a:latin typeface="Calibri"/>
              <a:ea typeface="Calibri"/>
              <a:cs typeface="Calibri"/>
              <a:sym typeface="Calibri"/>
            </a:endParaRPr>
          </a:p>
        </p:txBody>
      </p:sp>
      <p:sp>
        <p:nvSpPr>
          <p:cNvPr id="4" name="Slide Number Placeholder 3">
            <a:extLst>
              <a:ext uri="{FF2B5EF4-FFF2-40B4-BE49-F238E27FC236}">
                <a16:creationId xmlns:a16="http://schemas.microsoft.com/office/drawing/2014/main" id="{7D020316-D7D0-23F9-626C-E497047215B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3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12</a:t>
            </a:fld>
            <a:endParaRPr kumimoji="0" lang="en-US" sz="13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709594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7C2D9-6E41-26CE-BAFB-3B3CDAE2A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B75DB-B88F-257D-F60D-A7EFA0CB4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C2CB3-D075-4DEF-C696-DBD11002C6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0FA4D13-9358-6E8A-F099-22F3EED050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262142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6424B-B37F-D0A2-17D1-9F4D5EC52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A38AF-FAB1-DA8A-FD27-9FFC58A9E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2BA6C-174A-21A0-9091-789EACCC6E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04A980-3A80-3CF8-046A-2E40AD1D1B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3574548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7886D-56FC-AAB2-EFDF-4CF4BA726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A89CF-E352-F3F7-F3D7-2C014192ED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5AA93-FED6-6049-2021-2CA12FECBD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77B48A-A605-7611-430A-9D9BE52D9B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596483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ADAA9-DF0F-4540-96CE-6FA3B93E82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6FF87-2DBD-3F49-3207-847810EE3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49A558-435F-9291-6E71-87DF0DDA0C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A7C36D-DE53-271C-2546-0608DB2800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2804649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EEC13-D9C5-33A3-70BA-0B08F6CF6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399D5-32AD-8271-922E-F1A6FFC9D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DB2E8-7B0E-4414-C8B8-14CE096812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2DEDCF-8004-9AE0-FDFE-B396946A28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BA1922-A226-4D4F-8D76-F8FCD65E80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913869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7563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982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6112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5917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6897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5813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9731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3170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2194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77473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521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 Circle Black">
  <p:cSld name="Title Slide - Circle Black">
    <p:bg>
      <p:bgPr>
        <a:solidFill>
          <a:schemeClr val="lt1"/>
        </a:solidFill>
        <a:effectLst/>
      </p:bgPr>
    </p:bg>
    <p:spTree>
      <p:nvGrpSpPr>
        <p:cNvPr id="1" name="Shape 15"/>
        <p:cNvGrpSpPr/>
        <p:nvPr/>
      </p:nvGrpSpPr>
      <p:grpSpPr>
        <a:xfrm>
          <a:off x="0" y="0"/>
          <a:ext cx="0" cy="0"/>
          <a:chOff x="0" y="0"/>
          <a:chExt cx="0" cy="0"/>
        </a:xfrm>
      </p:grpSpPr>
      <p:sp>
        <p:nvSpPr>
          <p:cNvPr id="16" name="Google Shape;16;p10"/>
          <p:cNvSpPr txBox="1">
            <a:spLocks noGrp="1"/>
          </p:cNvSpPr>
          <p:nvPr>
            <p:ph type="subTitle" idx="1"/>
          </p:nvPr>
        </p:nvSpPr>
        <p:spPr>
          <a:xfrm>
            <a:off x="475201" y="5845182"/>
            <a:ext cx="5592011" cy="505645"/>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chemeClr val="dk1"/>
              </a:buClr>
              <a:buSzPts val="1200"/>
              <a:buNone/>
              <a:defRPr sz="12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0"/>
          <p:cNvSpPr txBox="1">
            <a:spLocks noGrp="1"/>
          </p:cNvSpPr>
          <p:nvPr>
            <p:ph type="body" idx="2"/>
          </p:nvPr>
        </p:nvSpPr>
        <p:spPr>
          <a:xfrm>
            <a:off x="475200" y="6362701"/>
            <a:ext cx="5594349" cy="298451"/>
          </a:xfrm>
          <a:prstGeom prst="rect">
            <a:avLst/>
          </a:prstGeom>
          <a:noFill/>
          <a:ln>
            <a:noFill/>
          </a:ln>
        </p:spPr>
        <p:txBody>
          <a:bodyPr spcFirstLastPara="1" wrap="square" lIns="91425" tIns="45700" rIns="91425" bIns="45700" anchor="t" anchorCtr="0">
            <a:normAutofit/>
          </a:bodyPr>
          <a:lstStyle>
            <a:lvl1pPr marL="457200" lvl="0" indent="-278638" algn="l">
              <a:lnSpc>
                <a:spcPct val="90000"/>
              </a:lnSpc>
              <a:spcBef>
                <a:spcPts val="1000"/>
              </a:spcBef>
              <a:spcAft>
                <a:spcPts val="0"/>
              </a:spcAft>
              <a:buClr>
                <a:schemeClr val="dk1"/>
              </a:buClr>
              <a:buSzPts val="788"/>
              <a:buChar char="•"/>
              <a:defRPr sz="788">
                <a:solidFill>
                  <a:schemeClr val="dk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0"/>
          <p:cNvSpPr txBox="1">
            <a:spLocks noGrp="1"/>
          </p:cNvSpPr>
          <p:nvPr>
            <p:ph type="ftr" idx="11"/>
          </p:nvPr>
        </p:nvSpPr>
        <p:spPr>
          <a:xfrm>
            <a:off x="6371303" y="6552087"/>
            <a:ext cx="5149153" cy="177801"/>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sz="65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12189202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ubtitle &amp; 1 column text">
  <p:cSld name="Title, subtitle &amp; 1 column text">
    <p:spTree>
      <p:nvGrpSpPr>
        <p:cNvPr id="1" name="Shape 19"/>
        <p:cNvGrpSpPr/>
        <p:nvPr/>
      </p:nvGrpSpPr>
      <p:grpSpPr>
        <a:xfrm>
          <a:off x="0" y="0"/>
          <a:ext cx="0" cy="0"/>
          <a:chOff x="0" y="0"/>
          <a:chExt cx="0" cy="0"/>
        </a:xfrm>
      </p:grpSpPr>
      <p:sp>
        <p:nvSpPr>
          <p:cNvPr id="20" name="Google Shape;20;p11"/>
          <p:cNvSpPr txBox="1">
            <a:spLocks noGrp="1"/>
          </p:cNvSpPr>
          <p:nvPr>
            <p:ph type="body" idx="1"/>
          </p:nvPr>
        </p:nvSpPr>
        <p:spPr>
          <a:xfrm>
            <a:off x="469900" y="736688"/>
            <a:ext cx="11252200" cy="75725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575757"/>
              </a:buClr>
              <a:buSzPts val="1400"/>
              <a:buNone/>
              <a:defRPr sz="1400" b="0">
                <a:solidFill>
                  <a:srgbClr val="575757"/>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11"/>
          <p:cNvSpPr txBox="1">
            <a:spLocks noGrp="1"/>
          </p:cNvSpPr>
          <p:nvPr>
            <p:ph type="title"/>
          </p:nvPr>
        </p:nvSpPr>
        <p:spPr>
          <a:xfrm>
            <a:off x="469900" y="402587"/>
            <a:ext cx="11252200" cy="33410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000"/>
              <a:buFont typeface="Open Sans"/>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1"/>
          <p:cNvSpPr txBox="1">
            <a:spLocks noGrp="1"/>
          </p:cNvSpPr>
          <p:nvPr>
            <p:ph type="body" idx="2"/>
          </p:nvPr>
        </p:nvSpPr>
        <p:spPr>
          <a:xfrm>
            <a:off x="469900" y="1665818"/>
            <a:ext cx="11252200" cy="463338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08554996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9"/>
        <p:cNvGrpSpPr/>
        <p:nvPr/>
      </p:nvGrpSpPr>
      <p:grpSpPr>
        <a:xfrm>
          <a:off x="0" y="0"/>
          <a:ext cx="0" cy="0"/>
          <a:chOff x="0" y="0"/>
          <a:chExt cx="0" cy="0"/>
        </a:xfrm>
      </p:grpSpPr>
      <p:sp>
        <p:nvSpPr>
          <p:cNvPr id="30" name="Google Shape;30;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Open San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35" name="Google Shape;35;p12"/>
          <p:cNvGrpSpPr/>
          <p:nvPr/>
        </p:nvGrpSpPr>
        <p:grpSpPr>
          <a:xfrm>
            <a:off x="475325" y="457200"/>
            <a:ext cx="1998000" cy="374400"/>
            <a:chOff x="398463" y="404813"/>
            <a:chExt cx="1627187" cy="307976"/>
          </a:xfrm>
        </p:grpSpPr>
        <p:sp>
          <p:nvSpPr>
            <p:cNvPr id="36" name="Google Shape;36;p12"/>
            <p:cNvSpPr/>
            <p:nvPr/>
          </p:nvSpPr>
          <p:spPr>
            <a:xfrm>
              <a:off x="1938338" y="625476"/>
              <a:ext cx="87312" cy="87313"/>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7" name="Google Shape;37;p12"/>
            <p:cNvSpPr/>
            <p:nvPr/>
          </p:nvSpPr>
          <p:spPr>
            <a:xfrm>
              <a:off x="398463" y="406401"/>
              <a:ext cx="247650" cy="301625"/>
            </a:xfrm>
            <a:custGeom>
              <a:avLst/>
              <a:gdLst/>
              <a:ahLst/>
              <a:cxnLst/>
              <a:rect l="l" t="t" r="r" b="b"/>
              <a:pathLst>
                <a:path w="287" h="347" extrusionOk="0">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8" name="Google Shape;38;p12"/>
            <p:cNvSpPr/>
            <p:nvPr/>
          </p:nvSpPr>
          <p:spPr>
            <a:xfrm>
              <a:off x="906463" y="404813"/>
              <a:ext cx="74612" cy="30321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39" name="Google Shape;39;p12"/>
            <p:cNvSpPr/>
            <p:nvPr/>
          </p:nvSpPr>
          <p:spPr>
            <a:xfrm>
              <a:off x="1011238" y="479426"/>
              <a:ext cx="215900" cy="231775"/>
            </a:xfrm>
            <a:custGeom>
              <a:avLst/>
              <a:gdLst/>
              <a:ahLst/>
              <a:cxnLst/>
              <a:rect l="l" t="t" r="r" b="b"/>
              <a:pathLst>
                <a:path w="252" h="267" extrusionOk="0">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0" name="Google Shape;40;p12"/>
            <p:cNvSpPr/>
            <p:nvPr/>
          </p:nvSpPr>
          <p:spPr>
            <a:xfrm>
              <a:off x="1257300" y="482601"/>
              <a:ext cx="74612" cy="225425"/>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1" name="Google Shape;41;p12"/>
            <p:cNvSpPr/>
            <p:nvPr/>
          </p:nvSpPr>
          <p:spPr>
            <a:xfrm>
              <a:off x="1257300" y="404813"/>
              <a:ext cx="74612" cy="50800"/>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2" name="Google Shape;42;p12"/>
            <p:cNvSpPr/>
            <p:nvPr/>
          </p:nvSpPr>
          <p:spPr>
            <a:xfrm>
              <a:off x="1362075" y="411163"/>
              <a:ext cx="158750" cy="300038"/>
            </a:xfrm>
            <a:custGeom>
              <a:avLst/>
              <a:gdLst/>
              <a:ahLst/>
              <a:cxnLst/>
              <a:rect l="l" t="t" r="r" b="b"/>
              <a:pathLst>
                <a:path w="184" h="344" extrusionOk="0">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3" name="Google Shape;43;p12"/>
            <p:cNvSpPr/>
            <p:nvPr/>
          </p:nvSpPr>
          <p:spPr>
            <a:xfrm>
              <a:off x="1535113" y="411163"/>
              <a:ext cx="158750" cy="300038"/>
            </a:xfrm>
            <a:custGeom>
              <a:avLst/>
              <a:gdLst/>
              <a:ahLst/>
              <a:cxnLst/>
              <a:rect l="l" t="t" r="r" b="b"/>
              <a:pathLst>
                <a:path w="184" h="344" extrusionOk="0">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4" name="Google Shape;44;p12"/>
            <p:cNvSpPr/>
            <p:nvPr/>
          </p:nvSpPr>
          <p:spPr>
            <a:xfrm>
              <a:off x="1709738" y="479426"/>
              <a:ext cx="211137" cy="231775"/>
            </a:xfrm>
            <a:custGeom>
              <a:avLst/>
              <a:gdLst/>
              <a:ahLst/>
              <a:cxnLst/>
              <a:rect l="l" t="t" r="r" b="b"/>
              <a:pathLst>
                <a:path w="244" h="267" extrusionOk="0">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sp>
          <p:nvSpPr>
            <p:cNvPr id="45" name="Google Shape;45;p12"/>
            <p:cNvSpPr/>
            <p:nvPr/>
          </p:nvSpPr>
          <p:spPr>
            <a:xfrm>
              <a:off x="668338" y="479426"/>
              <a:ext cx="209550" cy="231775"/>
            </a:xfrm>
            <a:custGeom>
              <a:avLst/>
              <a:gdLst/>
              <a:ahLst/>
              <a:cxnLst/>
              <a:rect l="l" t="t" r="r" b="b"/>
              <a:pathLst>
                <a:path w="243" h="267" extrusionOk="0">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50"/>
                <a:buFont typeface="Arial"/>
                <a:buNone/>
              </a:pPr>
              <a:endParaRPr sz="1950" b="0" i="0" u="none" strike="noStrike" cap="none">
                <a:solidFill>
                  <a:schemeClr val="lt1"/>
                </a:solidFill>
                <a:latin typeface="Calibri"/>
                <a:ea typeface="Calibri"/>
                <a:cs typeface="Calibri"/>
                <a:sym typeface="Calibri"/>
              </a:endParaRPr>
            </a:p>
          </p:txBody>
        </p:sp>
      </p:grpSp>
      <p:sp>
        <p:nvSpPr>
          <p:cNvPr id="2" name="Date Placeholder 1">
            <a:extLst>
              <a:ext uri="{FF2B5EF4-FFF2-40B4-BE49-F238E27FC236}">
                <a16:creationId xmlns:a16="http://schemas.microsoft.com/office/drawing/2014/main" id="{C92E2541-1AC4-5B75-7824-75662CB57431}"/>
              </a:ext>
            </a:extLst>
          </p:cNvPr>
          <p:cNvSpPr>
            <a:spLocks noGrp="1"/>
          </p:cNvSpPr>
          <p:nvPr>
            <p:ph type="dt" idx="10"/>
          </p:nvPr>
        </p:nvSpPr>
        <p:spPr/>
        <p:txBody>
          <a:bodyPr/>
          <a:lstStyle/>
          <a:p>
            <a:endParaRPr lang="en-US"/>
          </a:p>
        </p:txBody>
      </p:sp>
      <p:sp>
        <p:nvSpPr>
          <p:cNvPr id="3" name="Footer Placeholder 2">
            <a:extLst>
              <a:ext uri="{FF2B5EF4-FFF2-40B4-BE49-F238E27FC236}">
                <a16:creationId xmlns:a16="http://schemas.microsoft.com/office/drawing/2014/main" id="{12D88A18-355B-BB41-0B55-B4C132827877}"/>
              </a:ext>
            </a:extLst>
          </p:cNvPr>
          <p:cNvSpPr>
            <a:spLocks noGrp="1"/>
          </p:cNvSpPr>
          <p:nvPr>
            <p:ph type="ftr" idx="11"/>
          </p:nvPr>
        </p:nvSpPr>
        <p:spPr/>
        <p:txBody>
          <a:bodyPr/>
          <a:lstStyle/>
          <a:p>
            <a:endParaRPr lang="en-US"/>
          </a:p>
        </p:txBody>
      </p:sp>
    </p:spTree>
    <p:extLst>
      <p:ext uri="{BB962C8B-B14F-4D97-AF65-F5344CB8AC3E}">
        <p14:creationId xmlns:p14="http://schemas.microsoft.com/office/powerpoint/2010/main" val="3055013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Content">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26782" y="771525"/>
            <a:ext cx="11338436" cy="645817"/>
          </a:xfrm>
          <a:prstGeom prst="rect">
            <a:avLst/>
          </a:prstGeom>
        </p:spPr>
        <p:txBody>
          <a:bodyPr lIns="0" tIns="45720" rIns="0" bIns="0" anchor="t">
            <a:noAutofit/>
          </a:bodyPr>
          <a:lstStyle>
            <a:lvl1pPr marL="0" indent="0">
              <a:spcAft>
                <a:spcPts val="0"/>
              </a:spcAft>
              <a:buNone/>
              <a:defRPr sz="1200" b="0">
                <a:solidFill>
                  <a:schemeClr val="tx1"/>
                </a:solidFill>
                <a:latin typeface="+mn-lt"/>
              </a:defRPr>
            </a:lvl1pPr>
          </a:lstStyle>
          <a:p>
            <a:pPr lvl="0"/>
            <a:r>
              <a:rPr lang="en-US" noProof="0"/>
              <a:t>Click to add subtitle</a:t>
            </a:r>
          </a:p>
        </p:txBody>
      </p:sp>
      <p:sp>
        <p:nvSpPr>
          <p:cNvPr id="5" name="Title Placeholder 1"/>
          <p:cNvSpPr>
            <a:spLocks noGrp="1"/>
          </p:cNvSpPr>
          <p:nvPr>
            <p:ph type="title"/>
          </p:nvPr>
        </p:nvSpPr>
        <p:spPr>
          <a:xfrm>
            <a:off x="426782" y="137197"/>
            <a:ext cx="11338436" cy="548634"/>
          </a:xfrm>
          <a:prstGeom prst="rect">
            <a:avLst/>
          </a:prstGeom>
        </p:spPr>
        <p:txBody>
          <a:bodyPr vert="horz" lIns="0" tIns="0" rIns="0" bIns="0" rtlCol="0" anchor="ctr" anchorCtr="0">
            <a:noAutofit/>
          </a:bodyPr>
          <a:lstStyle>
            <a:lvl1pPr>
              <a:defRPr sz="2000" b="1">
                <a:solidFill>
                  <a:schemeClr val="tx1"/>
                </a:solidFill>
                <a:latin typeface="+mn-lt"/>
              </a:defRPr>
            </a:lvl1pPr>
          </a:lstStyle>
          <a:p>
            <a:r>
              <a:rPr lang="en-US" noProof="0"/>
              <a:t>Click to edit Master title style</a:t>
            </a:r>
          </a:p>
        </p:txBody>
      </p:sp>
    </p:spTree>
    <p:extLst>
      <p:ext uri="{BB962C8B-B14F-4D97-AF65-F5344CB8AC3E}">
        <p14:creationId xmlns:p14="http://schemas.microsoft.com/office/powerpoint/2010/main" val="28656835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6565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068844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91014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71350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552827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443028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51860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731214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074557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270107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040245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86990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21151077"/>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Open Sans"/>
              <a:buNone/>
              <a:defRPr sz="4400" b="0" i="0" u="none" strike="noStrike" cap="none">
                <a:solidFill>
                  <a:schemeClr val="dk1"/>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pen Sans"/>
                <a:ea typeface="Open Sans"/>
                <a:cs typeface="Open Sans"/>
                <a:sym typeface="Open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pen Sans"/>
                <a:ea typeface="Open Sans"/>
                <a:cs typeface="Open Sans"/>
                <a:sym typeface="Open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pen Sans"/>
                <a:ea typeface="Open Sans"/>
                <a:cs typeface="Open Sans"/>
                <a:sym typeface="Open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855297097"/>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54671852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https://www.businesswire.com/news/home/20250916314726/en/Deepfakes-Already-Hitting-Businesses-as-Often-as-Traditional-Fraud-Regula-Survey-Finds" TargetMode="External"/><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slide" Target="slide1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8.xm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xml"/><Relationship Id="rId7" Type="http://schemas.openxmlformats.org/officeDocument/2006/relationships/image" Target="../media/image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1.png"/><Relationship Id="rId5" Type="http://schemas.openxmlformats.org/officeDocument/2006/relationships/notesSlide" Target="../notesSlides/notesSlide5.xml"/><Relationship Id="rId4" Type="http://schemas.openxmlformats.org/officeDocument/2006/relationships/slideLayout" Target="../slideLayouts/slideLayout15.xml"/><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4A_99EAD49.xml"/><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3.png"/><Relationship Id="rId12"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 Id="rId1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7.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5.xml"/><Relationship Id="rId1" Type="http://schemas.openxmlformats.org/officeDocument/2006/relationships/tags" Target="../tags/tag4.xml"/><Relationship Id="rId5" Type="http://schemas.openxmlformats.org/officeDocument/2006/relationships/chart" Target="../charts/chart3.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notesSlide" Target="../notesSlides/notesSlide14.xml"/><Relationship Id="rId7" Type="http://schemas.openxmlformats.org/officeDocument/2006/relationships/image" Target="../media/image42.png"/><Relationship Id="rId2" Type="http://schemas.openxmlformats.org/officeDocument/2006/relationships/slideLayout" Target="../slideLayouts/slideLayout15.xml"/><Relationship Id="rId1" Type="http://schemas.openxmlformats.org/officeDocument/2006/relationships/tags" Target="../tags/tag5.xml"/><Relationship Id="rId6" Type="http://schemas.microsoft.com/office/2014/relationships/chartEx" Target="../charts/chartEx1.xml"/><Relationship Id="rId5" Type="http://schemas.openxmlformats.org/officeDocument/2006/relationships/chart" Target="../charts/chart5.xml"/><Relationship Id="rId4" Type="http://schemas.openxmlformats.org/officeDocument/2006/relationships/chart" Target="../charts/char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a:extLst>
            <a:ext uri="{FF2B5EF4-FFF2-40B4-BE49-F238E27FC236}">
              <a16:creationId xmlns:a16="http://schemas.microsoft.com/office/drawing/2014/main" id="{F9E280C0-E3F4-BB87-45BF-69E64033F97F}"/>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1AF24DB7-602A-17A2-3448-D3532DE97F85}"/>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1. Deepfake &amp; Emerging AI Risk</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124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“The convergence of GenAI, synthetic identities and real time digital identity verification. This will matter significantly because fraudsters will become AI-native, identity becomes the new battleground, fraud prevention will replace fraud detection, and the winners will use AI against AI.” </a:t>
            </a:r>
            <a:r>
              <a:rPr kumimoji="0" lang="en-US" sz="2000" b="1"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 Director of Top 50 Global Insurance Firm</a:t>
            </a:r>
            <a:endParaRPr kumimoji="0" lang="en-US" sz="2000" b="1" i="0" u="none" strike="noStrike" kern="0" cap="none" spc="0" normalizeH="0" baseline="0" noProof="0" dirty="0">
              <a:ln>
                <a:noFill/>
              </a:ln>
              <a:solidFill>
                <a:srgbClr val="000000"/>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265975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B145B-E559-1F96-17D0-51263EEF20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768E99F-ACA1-62DC-129D-48B20E5DFB92}"/>
              </a:ext>
            </a:extLst>
          </p:cNvPr>
          <p:cNvSpPr/>
          <p:nvPr/>
        </p:nvSpPr>
        <p:spPr>
          <a:xfrm>
            <a:off x="269139" y="1428203"/>
            <a:ext cx="11651914" cy="4303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One-third of organizations globally</a:t>
            </a:r>
            <a:r>
              <a:rPr kumimoji="0" lang="en-US" sz="1400" b="0" i="0" u="none" strike="noStrike" kern="1200" cap="none" spc="0" normalizeH="0" baseline="3000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1</a:t>
            </a:r>
            <a:r>
              <a:rPr kumimoji="0" lang="en-US" sz="14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 now report experiencing deepfake fraud incidents, on par with document fraud and social engineering. As organizations grapple with these risks, the emergence of agentic AI solutions (e.g., Meta Muse) introduces a new dimension of exposure, extending fraud concerns beyond impersonation to autonomous systems capable of performing / initiating activities on behalf of customers. Against this backdrop, the critical question is where AI-enabled fraud is exerting the greatest pressure today.</a:t>
            </a:r>
          </a:p>
        </p:txBody>
      </p:sp>
      <p:sp>
        <p:nvSpPr>
          <p:cNvPr id="153" name="Rectangle 152">
            <a:extLst>
              <a:ext uri="{FF2B5EF4-FFF2-40B4-BE49-F238E27FC236}">
                <a16:creationId xmlns:a16="http://schemas.microsoft.com/office/drawing/2014/main" id="{0FFE2E6F-E30C-CD35-D1C9-28480935BE48}"/>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DEEPFAKE &amp; EMERGING AI RISK</a:t>
            </a:r>
          </a:p>
        </p:txBody>
      </p:sp>
      <p:grpSp>
        <p:nvGrpSpPr>
          <p:cNvPr id="15" name="Group 14">
            <a:extLst>
              <a:ext uri="{FF2B5EF4-FFF2-40B4-BE49-F238E27FC236}">
                <a16:creationId xmlns:a16="http://schemas.microsoft.com/office/drawing/2014/main" id="{83C24FB5-7AE9-6886-4979-6664A8EA17E6}"/>
              </a:ext>
            </a:extLst>
          </p:cNvPr>
          <p:cNvGrpSpPr/>
          <p:nvPr/>
        </p:nvGrpSpPr>
        <p:grpSpPr>
          <a:xfrm>
            <a:off x="249638" y="464705"/>
            <a:ext cx="11521440" cy="924347"/>
            <a:chOff x="249638" y="464705"/>
            <a:chExt cx="11521440" cy="924347"/>
          </a:xfrm>
        </p:grpSpPr>
        <p:sp>
          <p:nvSpPr>
            <p:cNvPr id="19" name="Text 22">
              <a:extLst>
                <a:ext uri="{FF2B5EF4-FFF2-40B4-BE49-F238E27FC236}">
                  <a16:creationId xmlns:a16="http://schemas.microsoft.com/office/drawing/2014/main" id="{FFF2157E-F0CB-F08F-93A7-91A3A7A0DB83}"/>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WHERE DEEPFAKE RISK CONCENTRATES </a:t>
              </a:r>
            </a:p>
          </p:txBody>
        </p:sp>
        <p:sp>
          <p:nvSpPr>
            <p:cNvPr id="5" name="TextBox 4">
              <a:extLst>
                <a:ext uri="{FF2B5EF4-FFF2-40B4-BE49-F238E27FC236}">
                  <a16:creationId xmlns:a16="http://schemas.microsoft.com/office/drawing/2014/main" id="{13A38D4F-D29E-FA15-7D76-8E14E17191C6}"/>
                </a:ext>
              </a:extLst>
            </p:cNvPr>
            <p:cNvSpPr txBox="1"/>
            <p:nvPr/>
          </p:nvSpPr>
          <p:spPr>
            <a:xfrm>
              <a:off x="249638" y="711944"/>
              <a:ext cx="11521440"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200" b="1" i="0" u="none" strike="noStrike" kern="1200" cap="none" spc="0" normalizeH="0" baseline="0" noProof="0" dirty="0">
                  <a:ln>
                    <a:noFill/>
                  </a:ln>
                  <a:solidFill>
                    <a:srgbClr val="111111"/>
                  </a:solidFill>
                  <a:effectLst/>
                  <a:uLnTx/>
                  <a:uFillTx/>
                  <a:latin typeface="Segoe UI" panose="020B0502040204020203" pitchFamily="34" charset="0"/>
                  <a:ea typeface="+mn-ea"/>
                  <a:cs typeface="Segoe UI" panose="020B0502040204020203" pitchFamily="34" charset="0"/>
                  <a:sym typeface="Arial"/>
                </a:rPr>
                <a:t>Banking and insurance converge on onboarding and payments, but diverge at the contact center </a:t>
              </a:r>
              <a:endParaRPr kumimoji="0" sz="2200" b="1" i="0" u="none" strike="noStrike" kern="1200" cap="none" spc="0" normalizeH="0" baseline="0" noProof="0" dirty="0">
                <a:ln>
                  <a:noFill/>
                </a:ln>
                <a:solidFill>
                  <a:srgbClr val="111111"/>
                </a:solidFill>
                <a:effectLst/>
                <a:uLnTx/>
                <a:uFillTx/>
                <a:latin typeface="Segoe UI" panose="020B0502040204020203" pitchFamily="34" charset="0"/>
                <a:ea typeface="+mn-ea"/>
                <a:cs typeface="Segoe UI" panose="020B0502040204020203" pitchFamily="34" charset="0"/>
                <a:sym typeface="Arial"/>
              </a:endParaRPr>
            </a:p>
          </p:txBody>
        </p:sp>
      </p:grpSp>
      <p:sp>
        <p:nvSpPr>
          <p:cNvPr id="13" name="Rounded Rectangle 47">
            <a:extLst>
              <a:ext uri="{FF2B5EF4-FFF2-40B4-BE49-F238E27FC236}">
                <a16:creationId xmlns:a16="http://schemas.microsoft.com/office/drawing/2014/main" id="{8942D059-49E6-6AFD-6963-0380C8F61610}"/>
              </a:ext>
            </a:extLst>
          </p:cNvPr>
          <p:cNvSpPr/>
          <p:nvPr/>
        </p:nvSpPr>
        <p:spPr>
          <a:xfrm>
            <a:off x="3146629" y="2414134"/>
            <a:ext cx="4219528" cy="2367373"/>
          </a:xfrm>
          <a:prstGeom prst="roundRect">
            <a:avLst>
              <a:gd name="adj" fmla="val 6000"/>
            </a:avLst>
          </a:prstGeom>
          <a:solidFill>
            <a:srgbClr val="FFFFFF"/>
          </a:solid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v</a:t>
            </a: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4" name="Rectangle: Rounded Corners 13">
            <a:extLst>
              <a:ext uri="{FF2B5EF4-FFF2-40B4-BE49-F238E27FC236}">
                <a16:creationId xmlns:a16="http://schemas.microsoft.com/office/drawing/2014/main" id="{4D31C47A-861A-BFBD-DDA0-60EF9533C659}"/>
              </a:ext>
            </a:extLst>
          </p:cNvPr>
          <p:cNvSpPr/>
          <p:nvPr/>
        </p:nvSpPr>
        <p:spPr>
          <a:xfrm>
            <a:off x="249638" y="2431282"/>
            <a:ext cx="2647532" cy="235022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8" name="TextBox 17">
            <a:extLst>
              <a:ext uri="{FF2B5EF4-FFF2-40B4-BE49-F238E27FC236}">
                <a16:creationId xmlns:a16="http://schemas.microsoft.com/office/drawing/2014/main" id="{251CAC15-B0B6-5A6B-9A85-21F4CDAE68C8}"/>
              </a:ext>
            </a:extLst>
          </p:cNvPr>
          <p:cNvSpPr txBox="1"/>
          <p:nvPr/>
        </p:nvSpPr>
        <p:spPr>
          <a:xfrm>
            <a:off x="584015" y="3269674"/>
            <a:ext cx="1801368" cy="123110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Both sectors feel pressure where identity is established and money moves</a:t>
            </a:r>
            <a:endParaRPr kumimoji="0" sz="16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22" name="Title 2">
            <a:extLst>
              <a:ext uri="{FF2B5EF4-FFF2-40B4-BE49-F238E27FC236}">
                <a16:creationId xmlns:a16="http://schemas.microsoft.com/office/drawing/2014/main" id="{F8C0FCF4-7CF4-74E9-22AB-D65F03E92177}"/>
              </a:ext>
            </a:extLst>
          </p:cNvPr>
          <p:cNvSpPr txBox="1">
            <a:spLocks/>
          </p:cNvSpPr>
          <p:nvPr/>
        </p:nvSpPr>
        <p:spPr>
          <a:xfrm>
            <a:off x="3768775" y="2495287"/>
            <a:ext cx="3679607" cy="627864"/>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0" normalizeH="0" baseline="0" noProof="0" dirty="0">
                <a:ln>
                  <a:noFill/>
                </a:ln>
                <a:solidFill>
                  <a:srgbClr val="046A38"/>
                </a:solidFill>
                <a:effectLst/>
                <a:uLnTx/>
                <a:uFillTx/>
                <a:latin typeface="Segoe UI" panose="020B0502040204020203" pitchFamily="34" charset="0"/>
                <a:ea typeface="+mj-ea"/>
                <a:cs typeface="Segoe UI" panose="020B0502040204020203" pitchFamily="34" charset="0"/>
                <a:sym typeface="Arial"/>
              </a:rPr>
              <a:t>Digital onboarding, KYC &amp; identity verification</a:t>
            </a:r>
          </a:p>
        </p:txBody>
      </p:sp>
      <p:grpSp>
        <p:nvGrpSpPr>
          <p:cNvPr id="23" name="Graphic 4">
            <a:extLst>
              <a:ext uri="{FF2B5EF4-FFF2-40B4-BE49-F238E27FC236}">
                <a16:creationId xmlns:a16="http://schemas.microsoft.com/office/drawing/2014/main" id="{07FADAA1-47D5-588A-E162-032C28F3F898}"/>
              </a:ext>
            </a:extLst>
          </p:cNvPr>
          <p:cNvGrpSpPr/>
          <p:nvPr/>
        </p:nvGrpSpPr>
        <p:grpSpPr>
          <a:xfrm>
            <a:off x="3272249" y="2578306"/>
            <a:ext cx="461826" cy="461826"/>
            <a:chOff x="905454" y="918179"/>
            <a:chExt cx="362309" cy="361971"/>
          </a:xfrm>
          <a:solidFill>
            <a:schemeClr val="accent2"/>
          </a:solidFill>
        </p:grpSpPr>
        <p:sp>
          <p:nvSpPr>
            <p:cNvPr id="24" name="Graphic 4">
              <a:extLst>
                <a:ext uri="{FF2B5EF4-FFF2-40B4-BE49-F238E27FC236}">
                  <a16:creationId xmlns:a16="http://schemas.microsoft.com/office/drawing/2014/main" id="{F7942F26-6452-6A92-9A7D-7D897709347B}"/>
                </a:ext>
              </a:extLst>
            </p:cNvPr>
            <p:cNvSpPr/>
            <p:nvPr/>
          </p:nvSpPr>
          <p:spPr>
            <a:xfrm>
              <a:off x="1003105" y="1019046"/>
              <a:ext cx="113855" cy="110442"/>
            </a:xfrm>
            <a:custGeom>
              <a:avLst/>
              <a:gdLst>
                <a:gd name="connsiteX0" fmla="*/ 83184 w 113855"/>
                <a:gd name="connsiteY0" fmla="*/ 0 h 110442"/>
                <a:gd name="connsiteX1" fmla="*/ 754 w 113855"/>
                <a:gd name="connsiteY1" fmla="*/ 15322 h 110442"/>
                <a:gd name="connsiteX2" fmla="*/ 20563 w 113855"/>
                <a:gd name="connsiteY2" fmla="*/ 110443 h 110442"/>
                <a:gd name="connsiteX3" fmla="*/ 113856 w 113855"/>
                <a:gd name="connsiteY3" fmla="*/ 17237 h 110442"/>
                <a:gd name="connsiteX4" fmla="*/ 83184 w 113855"/>
                <a:gd name="connsiteY4" fmla="*/ 0 h 110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5" h="110442">
                  <a:moveTo>
                    <a:pt x="83184" y="0"/>
                  </a:moveTo>
                  <a:cubicBezTo>
                    <a:pt x="60819" y="20429"/>
                    <a:pt x="28869" y="26174"/>
                    <a:pt x="754" y="15322"/>
                  </a:cubicBezTo>
                  <a:cubicBezTo>
                    <a:pt x="-2441" y="48518"/>
                    <a:pt x="4588" y="81715"/>
                    <a:pt x="20563" y="110443"/>
                  </a:cubicBezTo>
                  <a:lnTo>
                    <a:pt x="113856" y="17237"/>
                  </a:lnTo>
                  <a:cubicBezTo>
                    <a:pt x="102354" y="14045"/>
                    <a:pt x="92130" y="8299"/>
                    <a:pt x="83184"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5" name="Graphic 4">
              <a:extLst>
                <a:ext uri="{FF2B5EF4-FFF2-40B4-BE49-F238E27FC236}">
                  <a16:creationId xmlns:a16="http://schemas.microsoft.com/office/drawing/2014/main" id="{F625A9D4-1FFE-73DB-FDF7-C9687B68743C}"/>
                </a:ext>
              </a:extLst>
            </p:cNvPr>
            <p:cNvSpPr/>
            <p:nvPr/>
          </p:nvSpPr>
          <p:spPr>
            <a:xfrm>
              <a:off x="1047310" y="1038836"/>
              <a:ext cx="121669" cy="153853"/>
            </a:xfrm>
            <a:custGeom>
              <a:avLst/>
              <a:gdLst>
                <a:gd name="connsiteX0" fmla="*/ 0 w 121669"/>
                <a:gd name="connsiteY0" fmla="*/ 121934 h 153853"/>
                <a:gd name="connsiteX1" fmla="*/ 38979 w 121669"/>
                <a:gd name="connsiteY1" fmla="*/ 153854 h 153853"/>
                <a:gd name="connsiteX2" fmla="*/ 121409 w 121669"/>
                <a:gd name="connsiteY2" fmla="*/ 0 h 153853"/>
                <a:gd name="connsiteX3" fmla="*/ 0 w 121669"/>
                <a:gd name="connsiteY3" fmla="*/ 121934 h 153853"/>
              </a:gdLst>
              <a:ahLst/>
              <a:cxnLst>
                <a:cxn ang="0">
                  <a:pos x="connsiteX0" y="connsiteY0"/>
                </a:cxn>
                <a:cxn ang="0">
                  <a:pos x="connsiteX1" y="connsiteY1"/>
                </a:cxn>
                <a:cxn ang="0">
                  <a:pos x="connsiteX2" y="connsiteY2"/>
                </a:cxn>
                <a:cxn ang="0">
                  <a:pos x="connsiteX3" y="connsiteY3"/>
                </a:cxn>
              </a:cxnLst>
              <a:rect l="l" t="t" r="r" b="b"/>
              <a:pathLst>
                <a:path w="121669" h="153853">
                  <a:moveTo>
                    <a:pt x="0" y="121934"/>
                  </a:moveTo>
                  <a:cubicBezTo>
                    <a:pt x="11502" y="134702"/>
                    <a:pt x="24921" y="144916"/>
                    <a:pt x="38979" y="153854"/>
                  </a:cubicBezTo>
                  <a:cubicBezTo>
                    <a:pt x="54954" y="144916"/>
                    <a:pt x="126521" y="97037"/>
                    <a:pt x="121409" y="0"/>
                  </a:cubicBezTo>
                  <a:lnTo>
                    <a:pt x="0" y="12193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31" name="Graphic 4">
              <a:extLst>
                <a:ext uri="{FF2B5EF4-FFF2-40B4-BE49-F238E27FC236}">
                  <a16:creationId xmlns:a16="http://schemas.microsoft.com/office/drawing/2014/main" id="{F6997BFE-6FF6-EFEE-A7D7-25D69A40EB07}"/>
                </a:ext>
              </a:extLst>
            </p:cNvPr>
            <p:cNvSpPr/>
            <p:nvPr/>
          </p:nvSpPr>
          <p:spPr>
            <a:xfrm>
              <a:off x="1031335" y="1038836"/>
              <a:ext cx="120130" cy="112358"/>
            </a:xfrm>
            <a:custGeom>
              <a:avLst/>
              <a:gdLst>
                <a:gd name="connsiteX0" fmla="*/ 100961 w 120130"/>
                <a:gd name="connsiteY0" fmla="*/ 638 h 112358"/>
                <a:gd name="connsiteX1" fmla="*/ 0 w 120130"/>
                <a:gd name="connsiteY1" fmla="*/ 101505 h 112358"/>
                <a:gd name="connsiteX2" fmla="*/ 7668 w 120130"/>
                <a:gd name="connsiteY2" fmla="*/ 112358 h 112358"/>
                <a:gd name="connsiteX3" fmla="*/ 120131 w 120130"/>
                <a:gd name="connsiteY3" fmla="*/ 0 h 112358"/>
                <a:gd name="connsiteX4" fmla="*/ 100961 w 120130"/>
                <a:gd name="connsiteY4" fmla="*/ 638 h 112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30" h="112358">
                  <a:moveTo>
                    <a:pt x="100961" y="638"/>
                  </a:moveTo>
                  <a:lnTo>
                    <a:pt x="0" y="101505"/>
                  </a:lnTo>
                  <a:cubicBezTo>
                    <a:pt x="2556" y="105336"/>
                    <a:pt x="5112" y="109166"/>
                    <a:pt x="7668" y="112358"/>
                  </a:cubicBezTo>
                  <a:lnTo>
                    <a:pt x="120131" y="0"/>
                  </a:lnTo>
                  <a:cubicBezTo>
                    <a:pt x="113741" y="638"/>
                    <a:pt x="107351" y="638"/>
                    <a:pt x="100961" y="63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35" name="Graphic 4">
              <a:extLst>
                <a:ext uri="{FF2B5EF4-FFF2-40B4-BE49-F238E27FC236}">
                  <a16:creationId xmlns:a16="http://schemas.microsoft.com/office/drawing/2014/main" id="{09D61E77-7B09-3D4E-746F-8256A8BEA680}"/>
                </a:ext>
              </a:extLst>
            </p:cNvPr>
            <p:cNvSpPr/>
            <p:nvPr/>
          </p:nvSpPr>
          <p:spPr>
            <a:xfrm>
              <a:off x="9054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184030 w 362309"/>
                <a:gd name="connsiteY6" fmla="*/ 287918 h 361971"/>
                <a:gd name="connsiteX7" fmla="*/ 183391 w 362309"/>
                <a:gd name="connsiteY7" fmla="*/ 288556 h 361971"/>
                <a:gd name="connsiteX8" fmla="*/ 182752 w 362309"/>
                <a:gd name="connsiteY8" fmla="*/ 288556 h 361971"/>
                <a:gd name="connsiteX9" fmla="*/ 181474 w 362309"/>
                <a:gd name="connsiteY9" fmla="*/ 288556 h 361971"/>
                <a:gd name="connsiteX10" fmla="*/ 181474 w 362309"/>
                <a:gd name="connsiteY10" fmla="*/ 288556 h 361971"/>
                <a:gd name="connsiteX11" fmla="*/ 180196 w 362309"/>
                <a:gd name="connsiteY11" fmla="*/ 288556 h 361971"/>
                <a:gd name="connsiteX12" fmla="*/ 179557 w 362309"/>
                <a:gd name="connsiteY12" fmla="*/ 288556 h 361971"/>
                <a:gd name="connsiteX13" fmla="*/ 178918 w 362309"/>
                <a:gd name="connsiteY13" fmla="*/ 287918 h 361971"/>
                <a:gd name="connsiteX14" fmla="*/ 87542 w 362309"/>
                <a:gd name="connsiteY14" fmla="*/ 105974 h 361971"/>
                <a:gd name="connsiteX15" fmla="*/ 94571 w 362309"/>
                <a:gd name="connsiteY15" fmla="*/ 100229 h 361971"/>
                <a:gd name="connsiteX16" fmla="*/ 97127 w 362309"/>
                <a:gd name="connsiteY16" fmla="*/ 100867 h 361971"/>
                <a:gd name="connsiteX17" fmla="*/ 177640 w 362309"/>
                <a:gd name="connsiteY17" fmla="*/ 87461 h 361971"/>
                <a:gd name="connsiteX18" fmla="*/ 186586 w 362309"/>
                <a:gd name="connsiteY18" fmla="*/ 87461 h 361971"/>
                <a:gd name="connsiteX19" fmla="*/ 186586 w 362309"/>
                <a:gd name="connsiteY19" fmla="*/ 87461 h 361971"/>
                <a:gd name="connsiteX20" fmla="*/ 267099 w 362309"/>
                <a:gd name="connsiteY20" fmla="*/ 100867 h 361971"/>
                <a:gd name="connsiteX21" fmla="*/ 272850 w 362309"/>
                <a:gd name="connsiteY21" fmla="*/ 100867 h 361971"/>
                <a:gd name="connsiteX22" fmla="*/ 276684 w 362309"/>
                <a:gd name="connsiteY22" fmla="*/ 105974 h 361971"/>
                <a:gd name="connsiteX23" fmla="*/ 184030 w 362309"/>
                <a:gd name="connsiteY23" fmla="*/ 287918 h 361971"/>
                <a:gd name="connsiteX24" fmla="*/ 184030 w 362309"/>
                <a:gd name="connsiteY24" fmla="*/ 2879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184030" y="287918"/>
                  </a:moveTo>
                  <a:lnTo>
                    <a:pt x="183391" y="288556"/>
                  </a:lnTo>
                  <a:lnTo>
                    <a:pt x="182752" y="288556"/>
                  </a:lnTo>
                  <a:cubicBezTo>
                    <a:pt x="182113" y="288556"/>
                    <a:pt x="181474" y="288556"/>
                    <a:pt x="181474" y="288556"/>
                  </a:cubicBezTo>
                  <a:lnTo>
                    <a:pt x="181474" y="288556"/>
                  </a:lnTo>
                  <a:cubicBezTo>
                    <a:pt x="180835" y="288556"/>
                    <a:pt x="180196" y="288556"/>
                    <a:pt x="180196" y="288556"/>
                  </a:cubicBezTo>
                  <a:lnTo>
                    <a:pt x="179557" y="288556"/>
                  </a:lnTo>
                  <a:lnTo>
                    <a:pt x="178918" y="287918"/>
                  </a:lnTo>
                  <a:cubicBezTo>
                    <a:pt x="177640" y="287279"/>
                    <a:pt x="72845" y="231739"/>
                    <a:pt x="87542" y="105974"/>
                  </a:cubicBezTo>
                  <a:cubicBezTo>
                    <a:pt x="88181" y="102782"/>
                    <a:pt x="91376" y="100229"/>
                    <a:pt x="94571" y="100229"/>
                  </a:cubicBezTo>
                  <a:cubicBezTo>
                    <a:pt x="95210" y="100229"/>
                    <a:pt x="96488" y="100867"/>
                    <a:pt x="97127" y="100867"/>
                  </a:cubicBezTo>
                  <a:cubicBezTo>
                    <a:pt x="123965" y="114912"/>
                    <a:pt x="156553" y="109166"/>
                    <a:pt x="177640" y="87461"/>
                  </a:cubicBezTo>
                  <a:cubicBezTo>
                    <a:pt x="180196" y="84907"/>
                    <a:pt x="184030" y="84907"/>
                    <a:pt x="186586" y="87461"/>
                  </a:cubicBezTo>
                  <a:cubicBezTo>
                    <a:pt x="186586" y="87461"/>
                    <a:pt x="186586" y="87461"/>
                    <a:pt x="186586" y="87461"/>
                  </a:cubicBezTo>
                  <a:cubicBezTo>
                    <a:pt x="207034" y="109804"/>
                    <a:pt x="240262" y="114912"/>
                    <a:pt x="267099" y="100867"/>
                  </a:cubicBezTo>
                  <a:cubicBezTo>
                    <a:pt x="269016" y="99590"/>
                    <a:pt x="270933" y="99590"/>
                    <a:pt x="272850" y="100867"/>
                  </a:cubicBezTo>
                  <a:cubicBezTo>
                    <a:pt x="274767" y="102144"/>
                    <a:pt x="276045" y="103420"/>
                    <a:pt x="276684" y="105974"/>
                  </a:cubicBezTo>
                  <a:cubicBezTo>
                    <a:pt x="290103" y="231739"/>
                    <a:pt x="185308" y="287279"/>
                    <a:pt x="184030" y="287918"/>
                  </a:cubicBezTo>
                  <a:lnTo>
                    <a:pt x="184030" y="28791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37" name="Text 11">
            <a:extLst>
              <a:ext uri="{FF2B5EF4-FFF2-40B4-BE49-F238E27FC236}">
                <a16:creationId xmlns:a16="http://schemas.microsoft.com/office/drawing/2014/main" id="{76456386-309A-CAA2-3B9A-973773DF6F9F}"/>
              </a:ext>
            </a:extLst>
          </p:cNvPr>
          <p:cNvSpPr/>
          <p:nvPr/>
        </p:nvSpPr>
        <p:spPr>
          <a:xfrm>
            <a:off x="3396722" y="3614020"/>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46A38"/>
                </a:solidFill>
                <a:effectLst/>
                <a:uLnTx/>
                <a:uFillTx/>
                <a:latin typeface="Segoe UI" panose="020B0502040204020203" pitchFamily="34" charset="0"/>
                <a:ea typeface="Calibri" pitchFamily="34" charset="-122"/>
                <a:cs typeface="Segoe UI" panose="020B0502040204020203" pitchFamily="34" charset="0"/>
                <a:sym typeface="Arial"/>
              </a:rPr>
              <a:t>70%</a:t>
            </a:r>
            <a:endParaRPr kumimoji="0" lang="en-US" sz="35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40" name="Text 12">
            <a:extLst>
              <a:ext uri="{FF2B5EF4-FFF2-40B4-BE49-F238E27FC236}">
                <a16:creationId xmlns:a16="http://schemas.microsoft.com/office/drawing/2014/main" id="{6FD44199-DFB4-7220-3C08-F3A810CD9091}"/>
              </a:ext>
            </a:extLst>
          </p:cNvPr>
          <p:cNvSpPr/>
          <p:nvPr/>
        </p:nvSpPr>
        <p:spPr>
          <a:xfrm>
            <a:off x="3396723" y="4195191"/>
            <a:ext cx="4051660" cy="338554"/>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of all respondents cited as experiencing the greatest increase in vulnerability</a:t>
            </a:r>
          </a:p>
        </p:txBody>
      </p:sp>
      <p:sp>
        <p:nvSpPr>
          <p:cNvPr id="43" name="Rectangle: Rounded Corners 42">
            <a:extLst>
              <a:ext uri="{FF2B5EF4-FFF2-40B4-BE49-F238E27FC236}">
                <a16:creationId xmlns:a16="http://schemas.microsoft.com/office/drawing/2014/main" id="{2FC12802-F472-553E-374B-7781A88A4A64}"/>
              </a:ext>
            </a:extLst>
          </p:cNvPr>
          <p:cNvSpPr/>
          <p:nvPr/>
        </p:nvSpPr>
        <p:spPr>
          <a:xfrm>
            <a:off x="3272249" y="3204304"/>
            <a:ext cx="2967510" cy="28082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BANKING AND INSURANCE</a:t>
            </a:r>
          </a:p>
        </p:txBody>
      </p:sp>
      <p:sp>
        <p:nvSpPr>
          <p:cNvPr id="131" name="Rounded Rectangle 47">
            <a:extLst>
              <a:ext uri="{FF2B5EF4-FFF2-40B4-BE49-F238E27FC236}">
                <a16:creationId xmlns:a16="http://schemas.microsoft.com/office/drawing/2014/main" id="{B607BA37-DD3A-C175-E01F-DBEB2A4C0E96}"/>
              </a:ext>
            </a:extLst>
          </p:cNvPr>
          <p:cNvSpPr/>
          <p:nvPr/>
        </p:nvSpPr>
        <p:spPr>
          <a:xfrm>
            <a:off x="7640608" y="2383656"/>
            <a:ext cx="4219528" cy="2397851"/>
          </a:xfrm>
          <a:prstGeom prst="roundRect">
            <a:avLst>
              <a:gd name="adj" fmla="val 6000"/>
            </a:avLst>
          </a:prstGeom>
          <a:solidFill>
            <a:srgbClr val="FFFFFF"/>
          </a:solid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2" name="Title 2">
            <a:extLst>
              <a:ext uri="{FF2B5EF4-FFF2-40B4-BE49-F238E27FC236}">
                <a16:creationId xmlns:a16="http://schemas.microsoft.com/office/drawing/2014/main" id="{99CB2698-5071-2799-317D-2048ACF23626}"/>
              </a:ext>
            </a:extLst>
          </p:cNvPr>
          <p:cNvSpPr txBox="1">
            <a:spLocks/>
          </p:cNvSpPr>
          <p:nvPr/>
        </p:nvSpPr>
        <p:spPr>
          <a:xfrm>
            <a:off x="8262754" y="2575608"/>
            <a:ext cx="3679607" cy="406265"/>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0" normalizeH="0" baseline="0" noProof="0" dirty="0">
                <a:ln>
                  <a:noFill/>
                </a:ln>
                <a:solidFill>
                  <a:srgbClr val="046A38"/>
                </a:solidFill>
                <a:effectLst/>
                <a:uLnTx/>
                <a:uFillTx/>
                <a:latin typeface="Segoe UI" panose="020B0502040204020203" pitchFamily="34" charset="0"/>
                <a:ea typeface="+mj-ea"/>
                <a:cs typeface="Segoe UI" panose="020B0502040204020203" pitchFamily="34" charset="0"/>
                <a:sym typeface="Arial"/>
              </a:rPr>
              <a:t>Payments &amp; claim flows</a:t>
            </a:r>
          </a:p>
        </p:txBody>
      </p:sp>
      <p:sp>
        <p:nvSpPr>
          <p:cNvPr id="147" name="Rectangle: Rounded Corners 146">
            <a:extLst>
              <a:ext uri="{FF2B5EF4-FFF2-40B4-BE49-F238E27FC236}">
                <a16:creationId xmlns:a16="http://schemas.microsoft.com/office/drawing/2014/main" id="{9056CC55-5B27-3BE5-1414-7A1389BF8464}"/>
              </a:ext>
            </a:extLst>
          </p:cNvPr>
          <p:cNvSpPr/>
          <p:nvPr/>
        </p:nvSpPr>
        <p:spPr>
          <a:xfrm>
            <a:off x="7766228" y="3173825"/>
            <a:ext cx="1240612" cy="309161"/>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BANKING </a:t>
            </a:r>
          </a:p>
        </p:txBody>
      </p:sp>
      <p:sp>
        <p:nvSpPr>
          <p:cNvPr id="163" name="Rectangle: Rounded Corners 162">
            <a:extLst>
              <a:ext uri="{FF2B5EF4-FFF2-40B4-BE49-F238E27FC236}">
                <a16:creationId xmlns:a16="http://schemas.microsoft.com/office/drawing/2014/main" id="{C8804A66-5E8F-5267-3A77-569A29E205D4}"/>
              </a:ext>
            </a:extLst>
          </p:cNvPr>
          <p:cNvSpPr/>
          <p:nvPr/>
        </p:nvSpPr>
        <p:spPr>
          <a:xfrm>
            <a:off x="9816556" y="3141992"/>
            <a:ext cx="1684988" cy="354308"/>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1" i="0" u="none" strike="noStrike" kern="0" cap="none" spc="10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INSURANCE</a:t>
            </a:r>
          </a:p>
        </p:txBody>
      </p:sp>
      <p:sp>
        <p:nvSpPr>
          <p:cNvPr id="166" name="Text 11">
            <a:extLst>
              <a:ext uri="{FF2B5EF4-FFF2-40B4-BE49-F238E27FC236}">
                <a16:creationId xmlns:a16="http://schemas.microsoft.com/office/drawing/2014/main" id="{38166BC0-841A-C7AF-AD6C-0500ECA92CAF}"/>
              </a:ext>
            </a:extLst>
          </p:cNvPr>
          <p:cNvSpPr/>
          <p:nvPr/>
        </p:nvSpPr>
        <p:spPr>
          <a:xfrm>
            <a:off x="7890701" y="3593637"/>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46A38"/>
                </a:solidFill>
                <a:effectLst/>
                <a:uLnTx/>
                <a:uFillTx/>
                <a:latin typeface="Segoe UI" panose="020B0502040204020203" pitchFamily="34" charset="0"/>
                <a:ea typeface="Calibri" pitchFamily="34" charset="-122"/>
                <a:cs typeface="Segoe UI" panose="020B0502040204020203" pitchFamily="34" charset="0"/>
                <a:sym typeface="Arial"/>
              </a:rPr>
              <a:t>73%</a:t>
            </a:r>
            <a:endParaRPr kumimoji="0" lang="en-US" sz="35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168" name="Text 12">
            <a:extLst>
              <a:ext uri="{FF2B5EF4-FFF2-40B4-BE49-F238E27FC236}">
                <a16:creationId xmlns:a16="http://schemas.microsoft.com/office/drawing/2014/main" id="{C5D9C31B-0E44-9063-F9D1-5CBE06DBFBC4}"/>
              </a:ext>
            </a:extLst>
          </p:cNvPr>
          <p:cNvSpPr/>
          <p:nvPr/>
        </p:nvSpPr>
        <p:spPr>
          <a:xfrm>
            <a:off x="7890701" y="4146594"/>
            <a:ext cx="1862776" cy="338554"/>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flagged payment and transaction approvals</a:t>
            </a:r>
          </a:p>
        </p:txBody>
      </p:sp>
      <p:sp>
        <p:nvSpPr>
          <p:cNvPr id="170" name="Text 11">
            <a:extLst>
              <a:ext uri="{FF2B5EF4-FFF2-40B4-BE49-F238E27FC236}">
                <a16:creationId xmlns:a16="http://schemas.microsoft.com/office/drawing/2014/main" id="{FD132938-7EA7-22A7-01A8-252A82C5C1BD}"/>
              </a:ext>
            </a:extLst>
          </p:cNvPr>
          <p:cNvSpPr/>
          <p:nvPr/>
        </p:nvSpPr>
        <p:spPr>
          <a:xfrm>
            <a:off x="10000465" y="3578511"/>
            <a:ext cx="1317171" cy="53860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46A38"/>
                </a:solidFill>
                <a:effectLst/>
                <a:uLnTx/>
                <a:uFillTx/>
                <a:latin typeface="Segoe UI" panose="020B0502040204020203" pitchFamily="34" charset="0"/>
                <a:ea typeface="Calibri" pitchFamily="34" charset="-122"/>
                <a:cs typeface="Segoe UI" panose="020B0502040204020203" pitchFamily="34" charset="0"/>
                <a:sym typeface="Arial"/>
              </a:rPr>
              <a:t>64%</a:t>
            </a:r>
            <a:endParaRPr kumimoji="0" lang="en-US" sz="35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177" name="Text 12">
            <a:extLst>
              <a:ext uri="{FF2B5EF4-FFF2-40B4-BE49-F238E27FC236}">
                <a16:creationId xmlns:a16="http://schemas.microsoft.com/office/drawing/2014/main" id="{7D77D4DC-E1F8-EFD6-41D4-6AE011B89977}"/>
              </a:ext>
            </a:extLst>
          </p:cNvPr>
          <p:cNvSpPr/>
          <p:nvPr/>
        </p:nvSpPr>
        <p:spPr>
          <a:xfrm>
            <a:off x="10000465" y="4156958"/>
            <a:ext cx="1862776" cy="338554"/>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Segoe UI" panose="020B0502040204020203" pitchFamily="34" charset="0"/>
                <a:ea typeface="Calibri" pitchFamily="34" charset="-122"/>
                <a:cs typeface="Segoe UI" panose="020B0502040204020203" pitchFamily="34" charset="0"/>
                <a:sym typeface="Arial"/>
              </a:rPr>
              <a:t>flagged claims and underwriting review</a:t>
            </a:r>
          </a:p>
        </p:txBody>
      </p:sp>
      <p:grpSp>
        <p:nvGrpSpPr>
          <p:cNvPr id="178" name="Graphic 4">
            <a:extLst>
              <a:ext uri="{FF2B5EF4-FFF2-40B4-BE49-F238E27FC236}">
                <a16:creationId xmlns:a16="http://schemas.microsoft.com/office/drawing/2014/main" id="{D11BED4C-082D-E784-80A7-E428F93389B6}"/>
              </a:ext>
            </a:extLst>
          </p:cNvPr>
          <p:cNvGrpSpPr/>
          <p:nvPr/>
        </p:nvGrpSpPr>
        <p:grpSpPr>
          <a:xfrm>
            <a:off x="7789307" y="2587908"/>
            <a:ext cx="475266" cy="475266"/>
            <a:chOff x="9279466" y="1402244"/>
            <a:chExt cx="362309" cy="362450"/>
          </a:xfrm>
          <a:solidFill>
            <a:schemeClr val="accent2"/>
          </a:solidFill>
        </p:grpSpPr>
        <p:sp>
          <p:nvSpPr>
            <p:cNvPr id="179" name="Graphic 4">
              <a:extLst>
                <a:ext uri="{FF2B5EF4-FFF2-40B4-BE49-F238E27FC236}">
                  <a16:creationId xmlns:a16="http://schemas.microsoft.com/office/drawing/2014/main" id="{DCA1A48B-C713-4713-D0D2-5529FBA2BD59}"/>
                </a:ext>
              </a:extLst>
            </p:cNvPr>
            <p:cNvSpPr/>
            <p:nvPr/>
          </p:nvSpPr>
          <p:spPr>
            <a:xfrm rot="-2700000">
              <a:off x="9402917" y="1531993"/>
              <a:ext cx="105432" cy="54901"/>
            </a:xfrm>
            <a:custGeom>
              <a:avLst/>
              <a:gdLst>
                <a:gd name="connsiteX0" fmla="*/ 0 w 105432"/>
                <a:gd name="connsiteY0" fmla="*/ 0 h 54901"/>
                <a:gd name="connsiteX1" fmla="*/ 105433 w 105432"/>
                <a:gd name="connsiteY1" fmla="*/ 0 h 54901"/>
                <a:gd name="connsiteX2" fmla="*/ 105433 w 105432"/>
                <a:gd name="connsiteY2" fmla="*/ 54902 h 54901"/>
                <a:gd name="connsiteX3" fmla="*/ 0 w 105432"/>
                <a:gd name="connsiteY3" fmla="*/ 54902 h 54901"/>
              </a:gdLst>
              <a:ahLst/>
              <a:cxnLst>
                <a:cxn ang="0">
                  <a:pos x="connsiteX0" y="connsiteY0"/>
                </a:cxn>
                <a:cxn ang="0">
                  <a:pos x="connsiteX1" y="connsiteY1"/>
                </a:cxn>
                <a:cxn ang="0">
                  <a:pos x="connsiteX2" y="connsiteY2"/>
                </a:cxn>
                <a:cxn ang="0">
                  <a:pos x="connsiteX3" y="connsiteY3"/>
                </a:cxn>
              </a:cxnLst>
              <a:rect l="l" t="t" r="r" b="b"/>
              <a:pathLst>
                <a:path w="105432" h="54901">
                  <a:moveTo>
                    <a:pt x="0" y="0"/>
                  </a:moveTo>
                  <a:lnTo>
                    <a:pt x="105433" y="0"/>
                  </a:lnTo>
                  <a:lnTo>
                    <a:pt x="105433" y="54902"/>
                  </a:lnTo>
                  <a:lnTo>
                    <a:pt x="0" y="5490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0" name="Graphic 4">
              <a:extLst>
                <a:ext uri="{FF2B5EF4-FFF2-40B4-BE49-F238E27FC236}">
                  <a16:creationId xmlns:a16="http://schemas.microsoft.com/office/drawing/2014/main" id="{C4E3DB13-A263-389B-CD27-733769DC23E4}"/>
                </a:ext>
              </a:extLst>
            </p:cNvPr>
            <p:cNvSpPr/>
            <p:nvPr/>
          </p:nvSpPr>
          <p:spPr>
            <a:xfrm>
              <a:off x="9279466" y="1402244"/>
              <a:ext cx="362309" cy="362450"/>
            </a:xfrm>
            <a:custGeom>
              <a:avLst/>
              <a:gdLst>
                <a:gd name="connsiteX0" fmla="*/ 286270 w 362309"/>
                <a:gd name="connsiteY0" fmla="*/ 268606 h 362450"/>
                <a:gd name="connsiteX1" fmla="*/ 281797 w 362309"/>
                <a:gd name="connsiteY1" fmla="*/ 270521 h 362450"/>
                <a:gd name="connsiteX2" fmla="*/ 277323 w 362309"/>
                <a:gd name="connsiteY2" fmla="*/ 268606 h 362450"/>
                <a:gd name="connsiteX3" fmla="*/ 199367 w 362309"/>
                <a:gd name="connsiteY3" fmla="*/ 190083 h 362450"/>
                <a:gd name="connsiteX4" fmla="*/ 166778 w 362309"/>
                <a:gd name="connsiteY4" fmla="*/ 222641 h 362450"/>
                <a:gd name="connsiteX5" fmla="*/ 168056 w 362309"/>
                <a:gd name="connsiteY5" fmla="*/ 223918 h 362450"/>
                <a:gd name="connsiteX6" fmla="*/ 168056 w 362309"/>
                <a:gd name="connsiteY6" fmla="*/ 232856 h 362450"/>
                <a:gd name="connsiteX7" fmla="*/ 159110 w 362309"/>
                <a:gd name="connsiteY7" fmla="*/ 232856 h 362450"/>
                <a:gd name="connsiteX8" fmla="*/ 159110 w 362309"/>
                <a:gd name="connsiteY8" fmla="*/ 232856 h 362450"/>
                <a:gd name="connsiteX9" fmla="*/ 153358 w 362309"/>
                <a:gd name="connsiteY9" fmla="*/ 227110 h 362450"/>
                <a:gd name="connsiteX10" fmla="*/ 105434 w 362309"/>
                <a:gd name="connsiteY10" fmla="*/ 179230 h 362450"/>
                <a:gd name="connsiteX11" fmla="*/ 105434 w 362309"/>
                <a:gd name="connsiteY11" fmla="*/ 179230 h 362450"/>
                <a:gd name="connsiteX12" fmla="*/ 99684 w 362309"/>
                <a:gd name="connsiteY12" fmla="*/ 173485 h 362450"/>
                <a:gd name="connsiteX13" fmla="*/ 99684 w 362309"/>
                <a:gd name="connsiteY13" fmla="*/ 164547 h 362450"/>
                <a:gd name="connsiteX14" fmla="*/ 99684 w 362309"/>
                <a:gd name="connsiteY14" fmla="*/ 164547 h 362450"/>
                <a:gd name="connsiteX15" fmla="*/ 108629 w 362309"/>
                <a:gd name="connsiteY15" fmla="*/ 164547 h 362450"/>
                <a:gd name="connsiteX16" fmla="*/ 109907 w 362309"/>
                <a:gd name="connsiteY16" fmla="*/ 165824 h 362450"/>
                <a:gd name="connsiteX17" fmla="*/ 184669 w 362309"/>
                <a:gd name="connsiteY17" fmla="*/ 91770 h 362450"/>
                <a:gd name="connsiteX18" fmla="*/ 183392 w 362309"/>
                <a:gd name="connsiteY18" fmla="*/ 90493 h 362450"/>
                <a:gd name="connsiteX19" fmla="*/ 183392 w 362309"/>
                <a:gd name="connsiteY19" fmla="*/ 81555 h 362450"/>
                <a:gd name="connsiteX20" fmla="*/ 183392 w 362309"/>
                <a:gd name="connsiteY20" fmla="*/ 81555 h 362450"/>
                <a:gd name="connsiteX21" fmla="*/ 192338 w 362309"/>
                <a:gd name="connsiteY21" fmla="*/ 81555 h 362450"/>
                <a:gd name="connsiteX22" fmla="*/ 198088 w 362309"/>
                <a:gd name="connsiteY22" fmla="*/ 87301 h 362450"/>
                <a:gd name="connsiteX23" fmla="*/ 198088 w 362309"/>
                <a:gd name="connsiteY23" fmla="*/ 87301 h 362450"/>
                <a:gd name="connsiteX24" fmla="*/ 246013 w 362309"/>
                <a:gd name="connsiteY24" fmla="*/ 135181 h 362450"/>
                <a:gd name="connsiteX25" fmla="*/ 246013 w 362309"/>
                <a:gd name="connsiteY25" fmla="*/ 135181 h 362450"/>
                <a:gd name="connsiteX26" fmla="*/ 251764 w 362309"/>
                <a:gd name="connsiteY26" fmla="*/ 140926 h 362450"/>
                <a:gd name="connsiteX27" fmla="*/ 251764 w 362309"/>
                <a:gd name="connsiteY27" fmla="*/ 149864 h 362450"/>
                <a:gd name="connsiteX28" fmla="*/ 242818 w 362309"/>
                <a:gd name="connsiteY28" fmla="*/ 149864 h 362450"/>
                <a:gd name="connsiteX29" fmla="*/ 241540 w 362309"/>
                <a:gd name="connsiteY29" fmla="*/ 148587 h 362450"/>
                <a:gd name="connsiteX30" fmla="*/ 208951 w 362309"/>
                <a:gd name="connsiteY30" fmla="*/ 181145 h 362450"/>
                <a:gd name="connsiteX31" fmla="*/ 286908 w 362309"/>
                <a:gd name="connsiteY31" fmla="*/ 259669 h 362450"/>
                <a:gd name="connsiteX32" fmla="*/ 286270 w 362309"/>
                <a:gd name="connsiteY32" fmla="*/ 268606 h 362450"/>
                <a:gd name="connsiteX33" fmla="*/ 286270 w 362309"/>
                <a:gd name="connsiteY33" fmla="*/ 268606 h 362450"/>
                <a:gd name="connsiteX34" fmla="*/ 180836 w 362309"/>
                <a:gd name="connsiteY34" fmla="*/ 270521 h 362450"/>
                <a:gd name="connsiteX35" fmla="*/ 79874 w 362309"/>
                <a:gd name="connsiteY35" fmla="*/ 270521 h 362450"/>
                <a:gd name="connsiteX36" fmla="*/ 73484 w 362309"/>
                <a:gd name="connsiteY36" fmla="*/ 264137 h 362450"/>
                <a:gd name="connsiteX37" fmla="*/ 79874 w 362309"/>
                <a:gd name="connsiteY37" fmla="*/ 257753 h 362450"/>
                <a:gd name="connsiteX38" fmla="*/ 180836 w 362309"/>
                <a:gd name="connsiteY38" fmla="*/ 257753 h 362450"/>
                <a:gd name="connsiteX39" fmla="*/ 187225 w 362309"/>
                <a:gd name="connsiteY39" fmla="*/ 264137 h 362450"/>
                <a:gd name="connsiteX40" fmla="*/ 180836 w 362309"/>
                <a:gd name="connsiteY40" fmla="*/ 270521 h 362450"/>
                <a:gd name="connsiteX41" fmla="*/ 180836 w 362309"/>
                <a:gd name="connsiteY41" fmla="*/ 479 h 362450"/>
                <a:gd name="connsiteX42" fmla="*/ 0 w 362309"/>
                <a:gd name="connsiteY42" fmla="*/ 181784 h 362450"/>
                <a:gd name="connsiteX43" fmla="*/ 181474 w 362309"/>
                <a:gd name="connsiteY43" fmla="*/ 362451 h 362450"/>
                <a:gd name="connsiteX44" fmla="*/ 362310 w 362309"/>
                <a:gd name="connsiteY44" fmla="*/ 181145 h 362450"/>
                <a:gd name="connsiteX45" fmla="*/ 362310 w 362309"/>
                <a:gd name="connsiteY45" fmla="*/ 181145 h 362450"/>
                <a:gd name="connsiteX46" fmla="*/ 180836 w 362309"/>
                <a:gd name="connsiteY46" fmla="*/ 479 h 362450"/>
                <a:gd name="connsiteX47" fmla="*/ 180836 w 362309"/>
                <a:gd name="connsiteY47" fmla="*/ 479 h 36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62309" h="362450">
                  <a:moveTo>
                    <a:pt x="286270" y="268606"/>
                  </a:moveTo>
                  <a:cubicBezTo>
                    <a:pt x="284992" y="269883"/>
                    <a:pt x="283713" y="270521"/>
                    <a:pt x="281797" y="270521"/>
                  </a:cubicBezTo>
                  <a:cubicBezTo>
                    <a:pt x="279880" y="270521"/>
                    <a:pt x="278602" y="269883"/>
                    <a:pt x="277323" y="268606"/>
                  </a:cubicBezTo>
                  <a:lnTo>
                    <a:pt x="199367" y="190083"/>
                  </a:lnTo>
                  <a:lnTo>
                    <a:pt x="166778" y="222641"/>
                  </a:lnTo>
                  <a:lnTo>
                    <a:pt x="168056" y="223918"/>
                  </a:lnTo>
                  <a:cubicBezTo>
                    <a:pt x="170612" y="226472"/>
                    <a:pt x="170612" y="230302"/>
                    <a:pt x="168056" y="232856"/>
                  </a:cubicBezTo>
                  <a:cubicBezTo>
                    <a:pt x="165500" y="235409"/>
                    <a:pt x="161666" y="235409"/>
                    <a:pt x="159110" y="232856"/>
                  </a:cubicBezTo>
                  <a:lnTo>
                    <a:pt x="159110" y="232856"/>
                  </a:lnTo>
                  <a:lnTo>
                    <a:pt x="153358" y="227110"/>
                  </a:lnTo>
                  <a:lnTo>
                    <a:pt x="105434" y="179230"/>
                  </a:lnTo>
                  <a:lnTo>
                    <a:pt x="105434" y="179230"/>
                  </a:lnTo>
                  <a:lnTo>
                    <a:pt x="99684" y="173485"/>
                  </a:lnTo>
                  <a:cubicBezTo>
                    <a:pt x="97128" y="170931"/>
                    <a:pt x="97128" y="167101"/>
                    <a:pt x="99684" y="164547"/>
                  </a:cubicBezTo>
                  <a:cubicBezTo>
                    <a:pt x="99684" y="164547"/>
                    <a:pt x="99684" y="164547"/>
                    <a:pt x="99684" y="164547"/>
                  </a:cubicBezTo>
                  <a:cubicBezTo>
                    <a:pt x="102239" y="161994"/>
                    <a:pt x="106074" y="161994"/>
                    <a:pt x="108629" y="164547"/>
                  </a:cubicBezTo>
                  <a:lnTo>
                    <a:pt x="109907" y="165824"/>
                  </a:lnTo>
                  <a:lnTo>
                    <a:pt x="184669" y="91770"/>
                  </a:lnTo>
                  <a:lnTo>
                    <a:pt x="183392" y="90493"/>
                  </a:lnTo>
                  <a:cubicBezTo>
                    <a:pt x="180836" y="87939"/>
                    <a:pt x="180836" y="84109"/>
                    <a:pt x="183392" y="81555"/>
                  </a:cubicBezTo>
                  <a:cubicBezTo>
                    <a:pt x="183392" y="81555"/>
                    <a:pt x="183392" y="81555"/>
                    <a:pt x="183392" y="81555"/>
                  </a:cubicBezTo>
                  <a:cubicBezTo>
                    <a:pt x="185948" y="79002"/>
                    <a:pt x="189782" y="79002"/>
                    <a:pt x="192338" y="81555"/>
                  </a:cubicBezTo>
                  <a:lnTo>
                    <a:pt x="198088" y="87301"/>
                  </a:lnTo>
                  <a:lnTo>
                    <a:pt x="198088" y="87301"/>
                  </a:lnTo>
                  <a:lnTo>
                    <a:pt x="246013" y="135181"/>
                  </a:lnTo>
                  <a:lnTo>
                    <a:pt x="246013" y="135181"/>
                  </a:lnTo>
                  <a:lnTo>
                    <a:pt x="251764" y="140926"/>
                  </a:lnTo>
                  <a:cubicBezTo>
                    <a:pt x="254320" y="143480"/>
                    <a:pt x="254320" y="147310"/>
                    <a:pt x="251764" y="149864"/>
                  </a:cubicBezTo>
                  <a:cubicBezTo>
                    <a:pt x="249208" y="152418"/>
                    <a:pt x="245374" y="152418"/>
                    <a:pt x="242818" y="149864"/>
                  </a:cubicBezTo>
                  <a:lnTo>
                    <a:pt x="241540" y="148587"/>
                  </a:lnTo>
                  <a:lnTo>
                    <a:pt x="208951" y="181145"/>
                  </a:lnTo>
                  <a:lnTo>
                    <a:pt x="286908" y="259669"/>
                  </a:lnTo>
                  <a:cubicBezTo>
                    <a:pt x="288826" y="262222"/>
                    <a:pt x="288826" y="266053"/>
                    <a:pt x="286270" y="268606"/>
                  </a:cubicBezTo>
                  <a:cubicBezTo>
                    <a:pt x="286270" y="268606"/>
                    <a:pt x="286270" y="268606"/>
                    <a:pt x="286270" y="268606"/>
                  </a:cubicBezTo>
                  <a:moveTo>
                    <a:pt x="180836" y="270521"/>
                  </a:moveTo>
                  <a:lnTo>
                    <a:pt x="79874" y="270521"/>
                  </a:lnTo>
                  <a:cubicBezTo>
                    <a:pt x="76040" y="270521"/>
                    <a:pt x="73484" y="267968"/>
                    <a:pt x="73484" y="264137"/>
                  </a:cubicBezTo>
                  <a:cubicBezTo>
                    <a:pt x="73484" y="260307"/>
                    <a:pt x="76040" y="257753"/>
                    <a:pt x="79874" y="257753"/>
                  </a:cubicBezTo>
                  <a:lnTo>
                    <a:pt x="180836" y="257753"/>
                  </a:lnTo>
                  <a:cubicBezTo>
                    <a:pt x="184669" y="257753"/>
                    <a:pt x="187225" y="260307"/>
                    <a:pt x="187225" y="264137"/>
                  </a:cubicBezTo>
                  <a:cubicBezTo>
                    <a:pt x="187225" y="267968"/>
                    <a:pt x="184031" y="270521"/>
                    <a:pt x="180836" y="270521"/>
                  </a:cubicBezTo>
                  <a:moveTo>
                    <a:pt x="180836" y="479"/>
                  </a:moveTo>
                  <a:cubicBezTo>
                    <a:pt x="80514" y="479"/>
                    <a:pt x="0" y="81555"/>
                    <a:pt x="0" y="181784"/>
                  </a:cubicBezTo>
                  <a:cubicBezTo>
                    <a:pt x="0" y="282013"/>
                    <a:pt x="81153" y="362451"/>
                    <a:pt x="181474" y="362451"/>
                  </a:cubicBezTo>
                  <a:cubicBezTo>
                    <a:pt x="281797" y="362451"/>
                    <a:pt x="362310" y="281374"/>
                    <a:pt x="362310" y="181145"/>
                  </a:cubicBezTo>
                  <a:cubicBezTo>
                    <a:pt x="362310" y="181145"/>
                    <a:pt x="362310" y="181145"/>
                    <a:pt x="362310" y="181145"/>
                  </a:cubicBezTo>
                  <a:cubicBezTo>
                    <a:pt x="361671" y="80917"/>
                    <a:pt x="280518" y="-160"/>
                    <a:pt x="180836" y="479"/>
                  </a:cubicBezTo>
                  <a:cubicBezTo>
                    <a:pt x="180836" y="-160"/>
                    <a:pt x="180836" y="-160"/>
                    <a:pt x="180836" y="479"/>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182" name="Rectangle: Rounded Corners 181">
            <a:extLst>
              <a:ext uri="{FF2B5EF4-FFF2-40B4-BE49-F238E27FC236}">
                <a16:creationId xmlns:a16="http://schemas.microsoft.com/office/drawing/2014/main" id="{8DEBE3EF-508E-BE19-4E0D-B364E1EFA8F5}"/>
              </a:ext>
            </a:extLst>
          </p:cNvPr>
          <p:cNvSpPr/>
          <p:nvPr/>
        </p:nvSpPr>
        <p:spPr>
          <a:xfrm>
            <a:off x="269140" y="4950683"/>
            <a:ext cx="2628030" cy="1467749"/>
          </a:xfrm>
          <a:prstGeom prst="roundRect">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84" name="Text 22">
            <a:extLst>
              <a:ext uri="{FF2B5EF4-FFF2-40B4-BE49-F238E27FC236}">
                <a16:creationId xmlns:a16="http://schemas.microsoft.com/office/drawing/2014/main" id="{13D26B61-C130-E836-ED6F-5F21D7980EFA}"/>
              </a:ext>
            </a:extLst>
          </p:cNvPr>
          <p:cNvSpPr/>
          <p:nvPr/>
        </p:nvSpPr>
        <p:spPr>
          <a:xfrm>
            <a:off x="667524" y="5119859"/>
            <a:ext cx="2029090" cy="475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8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WHERE THEY DIVERGE</a:t>
            </a:r>
          </a:p>
        </p:txBody>
      </p:sp>
      <p:sp>
        <p:nvSpPr>
          <p:cNvPr id="186" name="TextBox 185">
            <a:extLst>
              <a:ext uri="{FF2B5EF4-FFF2-40B4-BE49-F238E27FC236}">
                <a16:creationId xmlns:a16="http://schemas.microsoft.com/office/drawing/2014/main" id="{32084A87-DE21-9D46-B602-948741D7024E}"/>
              </a:ext>
            </a:extLst>
          </p:cNvPr>
          <p:cNvSpPr txBox="1"/>
          <p:nvPr/>
        </p:nvSpPr>
        <p:spPr>
          <a:xfrm>
            <a:off x="1029016" y="5746522"/>
            <a:ext cx="1744549" cy="49244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Contact center exposure </a:t>
            </a:r>
            <a:endParaRPr kumimoji="0" sz="16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91" name="Group 190">
            <a:extLst>
              <a:ext uri="{FF2B5EF4-FFF2-40B4-BE49-F238E27FC236}">
                <a16:creationId xmlns:a16="http://schemas.microsoft.com/office/drawing/2014/main" id="{BA1B6254-46A5-5E98-1169-DFEC0509F644}"/>
              </a:ext>
            </a:extLst>
          </p:cNvPr>
          <p:cNvGrpSpPr/>
          <p:nvPr/>
        </p:nvGrpSpPr>
        <p:grpSpPr>
          <a:xfrm>
            <a:off x="584015" y="5785538"/>
            <a:ext cx="411613" cy="411613"/>
            <a:chOff x="584015" y="5732591"/>
            <a:chExt cx="630000" cy="630000"/>
          </a:xfrm>
        </p:grpSpPr>
        <p:sp>
          <p:nvSpPr>
            <p:cNvPr id="188" name="Graphic 1100">
              <a:extLst>
                <a:ext uri="{FF2B5EF4-FFF2-40B4-BE49-F238E27FC236}">
                  <a16:creationId xmlns:a16="http://schemas.microsoft.com/office/drawing/2014/main" id="{6808CE67-F779-337C-3468-C7C5AE5182F8}"/>
                </a:ext>
              </a:extLst>
            </p:cNvPr>
            <p:cNvSpPr/>
            <p:nvPr/>
          </p:nvSpPr>
          <p:spPr>
            <a:xfrm>
              <a:off x="584015" y="5732591"/>
              <a:ext cx="630000" cy="630000"/>
            </a:xfrm>
            <a:custGeom>
              <a:avLst/>
              <a:gdLst>
                <a:gd name="connsiteX0" fmla="*/ 181474 w 362309"/>
                <a:gd name="connsiteY0" fmla="*/ 0 h 362610"/>
                <a:gd name="connsiteX1" fmla="*/ 0 w 362309"/>
                <a:gd name="connsiteY1" fmla="*/ 181305 h 362610"/>
                <a:gd name="connsiteX2" fmla="*/ 181474 w 362309"/>
                <a:gd name="connsiteY2" fmla="*/ 362610 h 362610"/>
                <a:gd name="connsiteX3" fmla="*/ 362309 w 362309"/>
                <a:gd name="connsiteY3" fmla="*/ 181305 h 362610"/>
                <a:gd name="connsiteX4" fmla="*/ 181474 w 362309"/>
                <a:gd name="connsiteY4" fmla="*/ 0 h 362610"/>
                <a:gd name="connsiteX5" fmla="*/ 181474 w 362309"/>
                <a:gd name="connsiteY5" fmla="*/ 0 h 362610"/>
                <a:gd name="connsiteX6" fmla="*/ 181474 w 362309"/>
                <a:gd name="connsiteY6" fmla="*/ 349204 h 362610"/>
                <a:gd name="connsiteX7" fmla="*/ 13419 w 362309"/>
                <a:gd name="connsiteY7" fmla="*/ 180667 h 362610"/>
                <a:gd name="connsiteX8" fmla="*/ 181474 w 362309"/>
                <a:gd name="connsiteY8" fmla="*/ 12130 h 362610"/>
                <a:gd name="connsiteX9" fmla="*/ 349530 w 362309"/>
                <a:gd name="connsiteY9" fmla="*/ 180667 h 362610"/>
                <a:gd name="connsiteX10" fmla="*/ 349530 w 362309"/>
                <a:gd name="connsiteY10" fmla="*/ 180667 h 362610"/>
                <a:gd name="connsiteX11" fmla="*/ 181474 w 362309"/>
                <a:gd name="connsiteY11" fmla="*/ 3492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2610">
                  <a:moveTo>
                    <a:pt x="181474" y="0"/>
                  </a:moveTo>
                  <a:cubicBezTo>
                    <a:pt x="81152" y="0"/>
                    <a:pt x="0" y="81077"/>
                    <a:pt x="0" y="181305"/>
                  </a:cubicBezTo>
                  <a:cubicBezTo>
                    <a:pt x="0" y="281534"/>
                    <a:pt x="81152" y="362610"/>
                    <a:pt x="181474" y="362610"/>
                  </a:cubicBezTo>
                  <a:cubicBezTo>
                    <a:pt x="281796" y="362610"/>
                    <a:pt x="362309" y="281534"/>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130"/>
                    <a:pt x="181474" y="12130"/>
                  </a:cubicBezTo>
                  <a:cubicBezTo>
                    <a:pt x="274128" y="12130"/>
                    <a:pt x="349530" y="87461"/>
                    <a:pt x="349530" y="180667"/>
                  </a:cubicBezTo>
                  <a:cubicBezTo>
                    <a:pt x="349530" y="180667"/>
                    <a:pt x="349530" y="180667"/>
                    <a:pt x="349530" y="180667"/>
                  </a:cubicBezTo>
                  <a:cubicBezTo>
                    <a:pt x="349530" y="273873"/>
                    <a:pt x="274128" y="349204"/>
                    <a:pt x="181474" y="349204"/>
                  </a:cubicBezTo>
                  <a:close/>
                </a:path>
              </a:pathLst>
            </a:custGeom>
            <a:solidFill>
              <a:schemeClr val="bg1"/>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90" name="Graphic 1100">
              <a:extLst>
                <a:ext uri="{FF2B5EF4-FFF2-40B4-BE49-F238E27FC236}">
                  <a16:creationId xmlns:a16="http://schemas.microsoft.com/office/drawing/2014/main" id="{7753A8B7-0007-5CAC-AB11-2F420712E100}"/>
                </a:ext>
              </a:extLst>
            </p:cNvPr>
            <p:cNvSpPr/>
            <p:nvPr/>
          </p:nvSpPr>
          <p:spPr>
            <a:xfrm>
              <a:off x="726237" y="5830197"/>
              <a:ext cx="345556" cy="434787"/>
            </a:xfrm>
            <a:custGeom>
              <a:avLst/>
              <a:gdLst>
                <a:gd name="connsiteX0" fmla="*/ 99683 w 198727"/>
                <a:gd name="connsiteY0" fmla="*/ 0 h 250251"/>
                <a:gd name="connsiteX1" fmla="*/ 0 w 198727"/>
                <a:gd name="connsiteY1" fmla="*/ 99590 h 250251"/>
                <a:gd name="connsiteX2" fmla="*/ 0 w 198727"/>
                <a:gd name="connsiteY2" fmla="*/ 171729 h 250251"/>
                <a:gd name="connsiteX3" fmla="*/ 19170 w 198727"/>
                <a:gd name="connsiteY3" fmla="*/ 190881 h 250251"/>
                <a:gd name="connsiteX4" fmla="*/ 27477 w 198727"/>
                <a:gd name="connsiteY4" fmla="*/ 190881 h 250251"/>
                <a:gd name="connsiteX5" fmla="*/ 46647 w 198727"/>
                <a:gd name="connsiteY5" fmla="*/ 171729 h 250251"/>
                <a:gd name="connsiteX6" fmla="*/ 46647 w 198727"/>
                <a:gd name="connsiteY6" fmla="*/ 112358 h 250251"/>
                <a:gd name="connsiteX7" fmla="*/ 27477 w 198727"/>
                <a:gd name="connsiteY7" fmla="*/ 93206 h 250251"/>
                <a:gd name="connsiteX8" fmla="*/ 19170 w 198727"/>
                <a:gd name="connsiteY8" fmla="*/ 93206 h 250251"/>
                <a:gd name="connsiteX9" fmla="*/ 12780 w 198727"/>
                <a:gd name="connsiteY9" fmla="*/ 94483 h 250251"/>
                <a:gd name="connsiteX10" fmla="*/ 104795 w 198727"/>
                <a:gd name="connsiteY10" fmla="*/ 13406 h 250251"/>
                <a:gd name="connsiteX11" fmla="*/ 185947 w 198727"/>
                <a:gd name="connsiteY11" fmla="*/ 94483 h 250251"/>
                <a:gd name="connsiteX12" fmla="*/ 179557 w 198727"/>
                <a:gd name="connsiteY12" fmla="*/ 93206 h 250251"/>
                <a:gd name="connsiteX13" fmla="*/ 171250 w 198727"/>
                <a:gd name="connsiteY13" fmla="*/ 93206 h 250251"/>
                <a:gd name="connsiteX14" fmla="*/ 152080 w 198727"/>
                <a:gd name="connsiteY14" fmla="*/ 112358 h 250251"/>
                <a:gd name="connsiteX15" fmla="*/ 152080 w 198727"/>
                <a:gd name="connsiteY15" fmla="*/ 171729 h 250251"/>
                <a:gd name="connsiteX16" fmla="*/ 171250 w 198727"/>
                <a:gd name="connsiteY16" fmla="*/ 190881 h 250251"/>
                <a:gd name="connsiteX17" fmla="*/ 179557 w 198727"/>
                <a:gd name="connsiteY17" fmla="*/ 190881 h 250251"/>
                <a:gd name="connsiteX18" fmla="*/ 184669 w 198727"/>
                <a:gd name="connsiteY18" fmla="*/ 190243 h 250251"/>
                <a:gd name="connsiteX19" fmla="*/ 123326 w 198727"/>
                <a:gd name="connsiteY19" fmla="*/ 236207 h 250251"/>
                <a:gd name="connsiteX20" fmla="*/ 99044 w 198727"/>
                <a:gd name="connsiteY20" fmla="*/ 227270 h 250251"/>
                <a:gd name="connsiteX21" fmla="*/ 74123 w 198727"/>
                <a:gd name="connsiteY21" fmla="*/ 238761 h 250251"/>
                <a:gd name="connsiteX22" fmla="*/ 99044 w 198727"/>
                <a:gd name="connsiteY22" fmla="*/ 250252 h 250251"/>
                <a:gd name="connsiteX23" fmla="*/ 102878 w 198727"/>
                <a:gd name="connsiteY23" fmla="*/ 250252 h 250251"/>
                <a:gd name="connsiteX24" fmla="*/ 198727 w 198727"/>
                <a:gd name="connsiteY24" fmla="*/ 176198 h 250251"/>
                <a:gd name="connsiteX25" fmla="*/ 198727 w 198727"/>
                <a:gd name="connsiteY25" fmla="*/ 99590 h 250251"/>
                <a:gd name="connsiteX26" fmla="*/ 99683 w 198727"/>
                <a:gd name="connsiteY26" fmla="*/ 0 h 250251"/>
                <a:gd name="connsiteX27" fmla="*/ 19170 w 198727"/>
                <a:gd name="connsiteY27" fmla="*/ 105336 h 250251"/>
                <a:gd name="connsiteX28" fmla="*/ 27477 w 198727"/>
                <a:gd name="connsiteY28" fmla="*/ 105336 h 250251"/>
                <a:gd name="connsiteX29" fmla="*/ 33867 w 198727"/>
                <a:gd name="connsiteY29" fmla="*/ 111720 h 250251"/>
                <a:gd name="connsiteX30" fmla="*/ 33867 w 198727"/>
                <a:gd name="connsiteY30" fmla="*/ 171091 h 250251"/>
                <a:gd name="connsiteX31" fmla="*/ 27477 w 198727"/>
                <a:gd name="connsiteY31" fmla="*/ 177475 h 250251"/>
                <a:gd name="connsiteX32" fmla="*/ 19170 w 198727"/>
                <a:gd name="connsiteY32" fmla="*/ 177475 h 250251"/>
                <a:gd name="connsiteX33" fmla="*/ 12780 w 198727"/>
                <a:gd name="connsiteY33" fmla="*/ 171091 h 250251"/>
                <a:gd name="connsiteX34" fmla="*/ 12780 w 198727"/>
                <a:gd name="connsiteY34" fmla="*/ 111720 h 250251"/>
                <a:gd name="connsiteX35" fmla="*/ 19170 w 198727"/>
                <a:gd name="connsiteY35" fmla="*/ 105336 h 250251"/>
                <a:gd name="connsiteX36" fmla="*/ 186586 w 198727"/>
                <a:gd name="connsiteY36" fmla="*/ 124488 h 250251"/>
                <a:gd name="connsiteX37" fmla="*/ 186586 w 198727"/>
                <a:gd name="connsiteY37" fmla="*/ 171091 h 250251"/>
                <a:gd name="connsiteX38" fmla="*/ 180196 w 198727"/>
                <a:gd name="connsiteY38" fmla="*/ 177475 h 250251"/>
                <a:gd name="connsiteX39" fmla="*/ 171889 w 198727"/>
                <a:gd name="connsiteY39" fmla="*/ 177475 h 250251"/>
                <a:gd name="connsiteX40" fmla="*/ 165499 w 198727"/>
                <a:gd name="connsiteY40" fmla="*/ 171091 h 250251"/>
                <a:gd name="connsiteX41" fmla="*/ 165499 w 198727"/>
                <a:gd name="connsiteY41" fmla="*/ 111720 h 250251"/>
                <a:gd name="connsiteX42" fmla="*/ 171889 w 198727"/>
                <a:gd name="connsiteY42" fmla="*/ 105336 h 250251"/>
                <a:gd name="connsiteX43" fmla="*/ 180196 w 198727"/>
                <a:gd name="connsiteY43" fmla="*/ 105336 h 250251"/>
                <a:gd name="connsiteX44" fmla="*/ 186586 w 198727"/>
                <a:gd name="connsiteY44" fmla="*/ 111720 h 250251"/>
                <a:gd name="connsiteX45" fmla="*/ 186586 w 198727"/>
                <a:gd name="connsiteY45" fmla="*/ 124488 h 25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8727" h="250251">
                  <a:moveTo>
                    <a:pt x="99683" y="0"/>
                  </a:moveTo>
                  <a:cubicBezTo>
                    <a:pt x="44730" y="0"/>
                    <a:pt x="0" y="44688"/>
                    <a:pt x="0" y="99590"/>
                  </a:cubicBezTo>
                  <a:lnTo>
                    <a:pt x="0" y="171729"/>
                  </a:lnTo>
                  <a:cubicBezTo>
                    <a:pt x="0" y="182582"/>
                    <a:pt x="8307" y="190881"/>
                    <a:pt x="19170" y="190881"/>
                  </a:cubicBezTo>
                  <a:lnTo>
                    <a:pt x="27477" y="190881"/>
                  </a:lnTo>
                  <a:cubicBezTo>
                    <a:pt x="38340" y="190881"/>
                    <a:pt x="46647" y="182582"/>
                    <a:pt x="46647" y="171729"/>
                  </a:cubicBezTo>
                  <a:lnTo>
                    <a:pt x="46647" y="112358"/>
                  </a:lnTo>
                  <a:cubicBezTo>
                    <a:pt x="46647" y="101505"/>
                    <a:pt x="38340" y="93206"/>
                    <a:pt x="27477" y="93206"/>
                  </a:cubicBezTo>
                  <a:lnTo>
                    <a:pt x="19170" y="93206"/>
                  </a:lnTo>
                  <a:cubicBezTo>
                    <a:pt x="17253" y="93206"/>
                    <a:pt x="14697" y="93844"/>
                    <a:pt x="12780" y="94483"/>
                  </a:cubicBezTo>
                  <a:cubicBezTo>
                    <a:pt x="15975" y="46603"/>
                    <a:pt x="56870" y="10214"/>
                    <a:pt x="104795" y="13406"/>
                  </a:cubicBezTo>
                  <a:cubicBezTo>
                    <a:pt x="148886" y="15960"/>
                    <a:pt x="183391" y="51072"/>
                    <a:pt x="185947" y="94483"/>
                  </a:cubicBezTo>
                  <a:cubicBezTo>
                    <a:pt x="184030" y="93844"/>
                    <a:pt x="181474" y="93206"/>
                    <a:pt x="179557" y="93206"/>
                  </a:cubicBezTo>
                  <a:lnTo>
                    <a:pt x="171250" y="93206"/>
                  </a:lnTo>
                  <a:cubicBezTo>
                    <a:pt x="160387" y="93206"/>
                    <a:pt x="152080" y="101505"/>
                    <a:pt x="152080" y="112358"/>
                  </a:cubicBezTo>
                  <a:lnTo>
                    <a:pt x="152080" y="171729"/>
                  </a:lnTo>
                  <a:cubicBezTo>
                    <a:pt x="152080" y="182582"/>
                    <a:pt x="160387" y="190881"/>
                    <a:pt x="171250" y="190881"/>
                  </a:cubicBezTo>
                  <a:lnTo>
                    <a:pt x="179557" y="190881"/>
                  </a:lnTo>
                  <a:cubicBezTo>
                    <a:pt x="181474" y="190881"/>
                    <a:pt x="182752" y="190881"/>
                    <a:pt x="184669" y="190243"/>
                  </a:cubicBezTo>
                  <a:cubicBezTo>
                    <a:pt x="178279" y="220247"/>
                    <a:pt x="152080" y="232377"/>
                    <a:pt x="123326" y="236207"/>
                  </a:cubicBezTo>
                  <a:cubicBezTo>
                    <a:pt x="120770" y="228546"/>
                    <a:pt x="106073" y="227270"/>
                    <a:pt x="99044" y="227270"/>
                  </a:cubicBezTo>
                  <a:cubicBezTo>
                    <a:pt x="92015" y="227270"/>
                    <a:pt x="74123" y="228546"/>
                    <a:pt x="74123" y="238761"/>
                  </a:cubicBezTo>
                  <a:cubicBezTo>
                    <a:pt x="74123" y="248975"/>
                    <a:pt x="91376" y="250252"/>
                    <a:pt x="99044" y="250252"/>
                  </a:cubicBezTo>
                  <a:lnTo>
                    <a:pt x="102878" y="250252"/>
                  </a:lnTo>
                  <a:cubicBezTo>
                    <a:pt x="164860" y="248975"/>
                    <a:pt x="198727" y="222801"/>
                    <a:pt x="198727" y="176198"/>
                  </a:cubicBezTo>
                  <a:lnTo>
                    <a:pt x="198727" y="99590"/>
                  </a:lnTo>
                  <a:cubicBezTo>
                    <a:pt x="198727" y="44688"/>
                    <a:pt x="153997" y="0"/>
                    <a:pt x="99683" y="0"/>
                  </a:cubicBezTo>
                  <a:close/>
                  <a:moveTo>
                    <a:pt x="19170" y="105336"/>
                  </a:moveTo>
                  <a:lnTo>
                    <a:pt x="27477" y="105336"/>
                  </a:lnTo>
                  <a:cubicBezTo>
                    <a:pt x="31311" y="105336"/>
                    <a:pt x="33867" y="107889"/>
                    <a:pt x="33867" y="111720"/>
                  </a:cubicBezTo>
                  <a:lnTo>
                    <a:pt x="33867" y="171091"/>
                  </a:lnTo>
                  <a:cubicBezTo>
                    <a:pt x="33867" y="174921"/>
                    <a:pt x="31311" y="177475"/>
                    <a:pt x="27477" y="177475"/>
                  </a:cubicBezTo>
                  <a:lnTo>
                    <a:pt x="19170" y="177475"/>
                  </a:lnTo>
                  <a:cubicBezTo>
                    <a:pt x="15336" y="177475"/>
                    <a:pt x="12780" y="174921"/>
                    <a:pt x="12780" y="171091"/>
                  </a:cubicBezTo>
                  <a:lnTo>
                    <a:pt x="12780" y="111720"/>
                  </a:lnTo>
                  <a:cubicBezTo>
                    <a:pt x="12780" y="108528"/>
                    <a:pt x="15336" y="105336"/>
                    <a:pt x="19170" y="105336"/>
                  </a:cubicBezTo>
                  <a:close/>
                  <a:moveTo>
                    <a:pt x="186586" y="124488"/>
                  </a:moveTo>
                  <a:lnTo>
                    <a:pt x="186586" y="171091"/>
                  </a:lnTo>
                  <a:cubicBezTo>
                    <a:pt x="186586" y="174921"/>
                    <a:pt x="184030" y="177475"/>
                    <a:pt x="180196" y="177475"/>
                  </a:cubicBezTo>
                  <a:lnTo>
                    <a:pt x="171889" y="177475"/>
                  </a:lnTo>
                  <a:cubicBezTo>
                    <a:pt x="168055" y="177475"/>
                    <a:pt x="165499" y="174921"/>
                    <a:pt x="165499" y="171091"/>
                  </a:cubicBezTo>
                  <a:lnTo>
                    <a:pt x="165499" y="111720"/>
                  </a:lnTo>
                  <a:cubicBezTo>
                    <a:pt x="165499" y="107889"/>
                    <a:pt x="168055" y="105336"/>
                    <a:pt x="171889" y="105336"/>
                  </a:cubicBezTo>
                  <a:lnTo>
                    <a:pt x="180196" y="105336"/>
                  </a:lnTo>
                  <a:cubicBezTo>
                    <a:pt x="184030" y="105336"/>
                    <a:pt x="186586" y="107889"/>
                    <a:pt x="186586" y="111720"/>
                  </a:cubicBezTo>
                  <a:lnTo>
                    <a:pt x="186586" y="124488"/>
                  </a:lnTo>
                  <a:close/>
                </a:path>
              </a:pathLst>
            </a:custGeom>
            <a:solidFill>
              <a:schemeClr val="bg1"/>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196" name="Rounded Rectangle 47">
            <a:extLst>
              <a:ext uri="{FF2B5EF4-FFF2-40B4-BE49-F238E27FC236}">
                <a16:creationId xmlns:a16="http://schemas.microsoft.com/office/drawing/2014/main" id="{E8F478DF-BF4E-D540-E699-2D7E89B0AF5A}"/>
              </a:ext>
            </a:extLst>
          </p:cNvPr>
          <p:cNvSpPr/>
          <p:nvPr/>
        </p:nvSpPr>
        <p:spPr>
          <a:xfrm>
            <a:off x="3146628" y="4945678"/>
            <a:ext cx="8713507" cy="1467749"/>
          </a:xfrm>
          <a:prstGeom prst="roundRect">
            <a:avLst>
              <a:gd name="adj" fmla="val 6000"/>
            </a:avLst>
          </a:prstGeom>
          <a:ln w="28575">
            <a:solidFill>
              <a:srgbClr val="4EA72E"/>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v</a:t>
            </a: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201" name="Text 11">
            <a:extLst>
              <a:ext uri="{FF2B5EF4-FFF2-40B4-BE49-F238E27FC236}">
                <a16:creationId xmlns:a16="http://schemas.microsoft.com/office/drawing/2014/main" id="{602CAD77-3278-75AF-5E83-09032C4ED711}"/>
              </a:ext>
            </a:extLst>
          </p:cNvPr>
          <p:cNvSpPr/>
          <p:nvPr/>
        </p:nvSpPr>
        <p:spPr>
          <a:xfrm>
            <a:off x="3581547" y="5289298"/>
            <a:ext cx="2031313" cy="769441"/>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4EA72E"/>
                </a:solidFill>
                <a:effectLst/>
                <a:uLnTx/>
                <a:uFillTx/>
                <a:latin typeface="Segoe UI" panose="020B0502040204020203" pitchFamily="34" charset="0"/>
                <a:ea typeface="Calibri" pitchFamily="34" charset="-122"/>
                <a:cs typeface="Segoe UI" panose="020B0502040204020203" pitchFamily="34" charset="0"/>
                <a:sym typeface="Arial"/>
              </a:rPr>
              <a:t>+</a:t>
            </a:r>
            <a:r>
              <a:rPr kumimoji="0" lang="en-US" sz="5000" b="1" i="0" u="none" strike="noStrike" kern="1200" cap="none" spc="0" normalizeH="0" baseline="0" noProof="0" dirty="0">
                <a:ln>
                  <a:noFill/>
                </a:ln>
                <a:solidFill>
                  <a:srgbClr val="43B02A"/>
                </a:solidFill>
                <a:effectLst/>
                <a:uLnTx/>
                <a:uFillTx/>
                <a:latin typeface="Segoe UI" panose="020B0502040204020203" pitchFamily="34" charset="0"/>
                <a:ea typeface="Calibri" pitchFamily="34" charset="-122"/>
                <a:cs typeface="Segoe UI" panose="020B0502040204020203" pitchFamily="34" charset="0"/>
                <a:sym typeface="Arial"/>
              </a:rPr>
              <a:t>25%</a:t>
            </a:r>
            <a:endParaRPr kumimoji="0" lang="en-US" sz="5000" b="0" i="0" u="none" strike="noStrike" kern="1200" cap="none" spc="0" normalizeH="0" baseline="0" noProof="0" dirty="0">
              <a:ln>
                <a:noFill/>
              </a:ln>
              <a:solidFill>
                <a:srgbClr val="43B02A"/>
              </a:solidFill>
              <a:effectLst/>
              <a:uLnTx/>
              <a:uFillTx/>
              <a:latin typeface="Segoe UI" panose="020B0502040204020203" pitchFamily="34" charset="0"/>
              <a:ea typeface="+mn-ea"/>
              <a:cs typeface="Segoe UI" panose="020B0502040204020203" pitchFamily="34" charset="0"/>
              <a:sym typeface="Arial"/>
            </a:endParaRPr>
          </a:p>
        </p:txBody>
      </p:sp>
      <p:sp>
        <p:nvSpPr>
          <p:cNvPr id="203" name="Rectangle: Rounded Corners 202">
            <a:extLst>
              <a:ext uri="{FF2B5EF4-FFF2-40B4-BE49-F238E27FC236}">
                <a16:creationId xmlns:a16="http://schemas.microsoft.com/office/drawing/2014/main" id="{8A6C90C8-C275-82A9-03E1-6060FBB39BB7}"/>
              </a:ext>
            </a:extLst>
          </p:cNvPr>
          <p:cNvSpPr/>
          <p:nvPr/>
        </p:nvSpPr>
        <p:spPr>
          <a:xfrm>
            <a:off x="3469286" y="5785538"/>
            <a:ext cx="2967510" cy="280826"/>
          </a:xfrm>
          <a:prstGeom prst="roundRect">
            <a:avLst/>
          </a:prstGeom>
          <a:noFill/>
          <a:ln w="6350">
            <a:noFill/>
          </a:ln>
          <a:effectLst>
            <a:glow rad="12700">
              <a:schemeClr val="accent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wrap="square" t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500" b="1" i="0" u="none" strike="noStrike" kern="0" cap="none" spc="10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endParaRPr>
          </a:p>
        </p:txBody>
      </p:sp>
      <p:cxnSp>
        <p:nvCxnSpPr>
          <p:cNvPr id="204" name="Straight Connector 203">
            <a:extLst>
              <a:ext uri="{FF2B5EF4-FFF2-40B4-BE49-F238E27FC236}">
                <a16:creationId xmlns:a16="http://schemas.microsoft.com/office/drawing/2014/main" id="{6BF22471-6DAA-924D-EDDF-3F01F6672D14}"/>
              </a:ext>
            </a:extLst>
          </p:cNvPr>
          <p:cNvCxnSpPr>
            <a:cxnSpLocks/>
          </p:cNvCxnSpPr>
          <p:nvPr/>
        </p:nvCxnSpPr>
        <p:spPr>
          <a:xfrm>
            <a:off x="5858786" y="5153885"/>
            <a:ext cx="0" cy="1072241"/>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4FDE52F2-2950-29B7-08A4-D470A885BA2F}"/>
              </a:ext>
            </a:extLst>
          </p:cNvPr>
          <p:cNvCxnSpPr>
            <a:cxnSpLocks/>
          </p:cNvCxnSpPr>
          <p:nvPr/>
        </p:nvCxnSpPr>
        <p:spPr>
          <a:xfrm>
            <a:off x="9750372" y="3141992"/>
            <a:ext cx="0" cy="1343156"/>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10" name="Title 2">
            <a:extLst>
              <a:ext uri="{FF2B5EF4-FFF2-40B4-BE49-F238E27FC236}">
                <a16:creationId xmlns:a16="http://schemas.microsoft.com/office/drawing/2014/main" id="{EBED0333-1503-9B10-6835-FD54FA91ED44}"/>
              </a:ext>
            </a:extLst>
          </p:cNvPr>
          <p:cNvSpPr txBox="1">
            <a:spLocks/>
          </p:cNvSpPr>
          <p:nvPr/>
        </p:nvSpPr>
        <p:spPr>
          <a:xfrm>
            <a:off x="6104713" y="5187401"/>
            <a:ext cx="5794209" cy="572464"/>
          </a:xfrm>
          <a:prstGeom prst="rect">
            <a:avLst/>
          </a:prstGeom>
        </p:spPr>
        <p:txBody>
          <a:bodyPr vert="horz" wrap="square" lIns="91440" tIns="91440" rIns="91440" bIns="91440" rtlCol="0" anchor="ctr">
            <a:spAutoFit/>
          </a:bodyPr>
          <a:lstStyle>
            <a:lvl1pPr algn="l" defTabSz="914400" rtl="0" eaLnBrk="1" latinLnBrk="0" hangingPunct="1">
              <a:lnSpc>
                <a:spcPct val="90000"/>
              </a:lnSpc>
              <a:spcBef>
                <a:spcPct val="0"/>
              </a:spcBef>
              <a:buNone/>
              <a:defRPr lang="en-CA" sz="3600" b="1" kern="1200" cap="all" baseline="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 typeface="Arial"/>
              <a:buNone/>
              <a:tabLst/>
              <a:defRPr/>
            </a:pPr>
            <a:r>
              <a:rPr kumimoji="0" lang="en-US" sz="1400" b="1" i="0" u="none" strike="noStrike" kern="1200" cap="none" spc="0" normalizeH="0" baseline="0" noProof="0" dirty="0">
                <a:ln>
                  <a:noFill/>
                </a:ln>
                <a:solidFill>
                  <a:srgbClr val="43B02A"/>
                </a:solidFill>
                <a:effectLst/>
                <a:uLnTx/>
                <a:uFillTx/>
                <a:latin typeface="Segoe UI" panose="020B0502040204020203" pitchFamily="34" charset="0"/>
                <a:ea typeface="+mj-ea"/>
                <a:cs typeface="Segoe UI" panose="020B0502040204020203" pitchFamily="34" charset="0"/>
                <a:sym typeface="Arial"/>
              </a:rPr>
              <a:t>gap between insurance (72%) and banking (47%) respondents selecting the contact center as their most vulnerable channel</a:t>
            </a:r>
          </a:p>
        </p:txBody>
      </p:sp>
      <p:sp>
        <p:nvSpPr>
          <p:cNvPr id="212" name="Rectangle 211">
            <a:extLst>
              <a:ext uri="{FF2B5EF4-FFF2-40B4-BE49-F238E27FC236}">
                <a16:creationId xmlns:a16="http://schemas.microsoft.com/office/drawing/2014/main" id="{738E9963-8707-67AA-AFC7-526219677E37}"/>
              </a:ext>
            </a:extLst>
          </p:cNvPr>
          <p:cNvSpPr/>
          <p:nvPr/>
        </p:nvSpPr>
        <p:spPr>
          <a:xfrm>
            <a:off x="6202972" y="5751006"/>
            <a:ext cx="5509417" cy="4303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Insurance routes authentication, servicing and claims through the contact center whereas banking spreads that risk across digital channels</a:t>
            </a:r>
          </a:p>
        </p:txBody>
      </p:sp>
      <p:sp>
        <p:nvSpPr>
          <p:cNvPr id="16" name="Text 22">
            <a:extLst>
              <a:ext uri="{FF2B5EF4-FFF2-40B4-BE49-F238E27FC236}">
                <a16:creationId xmlns:a16="http://schemas.microsoft.com/office/drawing/2014/main" id="{6652A3BC-EE00-243A-E65B-A44048D76CE6}"/>
              </a:ext>
            </a:extLst>
          </p:cNvPr>
          <p:cNvSpPr/>
          <p:nvPr/>
        </p:nvSpPr>
        <p:spPr>
          <a:xfrm>
            <a:off x="584015" y="2600457"/>
            <a:ext cx="2095177" cy="61203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8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WHERE THEY CONVERGE</a:t>
            </a:r>
          </a:p>
        </p:txBody>
      </p:sp>
      <p:sp>
        <p:nvSpPr>
          <p:cNvPr id="12" name="Rectangle 11">
            <a:extLst>
              <a:ext uri="{FF2B5EF4-FFF2-40B4-BE49-F238E27FC236}">
                <a16:creationId xmlns:a16="http://schemas.microsoft.com/office/drawing/2014/main" id="{EBC9837D-C3FD-4F9E-66F8-595B7E8F9392}"/>
              </a:ext>
            </a:extLst>
          </p:cNvPr>
          <p:cNvSpPr/>
          <p:nvPr/>
        </p:nvSpPr>
        <p:spPr>
          <a:xfrm>
            <a:off x="208221" y="6522342"/>
            <a:ext cx="3906579" cy="1716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1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rId3"/>
              </a:rPr>
              <a:t>Deepfakes Already Hitting Businesses as Often as Traditional Fraud</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4" name="Rectangle 3">
            <a:extLst>
              <a:ext uri="{FF2B5EF4-FFF2-40B4-BE49-F238E27FC236}">
                <a16:creationId xmlns:a16="http://schemas.microsoft.com/office/drawing/2014/main" id="{DA55C648-3C23-7141-C5BE-09F28C1DCB58}"/>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B</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rId4" action="ppaction://hlinksldjump"/>
              </a:rPr>
              <a:t>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370318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BEA0D-344E-5B69-C0F0-BE68BE5ABE85}"/>
            </a:ext>
          </a:extLst>
        </p:cNvPr>
        <p:cNvGrpSpPr/>
        <p:nvPr/>
      </p:nvGrpSpPr>
      <p:grpSpPr>
        <a:xfrm>
          <a:off x="0" y="0"/>
          <a:ext cx="0" cy="0"/>
          <a:chOff x="0" y="0"/>
          <a:chExt cx="0" cy="0"/>
        </a:xfrm>
      </p:grpSpPr>
      <p:sp>
        <p:nvSpPr>
          <p:cNvPr id="153" name="Rectangle 152">
            <a:extLst>
              <a:ext uri="{FF2B5EF4-FFF2-40B4-BE49-F238E27FC236}">
                <a16:creationId xmlns:a16="http://schemas.microsoft.com/office/drawing/2014/main" id="{325FBBF7-60F4-3D5C-EC3D-F825BAAA0088}"/>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DEEPFAKE &amp; EMERGING AI RISK</a:t>
            </a:r>
          </a:p>
        </p:txBody>
      </p:sp>
      <p:sp>
        <p:nvSpPr>
          <p:cNvPr id="11" name="TextBox 10">
            <a:extLst>
              <a:ext uri="{FF2B5EF4-FFF2-40B4-BE49-F238E27FC236}">
                <a16:creationId xmlns:a16="http://schemas.microsoft.com/office/drawing/2014/main" id="{F6A7302D-DED1-3A66-5136-8C0E43EC29E3}"/>
              </a:ext>
            </a:extLst>
          </p:cNvPr>
          <p:cNvSpPr txBox="1"/>
          <p:nvPr/>
        </p:nvSpPr>
        <p:spPr>
          <a:xfrm>
            <a:off x="320040" y="1143000"/>
            <a:ext cx="11521440" cy="6463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Asked which mitigation levers matter most, respondents spread their answers almost evenly: </a:t>
            </a:r>
            <a:r>
              <a:rPr kumimoji="0" sz="14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each of the four levers was selected by 43–53% of respondents</a:t>
            </a:r>
            <a:r>
              <a:rPr kumimoji="0"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No single control stands out, which signals that leaders see deepfake defense as a combination of people, process, technology and intelligence.</a:t>
            </a:r>
          </a:p>
        </p:txBody>
      </p:sp>
      <p:sp>
        <p:nvSpPr>
          <p:cNvPr id="15" name="TextBox 14">
            <a:extLst>
              <a:ext uri="{FF2B5EF4-FFF2-40B4-BE49-F238E27FC236}">
                <a16:creationId xmlns:a16="http://schemas.microsoft.com/office/drawing/2014/main" id="{9361E7E7-5647-A1E6-A8D1-FFE0CD92B160}"/>
              </a:ext>
            </a:extLst>
          </p:cNvPr>
          <p:cNvSpPr txBox="1"/>
          <p:nvPr/>
        </p:nvSpPr>
        <p:spPr>
          <a:xfrm>
            <a:off x="320040" y="1948864"/>
            <a:ext cx="8229600" cy="2000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FOUR LEVERS, EQUALLY WEIGHTED</a:t>
            </a:r>
            <a:endParaRPr kumimoji="0" sz="1300" b="0"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grpSp>
        <p:nvGrpSpPr>
          <p:cNvPr id="2" name="Group 1">
            <a:extLst>
              <a:ext uri="{FF2B5EF4-FFF2-40B4-BE49-F238E27FC236}">
                <a16:creationId xmlns:a16="http://schemas.microsoft.com/office/drawing/2014/main" id="{38AC62DA-C722-7317-A72D-70A717EC103D}"/>
              </a:ext>
            </a:extLst>
          </p:cNvPr>
          <p:cNvGrpSpPr/>
          <p:nvPr/>
        </p:nvGrpSpPr>
        <p:grpSpPr>
          <a:xfrm>
            <a:off x="886404" y="2306235"/>
            <a:ext cx="2635806" cy="1933960"/>
            <a:chOff x="512328" y="2307402"/>
            <a:chExt cx="2635806" cy="1933960"/>
          </a:xfrm>
        </p:grpSpPr>
        <p:sp>
          <p:nvSpPr>
            <p:cNvPr id="17" name="Rounded Rectangle 7">
              <a:extLst>
                <a:ext uri="{FF2B5EF4-FFF2-40B4-BE49-F238E27FC236}">
                  <a16:creationId xmlns:a16="http://schemas.microsoft.com/office/drawing/2014/main" id="{F15C5CB5-B3AD-E45B-8143-8C29DFD9DEB5}"/>
                </a:ext>
              </a:extLst>
            </p:cNvPr>
            <p:cNvSpPr/>
            <p:nvPr/>
          </p:nvSpPr>
          <p:spPr>
            <a:xfrm>
              <a:off x="512328" y="2307402"/>
              <a:ext cx="2635806" cy="1933960"/>
            </a:xfrm>
            <a:prstGeom prst="roundRect">
              <a:avLst>
                <a:gd name="adj" fmla="val 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4" name="Group 183">
              <a:extLst>
                <a:ext uri="{FF2B5EF4-FFF2-40B4-BE49-F238E27FC236}">
                  <a16:creationId xmlns:a16="http://schemas.microsoft.com/office/drawing/2014/main" id="{E3A0F095-E6C7-FABF-5F03-697E8C447E9C}"/>
                </a:ext>
              </a:extLst>
            </p:cNvPr>
            <p:cNvGrpSpPr/>
            <p:nvPr/>
          </p:nvGrpSpPr>
          <p:grpSpPr>
            <a:xfrm>
              <a:off x="1447371" y="2471994"/>
              <a:ext cx="720000" cy="720000"/>
              <a:chOff x="1348740" y="2267712"/>
              <a:chExt cx="640080" cy="640080"/>
            </a:xfrm>
          </p:grpSpPr>
          <p:sp>
            <p:nvSpPr>
              <p:cNvPr id="22" name="Oval 21">
                <a:extLst>
                  <a:ext uri="{FF2B5EF4-FFF2-40B4-BE49-F238E27FC236}">
                    <a16:creationId xmlns:a16="http://schemas.microsoft.com/office/drawing/2014/main" id="{00B036A9-5780-6F4F-8D12-77414A97783E}"/>
                  </a:ext>
                </a:extLst>
              </p:cNvPr>
              <p:cNvSpPr/>
              <p:nvPr/>
            </p:nvSpPr>
            <p:spPr>
              <a:xfrm>
                <a:off x="1348740" y="2267712"/>
                <a:ext cx="640080" cy="64008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25" name="Picture 24" descr="image.png">
                <a:extLst>
                  <a:ext uri="{FF2B5EF4-FFF2-40B4-BE49-F238E27FC236}">
                    <a16:creationId xmlns:a16="http://schemas.microsoft.com/office/drawing/2014/main" id="{2AB99E46-FDFE-CBCB-C4CE-1A15872D652F}"/>
                  </a:ext>
                </a:extLst>
              </p:cNvPr>
              <p:cNvPicPr>
                <a:picLocks noChangeAspect="1"/>
              </p:cNvPicPr>
              <p:nvPr/>
            </p:nvPicPr>
            <p:blipFill>
              <a:blip r:embed="rId3"/>
              <a:stretch>
                <a:fillRect/>
              </a:stretch>
            </p:blipFill>
            <p:spPr>
              <a:xfrm>
                <a:off x="1502359" y="2421331"/>
                <a:ext cx="332841" cy="332841"/>
              </a:xfrm>
              <a:prstGeom prst="rect">
                <a:avLst/>
              </a:prstGeom>
            </p:spPr>
          </p:pic>
        </p:grpSp>
        <p:sp>
          <p:nvSpPr>
            <p:cNvPr id="27" name="TextBox 26">
              <a:extLst>
                <a:ext uri="{FF2B5EF4-FFF2-40B4-BE49-F238E27FC236}">
                  <a16:creationId xmlns:a16="http://schemas.microsoft.com/office/drawing/2014/main" id="{7719512D-C6FE-DC4F-9E8A-1052F433EF76}"/>
                </a:ext>
              </a:extLst>
            </p:cNvPr>
            <p:cNvSpPr txBox="1"/>
            <p:nvPr/>
          </p:nvSpPr>
          <p:spPr>
            <a:xfrm>
              <a:off x="595791"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Third-party intelligence</a:t>
              </a:r>
            </a:p>
          </p:txBody>
        </p:sp>
        <p:sp>
          <p:nvSpPr>
            <p:cNvPr id="29" name="TextBox 28">
              <a:extLst>
                <a:ext uri="{FF2B5EF4-FFF2-40B4-BE49-F238E27FC236}">
                  <a16:creationId xmlns:a16="http://schemas.microsoft.com/office/drawing/2014/main" id="{509CF935-7666-732B-C0D8-64B9BCA5A9F6}"/>
                </a:ext>
              </a:extLst>
            </p:cNvPr>
            <p:cNvSpPr txBox="1"/>
            <p:nvPr/>
          </p:nvSpPr>
          <p:spPr>
            <a:xfrm>
              <a:off x="641511" y="3671219"/>
              <a:ext cx="2331720" cy="507831"/>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External data and consortium signals that reveal threats beyond one institution</a:t>
              </a:r>
            </a:p>
          </p:txBody>
        </p:sp>
      </p:grpSp>
      <p:grpSp>
        <p:nvGrpSpPr>
          <p:cNvPr id="3" name="Group 2">
            <a:extLst>
              <a:ext uri="{FF2B5EF4-FFF2-40B4-BE49-F238E27FC236}">
                <a16:creationId xmlns:a16="http://schemas.microsoft.com/office/drawing/2014/main" id="{319FC290-7183-C7AD-4745-F6DCCA012485}"/>
              </a:ext>
            </a:extLst>
          </p:cNvPr>
          <p:cNvGrpSpPr/>
          <p:nvPr/>
        </p:nvGrpSpPr>
        <p:grpSpPr>
          <a:xfrm>
            <a:off x="3659494" y="2306235"/>
            <a:ext cx="2635806" cy="1933960"/>
            <a:chOff x="3462792" y="2307402"/>
            <a:chExt cx="2635806" cy="1933960"/>
          </a:xfrm>
        </p:grpSpPr>
        <p:sp>
          <p:nvSpPr>
            <p:cNvPr id="31" name="Rounded Rectangle 12">
              <a:extLst>
                <a:ext uri="{FF2B5EF4-FFF2-40B4-BE49-F238E27FC236}">
                  <a16:creationId xmlns:a16="http://schemas.microsoft.com/office/drawing/2014/main" id="{E7C0C06C-18C3-68FB-4A23-481D81856C51}"/>
                </a:ext>
              </a:extLst>
            </p:cNvPr>
            <p:cNvSpPr/>
            <p:nvPr/>
          </p:nvSpPr>
          <p:spPr>
            <a:xfrm>
              <a:off x="3462792" y="2307402"/>
              <a:ext cx="2635806" cy="1933960"/>
            </a:xfrm>
            <a:prstGeom prst="roundRect">
              <a:avLst>
                <a:gd name="adj" fmla="val 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3" name="Group 182">
              <a:extLst>
                <a:ext uri="{FF2B5EF4-FFF2-40B4-BE49-F238E27FC236}">
                  <a16:creationId xmlns:a16="http://schemas.microsoft.com/office/drawing/2014/main" id="{AE26DACD-7243-7C54-6A2A-D5DCAE910BA1}"/>
                </a:ext>
              </a:extLst>
            </p:cNvPr>
            <p:cNvGrpSpPr/>
            <p:nvPr/>
          </p:nvGrpSpPr>
          <p:grpSpPr>
            <a:xfrm>
              <a:off x="4397835" y="2471994"/>
              <a:ext cx="720000" cy="720000"/>
              <a:chOff x="4299204" y="2267712"/>
              <a:chExt cx="640080" cy="640080"/>
            </a:xfrm>
          </p:grpSpPr>
          <p:sp>
            <p:nvSpPr>
              <p:cNvPr id="33" name="Oval 32">
                <a:extLst>
                  <a:ext uri="{FF2B5EF4-FFF2-40B4-BE49-F238E27FC236}">
                    <a16:creationId xmlns:a16="http://schemas.microsoft.com/office/drawing/2014/main" id="{92DDD023-B840-C94B-15DD-7FECB4EB5F33}"/>
                  </a:ext>
                </a:extLst>
              </p:cNvPr>
              <p:cNvSpPr/>
              <p:nvPr/>
            </p:nvSpPr>
            <p:spPr>
              <a:xfrm>
                <a:off x="4299204" y="2267712"/>
                <a:ext cx="640080" cy="64008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36" name="Picture 35" descr="image.png">
                <a:extLst>
                  <a:ext uri="{FF2B5EF4-FFF2-40B4-BE49-F238E27FC236}">
                    <a16:creationId xmlns:a16="http://schemas.microsoft.com/office/drawing/2014/main" id="{C170A569-E8E4-2B1C-AAAF-BEB4FF3669F6}"/>
                  </a:ext>
                </a:extLst>
              </p:cNvPr>
              <p:cNvPicPr>
                <a:picLocks noChangeAspect="1"/>
              </p:cNvPicPr>
              <p:nvPr/>
            </p:nvPicPr>
            <p:blipFill>
              <a:blip r:embed="rId4"/>
              <a:stretch>
                <a:fillRect/>
              </a:stretch>
            </p:blipFill>
            <p:spPr>
              <a:xfrm>
                <a:off x="4452823" y="2421331"/>
                <a:ext cx="332841" cy="332841"/>
              </a:xfrm>
              <a:prstGeom prst="rect">
                <a:avLst/>
              </a:prstGeom>
            </p:spPr>
          </p:pic>
        </p:grpSp>
        <p:sp>
          <p:nvSpPr>
            <p:cNvPr id="42" name="TextBox 41">
              <a:extLst>
                <a:ext uri="{FF2B5EF4-FFF2-40B4-BE49-F238E27FC236}">
                  <a16:creationId xmlns:a16="http://schemas.microsoft.com/office/drawing/2014/main" id="{CCFF3FC2-B5EA-35E7-B530-E4F0B6B6BBC9}"/>
                </a:ext>
              </a:extLst>
            </p:cNvPr>
            <p:cNvSpPr txBox="1"/>
            <p:nvPr/>
          </p:nvSpPr>
          <p:spPr>
            <a:xfrm>
              <a:off x="3546255"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Prevention controls</a:t>
              </a:r>
            </a:p>
          </p:txBody>
        </p:sp>
        <p:sp>
          <p:nvSpPr>
            <p:cNvPr id="44" name="TextBox 43">
              <a:extLst>
                <a:ext uri="{FF2B5EF4-FFF2-40B4-BE49-F238E27FC236}">
                  <a16:creationId xmlns:a16="http://schemas.microsoft.com/office/drawing/2014/main" id="{BEAB6868-605F-B475-741A-3FB0E5097DAF}"/>
                </a:ext>
              </a:extLst>
            </p:cNvPr>
            <p:cNvSpPr txBox="1"/>
            <p:nvPr/>
          </p:nvSpPr>
          <p:spPr>
            <a:xfrm>
              <a:off x="3591975" y="3671219"/>
              <a:ext cx="2331720" cy="33855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Stopping synthetic identities and impersonation at the point of entry</a:t>
              </a:r>
            </a:p>
          </p:txBody>
        </p:sp>
      </p:grpSp>
      <p:grpSp>
        <p:nvGrpSpPr>
          <p:cNvPr id="5" name="Group 4">
            <a:extLst>
              <a:ext uri="{FF2B5EF4-FFF2-40B4-BE49-F238E27FC236}">
                <a16:creationId xmlns:a16="http://schemas.microsoft.com/office/drawing/2014/main" id="{619C62FD-4856-BD6E-0B7B-7FAC17597CA3}"/>
              </a:ext>
            </a:extLst>
          </p:cNvPr>
          <p:cNvGrpSpPr/>
          <p:nvPr/>
        </p:nvGrpSpPr>
        <p:grpSpPr>
          <a:xfrm>
            <a:off x="6432584" y="2306235"/>
            <a:ext cx="2635806" cy="1933960"/>
            <a:chOff x="6413256" y="2307402"/>
            <a:chExt cx="2635806" cy="1933960"/>
          </a:xfrm>
        </p:grpSpPr>
        <p:sp>
          <p:nvSpPr>
            <p:cNvPr id="46" name="Rounded Rectangle 17">
              <a:extLst>
                <a:ext uri="{FF2B5EF4-FFF2-40B4-BE49-F238E27FC236}">
                  <a16:creationId xmlns:a16="http://schemas.microsoft.com/office/drawing/2014/main" id="{B3DE934B-9EAE-1FCD-1838-47DFFD7B1789}"/>
                </a:ext>
              </a:extLst>
            </p:cNvPr>
            <p:cNvSpPr/>
            <p:nvPr/>
          </p:nvSpPr>
          <p:spPr>
            <a:xfrm>
              <a:off x="6413256" y="2307402"/>
              <a:ext cx="2635806" cy="1933960"/>
            </a:xfrm>
            <a:prstGeom prst="roundRect">
              <a:avLst>
                <a:gd name="adj" fmla="val 6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2" name="Group 181">
              <a:extLst>
                <a:ext uri="{FF2B5EF4-FFF2-40B4-BE49-F238E27FC236}">
                  <a16:creationId xmlns:a16="http://schemas.microsoft.com/office/drawing/2014/main" id="{4947D1B3-E602-51FB-9168-40EED0BF205F}"/>
                </a:ext>
              </a:extLst>
            </p:cNvPr>
            <p:cNvGrpSpPr/>
            <p:nvPr/>
          </p:nvGrpSpPr>
          <p:grpSpPr>
            <a:xfrm>
              <a:off x="7348299" y="2471994"/>
              <a:ext cx="720000" cy="720000"/>
              <a:chOff x="7249668" y="2267712"/>
              <a:chExt cx="640080" cy="640080"/>
            </a:xfrm>
          </p:grpSpPr>
          <p:sp>
            <p:nvSpPr>
              <p:cNvPr id="48" name="Oval 47">
                <a:extLst>
                  <a:ext uri="{FF2B5EF4-FFF2-40B4-BE49-F238E27FC236}">
                    <a16:creationId xmlns:a16="http://schemas.microsoft.com/office/drawing/2014/main" id="{7A5AAC7D-799F-5399-4068-E56ABD5AC5EB}"/>
                  </a:ext>
                </a:extLst>
              </p:cNvPr>
              <p:cNvSpPr/>
              <p:nvPr/>
            </p:nvSpPr>
            <p:spPr>
              <a:xfrm>
                <a:off x="7249668" y="2267712"/>
                <a:ext cx="640080" cy="640080"/>
              </a:xfrm>
              <a:prstGeom prst="ellipse">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50" name="Picture 49" descr="ic_mon_w.png">
                <a:extLst>
                  <a:ext uri="{FF2B5EF4-FFF2-40B4-BE49-F238E27FC236}">
                    <a16:creationId xmlns:a16="http://schemas.microsoft.com/office/drawing/2014/main" id="{9B275625-E2F1-2828-315D-CA751ABC9758}"/>
                  </a:ext>
                </a:extLst>
              </p:cNvPr>
              <p:cNvPicPr>
                <a:picLocks noChangeAspect="1"/>
              </p:cNvPicPr>
              <p:nvPr/>
            </p:nvPicPr>
            <p:blipFill>
              <a:blip r:embed="rId5"/>
              <a:stretch>
                <a:fillRect/>
              </a:stretch>
            </p:blipFill>
            <p:spPr>
              <a:xfrm>
                <a:off x="7403287" y="2421331"/>
                <a:ext cx="332841" cy="332841"/>
              </a:xfrm>
              <a:prstGeom prst="rect">
                <a:avLst/>
              </a:prstGeom>
            </p:spPr>
          </p:pic>
        </p:grpSp>
        <p:sp>
          <p:nvSpPr>
            <p:cNvPr id="53" name="TextBox 52">
              <a:extLst>
                <a:ext uri="{FF2B5EF4-FFF2-40B4-BE49-F238E27FC236}">
                  <a16:creationId xmlns:a16="http://schemas.microsoft.com/office/drawing/2014/main" id="{5C5A3E75-A1FC-299B-A16A-2025D806CBF3}"/>
                </a:ext>
              </a:extLst>
            </p:cNvPr>
            <p:cNvSpPr txBox="1"/>
            <p:nvPr/>
          </p:nvSpPr>
          <p:spPr>
            <a:xfrm>
              <a:off x="6496719"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Monitoring capabilities</a:t>
              </a:r>
            </a:p>
          </p:txBody>
        </p:sp>
        <p:sp>
          <p:nvSpPr>
            <p:cNvPr id="55" name="TextBox 54">
              <a:extLst>
                <a:ext uri="{FF2B5EF4-FFF2-40B4-BE49-F238E27FC236}">
                  <a16:creationId xmlns:a16="http://schemas.microsoft.com/office/drawing/2014/main" id="{3A1B5CEC-D815-4D63-2CBB-F0D8296991F8}"/>
                </a:ext>
              </a:extLst>
            </p:cNvPr>
            <p:cNvSpPr txBox="1"/>
            <p:nvPr/>
          </p:nvSpPr>
          <p:spPr>
            <a:xfrm>
              <a:off x="6542439" y="3671219"/>
              <a:ext cx="2331720" cy="33855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Detecting anomalous behaviour and transactions in real time</a:t>
              </a:r>
            </a:p>
          </p:txBody>
        </p:sp>
      </p:grpSp>
      <p:grpSp>
        <p:nvGrpSpPr>
          <p:cNvPr id="6" name="Group 5">
            <a:extLst>
              <a:ext uri="{FF2B5EF4-FFF2-40B4-BE49-F238E27FC236}">
                <a16:creationId xmlns:a16="http://schemas.microsoft.com/office/drawing/2014/main" id="{6C109589-6109-A601-B1C3-9077E6B225C9}"/>
              </a:ext>
            </a:extLst>
          </p:cNvPr>
          <p:cNvGrpSpPr/>
          <p:nvPr/>
        </p:nvGrpSpPr>
        <p:grpSpPr>
          <a:xfrm>
            <a:off x="9205674" y="2306235"/>
            <a:ext cx="2635806" cy="1933960"/>
            <a:chOff x="9205674" y="2307402"/>
            <a:chExt cx="2635806" cy="1933960"/>
          </a:xfrm>
        </p:grpSpPr>
        <p:sp>
          <p:nvSpPr>
            <p:cNvPr id="57" name="Rounded Rectangle 22">
              <a:extLst>
                <a:ext uri="{FF2B5EF4-FFF2-40B4-BE49-F238E27FC236}">
                  <a16:creationId xmlns:a16="http://schemas.microsoft.com/office/drawing/2014/main" id="{49C35B96-16C4-5EC6-8958-AF4D6624247C}"/>
                </a:ext>
              </a:extLst>
            </p:cNvPr>
            <p:cNvSpPr/>
            <p:nvPr/>
          </p:nvSpPr>
          <p:spPr>
            <a:xfrm>
              <a:off x="9205674" y="2307402"/>
              <a:ext cx="2635806" cy="1933960"/>
            </a:xfrm>
            <a:prstGeom prst="roundRect">
              <a:avLst>
                <a:gd name="adj" fmla="val 6000"/>
              </a:avLst>
            </a:prstGeom>
            <a:solidFill>
              <a:srgbClr val="FFFFFF"/>
            </a:solidFill>
            <a:ln w="25400">
              <a:solidFill>
                <a:schemeClr val="accent1">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nvGrpSpPr>
            <p:cNvPr id="181" name="Group 180">
              <a:extLst>
                <a:ext uri="{FF2B5EF4-FFF2-40B4-BE49-F238E27FC236}">
                  <a16:creationId xmlns:a16="http://schemas.microsoft.com/office/drawing/2014/main" id="{8A84B2DD-66E7-A9EA-B363-C8F7421BE427}"/>
                </a:ext>
              </a:extLst>
            </p:cNvPr>
            <p:cNvGrpSpPr/>
            <p:nvPr/>
          </p:nvGrpSpPr>
          <p:grpSpPr>
            <a:xfrm>
              <a:off x="10140717" y="2471994"/>
              <a:ext cx="720000" cy="720000"/>
              <a:chOff x="10200132" y="2267712"/>
              <a:chExt cx="640080" cy="640080"/>
            </a:xfrm>
          </p:grpSpPr>
          <p:sp>
            <p:nvSpPr>
              <p:cNvPr id="60" name="Oval 59">
                <a:extLst>
                  <a:ext uri="{FF2B5EF4-FFF2-40B4-BE49-F238E27FC236}">
                    <a16:creationId xmlns:a16="http://schemas.microsoft.com/office/drawing/2014/main" id="{2611F38E-A88F-354E-CB0F-3911950EA43C}"/>
                  </a:ext>
                </a:extLst>
              </p:cNvPr>
              <p:cNvSpPr/>
              <p:nvPr/>
            </p:nvSpPr>
            <p:spPr>
              <a:xfrm>
                <a:off x="10200132" y="2267712"/>
                <a:ext cx="640080" cy="640080"/>
              </a:xfrm>
              <a:prstGeom prst="ellipse">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pic>
            <p:nvPicPr>
              <p:cNvPr id="62" name="Picture 61" descr="ic_train_w.png">
                <a:extLst>
                  <a:ext uri="{FF2B5EF4-FFF2-40B4-BE49-F238E27FC236}">
                    <a16:creationId xmlns:a16="http://schemas.microsoft.com/office/drawing/2014/main" id="{DB9190AC-7902-B8F0-6B8F-658A0558EA99}"/>
                  </a:ext>
                </a:extLst>
              </p:cNvPr>
              <p:cNvPicPr>
                <a:picLocks noChangeAspect="1"/>
              </p:cNvPicPr>
              <p:nvPr/>
            </p:nvPicPr>
            <p:blipFill>
              <a:blip r:embed="rId6"/>
              <a:stretch>
                <a:fillRect/>
              </a:stretch>
            </p:blipFill>
            <p:spPr>
              <a:xfrm>
                <a:off x="10353751" y="2421331"/>
                <a:ext cx="332841" cy="332841"/>
              </a:xfrm>
              <a:prstGeom prst="rect">
                <a:avLst/>
              </a:prstGeom>
            </p:spPr>
          </p:pic>
        </p:grpSp>
        <p:sp>
          <p:nvSpPr>
            <p:cNvPr id="128" name="TextBox 127">
              <a:extLst>
                <a:ext uri="{FF2B5EF4-FFF2-40B4-BE49-F238E27FC236}">
                  <a16:creationId xmlns:a16="http://schemas.microsoft.com/office/drawing/2014/main" id="{F6E5EB8B-5813-9390-589B-7C0B423CB216}"/>
                </a:ext>
              </a:extLst>
            </p:cNvPr>
            <p:cNvSpPr txBox="1"/>
            <p:nvPr/>
          </p:nvSpPr>
          <p:spPr>
            <a:xfrm>
              <a:off x="9289137" y="3349429"/>
              <a:ext cx="2423160" cy="2308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Staff awareness &amp; training</a:t>
              </a:r>
            </a:p>
          </p:txBody>
        </p:sp>
        <p:sp>
          <p:nvSpPr>
            <p:cNvPr id="130" name="TextBox 129">
              <a:extLst>
                <a:ext uri="{FF2B5EF4-FFF2-40B4-BE49-F238E27FC236}">
                  <a16:creationId xmlns:a16="http://schemas.microsoft.com/office/drawing/2014/main" id="{2136D919-6962-D076-C2E1-044E1F409643}"/>
                </a:ext>
              </a:extLst>
            </p:cNvPr>
            <p:cNvSpPr txBox="1"/>
            <p:nvPr/>
          </p:nvSpPr>
          <p:spPr>
            <a:xfrm>
              <a:off x="9334857" y="3671219"/>
              <a:ext cx="2331720" cy="33855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Equipping frontline teams to recognize and challenge deepfakes</a:t>
              </a:r>
            </a:p>
          </p:txBody>
        </p:sp>
      </p:grpSp>
      <p:grpSp>
        <p:nvGrpSpPr>
          <p:cNvPr id="180" name="Group 179">
            <a:extLst>
              <a:ext uri="{FF2B5EF4-FFF2-40B4-BE49-F238E27FC236}">
                <a16:creationId xmlns:a16="http://schemas.microsoft.com/office/drawing/2014/main" id="{16B711F3-F1F4-C254-E70B-945870A67B31}"/>
              </a:ext>
            </a:extLst>
          </p:cNvPr>
          <p:cNvGrpSpPr/>
          <p:nvPr/>
        </p:nvGrpSpPr>
        <p:grpSpPr>
          <a:xfrm>
            <a:off x="6313527" y="4565970"/>
            <a:ext cx="5669280" cy="1783080"/>
            <a:chOff x="6332982" y="6007608"/>
            <a:chExt cx="5669280" cy="1783080"/>
          </a:xfrm>
        </p:grpSpPr>
        <p:sp>
          <p:nvSpPr>
            <p:cNvPr id="156" name="Rounded Rectangle 29">
              <a:extLst>
                <a:ext uri="{FF2B5EF4-FFF2-40B4-BE49-F238E27FC236}">
                  <a16:creationId xmlns:a16="http://schemas.microsoft.com/office/drawing/2014/main" id="{2C1A5676-904B-5E5A-2CEA-1A8FE984FCED}"/>
                </a:ext>
              </a:extLst>
            </p:cNvPr>
            <p:cNvSpPr/>
            <p:nvPr/>
          </p:nvSpPr>
          <p:spPr>
            <a:xfrm>
              <a:off x="6332982" y="6007608"/>
              <a:ext cx="5669280" cy="1783080"/>
            </a:xfrm>
            <a:prstGeom prst="roundRect">
              <a:avLst>
                <a:gd name="adj" fmla="val 5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59" name="Rounded Rectangle 30">
              <a:extLst>
                <a:ext uri="{FF2B5EF4-FFF2-40B4-BE49-F238E27FC236}">
                  <a16:creationId xmlns:a16="http://schemas.microsoft.com/office/drawing/2014/main" id="{BD76AD1E-736F-C37F-617F-A9139302EC2F}"/>
                </a:ext>
              </a:extLst>
            </p:cNvPr>
            <p:cNvSpPr/>
            <p:nvPr/>
          </p:nvSpPr>
          <p:spPr>
            <a:xfrm>
              <a:off x="6332982" y="6062472"/>
              <a:ext cx="73152" cy="1673352"/>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61" name="TextBox 160">
              <a:extLst>
                <a:ext uri="{FF2B5EF4-FFF2-40B4-BE49-F238E27FC236}">
                  <a16:creationId xmlns:a16="http://schemas.microsoft.com/office/drawing/2014/main" id="{B967F89B-8232-BFFE-D871-E73EC17CF29B}"/>
                </a:ext>
              </a:extLst>
            </p:cNvPr>
            <p:cNvSpPr txBox="1"/>
            <p:nvPr/>
          </p:nvSpPr>
          <p:spPr>
            <a:xfrm>
              <a:off x="6561582" y="6099048"/>
              <a:ext cx="5303520" cy="16158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THE OUTLIER: INSURERS LEAN ON THEIR </a:t>
              </a:r>
              <a:r>
                <a:rPr kumimoji="0" lang="en-US" sz="105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STAFF</a:t>
              </a:r>
              <a:endParaRPr kumimoji="0" sz="105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endParaRPr>
            </a:p>
          </p:txBody>
        </p:sp>
        <p:sp>
          <p:nvSpPr>
            <p:cNvPr id="163" name="TextBox 162">
              <a:extLst>
                <a:ext uri="{FF2B5EF4-FFF2-40B4-BE49-F238E27FC236}">
                  <a16:creationId xmlns:a16="http://schemas.microsoft.com/office/drawing/2014/main" id="{E3C2B010-3725-66B9-FDEC-3E5ED6D059E6}"/>
                </a:ext>
              </a:extLst>
            </p:cNvPr>
            <p:cNvSpPr txBox="1"/>
            <p:nvPr/>
          </p:nvSpPr>
          <p:spPr>
            <a:xfrm>
              <a:off x="6561582" y="6465475"/>
              <a:ext cx="1280160" cy="492443"/>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64%</a:t>
              </a:r>
            </a:p>
          </p:txBody>
        </p:sp>
        <p:sp>
          <p:nvSpPr>
            <p:cNvPr id="165" name="TextBox 164">
              <a:extLst>
                <a:ext uri="{FF2B5EF4-FFF2-40B4-BE49-F238E27FC236}">
                  <a16:creationId xmlns:a16="http://schemas.microsoft.com/office/drawing/2014/main" id="{E61E969C-2973-A66F-AEA6-E0F6C95490F8}"/>
                </a:ext>
              </a:extLst>
            </p:cNvPr>
            <p:cNvSpPr txBox="1"/>
            <p:nvPr/>
          </p:nvSpPr>
          <p:spPr>
            <a:xfrm>
              <a:off x="7543995" y="6554462"/>
              <a:ext cx="4321105" cy="369332"/>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of insurance respondents chose </a:t>
              </a:r>
              <a:r>
                <a:rPr kumimoji="0" sz="12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staff awareness &amp; training</a:t>
              </a:r>
              <a:r>
                <a:rPr kumimoji="0" sz="12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 </a:t>
              </a:r>
              <a:r>
                <a:rPr kumimoji="0" sz="12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well above the 43–53% range seen for every other lever.</a:t>
              </a:r>
            </a:p>
          </p:txBody>
        </p:sp>
        <p:sp>
          <p:nvSpPr>
            <p:cNvPr id="167" name="TextBox 166">
              <a:extLst>
                <a:ext uri="{FF2B5EF4-FFF2-40B4-BE49-F238E27FC236}">
                  <a16:creationId xmlns:a16="http://schemas.microsoft.com/office/drawing/2014/main" id="{240D1820-60E6-4CED-B8E4-40B5549928F6}"/>
                </a:ext>
              </a:extLst>
            </p:cNvPr>
            <p:cNvSpPr txBox="1"/>
            <p:nvPr/>
          </p:nvSpPr>
          <p:spPr>
            <a:xfrm>
              <a:off x="6561582" y="7086600"/>
              <a:ext cx="5303520"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Why: </a:t>
              </a: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With the contact centre as Insurers most exposed channel (72%), insurers rely heavily on frontline agents to authenticate callers and handle claims. Against voice-based deepfakes, staff awareness becomes a critical control.</a:t>
              </a:r>
              <a:endPar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sp>
        <p:nvSpPr>
          <p:cNvPr id="169" name="Rounded Rectangle 35">
            <a:extLst>
              <a:ext uri="{FF2B5EF4-FFF2-40B4-BE49-F238E27FC236}">
                <a16:creationId xmlns:a16="http://schemas.microsoft.com/office/drawing/2014/main" id="{043182BD-55AB-9B9C-428D-AA016501F34C}"/>
              </a:ext>
            </a:extLst>
          </p:cNvPr>
          <p:cNvSpPr/>
          <p:nvPr/>
        </p:nvSpPr>
        <p:spPr>
          <a:xfrm>
            <a:off x="313494" y="4556273"/>
            <a:ext cx="5669280" cy="1783080"/>
          </a:xfrm>
          <a:prstGeom prst="roundRect">
            <a:avLst>
              <a:gd name="adj" fmla="val 5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71" name="TextBox 170">
            <a:extLst>
              <a:ext uri="{FF2B5EF4-FFF2-40B4-BE49-F238E27FC236}">
                <a16:creationId xmlns:a16="http://schemas.microsoft.com/office/drawing/2014/main" id="{764F63EC-F572-0577-5186-790D428DDFE0}"/>
              </a:ext>
            </a:extLst>
          </p:cNvPr>
          <p:cNvSpPr txBox="1"/>
          <p:nvPr/>
        </p:nvSpPr>
        <p:spPr>
          <a:xfrm>
            <a:off x="471654" y="4767138"/>
            <a:ext cx="5303520" cy="1008546"/>
          </a:xfrm>
          <a:prstGeom prst="rect">
            <a:avLst/>
          </a:prstGeom>
          <a:noFill/>
        </p:spPr>
        <p:txBody>
          <a:bodyPr wrap="square" lIns="0" tIns="0" rIns="0" bIns="0" anchor="t">
            <a:spAutoFit/>
          </a:bodyPr>
          <a:lstStyle/>
          <a:p>
            <a:pPr marL="0" marR="0" lvl="0" indent="0" algn="l" defTabSz="914400" rtl="0" eaLnBrk="1" fontAlgn="auto" latinLnBrk="0" hangingPunct="1">
              <a:lnSpc>
                <a:spcPct val="111000"/>
              </a:lnSpc>
              <a:spcBef>
                <a:spcPts val="0"/>
              </a:spcBef>
              <a:spcAft>
                <a:spcPts val="0"/>
              </a:spcAft>
              <a:buClrTx/>
              <a:buSzTx/>
              <a:buFontTx/>
              <a:buNone/>
              <a:tabLst/>
              <a:defRPr/>
            </a:pPr>
            <a:r>
              <a:rPr kumimoji="0" sz="1200" b="0" i="1" u="none" strike="noStrike" kern="1200" cap="none" spc="10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“The biggest impact on risk management will be a shift toward continuous identity verification, real-time behavioural analytics, stronger cross-industry intelligence sharing, and AI-assisted investigations </a:t>
            </a:r>
            <a:r>
              <a:rPr kumimoji="0" sz="1200" b="1" i="1" u="none" strike="noStrike" kern="1200" cap="none" spc="10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rather than relying primarily on point-in-time controls.</a:t>
            </a:r>
            <a:r>
              <a:rPr kumimoji="0" sz="1200" b="0" i="1" u="none" strike="noStrike" kern="1200" cap="none" spc="10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a:t>
            </a:r>
          </a:p>
        </p:txBody>
      </p:sp>
      <p:sp>
        <p:nvSpPr>
          <p:cNvPr id="173" name="TextBox 172">
            <a:extLst>
              <a:ext uri="{FF2B5EF4-FFF2-40B4-BE49-F238E27FC236}">
                <a16:creationId xmlns:a16="http://schemas.microsoft.com/office/drawing/2014/main" id="{6892E723-F84C-CDA7-6F7C-205B474678DB}"/>
              </a:ext>
            </a:extLst>
          </p:cNvPr>
          <p:cNvSpPr txBox="1"/>
          <p:nvPr/>
        </p:nvSpPr>
        <p:spPr>
          <a:xfrm>
            <a:off x="471654" y="5940489"/>
            <a:ext cx="530352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 Fraud Strategy Executive, Top 100 Global Financial Institution</a:t>
            </a:r>
          </a:p>
        </p:txBody>
      </p:sp>
      <p:sp>
        <p:nvSpPr>
          <p:cNvPr id="187" name="Flowchart: Manual Operation 186">
            <a:extLst>
              <a:ext uri="{FF2B5EF4-FFF2-40B4-BE49-F238E27FC236}">
                <a16:creationId xmlns:a16="http://schemas.microsoft.com/office/drawing/2014/main" id="{BB03C69C-77D8-6FBC-BAA0-762F100B6AB9}"/>
              </a:ext>
            </a:extLst>
          </p:cNvPr>
          <p:cNvSpPr/>
          <p:nvPr/>
        </p:nvSpPr>
        <p:spPr>
          <a:xfrm rot="10800000">
            <a:off x="9334857" y="4234019"/>
            <a:ext cx="2331720" cy="386813"/>
          </a:xfrm>
          <a:prstGeom prst="flowChartManualOperation">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grpSp>
        <p:nvGrpSpPr>
          <p:cNvPr id="188" name="Group 187">
            <a:extLst>
              <a:ext uri="{FF2B5EF4-FFF2-40B4-BE49-F238E27FC236}">
                <a16:creationId xmlns:a16="http://schemas.microsoft.com/office/drawing/2014/main" id="{23BFC8F5-FB26-6D32-FC37-96779309F9DA}"/>
              </a:ext>
            </a:extLst>
          </p:cNvPr>
          <p:cNvGrpSpPr/>
          <p:nvPr/>
        </p:nvGrpSpPr>
        <p:grpSpPr>
          <a:xfrm>
            <a:off x="9816822" y="4107266"/>
            <a:ext cx="1367790" cy="274320"/>
            <a:chOff x="10634472" y="1965960"/>
            <a:chExt cx="1143000" cy="274320"/>
          </a:xfrm>
        </p:grpSpPr>
        <p:sp>
          <p:nvSpPr>
            <p:cNvPr id="135" name="Rounded Rectangle 27">
              <a:extLst>
                <a:ext uri="{FF2B5EF4-FFF2-40B4-BE49-F238E27FC236}">
                  <a16:creationId xmlns:a16="http://schemas.microsoft.com/office/drawing/2014/main" id="{624BBE76-F585-F7DA-3332-5491AB6748F6}"/>
                </a:ext>
              </a:extLst>
            </p:cNvPr>
            <p:cNvSpPr/>
            <p:nvPr/>
          </p:nvSpPr>
          <p:spPr>
            <a:xfrm>
              <a:off x="10634472" y="1965960"/>
              <a:ext cx="1143000" cy="274320"/>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150" name="TextBox 149">
              <a:extLst>
                <a:ext uri="{FF2B5EF4-FFF2-40B4-BE49-F238E27FC236}">
                  <a16:creationId xmlns:a16="http://schemas.microsoft.com/office/drawing/2014/main" id="{A199DDA7-1C28-D28C-8812-8E595D60E37D}"/>
                </a:ext>
              </a:extLst>
            </p:cNvPr>
            <p:cNvSpPr txBox="1"/>
            <p:nvPr/>
          </p:nvSpPr>
          <p:spPr>
            <a:xfrm>
              <a:off x="10634472" y="2037717"/>
              <a:ext cx="1143000" cy="130805"/>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INSURANCE</a:t>
              </a:r>
              <a:r>
                <a:rPr kumimoji="0" lang="en-US" sz="85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 PRIORITY</a:t>
              </a:r>
              <a:endParaRPr kumimoji="0" sz="85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grpSp>
      <p:sp>
        <p:nvSpPr>
          <p:cNvPr id="189" name="Rounded Rectangle 188"/>
          <p:cNvSpPr/>
          <p:nvPr/>
        </p:nvSpPr>
        <p:spPr>
          <a:xfrm rot="16200000">
            <a:off x="-632238" y="3136055"/>
            <a:ext cx="2331720" cy="274320"/>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700" b="1" i="0" u="none" strike="noStrike" kern="0" cap="none" spc="100" normalizeH="0" baseline="0" noProof="0" dirty="0">
                <a:ln>
                  <a:noFill/>
                </a:ln>
                <a:solidFill>
                  <a:srgbClr val="000000">
                    <a:lumMod val="75000"/>
                    <a:lumOff val="25000"/>
                  </a:srgbClr>
                </a:solidFill>
                <a:effectLst/>
                <a:uLnTx/>
                <a:uFillTx/>
                <a:latin typeface="Segoe UI"/>
                <a:ea typeface="+mn-ea"/>
                <a:cs typeface="+mn-cs"/>
                <a:sym typeface="Arial"/>
              </a:rPr>
              <a:t>BANKING </a:t>
            </a:r>
            <a:r>
              <a:rPr kumimoji="0" lang="en-US" sz="1700" b="1" i="0" u="none" strike="noStrike" kern="0" cap="none" spc="100" normalizeH="0" baseline="0" noProof="0" dirty="0">
                <a:ln>
                  <a:noFill/>
                </a:ln>
                <a:solidFill>
                  <a:srgbClr val="000000">
                    <a:lumMod val="75000"/>
                    <a:lumOff val="25000"/>
                  </a:srgbClr>
                </a:solidFill>
                <a:effectLst/>
                <a:uLnTx/>
                <a:uFillTx/>
                <a:latin typeface="Segoe UI"/>
                <a:ea typeface="+mn-ea"/>
                <a:cs typeface="+mn-cs"/>
                <a:sym typeface="Arial"/>
              </a:rPr>
              <a:t>&amp;</a:t>
            </a:r>
            <a:r>
              <a:rPr kumimoji="0" sz="1700" b="1" i="0" u="none" strike="noStrike" kern="0" cap="none" spc="100" normalizeH="0" baseline="0" noProof="0" dirty="0">
                <a:ln>
                  <a:noFill/>
                </a:ln>
                <a:solidFill>
                  <a:srgbClr val="000000">
                    <a:lumMod val="75000"/>
                    <a:lumOff val="25000"/>
                  </a:srgbClr>
                </a:solidFill>
                <a:effectLst/>
                <a:uLnTx/>
                <a:uFillTx/>
                <a:latin typeface="Segoe UI"/>
                <a:ea typeface="+mn-ea"/>
                <a:cs typeface="+mn-cs"/>
                <a:sym typeface="Arial"/>
              </a:rPr>
              <a:t> INSURANCE</a:t>
            </a:r>
          </a:p>
        </p:txBody>
      </p:sp>
      <p:grpSp>
        <p:nvGrpSpPr>
          <p:cNvPr id="8" name="Group 7">
            <a:extLst>
              <a:ext uri="{FF2B5EF4-FFF2-40B4-BE49-F238E27FC236}">
                <a16:creationId xmlns:a16="http://schemas.microsoft.com/office/drawing/2014/main" id="{D698DDFB-6BB5-3515-919C-D0055B27A18F}"/>
              </a:ext>
            </a:extLst>
          </p:cNvPr>
          <p:cNvGrpSpPr/>
          <p:nvPr/>
        </p:nvGrpSpPr>
        <p:grpSpPr>
          <a:xfrm>
            <a:off x="249638" y="464705"/>
            <a:ext cx="11521440" cy="585793"/>
            <a:chOff x="249638" y="464705"/>
            <a:chExt cx="11521440" cy="585793"/>
          </a:xfrm>
        </p:grpSpPr>
        <p:sp>
          <p:nvSpPr>
            <p:cNvPr id="9" name="Text 22">
              <a:extLst>
                <a:ext uri="{FF2B5EF4-FFF2-40B4-BE49-F238E27FC236}">
                  <a16:creationId xmlns:a16="http://schemas.microsoft.com/office/drawing/2014/main" id="{6015CD2B-0CAE-7C9D-910A-7E7E345E37A5}"/>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endParaRPr>
            </a:p>
          </p:txBody>
        </p:sp>
        <p:sp>
          <p:nvSpPr>
            <p:cNvPr id="10" name="TextBox 9">
              <a:extLst>
                <a:ext uri="{FF2B5EF4-FFF2-40B4-BE49-F238E27FC236}">
                  <a16:creationId xmlns:a16="http://schemas.microsoft.com/office/drawing/2014/main" id="{2F973805-7927-7902-5EFA-2287A21A26B4}"/>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dirty="0">
                  <a:ln>
                    <a:noFill/>
                  </a:ln>
                  <a:solidFill>
                    <a:srgbClr val="111111"/>
                  </a:solidFill>
                  <a:effectLst/>
                  <a:uLnTx/>
                  <a:uFillTx/>
                  <a:latin typeface="Segoe UI" panose="020B0502040204020203" pitchFamily="34" charset="0"/>
                  <a:cs typeface="Segoe UI" panose="020B0502040204020203" pitchFamily="34" charset="0"/>
                  <a:sym typeface="Arial"/>
                </a:rPr>
                <a:t>Deepfake defense demands a coordinated response, not a single control</a:t>
              </a:r>
            </a:p>
          </p:txBody>
        </p:sp>
      </p:grpSp>
      <p:sp>
        <p:nvSpPr>
          <p:cNvPr id="13" name="Rectangle 12">
            <a:extLst>
              <a:ext uri="{FF2B5EF4-FFF2-40B4-BE49-F238E27FC236}">
                <a16:creationId xmlns:a16="http://schemas.microsoft.com/office/drawing/2014/main" id="{33FE000A-47C6-284A-B9AF-F60E9DF08121}"/>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B</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rId7" action="ppaction://hlinksldjump"/>
              </a:rPr>
              <a:t>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3791221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4CBCB297-6310-0C8E-446A-0476DFB4D98F}"/>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62F829C1-476D-F41E-F617-C89EA8B3D01E}"/>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2. Information Sharing</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124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“I really feel that fraud intelligence sharing can make a difference, but there are still practical barriers to doing it well” – </a:t>
            </a:r>
            <a:r>
              <a:rPr kumimoji="0" lang="en-US" sz="2000" b="1"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SVP of Top 50 Global Insurance Firm</a:t>
            </a:r>
            <a:endParaRPr kumimoji="0" lang="en-US" sz="2000" b="0" i="0" u="none" strike="noStrike" kern="0" cap="none" spc="0" normalizeH="0" baseline="0" noProof="0" dirty="0">
              <a:ln>
                <a:noFill/>
              </a:ln>
              <a:solidFill>
                <a:srgbClr val="000000"/>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3020523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D30BA-DD99-FFE6-B9B8-0F0E89C801D1}"/>
            </a:ext>
          </a:extLst>
        </p:cNvPr>
        <p:cNvGrpSpPr/>
        <p:nvPr/>
      </p:nvGrpSpPr>
      <p:grpSpPr>
        <a:xfrm>
          <a:off x="0" y="0"/>
          <a:ext cx="0" cy="0"/>
          <a:chOff x="0" y="0"/>
          <a:chExt cx="0" cy="0"/>
        </a:xfrm>
      </p:grpSpPr>
      <p:sp>
        <p:nvSpPr>
          <p:cNvPr id="142" name="Trapezoid 141">
            <a:extLst>
              <a:ext uri="{FF2B5EF4-FFF2-40B4-BE49-F238E27FC236}">
                <a16:creationId xmlns:a16="http://schemas.microsoft.com/office/drawing/2014/main" id="{C8A8008D-6626-C6FF-ECC7-9E1EF23E6CB5}"/>
              </a:ext>
            </a:extLst>
          </p:cNvPr>
          <p:cNvSpPr/>
          <p:nvPr/>
        </p:nvSpPr>
        <p:spPr>
          <a:xfrm>
            <a:off x="8929161" y="4069864"/>
            <a:ext cx="2267621" cy="529337"/>
          </a:xfrm>
          <a:prstGeom prst="trapezoid">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53" name="Rectangle 152">
            <a:extLst>
              <a:ext uri="{FF2B5EF4-FFF2-40B4-BE49-F238E27FC236}">
                <a16:creationId xmlns:a16="http://schemas.microsoft.com/office/drawing/2014/main" id="{EBF0C9E9-EB7F-7B48-E985-C3845746CEFD}"/>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INFORMATION SHARING</a:t>
            </a:r>
          </a:p>
        </p:txBody>
      </p:sp>
      <p:sp>
        <p:nvSpPr>
          <p:cNvPr id="3" name="Rounded Rectangle 17">
            <a:extLst>
              <a:ext uri="{FF2B5EF4-FFF2-40B4-BE49-F238E27FC236}">
                <a16:creationId xmlns:a16="http://schemas.microsoft.com/office/drawing/2014/main" id="{AE0EB5E4-D0D5-3D44-5766-815869382169}"/>
              </a:ext>
            </a:extLst>
          </p:cNvPr>
          <p:cNvSpPr/>
          <p:nvPr/>
        </p:nvSpPr>
        <p:spPr>
          <a:xfrm>
            <a:off x="4288536" y="2189503"/>
            <a:ext cx="3611880" cy="2127000"/>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 name="Rectangle 3">
            <a:extLst>
              <a:ext uri="{FF2B5EF4-FFF2-40B4-BE49-F238E27FC236}">
                <a16:creationId xmlns:a16="http://schemas.microsoft.com/office/drawing/2014/main" id="{8DAEBBF9-B3C8-6500-340E-85AF1AB9A527}"/>
              </a:ext>
            </a:extLst>
          </p:cNvPr>
          <p:cNvSpPr/>
          <p:nvPr/>
        </p:nvSpPr>
        <p:spPr>
          <a:xfrm>
            <a:off x="4288536" y="2544565"/>
            <a:ext cx="3611880" cy="155448"/>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5" name="Rounded Rectangle 18">
            <a:extLst>
              <a:ext uri="{FF2B5EF4-FFF2-40B4-BE49-F238E27FC236}">
                <a16:creationId xmlns:a16="http://schemas.microsoft.com/office/drawing/2014/main" id="{8DF9E8A4-2A1D-FA2F-D512-1D102614618C}"/>
              </a:ext>
            </a:extLst>
          </p:cNvPr>
          <p:cNvSpPr/>
          <p:nvPr/>
        </p:nvSpPr>
        <p:spPr>
          <a:xfrm>
            <a:off x="4288536" y="2164136"/>
            <a:ext cx="3611880" cy="467786"/>
          </a:xfrm>
          <a:prstGeom prst="roundRect">
            <a:avLst>
              <a:gd name="adj" fmla="val 2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 2  ·  LEGAL, PRIVACY &amp; REGULATORY CONSTRAINTS</a:t>
            </a:r>
          </a:p>
        </p:txBody>
      </p:sp>
      <p:sp>
        <p:nvSpPr>
          <p:cNvPr id="10" name="TextBox 9">
            <a:extLst>
              <a:ext uri="{FF2B5EF4-FFF2-40B4-BE49-F238E27FC236}">
                <a16:creationId xmlns:a16="http://schemas.microsoft.com/office/drawing/2014/main" id="{A5754FF8-A236-73DD-5395-2188D31F8549}"/>
              </a:ext>
            </a:extLst>
          </p:cNvPr>
          <p:cNvSpPr txBox="1"/>
          <p:nvPr/>
        </p:nvSpPr>
        <p:spPr>
          <a:xfrm>
            <a:off x="356235" y="1814346"/>
            <a:ext cx="8229600" cy="2000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THE TOP THREE BARRIERS FORM A DEPENDENCY CHAIN  </a:t>
            </a:r>
            <a:r>
              <a:rPr kumimoji="0" sz="1300" b="0"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 of respondents citing each barrier </a:t>
            </a:r>
          </a:p>
        </p:txBody>
      </p:sp>
      <p:sp>
        <p:nvSpPr>
          <p:cNvPr id="13" name="Rounded Rectangle 7">
            <a:extLst>
              <a:ext uri="{FF2B5EF4-FFF2-40B4-BE49-F238E27FC236}">
                <a16:creationId xmlns:a16="http://schemas.microsoft.com/office/drawing/2014/main" id="{9C0FE4C5-9B5C-F456-CA32-190B261307F3}"/>
              </a:ext>
            </a:extLst>
          </p:cNvPr>
          <p:cNvSpPr/>
          <p:nvPr/>
        </p:nvSpPr>
        <p:spPr>
          <a:xfrm>
            <a:off x="320040" y="2189503"/>
            <a:ext cx="3611880" cy="2127000"/>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5" name="Rectangle 14">
            <a:extLst>
              <a:ext uri="{FF2B5EF4-FFF2-40B4-BE49-F238E27FC236}">
                <a16:creationId xmlns:a16="http://schemas.microsoft.com/office/drawing/2014/main" id="{9DD3DA33-884B-2733-109C-FA02320FD5D0}"/>
              </a:ext>
            </a:extLst>
          </p:cNvPr>
          <p:cNvSpPr/>
          <p:nvPr/>
        </p:nvSpPr>
        <p:spPr>
          <a:xfrm>
            <a:off x="320040" y="2544565"/>
            <a:ext cx="3611880" cy="155448"/>
          </a:xfrm>
          <a:prstGeom prst="rect">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147" name="Group 146">
            <a:extLst>
              <a:ext uri="{FF2B5EF4-FFF2-40B4-BE49-F238E27FC236}">
                <a16:creationId xmlns:a16="http://schemas.microsoft.com/office/drawing/2014/main" id="{AFFFB9D7-6D29-0180-2F6C-21C33986FBF1}"/>
              </a:ext>
            </a:extLst>
          </p:cNvPr>
          <p:cNvGrpSpPr/>
          <p:nvPr/>
        </p:nvGrpSpPr>
        <p:grpSpPr>
          <a:xfrm>
            <a:off x="954380" y="2802104"/>
            <a:ext cx="683808" cy="683808"/>
            <a:chOff x="954380" y="2802104"/>
            <a:chExt cx="683808" cy="683808"/>
          </a:xfrm>
        </p:grpSpPr>
        <p:sp>
          <p:nvSpPr>
            <p:cNvPr id="16" name="Rounded Rectangle 11">
              <a:extLst>
                <a:ext uri="{FF2B5EF4-FFF2-40B4-BE49-F238E27FC236}">
                  <a16:creationId xmlns:a16="http://schemas.microsoft.com/office/drawing/2014/main" id="{1335091F-D9D7-5214-9881-CD21A22F8668}"/>
                </a:ext>
              </a:extLst>
            </p:cNvPr>
            <p:cNvSpPr/>
            <p:nvPr/>
          </p:nvSpPr>
          <p:spPr>
            <a:xfrm>
              <a:off x="954380" y="2802104"/>
              <a:ext cx="683808" cy="683808"/>
            </a:xfrm>
            <a:prstGeom prst="roundRect">
              <a:avLst>
                <a:gd name="adj" fmla="val 50000"/>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7" name="Picture 16" descr="ic_data_w.png">
              <a:extLst>
                <a:ext uri="{FF2B5EF4-FFF2-40B4-BE49-F238E27FC236}">
                  <a16:creationId xmlns:a16="http://schemas.microsoft.com/office/drawing/2014/main" id="{C652E400-F84A-07E7-BFE3-70DB98EE6CE6}"/>
                </a:ext>
              </a:extLst>
            </p:cNvPr>
            <p:cNvPicPr>
              <a:picLocks noChangeAspect="1"/>
            </p:cNvPicPr>
            <p:nvPr/>
          </p:nvPicPr>
          <p:blipFill>
            <a:blip r:embed="rId3"/>
            <a:stretch>
              <a:fillRect/>
            </a:stretch>
          </p:blipFill>
          <p:spPr>
            <a:xfrm>
              <a:off x="1104818" y="2952541"/>
              <a:ext cx="382932" cy="382932"/>
            </a:xfrm>
            <a:prstGeom prst="rect">
              <a:avLst/>
            </a:prstGeom>
          </p:spPr>
        </p:pic>
      </p:grpSp>
      <p:sp>
        <p:nvSpPr>
          <p:cNvPr id="19" name="TextBox 18">
            <a:extLst>
              <a:ext uri="{FF2B5EF4-FFF2-40B4-BE49-F238E27FC236}">
                <a16:creationId xmlns:a16="http://schemas.microsoft.com/office/drawing/2014/main" id="{3D6702E4-1B4B-5DA7-BB0F-1D8C5091A821}"/>
              </a:ext>
            </a:extLst>
          </p:cNvPr>
          <p:cNvSpPr txBox="1"/>
          <p:nvPr/>
        </p:nvSpPr>
        <p:spPr>
          <a:xfrm>
            <a:off x="1843230" y="2786729"/>
            <a:ext cx="1654375" cy="69249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77%</a:t>
            </a:r>
          </a:p>
        </p:txBody>
      </p:sp>
      <p:sp>
        <p:nvSpPr>
          <p:cNvPr id="20" name="TextBox 19">
            <a:extLst>
              <a:ext uri="{FF2B5EF4-FFF2-40B4-BE49-F238E27FC236}">
                <a16:creationId xmlns:a16="http://schemas.microsoft.com/office/drawing/2014/main" id="{6A151342-2C08-D12E-7244-E4B9E6491C16}"/>
              </a:ext>
            </a:extLst>
          </p:cNvPr>
          <p:cNvSpPr txBox="1"/>
          <p:nvPr/>
        </p:nvSpPr>
        <p:spPr>
          <a:xfrm>
            <a:off x="502920" y="3538673"/>
            <a:ext cx="3246120"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Shared intelligence is only as valuable as the data behind it. Without common definitions and consistent data quality, organizations lack a reliable basis for exchange.</a:t>
            </a:r>
            <a:endPar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nvGrpSpPr>
          <p:cNvPr id="146" name="Group 145">
            <a:extLst>
              <a:ext uri="{FF2B5EF4-FFF2-40B4-BE49-F238E27FC236}">
                <a16:creationId xmlns:a16="http://schemas.microsoft.com/office/drawing/2014/main" id="{2F635BDF-24B6-608E-FEAB-55965E5B8BE3}"/>
              </a:ext>
            </a:extLst>
          </p:cNvPr>
          <p:cNvGrpSpPr/>
          <p:nvPr/>
        </p:nvGrpSpPr>
        <p:grpSpPr>
          <a:xfrm>
            <a:off x="4922876" y="2802104"/>
            <a:ext cx="683808" cy="683808"/>
            <a:chOff x="4922876" y="2802104"/>
            <a:chExt cx="683808" cy="683808"/>
          </a:xfrm>
        </p:grpSpPr>
        <p:sp>
          <p:nvSpPr>
            <p:cNvPr id="24" name="Rounded Rectangle 21">
              <a:extLst>
                <a:ext uri="{FF2B5EF4-FFF2-40B4-BE49-F238E27FC236}">
                  <a16:creationId xmlns:a16="http://schemas.microsoft.com/office/drawing/2014/main" id="{DB815B44-9149-3F07-632A-813BA45C37D7}"/>
                </a:ext>
              </a:extLst>
            </p:cNvPr>
            <p:cNvSpPr/>
            <p:nvPr/>
          </p:nvSpPr>
          <p:spPr>
            <a:xfrm>
              <a:off x="4922876" y="2802104"/>
              <a:ext cx="683808" cy="683808"/>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5" name="Picture 24" descr="image.png">
              <a:extLst>
                <a:ext uri="{FF2B5EF4-FFF2-40B4-BE49-F238E27FC236}">
                  <a16:creationId xmlns:a16="http://schemas.microsoft.com/office/drawing/2014/main" id="{790CEB74-1AEF-610E-DBA8-0E38477075E5}"/>
                </a:ext>
              </a:extLst>
            </p:cNvPr>
            <p:cNvPicPr>
              <a:picLocks noChangeAspect="1"/>
            </p:cNvPicPr>
            <p:nvPr/>
          </p:nvPicPr>
          <p:blipFill>
            <a:blip r:embed="rId4"/>
            <a:stretch>
              <a:fillRect/>
            </a:stretch>
          </p:blipFill>
          <p:spPr>
            <a:xfrm>
              <a:off x="5073314" y="2952541"/>
              <a:ext cx="382932" cy="382932"/>
            </a:xfrm>
            <a:prstGeom prst="rect">
              <a:avLst/>
            </a:prstGeom>
          </p:spPr>
        </p:pic>
      </p:grpSp>
      <p:sp>
        <p:nvSpPr>
          <p:cNvPr id="38" name="TextBox 37">
            <a:extLst>
              <a:ext uri="{FF2B5EF4-FFF2-40B4-BE49-F238E27FC236}">
                <a16:creationId xmlns:a16="http://schemas.microsoft.com/office/drawing/2014/main" id="{DED80922-B766-4364-7FEE-57A9AA7D83AD}"/>
              </a:ext>
            </a:extLst>
          </p:cNvPr>
          <p:cNvSpPr txBox="1"/>
          <p:nvPr/>
        </p:nvSpPr>
        <p:spPr>
          <a:xfrm>
            <a:off x="5811726" y="2786729"/>
            <a:ext cx="1654375" cy="69249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73%</a:t>
            </a:r>
          </a:p>
        </p:txBody>
      </p:sp>
      <p:sp>
        <p:nvSpPr>
          <p:cNvPr id="40" name="TextBox 39">
            <a:extLst>
              <a:ext uri="{FF2B5EF4-FFF2-40B4-BE49-F238E27FC236}">
                <a16:creationId xmlns:a16="http://schemas.microsoft.com/office/drawing/2014/main" id="{A25D3FE0-D1A1-4DB2-7B65-A6974C762BDF}"/>
              </a:ext>
            </a:extLst>
          </p:cNvPr>
          <p:cNvSpPr txBox="1"/>
          <p:nvPr/>
        </p:nvSpPr>
        <p:spPr>
          <a:xfrm>
            <a:off x="4471416" y="3623312"/>
            <a:ext cx="3246120"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Even with usable data, organizations need certainty about what they are allowed to share, with whom, and under what safeguards.</a:t>
            </a:r>
          </a:p>
        </p:txBody>
      </p:sp>
      <p:sp>
        <p:nvSpPr>
          <p:cNvPr id="47" name="Chevron 26">
            <a:extLst>
              <a:ext uri="{FF2B5EF4-FFF2-40B4-BE49-F238E27FC236}">
                <a16:creationId xmlns:a16="http://schemas.microsoft.com/office/drawing/2014/main" id="{09C5309E-529E-88AB-7D62-F7D844012F6C}"/>
              </a:ext>
            </a:extLst>
          </p:cNvPr>
          <p:cNvSpPr/>
          <p:nvPr/>
        </p:nvSpPr>
        <p:spPr>
          <a:xfrm>
            <a:off x="7973568" y="3051835"/>
            <a:ext cx="219456" cy="402336"/>
          </a:xfrm>
          <a:prstGeom prst="chevron">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8" name="Rounded Rectangle 27">
            <a:extLst>
              <a:ext uri="{FF2B5EF4-FFF2-40B4-BE49-F238E27FC236}">
                <a16:creationId xmlns:a16="http://schemas.microsoft.com/office/drawing/2014/main" id="{685A014F-30D1-99E8-42C3-A033BBE27F76}"/>
              </a:ext>
            </a:extLst>
          </p:cNvPr>
          <p:cNvSpPr/>
          <p:nvPr/>
        </p:nvSpPr>
        <p:spPr>
          <a:xfrm>
            <a:off x="8257031" y="2189503"/>
            <a:ext cx="3611880" cy="2127000"/>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9" name="Rectangle 48">
            <a:extLst>
              <a:ext uri="{FF2B5EF4-FFF2-40B4-BE49-F238E27FC236}">
                <a16:creationId xmlns:a16="http://schemas.microsoft.com/office/drawing/2014/main" id="{A8F7ABBD-6E4B-956B-0683-3AE5C8CEF9D6}"/>
              </a:ext>
            </a:extLst>
          </p:cNvPr>
          <p:cNvSpPr/>
          <p:nvPr/>
        </p:nvSpPr>
        <p:spPr>
          <a:xfrm>
            <a:off x="8257031" y="2544565"/>
            <a:ext cx="3611880" cy="155448"/>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145" name="Group 144">
            <a:extLst>
              <a:ext uri="{FF2B5EF4-FFF2-40B4-BE49-F238E27FC236}">
                <a16:creationId xmlns:a16="http://schemas.microsoft.com/office/drawing/2014/main" id="{50A6A593-B42D-279F-C248-0291E5C0622E}"/>
              </a:ext>
            </a:extLst>
          </p:cNvPr>
          <p:cNvGrpSpPr/>
          <p:nvPr/>
        </p:nvGrpSpPr>
        <p:grpSpPr>
          <a:xfrm>
            <a:off x="8891371" y="2802104"/>
            <a:ext cx="683808" cy="683808"/>
            <a:chOff x="8891371" y="2802104"/>
            <a:chExt cx="683808" cy="683808"/>
          </a:xfrm>
        </p:grpSpPr>
        <p:sp>
          <p:nvSpPr>
            <p:cNvPr id="50" name="Rounded Rectangle 31">
              <a:extLst>
                <a:ext uri="{FF2B5EF4-FFF2-40B4-BE49-F238E27FC236}">
                  <a16:creationId xmlns:a16="http://schemas.microsoft.com/office/drawing/2014/main" id="{A69AEB51-C380-382D-4827-90E9D90C31F1}"/>
                </a:ext>
              </a:extLst>
            </p:cNvPr>
            <p:cNvSpPr/>
            <p:nvPr/>
          </p:nvSpPr>
          <p:spPr>
            <a:xfrm>
              <a:off x="8891371" y="2802104"/>
              <a:ext cx="683808" cy="683808"/>
            </a:xfrm>
            <a:prstGeom prst="roundRect">
              <a:avLst>
                <a:gd name="adj" fmla="val 5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51" name="Picture 50" descr="ic_people_w.png">
              <a:extLst>
                <a:ext uri="{FF2B5EF4-FFF2-40B4-BE49-F238E27FC236}">
                  <a16:creationId xmlns:a16="http://schemas.microsoft.com/office/drawing/2014/main" id="{D9BDFFC8-E03B-3D7B-45F1-FE7418FB990B}"/>
                </a:ext>
              </a:extLst>
            </p:cNvPr>
            <p:cNvPicPr>
              <a:picLocks noChangeAspect="1"/>
            </p:cNvPicPr>
            <p:nvPr/>
          </p:nvPicPr>
          <p:blipFill>
            <a:blip r:embed="rId5"/>
            <a:stretch>
              <a:fillRect/>
            </a:stretch>
          </p:blipFill>
          <p:spPr>
            <a:xfrm>
              <a:off x="9041810" y="2952541"/>
              <a:ext cx="382932" cy="382932"/>
            </a:xfrm>
            <a:prstGeom prst="rect">
              <a:avLst/>
            </a:prstGeom>
          </p:spPr>
        </p:pic>
      </p:grpSp>
      <p:sp>
        <p:nvSpPr>
          <p:cNvPr id="52" name="TextBox 51">
            <a:extLst>
              <a:ext uri="{FF2B5EF4-FFF2-40B4-BE49-F238E27FC236}">
                <a16:creationId xmlns:a16="http://schemas.microsoft.com/office/drawing/2014/main" id="{67272B9E-D3F8-9979-FBE2-4044B6F539C8}"/>
              </a:ext>
            </a:extLst>
          </p:cNvPr>
          <p:cNvSpPr txBox="1"/>
          <p:nvPr/>
        </p:nvSpPr>
        <p:spPr>
          <a:xfrm>
            <a:off x="9780222" y="2786729"/>
            <a:ext cx="1654375" cy="69249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45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60%</a:t>
            </a:r>
          </a:p>
        </p:txBody>
      </p:sp>
      <p:sp>
        <p:nvSpPr>
          <p:cNvPr id="53" name="TextBox 52">
            <a:extLst>
              <a:ext uri="{FF2B5EF4-FFF2-40B4-BE49-F238E27FC236}">
                <a16:creationId xmlns:a16="http://schemas.microsoft.com/office/drawing/2014/main" id="{D3757E09-7842-B0FB-2C43-21C7C7A2C97E}"/>
              </a:ext>
            </a:extLst>
          </p:cNvPr>
          <p:cNvSpPr txBox="1"/>
          <p:nvPr/>
        </p:nvSpPr>
        <p:spPr>
          <a:xfrm>
            <a:off x="8439911" y="3538673"/>
            <a:ext cx="3246120"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Once trusted data and clear guardrails in place can organizations have the confidence to participate, turning isolated efforts into industry-wide collaboration</a:t>
            </a:r>
          </a:p>
        </p:txBody>
      </p:sp>
      <p:sp>
        <p:nvSpPr>
          <p:cNvPr id="55" name="Rounded Rectangle 37">
            <a:extLst>
              <a:ext uri="{FF2B5EF4-FFF2-40B4-BE49-F238E27FC236}">
                <a16:creationId xmlns:a16="http://schemas.microsoft.com/office/drawing/2014/main" id="{8073924C-776B-F7D1-E627-756690375CAD}"/>
              </a:ext>
            </a:extLst>
          </p:cNvPr>
          <p:cNvSpPr/>
          <p:nvPr/>
        </p:nvSpPr>
        <p:spPr>
          <a:xfrm>
            <a:off x="320040" y="4518832"/>
            <a:ext cx="11548872" cy="1297621"/>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56" name="Picture 55" descr="au.png">
            <a:extLst>
              <a:ext uri="{FF2B5EF4-FFF2-40B4-BE49-F238E27FC236}">
                <a16:creationId xmlns:a16="http://schemas.microsoft.com/office/drawing/2014/main" id="{2D5F3CC1-6B13-FF1F-8AEA-84405ACE3557}"/>
              </a:ext>
            </a:extLst>
          </p:cNvPr>
          <p:cNvPicPr>
            <a:picLocks noChangeAspect="1"/>
          </p:cNvPicPr>
          <p:nvPr/>
        </p:nvPicPr>
        <p:blipFill>
          <a:blip r:embed="rId6"/>
          <a:stretch>
            <a:fillRect/>
          </a:stretch>
        </p:blipFill>
        <p:spPr>
          <a:xfrm>
            <a:off x="548640" y="4632281"/>
            <a:ext cx="384048" cy="256032"/>
          </a:xfrm>
          <a:prstGeom prst="roundRect">
            <a:avLst/>
          </a:prstGeom>
        </p:spPr>
      </p:pic>
      <p:sp>
        <p:nvSpPr>
          <p:cNvPr id="57" name="TextBox 56">
            <a:extLst>
              <a:ext uri="{FF2B5EF4-FFF2-40B4-BE49-F238E27FC236}">
                <a16:creationId xmlns:a16="http://schemas.microsoft.com/office/drawing/2014/main" id="{601BE121-A72A-E6EE-EC03-9D35337D8C34}"/>
              </a:ext>
            </a:extLst>
          </p:cNvPr>
          <p:cNvSpPr txBox="1"/>
          <p:nvPr/>
        </p:nvSpPr>
        <p:spPr>
          <a:xfrm>
            <a:off x="1024128" y="4641981"/>
            <a:ext cx="10515600" cy="20005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lumMod val="50000"/>
                  </a:srgbClr>
                </a:solidFill>
                <a:effectLst/>
                <a:uLnTx/>
                <a:uFillTx/>
                <a:latin typeface="Segoe UI" panose="020B0502040204020203" pitchFamily="34" charset="0"/>
                <a:ea typeface="+mn-ea"/>
                <a:cs typeface="Segoe UI" panose="020B0502040204020203" pitchFamily="34" charset="0"/>
                <a:sym typeface="Arial"/>
              </a:rPr>
              <a:t>AUSTRALIA: WITH PARTICIPATION IN PLACE, THE BARRIER TURNS INTERNAL</a:t>
            </a:r>
          </a:p>
        </p:txBody>
      </p:sp>
      <p:sp>
        <p:nvSpPr>
          <p:cNvPr id="58" name="TextBox 57">
            <a:extLst>
              <a:ext uri="{FF2B5EF4-FFF2-40B4-BE49-F238E27FC236}">
                <a16:creationId xmlns:a16="http://schemas.microsoft.com/office/drawing/2014/main" id="{67765B39-1F91-A8AD-A282-039537DE42FA}"/>
              </a:ext>
            </a:extLst>
          </p:cNvPr>
          <p:cNvSpPr txBox="1"/>
          <p:nvPr/>
        </p:nvSpPr>
        <p:spPr>
          <a:xfrm>
            <a:off x="1024128" y="4934457"/>
            <a:ext cx="5170910" cy="755720"/>
          </a:xfrm>
          <a:prstGeom prst="rect">
            <a:avLst/>
          </a:prstGeom>
          <a:noFill/>
        </p:spPr>
        <p:txBody>
          <a:bodyPr wrap="square" lIns="0" tIns="0" rIns="0" bIns="0" anchor="t">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Supported by established initiatives </a:t>
            </a:r>
            <a:r>
              <a:rPr kumimoji="0" lang="en-US" sz="11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such as AFCX, Australian banking respondents </a:t>
            </a: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were less concerned with external participation and more focused on scale, with 57% citing insufficient </a:t>
            </a:r>
            <a:r>
              <a:rPr kumimoji="0" lang="en-US" sz="11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budget or resource investment </a:t>
            </a:r>
            <a:r>
              <a:rPr kumimoji="0" lang="en-US" sz="11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as the third most significant barrier.</a:t>
            </a:r>
          </a:p>
        </p:txBody>
      </p:sp>
      <p:sp>
        <p:nvSpPr>
          <p:cNvPr id="62" name="Rounded Rectangle 28">
            <a:extLst>
              <a:ext uri="{FF2B5EF4-FFF2-40B4-BE49-F238E27FC236}">
                <a16:creationId xmlns:a16="http://schemas.microsoft.com/office/drawing/2014/main" id="{DA0C1BC0-E21D-40F6-F072-5C20E48E001B}"/>
              </a:ext>
            </a:extLst>
          </p:cNvPr>
          <p:cNvSpPr/>
          <p:nvPr/>
        </p:nvSpPr>
        <p:spPr>
          <a:xfrm>
            <a:off x="8257031" y="2164136"/>
            <a:ext cx="3611880" cy="467786"/>
          </a:xfrm>
          <a:prstGeom prst="roundRect">
            <a:avLst>
              <a:gd name="adj" fmla="val 2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 3  ·  LACK OF EXTERNAL INDUSTRY PARTICIPATION</a:t>
            </a:r>
          </a:p>
        </p:txBody>
      </p:sp>
      <p:sp>
        <p:nvSpPr>
          <p:cNvPr id="63" name="Rounded Rectangle 8">
            <a:extLst>
              <a:ext uri="{FF2B5EF4-FFF2-40B4-BE49-F238E27FC236}">
                <a16:creationId xmlns:a16="http://schemas.microsoft.com/office/drawing/2014/main" id="{5AB76CCE-9656-EF19-365A-EC9A2DE4AB50}"/>
              </a:ext>
            </a:extLst>
          </p:cNvPr>
          <p:cNvSpPr/>
          <p:nvPr/>
        </p:nvSpPr>
        <p:spPr>
          <a:xfrm>
            <a:off x="320040" y="2164136"/>
            <a:ext cx="3611880" cy="467786"/>
          </a:xfrm>
          <a:prstGeom prst="roundRect">
            <a:avLst>
              <a:gd name="adj" fmla="val 20000"/>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 1  ·  DATA STANDARDIZATION &amp; POOR QUALITY</a:t>
            </a:r>
          </a:p>
        </p:txBody>
      </p:sp>
      <p:grpSp>
        <p:nvGrpSpPr>
          <p:cNvPr id="128" name="Group 127">
            <a:extLst>
              <a:ext uri="{FF2B5EF4-FFF2-40B4-BE49-F238E27FC236}">
                <a16:creationId xmlns:a16="http://schemas.microsoft.com/office/drawing/2014/main" id="{818781EB-D84B-B097-2F8E-67450C198113}"/>
              </a:ext>
            </a:extLst>
          </p:cNvPr>
          <p:cNvGrpSpPr/>
          <p:nvPr/>
        </p:nvGrpSpPr>
        <p:grpSpPr>
          <a:xfrm>
            <a:off x="6612255" y="4762533"/>
            <a:ext cx="5109440" cy="913254"/>
            <a:chOff x="6612255" y="4721796"/>
            <a:chExt cx="5109440" cy="913254"/>
          </a:xfrm>
        </p:grpSpPr>
        <p:grpSp>
          <p:nvGrpSpPr>
            <p:cNvPr id="129" name="Group 128">
              <a:extLst>
                <a:ext uri="{FF2B5EF4-FFF2-40B4-BE49-F238E27FC236}">
                  <a16:creationId xmlns:a16="http://schemas.microsoft.com/office/drawing/2014/main" id="{3D61D0D7-8858-FDD2-EED0-7ACCF20960F5}"/>
                </a:ext>
              </a:extLst>
            </p:cNvPr>
            <p:cNvGrpSpPr/>
            <p:nvPr/>
          </p:nvGrpSpPr>
          <p:grpSpPr>
            <a:xfrm>
              <a:off x="6612255" y="4721796"/>
              <a:ext cx="2238605" cy="913254"/>
              <a:chOff x="6612255" y="4721796"/>
              <a:chExt cx="2238605" cy="913254"/>
            </a:xfrm>
          </p:grpSpPr>
          <p:grpSp>
            <p:nvGrpSpPr>
              <p:cNvPr id="137" name="Group 136">
                <a:extLst>
                  <a:ext uri="{FF2B5EF4-FFF2-40B4-BE49-F238E27FC236}">
                    <a16:creationId xmlns:a16="http://schemas.microsoft.com/office/drawing/2014/main" id="{4D147D8D-9838-D141-0E4C-91A3010D85E1}"/>
                  </a:ext>
                </a:extLst>
              </p:cNvPr>
              <p:cNvGrpSpPr/>
              <p:nvPr/>
            </p:nvGrpSpPr>
            <p:grpSpPr>
              <a:xfrm>
                <a:off x="6612255" y="4863423"/>
                <a:ext cx="630000" cy="630000"/>
                <a:chOff x="6355080" y="5065776"/>
                <a:chExt cx="457200" cy="457200"/>
              </a:xfrm>
            </p:grpSpPr>
            <p:sp>
              <p:nvSpPr>
                <p:cNvPr id="140" name="Rounded Rectangle 41">
                  <a:extLst>
                    <a:ext uri="{FF2B5EF4-FFF2-40B4-BE49-F238E27FC236}">
                      <a16:creationId xmlns:a16="http://schemas.microsoft.com/office/drawing/2014/main" id="{C7CF1F58-5DD0-3A0A-FC2E-9086CCEDDA39}"/>
                    </a:ext>
                  </a:extLst>
                </p:cNvPr>
                <p:cNvSpPr/>
                <p:nvPr/>
              </p:nvSpPr>
              <p:spPr>
                <a:xfrm>
                  <a:off x="6355080" y="5065776"/>
                  <a:ext cx="457200" cy="457200"/>
                </a:xfrm>
                <a:prstGeom prst="roundRect">
                  <a:avLst>
                    <a:gd name="adj" fmla="val 50000"/>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41" name="Picture 140" descr="ic_users_w.png">
                  <a:extLst>
                    <a:ext uri="{FF2B5EF4-FFF2-40B4-BE49-F238E27FC236}">
                      <a16:creationId xmlns:a16="http://schemas.microsoft.com/office/drawing/2014/main" id="{8D4F5604-8250-197C-8D70-D2C2BA588339}"/>
                    </a:ext>
                  </a:extLst>
                </p:cNvPr>
                <p:cNvPicPr>
                  <a:picLocks noChangeAspect="1"/>
                </p:cNvPicPr>
                <p:nvPr/>
              </p:nvPicPr>
              <p:blipFill>
                <a:blip r:embed="rId7"/>
                <a:stretch>
                  <a:fillRect/>
                </a:stretch>
              </p:blipFill>
              <p:spPr>
                <a:xfrm>
                  <a:off x="6455664" y="5166360"/>
                  <a:ext cx="256032" cy="256032"/>
                </a:xfrm>
                <a:prstGeom prst="rect">
                  <a:avLst/>
                </a:prstGeom>
              </p:spPr>
            </p:pic>
          </p:grpSp>
          <p:sp>
            <p:nvSpPr>
              <p:cNvPr id="138" name="TextBox 137">
                <a:extLst>
                  <a:ext uri="{FF2B5EF4-FFF2-40B4-BE49-F238E27FC236}">
                    <a16:creationId xmlns:a16="http://schemas.microsoft.com/office/drawing/2014/main" id="{0FDF04D5-D3BA-F8C6-ABCD-42385FCED2F8}"/>
                  </a:ext>
                </a:extLst>
              </p:cNvPr>
              <p:cNvSpPr txBox="1"/>
              <p:nvPr/>
            </p:nvSpPr>
            <p:spPr>
              <a:xfrm>
                <a:off x="7351395" y="4721796"/>
                <a:ext cx="900281" cy="53860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43%</a:t>
                </a:r>
              </a:p>
            </p:txBody>
          </p:sp>
          <p:sp>
            <p:nvSpPr>
              <p:cNvPr id="139" name="TextBox 138">
                <a:extLst>
                  <a:ext uri="{FF2B5EF4-FFF2-40B4-BE49-F238E27FC236}">
                    <a16:creationId xmlns:a16="http://schemas.microsoft.com/office/drawing/2014/main" id="{1CC1BAD3-680D-58CC-B308-320EB1631115}"/>
                  </a:ext>
                </a:extLst>
              </p:cNvPr>
              <p:cNvSpPr txBox="1"/>
              <p:nvPr/>
            </p:nvSpPr>
            <p:spPr>
              <a:xfrm>
                <a:off x="7351396" y="5234940"/>
                <a:ext cx="1499464" cy="4001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Lack of external participation</a:t>
                </a:r>
              </a:p>
            </p:txBody>
          </p:sp>
        </p:grpSp>
        <p:grpSp>
          <p:nvGrpSpPr>
            <p:cNvPr id="130" name="Group 129">
              <a:extLst>
                <a:ext uri="{FF2B5EF4-FFF2-40B4-BE49-F238E27FC236}">
                  <a16:creationId xmlns:a16="http://schemas.microsoft.com/office/drawing/2014/main" id="{30D3A9A4-8258-798B-F4E9-B106D8A3C794}"/>
                </a:ext>
              </a:extLst>
            </p:cNvPr>
            <p:cNvGrpSpPr/>
            <p:nvPr/>
          </p:nvGrpSpPr>
          <p:grpSpPr>
            <a:xfrm>
              <a:off x="9483090" y="4721796"/>
              <a:ext cx="2238605" cy="913254"/>
              <a:chOff x="9483090" y="4721796"/>
              <a:chExt cx="2238605" cy="913254"/>
            </a:xfrm>
          </p:grpSpPr>
          <p:grpSp>
            <p:nvGrpSpPr>
              <p:cNvPr id="132" name="Group 131">
                <a:extLst>
                  <a:ext uri="{FF2B5EF4-FFF2-40B4-BE49-F238E27FC236}">
                    <a16:creationId xmlns:a16="http://schemas.microsoft.com/office/drawing/2014/main" id="{304525A8-A3BF-BFE8-661B-81265445A344}"/>
                  </a:ext>
                </a:extLst>
              </p:cNvPr>
              <p:cNvGrpSpPr/>
              <p:nvPr/>
            </p:nvGrpSpPr>
            <p:grpSpPr>
              <a:xfrm>
                <a:off x="9483090" y="4863423"/>
                <a:ext cx="630000" cy="630000"/>
                <a:chOff x="9235440" y="5065776"/>
                <a:chExt cx="457200" cy="457200"/>
              </a:xfrm>
            </p:grpSpPr>
            <p:sp>
              <p:nvSpPr>
                <p:cNvPr id="135" name="Rounded Rectangle 46">
                  <a:extLst>
                    <a:ext uri="{FF2B5EF4-FFF2-40B4-BE49-F238E27FC236}">
                      <a16:creationId xmlns:a16="http://schemas.microsoft.com/office/drawing/2014/main" id="{9D00A379-C5B8-1454-407D-936ADF656D7F}"/>
                    </a:ext>
                  </a:extLst>
                </p:cNvPr>
                <p:cNvSpPr/>
                <p:nvPr/>
              </p:nvSpPr>
              <p:spPr>
                <a:xfrm>
                  <a:off x="9235440" y="5065776"/>
                  <a:ext cx="457200" cy="457200"/>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36" name="Picture 135" descr="ic_coins_w.png">
                  <a:extLst>
                    <a:ext uri="{FF2B5EF4-FFF2-40B4-BE49-F238E27FC236}">
                      <a16:creationId xmlns:a16="http://schemas.microsoft.com/office/drawing/2014/main" id="{18B7D034-8461-220B-31C3-1FE073C870A3}"/>
                    </a:ext>
                  </a:extLst>
                </p:cNvPr>
                <p:cNvPicPr>
                  <a:picLocks noChangeAspect="1"/>
                </p:cNvPicPr>
                <p:nvPr/>
              </p:nvPicPr>
              <p:blipFill>
                <a:blip r:embed="rId8"/>
                <a:stretch>
                  <a:fillRect/>
                </a:stretch>
              </p:blipFill>
              <p:spPr>
                <a:xfrm>
                  <a:off x="9336024" y="5166360"/>
                  <a:ext cx="256032" cy="256032"/>
                </a:xfrm>
                <a:prstGeom prst="rect">
                  <a:avLst/>
                </a:prstGeom>
              </p:spPr>
            </p:pic>
          </p:grpSp>
          <p:sp>
            <p:nvSpPr>
              <p:cNvPr id="133" name="TextBox 132">
                <a:extLst>
                  <a:ext uri="{FF2B5EF4-FFF2-40B4-BE49-F238E27FC236}">
                    <a16:creationId xmlns:a16="http://schemas.microsoft.com/office/drawing/2014/main" id="{53FD61E4-9076-3B25-4CD9-A8CD03C99122}"/>
                  </a:ext>
                </a:extLst>
              </p:cNvPr>
              <p:cNvSpPr txBox="1"/>
              <p:nvPr/>
            </p:nvSpPr>
            <p:spPr>
              <a:xfrm>
                <a:off x="10222230" y="4721796"/>
                <a:ext cx="900281" cy="53860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57%</a:t>
                </a:r>
              </a:p>
            </p:txBody>
          </p:sp>
          <p:sp>
            <p:nvSpPr>
              <p:cNvPr id="134" name="TextBox 133">
                <a:extLst>
                  <a:ext uri="{FF2B5EF4-FFF2-40B4-BE49-F238E27FC236}">
                    <a16:creationId xmlns:a16="http://schemas.microsoft.com/office/drawing/2014/main" id="{709375E3-AE12-4979-1DA3-F16EF5DE584C}"/>
                  </a:ext>
                </a:extLst>
              </p:cNvPr>
              <p:cNvSpPr txBox="1"/>
              <p:nvPr/>
            </p:nvSpPr>
            <p:spPr>
              <a:xfrm>
                <a:off x="10222231" y="5234940"/>
                <a:ext cx="1499464" cy="4001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Insufficient budget / resources</a:t>
                </a:r>
              </a:p>
            </p:txBody>
          </p:sp>
        </p:grpSp>
        <p:sp>
          <p:nvSpPr>
            <p:cNvPr id="131" name="Shape 21">
              <a:extLst>
                <a:ext uri="{FF2B5EF4-FFF2-40B4-BE49-F238E27FC236}">
                  <a16:creationId xmlns:a16="http://schemas.microsoft.com/office/drawing/2014/main" id="{E9E35D9A-0085-6F93-9EDD-0D46B077E44B}"/>
                </a:ext>
              </a:extLst>
            </p:cNvPr>
            <p:cNvSpPr/>
            <p:nvPr/>
          </p:nvSpPr>
          <p:spPr>
            <a:xfrm>
              <a:off x="8870373" y="4965296"/>
              <a:ext cx="296602" cy="426254"/>
            </a:xfrm>
            <a:prstGeom prst="chevron">
              <a:avLst/>
            </a:prstGeom>
            <a:solidFill>
              <a:srgbClr val="046A38"/>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sysClr val="windowText" lastClr="000000"/>
                </a:solidFill>
                <a:effectLst/>
                <a:uLnTx/>
                <a:uFillTx/>
                <a:latin typeface="Segoe UI" panose="020B0502040204020203" pitchFamily="34" charset="0"/>
                <a:cs typeface="Segoe UI" panose="020B0502040204020203" pitchFamily="34" charset="0"/>
                <a:sym typeface="Arial"/>
              </a:endParaRPr>
            </a:p>
          </p:txBody>
        </p:sp>
      </p:grpSp>
      <p:sp>
        <p:nvSpPr>
          <p:cNvPr id="144" name="Rectangle 143">
            <a:extLst>
              <a:ext uri="{FF2B5EF4-FFF2-40B4-BE49-F238E27FC236}">
                <a16:creationId xmlns:a16="http://schemas.microsoft.com/office/drawing/2014/main" id="{1F62CF01-E422-E1D3-F3D3-905AD2C578F9}"/>
              </a:ext>
            </a:extLst>
          </p:cNvPr>
          <p:cNvSpPr/>
          <p:nvPr/>
        </p:nvSpPr>
        <p:spPr>
          <a:xfrm>
            <a:off x="320040" y="6033051"/>
            <a:ext cx="11548872" cy="45720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WHAT IT MEANS  </a:t>
            </a:r>
            <a:r>
              <a:rPr kumimoji="0" lang="en-US" sz="13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Scaling information sharing starts with trusted data and clear legal guardrails - unlocking industry-wide participation.</a:t>
            </a:r>
          </a:p>
        </p:txBody>
      </p:sp>
      <p:sp>
        <p:nvSpPr>
          <p:cNvPr id="9" name="Plus 153">
            <a:extLst>
              <a:ext uri="{FF2B5EF4-FFF2-40B4-BE49-F238E27FC236}">
                <a16:creationId xmlns:a16="http://schemas.microsoft.com/office/drawing/2014/main" id="{9394D0B8-BA49-1592-17A0-4EFEFB307BE4}"/>
              </a:ext>
            </a:extLst>
          </p:cNvPr>
          <p:cNvSpPr/>
          <p:nvPr/>
        </p:nvSpPr>
        <p:spPr>
          <a:xfrm>
            <a:off x="3922776" y="3060979"/>
            <a:ext cx="384048" cy="384048"/>
          </a:xfrm>
          <a:prstGeom prst="mathPlus">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FFFFFF"/>
              </a:solidFill>
              <a:effectLst/>
              <a:uLnTx/>
              <a:uFillTx/>
              <a:latin typeface="Arial"/>
              <a:ea typeface="+mn-ea"/>
              <a:cs typeface="+mn-cs"/>
              <a:sym typeface="Arial"/>
            </a:endParaRPr>
          </a:p>
        </p:txBody>
      </p:sp>
      <p:grpSp>
        <p:nvGrpSpPr>
          <p:cNvPr id="11" name="Group 10">
            <a:extLst>
              <a:ext uri="{FF2B5EF4-FFF2-40B4-BE49-F238E27FC236}">
                <a16:creationId xmlns:a16="http://schemas.microsoft.com/office/drawing/2014/main" id="{115C250D-E89E-E8AE-F723-1275AAFAF2A3}"/>
              </a:ext>
            </a:extLst>
          </p:cNvPr>
          <p:cNvGrpSpPr/>
          <p:nvPr/>
        </p:nvGrpSpPr>
        <p:grpSpPr>
          <a:xfrm>
            <a:off x="249638" y="464705"/>
            <a:ext cx="11521440" cy="585793"/>
            <a:chOff x="249638" y="464705"/>
            <a:chExt cx="11521440" cy="585793"/>
          </a:xfrm>
        </p:grpSpPr>
        <p:sp>
          <p:nvSpPr>
            <p:cNvPr id="12" name="Text 22">
              <a:extLst>
                <a:ext uri="{FF2B5EF4-FFF2-40B4-BE49-F238E27FC236}">
                  <a16:creationId xmlns:a16="http://schemas.microsoft.com/office/drawing/2014/main" id="{1EBBAADF-A791-62FE-9B96-7123B8BF7C3D}"/>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ALIGNMENT ON THE PROBLEM</a:t>
              </a:r>
            </a:p>
          </p:txBody>
        </p:sp>
        <p:sp>
          <p:nvSpPr>
            <p:cNvPr id="14" name="TextBox 13">
              <a:extLst>
                <a:ext uri="{FF2B5EF4-FFF2-40B4-BE49-F238E27FC236}">
                  <a16:creationId xmlns:a16="http://schemas.microsoft.com/office/drawing/2014/main" id="{2EED224C-78B2-38CA-127C-07BD9081FF71}"/>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dirty="0">
                  <a:ln>
                    <a:noFill/>
                  </a:ln>
                  <a:solidFill>
                    <a:srgbClr val="111111"/>
                  </a:solidFill>
                  <a:effectLst/>
                  <a:uLnTx/>
                  <a:uFillTx/>
                  <a:latin typeface="Segoe UI" panose="020B0502040204020203" pitchFamily="34" charset="0"/>
                  <a:cs typeface="Segoe UI" panose="020B0502040204020203" pitchFamily="34" charset="0"/>
                  <a:sym typeface="Arial"/>
                </a:rPr>
                <a:t>The top barriers to information sharing are structural and external</a:t>
              </a:r>
            </a:p>
          </p:txBody>
        </p:sp>
      </p:grpSp>
      <p:sp>
        <p:nvSpPr>
          <p:cNvPr id="26" name="TextBox 25">
            <a:extLst>
              <a:ext uri="{FF2B5EF4-FFF2-40B4-BE49-F238E27FC236}">
                <a16:creationId xmlns:a16="http://schemas.microsoft.com/office/drawing/2014/main" id="{299783E2-408A-3611-1CCF-8418025AA067}"/>
              </a:ext>
            </a:extLst>
          </p:cNvPr>
          <p:cNvSpPr txBox="1"/>
          <p:nvPr/>
        </p:nvSpPr>
        <p:spPr>
          <a:xfrm>
            <a:off x="320040" y="1143000"/>
            <a:ext cx="1152144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Respondents overwhelmingly point to </a:t>
            </a:r>
            <a:r>
              <a:rPr kumimoji="0" lang="en-US" sz="1400" b="1"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ecosystem barriers rather than internal resistance</a:t>
            </a: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 Data quality, legal constraints and participation gaps are the primary obstacles to scaling information sharing.</a:t>
            </a:r>
          </a:p>
        </p:txBody>
      </p:sp>
      <p:sp>
        <p:nvSpPr>
          <p:cNvPr id="6" name="Rectangle 5">
            <a:extLst>
              <a:ext uri="{FF2B5EF4-FFF2-40B4-BE49-F238E27FC236}">
                <a16:creationId xmlns:a16="http://schemas.microsoft.com/office/drawing/2014/main" id="{31CD8574-40F9-921F-8B34-955D9E3DA0C5}"/>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C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2753623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4D6657-F529-81CC-BAD4-BDBAC82B9DE0}"/>
            </a:ext>
          </a:extLst>
        </p:cNvPr>
        <p:cNvGrpSpPr/>
        <p:nvPr/>
      </p:nvGrpSpPr>
      <p:grpSpPr>
        <a:xfrm>
          <a:off x="0" y="0"/>
          <a:ext cx="0" cy="0"/>
          <a:chOff x="0" y="0"/>
          <a:chExt cx="0" cy="0"/>
        </a:xfrm>
      </p:grpSpPr>
      <p:sp>
        <p:nvSpPr>
          <p:cNvPr id="58" name="Shape 3">
            <a:extLst>
              <a:ext uri="{FF2B5EF4-FFF2-40B4-BE49-F238E27FC236}">
                <a16:creationId xmlns:a16="http://schemas.microsoft.com/office/drawing/2014/main" id="{D1932E1D-2BA4-C4BC-6EE0-CF9D49DD1DC9}"/>
              </a:ext>
            </a:extLst>
          </p:cNvPr>
          <p:cNvSpPr/>
          <p:nvPr/>
        </p:nvSpPr>
        <p:spPr>
          <a:xfrm>
            <a:off x="-904" y="346551"/>
            <a:ext cx="12189183" cy="6511449"/>
          </a:xfrm>
          <a:prstGeom prst="rect">
            <a:avLst/>
          </a:prstGeom>
          <a:solidFill>
            <a:schemeClr val="accent2"/>
          </a:solidFill>
          <a:ln w="10160">
            <a:solidFill>
              <a:schemeClr val="accent2"/>
            </a:solidFill>
            <a:prstDash val="solid"/>
          </a:ln>
          <a:effectLst>
            <a:outerShdw blurRad="15240" dist="635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153" name="Rectangle 152">
            <a:extLst>
              <a:ext uri="{FF2B5EF4-FFF2-40B4-BE49-F238E27FC236}">
                <a16:creationId xmlns:a16="http://schemas.microsoft.com/office/drawing/2014/main" id="{E3064FC7-5780-574B-B773-6D07C437BBF5}"/>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INFORMATION SHARING</a:t>
            </a:r>
          </a:p>
        </p:txBody>
      </p:sp>
      <p:sp>
        <p:nvSpPr>
          <p:cNvPr id="189" name="TextBox 188">
            <a:extLst>
              <a:ext uri="{FF2B5EF4-FFF2-40B4-BE49-F238E27FC236}">
                <a16:creationId xmlns:a16="http://schemas.microsoft.com/office/drawing/2014/main" id="{50FA3F95-19EC-0C3E-260B-D1807605DF8C}"/>
              </a:ext>
            </a:extLst>
          </p:cNvPr>
          <p:cNvSpPr txBox="1"/>
          <p:nvPr/>
        </p:nvSpPr>
        <p:spPr>
          <a:xfrm>
            <a:off x="272041" y="1106115"/>
            <a:ext cx="11706597"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The findings are consistent with the barriers identified elsewhere in the survey. Across both banking and insurance respondents, </a:t>
            </a:r>
            <a:r>
              <a:rPr kumimoji="0" lang="en-US" sz="14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a centralized fraud information-sharing utility</a:t>
            </a:r>
            <a:r>
              <a:rPr kumimoji="0" lang="en-US" sz="1400" b="0"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 emerged as the most impactful government intervention, </a:t>
            </a:r>
            <a:r>
              <a:rPr kumimoji="0" lang="en-US" sz="14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selected by 35% of respondents</a:t>
            </a:r>
            <a:r>
              <a:rPr kumimoji="0" lang="en-US" sz="1400" b="0"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 while clearer legal and regulatory frameworks ranked second. </a:t>
            </a:r>
            <a:endParaRPr kumimoji="0" lang="en-CA" sz="1400" b="0"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endParaRPr>
          </a:p>
        </p:txBody>
      </p:sp>
      <p:grpSp>
        <p:nvGrpSpPr>
          <p:cNvPr id="56" name="Group 55">
            <a:extLst>
              <a:ext uri="{FF2B5EF4-FFF2-40B4-BE49-F238E27FC236}">
                <a16:creationId xmlns:a16="http://schemas.microsoft.com/office/drawing/2014/main" id="{99F859D1-3BC3-FA24-1FB1-A9A0F781E932}"/>
              </a:ext>
            </a:extLst>
          </p:cNvPr>
          <p:cNvGrpSpPr/>
          <p:nvPr/>
        </p:nvGrpSpPr>
        <p:grpSpPr>
          <a:xfrm>
            <a:off x="6126433" y="2110961"/>
            <a:ext cx="6061846" cy="3798761"/>
            <a:chOff x="6071239" y="2361336"/>
            <a:chExt cx="5668102" cy="3552014"/>
          </a:xfrm>
        </p:grpSpPr>
        <p:sp>
          <p:nvSpPr>
            <p:cNvPr id="11" name="Arc 10">
              <a:extLst>
                <a:ext uri="{FF2B5EF4-FFF2-40B4-BE49-F238E27FC236}">
                  <a16:creationId xmlns:a16="http://schemas.microsoft.com/office/drawing/2014/main" id="{F8CBA258-FE82-7DB5-6974-F8B9CCB20851}"/>
                </a:ext>
              </a:extLst>
            </p:cNvPr>
            <p:cNvSpPr/>
            <p:nvPr>
              <p:custDataLst>
                <p:tags r:id="rId1"/>
              </p:custDataLst>
            </p:nvPr>
          </p:nvSpPr>
          <p:spPr>
            <a:xfrm>
              <a:off x="7181095" y="2361336"/>
              <a:ext cx="3079127" cy="3082363"/>
            </a:xfrm>
            <a:prstGeom prst="arc">
              <a:avLst>
                <a:gd name="adj1" fmla="val 16473733"/>
                <a:gd name="adj2" fmla="val 15947684"/>
              </a:avLst>
            </a:prstGeom>
            <a:noFill/>
            <a:ln w="12700" cap="flat" cmpd="sng" algn="ctr">
              <a:solidFill>
                <a:srgbClr val="B4B4B4"/>
              </a:solidFill>
              <a:prstDash val="sysDash"/>
              <a:miter lim="800000"/>
              <a:headEnd type="arrow"/>
              <a:tailEnd type="arrow"/>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C5C5C"/>
                </a:solidFill>
                <a:effectLst/>
                <a:uLnTx/>
                <a:uFillTx/>
                <a:latin typeface="Segoe UI" panose="020B0502040204020203" pitchFamily="34" charset="0"/>
                <a:ea typeface="+mn-ea"/>
                <a:cs typeface="Segoe UI" panose="020B0502040204020203" pitchFamily="34" charset="0"/>
                <a:sym typeface="Arial"/>
              </a:endParaRPr>
            </a:p>
          </p:txBody>
        </p:sp>
        <p:sp>
          <p:nvSpPr>
            <p:cNvPr id="17" name="TextBox 16">
              <a:extLst>
                <a:ext uri="{FF2B5EF4-FFF2-40B4-BE49-F238E27FC236}">
                  <a16:creationId xmlns:a16="http://schemas.microsoft.com/office/drawing/2014/main" id="{72C8299C-9AD0-68D7-CC6F-4F427775386F}"/>
                </a:ext>
              </a:extLst>
            </p:cNvPr>
            <p:cNvSpPr txBox="1"/>
            <p:nvPr/>
          </p:nvSpPr>
          <p:spPr>
            <a:xfrm>
              <a:off x="6144747" y="4741773"/>
              <a:ext cx="1800000" cy="474845"/>
            </a:xfrm>
            <a:prstGeom prst="rect">
              <a:avLst/>
            </a:prstGeom>
            <a:solidFill>
              <a:schemeClr val="accent2"/>
            </a:solid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share intelligence on known bad actors to identify and apprehend fraudsters.</a:t>
              </a:r>
            </a:p>
          </p:txBody>
        </p:sp>
        <p:sp>
          <p:nvSpPr>
            <p:cNvPr id="18" name="TextBox 17">
              <a:extLst>
                <a:ext uri="{FF2B5EF4-FFF2-40B4-BE49-F238E27FC236}">
                  <a16:creationId xmlns:a16="http://schemas.microsoft.com/office/drawing/2014/main" id="{0A4EC688-843D-82D6-8414-549356919849}"/>
                </a:ext>
              </a:extLst>
            </p:cNvPr>
            <p:cNvSpPr txBox="1"/>
            <p:nvPr/>
          </p:nvSpPr>
          <p:spPr>
            <a:xfrm>
              <a:off x="6071239" y="2896780"/>
              <a:ext cx="1800000" cy="474845"/>
            </a:xfrm>
            <a:prstGeom prst="rect">
              <a:avLst/>
            </a:prstGeom>
            <a:solidFill>
              <a:schemeClr val="accent2"/>
            </a:solid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share real-time transaction data &amp; fraud alerts to help identify potentially fraudulent transactions.</a:t>
              </a:r>
            </a:p>
          </p:txBody>
        </p:sp>
        <p:sp>
          <p:nvSpPr>
            <p:cNvPr id="12" name="Arc 11">
              <a:extLst>
                <a:ext uri="{FF2B5EF4-FFF2-40B4-BE49-F238E27FC236}">
                  <a16:creationId xmlns:a16="http://schemas.microsoft.com/office/drawing/2014/main" id="{011014BD-518F-C0E2-5A17-72F92974DEBB}"/>
                </a:ext>
              </a:extLst>
            </p:cNvPr>
            <p:cNvSpPr/>
            <p:nvPr>
              <p:custDataLst>
                <p:tags r:id="rId2"/>
              </p:custDataLst>
            </p:nvPr>
          </p:nvSpPr>
          <p:spPr>
            <a:xfrm>
              <a:off x="7445286" y="2627721"/>
              <a:ext cx="2550745" cy="2553426"/>
            </a:xfrm>
            <a:prstGeom prst="arc">
              <a:avLst>
                <a:gd name="adj1" fmla="val 18638933"/>
                <a:gd name="adj2" fmla="val 18630248"/>
              </a:avLst>
            </a:prstGeom>
            <a:noFill/>
            <a:ln w="12700" cap="flat" cmpd="sng" algn="ctr">
              <a:solidFill>
                <a:schemeClr val="accent1"/>
              </a:solidFill>
              <a:prstDash val="sysDash"/>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C5C5C"/>
                </a:solidFill>
                <a:effectLst/>
                <a:uLnTx/>
                <a:uFillTx/>
                <a:latin typeface="Segoe UI" panose="020B0502040204020203" pitchFamily="34" charset="0"/>
                <a:ea typeface="+mn-ea"/>
                <a:cs typeface="Segoe UI" panose="020B0502040204020203" pitchFamily="34" charset="0"/>
                <a:sym typeface="Arial"/>
              </a:endParaRPr>
            </a:p>
          </p:txBody>
        </p:sp>
        <p:sp>
          <p:nvSpPr>
            <p:cNvPr id="24" name="Rectangle: Rounded Corners 23">
              <a:extLst>
                <a:ext uri="{FF2B5EF4-FFF2-40B4-BE49-F238E27FC236}">
                  <a16:creationId xmlns:a16="http://schemas.microsoft.com/office/drawing/2014/main" id="{FE538A2B-B535-8C7C-F39A-014C9656D20B}"/>
                </a:ext>
              </a:extLst>
            </p:cNvPr>
            <p:cNvSpPr/>
            <p:nvPr/>
          </p:nvSpPr>
          <p:spPr bwMode="gray">
            <a:xfrm>
              <a:off x="9474167" y="2464770"/>
              <a:ext cx="1362272" cy="286794"/>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Telecom</a:t>
              </a:r>
            </a:p>
          </p:txBody>
        </p:sp>
        <p:sp>
          <p:nvSpPr>
            <p:cNvPr id="25" name="Rectangle: Rounded Corners 24">
              <a:extLst>
                <a:ext uri="{FF2B5EF4-FFF2-40B4-BE49-F238E27FC236}">
                  <a16:creationId xmlns:a16="http://schemas.microsoft.com/office/drawing/2014/main" id="{68D3E7F4-D186-1877-655C-65CFA6467DDA}"/>
                </a:ext>
              </a:extLst>
            </p:cNvPr>
            <p:cNvSpPr/>
            <p:nvPr/>
          </p:nvSpPr>
          <p:spPr bwMode="gray">
            <a:xfrm>
              <a:off x="6943134" y="2564160"/>
              <a:ext cx="1362272" cy="286794"/>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Financial Institution</a:t>
              </a:r>
            </a:p>
          </p:txBody>
        </p:sp>
        <p:sp>
          <p:nvSpPr>
            <p:cNvPr id="22" name="Rectangle: Rounded Corners 21">
              <a:extLst>
                <a:ext uri="{FF2B5EF4-FFF2-40B4-BE49-F238E27FC236}">
                  <a16:creationId xmlns:a16="http://schemas.microsoft.com/office/drawing/2014/main" id="{1337CDE0-D60C-AB86-D4B8-2649CBABC853}"/>
                </a:ext>
              </a:extLst>
            </p:cNvPr>
            <p:cNvSpPr/>
            <p:nvPr/>
          </p:nvSpPr>
          <p:spPr bwMode="gray">
            <a:xfrm>
              <a:off x="6382357" y="4445591"/>
              <a:ext cx="1362272" cy="286794"/>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Public Sector</a:t>
              </a:r>
            </a:p>
          </p:txBody>
        </p:sp>
        <p:sp>
          <p:nvSpPr>
            <p:cNvPr id="23" name="Rectangle: Rounded Corners 22">
              <a:extLst>
                <a:ext uri="{FF2B5EF4-FFF2-40B4-BE49-F238E27FC236}">
                  <a16:creationId xmlns:a16="http://schemas.microsoft.com/office/drawing/2014/main" id="{11F1CE87-8475-8B6B-1862-6E944D978634}"/>
                </a:ext>
              </a:extLst>
            </p:cNvPr>
            <p:cNvSpPr/>
            <p:nvPr/>
          </p:nvSpPr>
          <p:spPr bwMode="gray">
            <a:xfrm>
              <a:off x="8311914" y="5142323"/>
              <a:ext cx="1362272" cy="286795"/>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Digital Platform</a:t>
              </a:r>
            </a:p>
          </p:txBody>
        </p:sp>
        <p:sp>
          <p:nvSpPr>
            <p:cNvPr id="15" name="TextBox 14">
              <a:extLst>
                <a:ext uri="{FF2B5EF4-FFF2-40B4-BE49-F238E27FC236}">
                  <a16:creationId xmlns:a16="http://schemas.microsoft.com/office/drawing/2014/main" id="{59F0601B-C4E4-F532-5026-43AE54FA9A92}"/>
                </a:ext>
              </a:extLst>
            </p:cNvPr>
            <p:cNvSpPr txBox="1"/>
            <p:nvPr/>
          </p:nvSpPr>
          <p:spPr>
            <a:xfrm>
              <a:off x="9633203" y="2797390"/>
              <a:ext cx="1800000" cy="604349"/>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provide the origin of a call and information on the device, to identify if call was made from a legitimate source</a:t>
              </a:r>
            </a:p>
          </p:txBody>
        </p:sp>
        <p:sp>
          <p:nvSpPr>
            <p:cNvPr id="16" name="TextBox 15">
              <a:extLst>
                <a:ext uri="{FF2B5EF4-FFF2-40B4-BE49-F238E27FC236}">
                  <a16:creationId xmlns:a16="http://schemas.microsoft.com/office/drawing/2014/main" id="{C15307F6-C897-A82D-47DD-97CB8AB46618}"/>
                </a:ext>
              </a:extLst>
            </p:cNvPr>
            <p:cNvSpPr txBox="1"/>
            <p:nvPr/>
          </p:nvSpPr>
          <p:spPr>
            <a:xfrm>
              <a:off x="8299819" y="5438505"/>
              <a:ext cx="1800000" cy="474845"/>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provide data on user activity, such as login attempts from unusual locations or devices. </a:t>
              </a:r>
            </a:p>
          </p:txBody>
        </p:sp>
        <p:pic>
          <p:nvPicPr>
            <p:cNvPr id="19" name="Picture 18">
              <a:extLst>
                <a:ext uri="{FF2B5EF4-FFF2-40B4-BE49-F238E27FC236}">
                  <a16:creationId xmlns:a16="http://schemas.microsoft.com/office/drawing/2014/main" id="{A306F0C2-DD05-6DDC-1899-FA07186EBE0E}"/>
                </a:ext>
              </a:extLst>
            </p:cNvPr>
            <p:cNvPicPr>
              <a:picLocks noChangeAspect="1"/>
            </p:cNvPicPr>
            <p:nvPr>
              <p:custDataLst>
                <p:tags r:id="rId3"/>
              </p:custDataLst>
            </p:nvPr>
          </p:nvPicPr>
          <p:blipFill>
            <a:blip r:embed="rId6">
              <a:grayscl/>
              <a:extLst>
                <a:ext uri="{28A0092B-C50C-407E-A947-70E740481C1C}">
                  <a14:useLocalDpi xmlns:a14="http://schemas.microsoft.com/office/drawing/2010/main"/>
                </a:ext>
              </a:extLst>
            </a:blip>
            <a:stretch>
              <a:fillRect/>
            </a:stretch>
          </p:blipFill>
          <p:spPr>
            <a:xfrm>
              <a:off x="7814272" y="3017970"/>
              <a:ext cx="1825355" cy="1834251"/>
            </a:xfrm>
            <a:prstGeom prst="rect">
              <a:avLst/>
            </a:prstGeom>
            <a:ln>
              <a:noFill/>
            </a:ln>
          </p:spPr>
        </p:pic>
        <p:sp>
          <p:nvSpPr>
            <p:cNvPr id="20" name="Oval 19">
              <a:extLst>
                <a:ext uri="{FF2B5EF4-FFF2-40B4-BE49-F238E27FC236}">
                  <a16:creationId xmlns:a16="http://schemas.microsoft.com/office/drawing/2014/main" id="{A17D1768-2D32-E2B7-B8D5-80F9580389EB}"/>
                </a:ext>
              </a:extLst>
            </p:cNvPr>
            <p:cNvSpPr/>
            <p:nvPr/>
          </p:nvSpPr>
          <p:spPr bwMode="gray">
            <a:xfrm>
              <a:off x="8299957" y="3514463"/>
              <a:ext cx="798109" cy="798109"/>
            </a:xfrm>
            <a:prstGeom prst="ellipse">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21" name="Rectangle 20">
              <a:extLst>
                <a:ext uri="{FF2B5EF4-FFF2-40B4-BE49-F238E27FC236}">
                  <a16:creationId xmlns:a16="http://schemas.microsoft.com/office/drawing/2014/main" id="{2B3B18D7-2B57-268E-38D0-CA5452D57570}"/>
                </a:ext>
              </a:extLst>
            </p:cNvPr>
            <p:cNvSpPr/>
            <p:nvPr/>
          </p:nvSpPr>
          <p:spPr bwMode="gray">
            <a:xfrm>
              <a:off x="8311624" y="3712277"/>
              <a:ext cx="786442" cy="440610"/>
            </a:xfrm>
            <a:prstGeom prst="rect">
              <a:avLst/>
            </a:prstGeom>
            <a:no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3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CENTRAL UTILITY</a:t>
              </a:r>
            </a:p>
          </p:txBody>
        </p:sp>
        <p:sp>
          <p:nvSpPr>
            <p:cNvPr id="45" name="Rectangle: Rounded Corners 44">
              <a:extLst>
                <a:ext uri="{FF2B5EF4-FFF2-40B4-BE49-F238E27FC236}">
                  <a16:creationId xmlns:a16="http://schemas.microsoft.com/office/drawing/2014/main" id="{EF090E4F-C2DE-3ADC-DF7F-C39D4C1A02C9}"/>
                </a:ext>
              </a:extLst>
            </p:cNvPr>
            <p:cNvSpPr/>
            <p:nvPr/>
          </p:nvSpPr>
          <p:spPr bwMode="gray">
            <a:xfrm>
              <a:off x="9951436" y="4022357"/>
              <a:ext cx="1362272" cy="286795"/>
            </a:xfrm>
            <a:prstGeom prst="roundRect">
              <a:avLst>
                <a:gd name="adj" fmla="val 50000"/>
              </a:avLst>
            </a:prstGeom>
            <a:solidFill>
              <a:schemeClr val="accent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Insurance</a:t>
              </a:r>
            </a:p>
          </p:txBody>
        </p:sp>
        <p:sp>
          <p:nvSpPr>
            <p:cNvPr id="47" name="TextBox 46">
              <a:extLst>
                <a:ext uri="{FF2B5EF4-FFF2-40B4-BE49-F238E27FC236}">
                  <a16:creationId xmlns:a16="http://schemas.microsoft.com/office/drawing/2014/main" id="{D4D842E6-271C-BC58-E815-33C846EAD07B}"/>
                </a:ext>
              </a:extLst>
            </p:cNvPr>
            <p:cNvSpPr txBox="1"/>
            <p:nvPr/>
          </p:nvSpPr>
          <p:spPr>
            <a:xfrm>
              <a:off x="9939341" y="4318540"/>
              <a:ext cx="1800000" cy="474845"/>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1" u="none" strike="noStrike" kern="0" cap="none" spc="0" normalizeH="0" baseline="0" noProof="0" dirty="0">
                  <a:ln>
                    <a:noFill/>
                  </a:ln>
                  <a:solidFill>
                    <a:srgbClr val="FFFFFF"/>
                  </a:solidFill>
                  <a:effectLst/>
                  <a:uLnTx/>
                  <a:uFillTx/>
                  <a:latin typeface="Segoe UI" panose="020B0502040204020203" pitchFamily="34" charset="0"/>
                  <a:cs typeface="Segoe UI" panose="020B0502040204020203" pitchFamily="34" charset="0"/>
                  <a:sym typeface="Arial"/>
                </a:rPr>
                <a:t>Can share claims, underwriting, and policy servicing intelligence to help identify synthetic identities.</a:t>
              </a:r>
            </a:p>
          </p:txBody>
        </p:sp>
      </p:grpSp>
      <p:grpSp>
        <p:nvGrpSpPr>
          <p:cNvPr id="60" name="Group 59">
            <a:extLst>
              <a:ext uri="{FF2B5EF4-FFF2-40B4-BE49-F238E27FC236}">
                <a16:creationId xmlns:a16="http://schemas.microsoft.com/office/drawing/2014/main" id="{316D3907-7331-9B79-1801-5088F4A484CC}"/>
              </a:ext>
            </a:extLst>
          </p:cNvPr>
          <p:cNvGrpSpPr/>
          <p:nvPr/>
        </p:nvGrpSpPr>
        <p:grpSpPr>
          <a:xfrm>
            <a:off x="187298" y="5894463"/>
            <a:ext cx="5892039" cy="738376"/>
            <a:chOff x="260465" y="6067223"/>
            <a:chExt cx="5546166" cy="738376"/>
          </a:xfrm>
        </p:grpSpPr>
        <p:sp>
          <p:nvSpPr>
            <p:cNvPr id="39" name="Text 53">
              <a:extLst>
                <a:ext uri="{FF2B5EF4-FFF2-40B4-BE49-F238E27FC236}">
                  <a16:creationId xmlns:a16="http://schemas.microsoft.com/office/drawing/2014/main" id="{10CD8704-7935-0287-77A8-5DE04562388A}"/>
                </a:ext>
              </a:extLst>
            </p:cNvPr>
            <p:cNvSpPr/>
            <p:nvPr/>
          </p:nvSpPr>
          <p:spPr>
            <a:xfrm>
              <a:off x="260465" y="6075525"/>
              <a:ext cx="1059842" cy="730074"/>
            </a:xfrm>
            <a:prstGeom prst="roundRect">
              <a:avLst/>
            </a:prstGeom>
            <a:solidFill>
              <a:schemeClr val="accent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45"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THE SHIFT</a:t>
              </a:r>
              <a:endParaRPr kumimoji="0" lang="en-US" sz="14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41" name="Text 54">
              <a:extLst>
                <a:ext uri="{FF2B5EF4-FFF2-40B4-BE49-F238E27FC236}">
                  <a16:creationId xmlns:a16="http://schemas.microsoft.com/office/drawing/2014/main" id="{5FBFB928-F13E-8290-6223-D5A8AE067566}"/>
                </a:ext>
              </a:extLst>
            </p:cNvPr>
            <p:cNvSpPr/>
            <p:nvPr/>
          </p:nvSpPr>
          <p:spPr>
            <a:xfrm>
              <a:off x="1401393" y="6236395"/>
              <a:ext cx="4405238" cy="391729"/>
            </a:xfrm>
            <a:prstGeom prst="round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UI" panose="020B0502040204020203" pitchFamily="34" charset="0"/>
                  <a:ea typeface="Arial" pitchFamily="34" charset="-122"/>
                  <a:cs typeface="Segoe UI" panose="020B0502040204020203" pitchFamily="34" charset="0"/>
                  <a:sym typeface="Arial"/>
                </a:rPr>
                <a:t>From private, institution-by-institution effort to public-sector leadership in building the shared infrastructure the industry needs.</a:t>
              </a:r>
              <a:endParaRPr kumimoji="0" lang="en-US" sz="14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p:txBody>
        </p:sp>
        <p:sp>
          <p:nvSpPr>
            <p:cNvPr id="59" name="Rectangle 58">
              <a:extLst>
                <a:ext uri="{FF2B5EF4-FFF2-40B4-BE49-F238E27FC236}">
                  <a16:creationId xmlns:a16="http://schemas.microsoft.com/office/drawing/2014/main" id="{0A2938C0-60DE-47E4-89B4-B9E0EE234757}"/>
                </a:ext>
              </a:extLst>
            </p:cNvPr>
            <p:cNvSpPr/>
            <p:nvPr/>
          </p:nvSpPr>
          <p:spPr>
            <a:xfrm>
              <a:off x="260466" y="6067223"/>
              <a:ext cx="5546165" cy="730074"/>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grpSp>
      <p:sp>
        <p:nvSpPr>
          <p:cNvPr id="28" name="TextBox 27">
            <a:extLst>
              <a:ext uri="{FF2B5EF4-FFF2-40B4-BE49-F238E27FC236}">
                <a16:creationId xmlns:a16="http://schemas.microsoft.com/office/drawing/2014/main" id="{EC4D6ED7-2807-FFD2-CB56-4C2CCCD1E440}"/>
              </a:ext>
            </a:extLst>
          </p:cNvPr>
          <p:cNvSpPr txBox="1"/>
          <p:nvPr/>
        </p:nvSpPr>
        <p:spPr>
          <a:xfrm>
            <a:off x="320040" y="2002732"/>
            <a:ext cx="5989320" cy="2000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6BC25"/>
                </a:solidFill>
                <a:effectLst/>
                <a:uLnTx/>
                <a:uFillTx/>
                <a:latin typeface="Segoe UI"/>
                <a:ea typeface="+mn-ea"/>
                <a:cs typeface="Arial"/>
                <a:sym typeface="Arial"/>
              </a:rPr>
              <a:t>WHAT A CENTRALIZED UTILITY ENABLES </a:t>
            </a:r>
            <a:endParaRPr kumimoji="0" lang="en-US" sz="1300" b="0" i="0" u="none" strike="noStrike" kern="1200" cap="none" spc="0" normalizeH="0" baseline="0" noProof="0" dirty="0">
              <a:ln>
                <a:noFill/>
              </a:ln>
              <a:solidFill>
                <a:srgbClr val="86BC25"/>
              </a:solidFill>
              <a:effectLst/>
              <a:uLnTx/>
              <a:uFillTx/>
              <a:latin typeface="Segoe UI"/>
              <a:ea typeface="+mn-ea"/>
              <a:cs typeface="Arial"/>
              <a:sym typeface="Arial"/>
            </a:endParaRPr>
          </a:p>
        </p:txBody>
      </p:sp>
      <p:sp>
        <p:nvSpPr>
          <p:cNvPr id="150" name="Rounded Rectangle 7">
            <a:extLst>
              <a:ext uri="{FF2B5EF4-FFF2-40B4-BE49-F238E27FC236}">
                <a16:creationId xmlns:a16="http://schemas.microsoft.com/office/drawing/2014/main" id="{1FED7905-2951-CAED-9721-3B61E82929D8}"/>
              </a:ext>
            </a:extLst>
          </p:cNvPr>
          <p:cNvSpPr/>
          <p:nvPr/>
        </p:nvSpPr>
        <p:spPr>
          <a:xfrm>
            <a:off x="187298" y="2450831"/>
            <a:ext cx="1666662" cy="915209"/>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52" name="TextBox 151">
            <a:extLst>
              <a:ext uri="{FF2B5EF4-FFF2-40B4-BE49-F238E27FC236}">
                <a16:creationId xmlns:a16="http://schemas.microsoft.com/office/drawing/2014/main" id="{2FCB0A1F-C2DA-A496-73ED-4E5B85B11A25}"/>
              </a:ext>
            </a:extLst>
          </p:cNvPr>
          <p:cNvSpPr txBox="1"/>
          <p:nvPr/>
        </p:nvSpPr>
        <p:spPr>
          <a:xfrm>
            <a:off x="282090" y="2919511"/>
            <a:ext cx="1554608"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Data standardization &amp; poor quality</a:t>
            </a:r>
          </a:p>
        </p:txBody>
      </p:sp>
      <p:sp>
        <p:nvSpPr>
          <p:cNvPr id="154" name="Chevron 10">
            <a:extLst>
              <a:ext uri="{FF2B5EF4-FFF2-40B4-BE49-F238E27FC236}">
                <a16:creationId xmlns:a16="http://schemas.microsoft.com/office/drawing/2014/main" id="{F136E8A9-6618-F927-4F54-AD7471F92F00}"/>
              </a:ext>
            </a:extLst>
          </p:cNvPr>
          <p:cNvSpPr/>
          <p:nvPr/>
        </p:nvSpPr>
        <p:spPr>
          <a:xfrm>
            <a:off x="2001307" y="2720580"/>
            <a:ext cx="219456" cy="310896"/>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55" name="Rounded Rectangle 11">
            <a:extLst>
              <a:ext uri="{FF2B5EF4-FFF2-40B4-BE49-F238E27FC236}">
                <a16:creationId xmlns:a16="http://schemas.microsoft.com/office/drawing/2014/main" id="{95C3B6B9-52FE-189D-A6C3-3795DA7FFA8A}"/>
              </a:ext>
            </a:extLst>
          </p:cNvPr>
          <p:cNvSpPr/>
          <p:nvPr/>
        </p:nvSpPr>
        <p:spPr>
          <a:xfrm>
            <a:off x="2353636" y="2450831"/>
            <a:ext cx="3725701" cy="915209"/>
          </a:xfrm>
          <a:prstGeom prst="roundRect">
            <a:avLst>
              <a:gd name="adj" fmla="val 8000"/>
            </a:avLst>
          </a:pr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grpSp>
        <p:nvGrpSpPr>
          <p:cNvPr id="193" name="Group 192">
            <a:extLst>
              <a:ext uri="{FF2B5EF4-FFF2-40B4-BE49-F238E27FC236}">
                <a16:creationId xmlns:a16="http://schemas.microsoft.com/office/drawing/2014/main" id="{2BDBD392-4F20-96B3-311B-C2E298637602}"/>
              </a:ext>
            </a:extLst>
          </p:cNvPr>
          <p:cNvGrpSpPr/>
          <p:nvPr/>
        </p:nvGrpSpPr>
        <p:grpSpPr>
          <a:xfrm>
            <a:off x="2477962" y="2586824"/>
            <a:ext cx="576000" cy="576000"/>
            <a:chOff x="2857345" y="2907838"/>
            <a:chExt cx="530352" cy="530352"/>
          </a:xfrm>
          <a:solidFill>
            <a:schemeClr val="accent2"/>
          </a:solidFill>
        </p:grpSpPr>
        <p:sp>
          <p:nvSpPr>
            <p:cNvPr id="156" name="Oval 155">
              <a:extLst>
                <a:ext uri="{FF2B5EF4-FFF2-40B4-BE49-F238E27FC236}">
                  <a16:creationId xmlns:a16="http://schemas.microsoft.com/office/drawing/2014/main" id="{045A4BDA-2A65-DD62-3F3F-544F0E3CA698}"/>
                </a:ext>
              </a:extLst>
            </p:cNvPr>
            <p:cNvSpPr/>
            <p:nvPr/>
          </p:nvSpPr>
          <p:spPr>
            <a:xfrm>
              <a:off x="2857345" y="2907838"/>
              <a:ext cx="530352" cy="530352"/>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pic>
          <p:nvPicPr>
            <p:cNvPr id="157" name="Picture 156" descr="image.png">
              <a:extLst>
                <a:ext uri="{FF2B5EF4-FFF2-40B4-BE49-F238E27FC236}">
                  <a16:creationId xmlns:a16="http://schemas.microsoft.com/office/drawing/2014/main" id="{15127256-0AEE-36DB-4FE0-87B05E17C050}"/>
                </a:ext>
              </a:extLst>
            </p:cNvPr>
            <p:cNvPicPr>
              <a:picLocks noChangeAspect="1"/>
            </p:cNvPicPr>
            <p:nvPr/>
          </p:nvPicPr>
          <p:blipFill>
            <a:blip r:embed="rId7"/>
            <a:stretch>
              <a:fillRect/>
            </a:stretch>
          </p:blipFill>
          <p:spPr>
            <a:xfrm>
              <a:off x="2974022" y="3024515"/>
              <a:ext cx="296997" cy="296997"/>
            </a:xfrm>
            <a:prstGeom prst="rect">
              <a:avLst/>
            </a:prstGeom>
            <a:grpFill/>
          </p:spPr>
        </p:pic>
      </p:grpSp>
      <p:sp>
        <p:nvSpPr>
          <p:cNvPr id="158" name="TextBox 157">
            <a:extLst>
              <a:ext uri="{FF2B5EF4-FFF2-40B4-BE49-F238E27FC236}">
                <a16:creationId xmlns:a16="http://schemas.microsoft.com/office/drawing/2014/main" id="{0A289AD0-9A2F-3DAE-1677-1F1D0591F53D}"/>
              </a:ext>
            </a:extLst>
          </p:cNvPr>
          <p:cNvSpPr txBox="1"/>
          <p:nvPr/>
        </p:nvSpPr>
        <p:spPr>
          <a:xfrm>
            <a:off x="3146640" y="2544278"/>
            <a:ext cx="2578607"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Segoe UI"/>
                <a:ea typeface="+mn-ea"/>
                <a:cs typeface="Arial"/>
                <a:sym typeface="Arial"/>
              </a:rPr>
              <a:t>COMMON STANDARDS</a:t>
            </a:r>
          </a:p>
        </p:txBody>
      </p:sp>
      <p:sp>
        <p:nvSpPr>
          <p:cNvPr id="159" name="TextBox 158">
            <a:extLst>
              <a:ext uri="{FF2B5EF4-FFF2-40B4-BE49-F238E27FC236}">
                <a16:creationId xmlns:a16="http://schemas.microsoft.com/office/drawing/2014/main" id="{5A1DB5C4-8E00-BD94-3E3F-EF753AECFE76}"/>
              </a:ext>
            </a:extLst>
          </p:cNvPr>
          <p:cNvSpPr txBox="1"/>
          <p:nvPr/>
        </p:nvSpPr>
        <p:spPr>
          <a:xfrm>
            <a:off x="3146640" y="2789160"/>
            <a:ext cx="2841257"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FFFFFF"/>
                </a:solidFill>
                <a:effectLst/>
                <a:uLnTx/>
                <a:uFillTx/>
                <a:latin typeface="Segoe UI"/>
                <a:ea typeface="+mn-ea"/>
                <a:cs typeface="Arial"/>
                <a:sym typeface="Arial"/>
              </a:rPr>
              <a:t>Shared data models, definitions and validation rules raise quality across every contributor.</a:t>
            </a:r>
          </a:p>
        </p:txBody>
      </p:sp>
      <p:sp>
        <p:nvSpPr>
          <p:cNvPr id="151" name="TextBox 150">
            <a:extLst>
              <a:ext uri="{FF2B5EF4-FFF2-40B4-BE49-F238E27FC236}">
                <a16:creationId xmlns:a16="http://schemas.microsoft.com/office/drawing/2014/main" id="{89C6F756-2F87-F464-0B31-79B63D27A077}"/>
              </a:ext>
            </a:extLst>
          </p:cNvPr>
          <p:cNvSpPr txBox="1"/>
          <p:nvPr/>
        </p:nvSpPr>
        <p:spPr>
          <a:xfrm>
            <a:off x="842411" y="2563286"/>
            <a:ext cx="548461"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77%</a:t>
            </a:r>
          </a:p>
        </p:txBody>
      </p:sp>
      <p:grpSp>
        <p:nvGrpSpPr>
          <p:cNvPr id="178" name="Group 177">
            <a:extLst>
              <a:ext uri="{FF2B5EF4-FFF2-40B4-BE49-F238E27FC236}">
                <a16:creationId xmlns:a16="http://schemas.microsoft.com/office/drawing/2014/main" id="{FDA93166-B844-CF11-6E04-7E8747FC9364}"/>
              </a:ext>
            </a:extLst>
          </p:cNvPr>
          <p:cNvGrpSpPr/>
          <p:nvPr/>
        </p:nvGrpSpPr>
        <p:grpSpPr>
          <a:xfrm>
            <a:off x="367990" y="2538384"/>
            <a:ext cx="342000" cy="342000"/>
            <a:chOff x="954380" y="2802104"/>
            <a:chExt cx="683808" cy="683808"/>
          </a:xfrm>
          <a:solidFill>
            <a:schemeClr val="tx1">
              <a:lumMod val="50000"/>
              <a:lumOff val="50000"/>
            </a:schemeClr>
          </a:solidFill>
        </p:grpSpPr>
        <p:sp>
          <p:nvSpPr>
            <p:cNvPr id="179" name="Rounded Rectangle 11">
              <a:extLst>
                <a:ext uri="{FF2B5EF4-FFF2-40B4-BE49-F238E27FC236}">
                  <a16:creationId xmlns:a16="http://schemas.microsoft.com/office/drawing/2014/main" id="{A5E4321E-5BE3-E2BB-E1C5-5F31686A99DF}"/>
                </a:ext>
              </a:extLst>
            </p:cNvPr>
            <p:cNvSpPr/>
            <p:nvPr/>
          </p:nvSpPr>
          <p:spPr>
            <a:xfrm>
              <a:off x="954380" y="2802104"/>
              <a:ext cx="683808" cy="683808"/>
            </a:xfrm>
            <a:prstGeom prst="roundRect">
              <a:avLst>
                <a:gd name="adj" fmla="val 50000"/>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80" name="Picture 179" descr="ic_data_w.png">
              <a:extLst>
                <a:ext uri="{FF2B5EF4-FFF2-40B4-BE49-F238E27FC236}">
                  <a16:creationId xmlns:a16="http://schemas.microsoft.com/office/drawing/2014/main" id="{08E7852D-64D0-B8FD-94C1-7C6F0F8F14E2}"/>
                </a:ext>
              </a:extLst>
            </p:cNvPr>
            <p:cNvPicPr>
              <a:picLocks noChangeAspect="1"/>
            </p:cNvPicPr>
            <p:nvPr/>
          </p:nvPicPr>
          <p:blipFill>
            <a:blip r:embed="rId7"/>
            <a:stretch>
              <a:fillRect/>
            </a:stretch>
          </p:blipFill>
          <p:spPr>
            <a:xfrm>
              <a:off x="1104818" y="2952541"/>
              <a:ext cx="382932" cy="382932"/>
            </a:xfrm>
            <a:prstGeom prst="rect">
              <a:avLst/>
            </a:prstGeom>
            <a:grpFill/>
          </p:spPr>
        </p:pic>
      </p:grpSp>
      <p:sp>
        <p:nvSpPr>
          <p:cNvPr id="160" name="Rounded Rectangle 16">
            <a:extLst>
              <a:ext uri="{FF2B5EF4-FFF2-40B4-BE49-F238E27FC236}">
                <a16:creationId xmlns:a16="http://schemas.microsoft.com/office/drawing/2014/main" id="{4075A56C-DA09-D32A-E0C3-930384804B58}"/>
              </a:ext>
            </a:extLst>
          </p:cNvPr>
          <p:cNvSpPr/>
          <p:nvPr/>
        </p:nvSpPr>
        <p:spPr>
          <a:xfrm>
            <a:off x="187298" y="3592081"/>
            <a:ext cx="1666662" cy="915209"/>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62" name="TextBox 161">
            <a:extLst>
              <a:ext uri="{FF2B5EF4-FFF2-40B4-BE49-F238E27FC236}">
                <a16:creationId xmlns:a16="http://schemas.microsoft.com/office/drawing/2014/main" id="{715CE459-62C7-3BDA-CE98-F17EC8DB9F11}"/>
              </a:ext>
            </a:extLst>
          </p:cNvPr>
          <p:cNvSpPr txBox="1"/>
          <p:nvPr/>
        </p:nvSpPr>
        <p:spPr>
          <a:xfrm>
            <a:off x="282090" y="4060762"/>
            <a:ext cx="1554608"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Legal, privacy &amp; regulatory constraints</a:t>
            </a:r>
          </a:p>
        </p:txBody>
      </p:sp>
      <p:sp>
        <p:nvSpPr>
          <p:cNvPr id="163" name="Chevron 19">
            <a:extLst>
              <a:ext uri="{FF2B5EF4-FFF2-40B4-BE49-F238E27FC236}">
                <a16:creationId xmlns:a16="http://schemas.microsoft.com/office/drawing/2014/main" id="{B8FF7D98-9377-C575-0528-63394B60F899}"/>
              </a:ext>
            </a:extLst>
          </p:cNvPr>
          <p:cNvSpPr/>
          <p:nvPr/>
        </p:nvSpPr>
        <p:spPr>
          <a:xfrm>
            <a:off x="2001307" y="3861830"/>
            <a:ext cx="219456" cy="310896"/>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64" name="Rounded Rectangle 20">
            <a:extLst>
              <a:ext uri="{FF2B5EF4-FFF2-40B4-BE49-F238E27FC236}">
                <a16:creationId xmlns:a16="http://schemas.microsoft.com/office/drawing/2014/main" id="{DAB717F4-3066-A447-7EA8-0CD4962CF44E}"/>
              </a:ext>
            </a:extLst>
          </p:cNvPr>
          <p:cNvSpPr/>
          <p:nvPr/>
        </p:nvSpPr>
        <p:spPr>
          <a:xfrm>
            <a:off x="2353636" y="3592081"/>
            <a:ext cx="3725701" cy="915209"/>
          </a:xfrm>
          <a:prstGeom prst="roundRect">
            <a:avLst>
              <a:gd name="adj" fmla="val 8000"/>
            </a:avLst>
          </a:pr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grpSp>
        <p:nvGrpSpPr>
          <p:cNvPr id="192" name="Group 191">
            <a:extLst>
              <a:ext uri="{FF2B5EF4-FFF2-40B4-BE49-F238E27FC236}">
                <a16:creationId xmlns:a16="http://schemas.microsoft.com/office/drawing/2014/main" id="{FD0E4E57-CD09-A5B0-5B3C-A57F60874A60}"/>
              </a:ext>
            </a:extLst>
          </p:cNvPr>
          <p:cNvGrpSpPr/>
          <p:nvPr/>
        </p:nvGrpSpPr>
        <p:grpSpPr>
          <a:xfrm>
            <a:off x="2477962" y="3728074"/>
            <a:ext cx="576000" cy="576000"/>
            <a:chOff x="2857345" y="3849670"/>
            <a:chExt cx="530352" cy="530352"/>
          </a:xfrm>
          <a:solidFill>
            <a:schemeClr val="accent2"/>
          </a:solidFill>
        </p:grpSpPr>
        <p:sp>
          <p:nvSpPr>
            <p:cNvPr id="165" name="Oval 164">
              <a:extLst>
                <a:ext uri="{FF2B5EF4-FFF2-40B4-BE49-F238E27FC236}">
                  <a16:creationId xmlns:a16="http://schemas.microsoft.com/office/drawing/2014/main" id="{20902835-0622-67C3-AEC6-0735343D43AA}"/>
                </a:ext>
              </a:extLst>
            </p:cNvPr>
            <p:cNvSpPr/>
            <p:nvPr/>
          </p:nvSpPr>
          <p:spPr>
            <a:xfrm>
              <a:off x="2857345" y="3849670"/>
              <a:ext cx="530352" cy="530352"/>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pic>
          <p:nvPicPr>
            <p:cNvPr id="166" name="Picture 165" descr="image.png">
              <a:extLst>
                <a:ext uri="{FF2B5EF4-FFF2-40B4-BE49-F238E27FC236}">
                  <a16:creationId xmlns:a16="http://schemas.microsoft.com/office/drawing/2014/main" id="{FA27F0A2-C714-2F79-6FBB-BACBB1ACC994}"/>
                </a:ext>
              </a:extLst>
            </p:cNvPr>
            <p:cNvPicPr>
              <a:picLocks noChangeAspect="1"/>
            </p:cNvPicPr>
            <p:nvPr/>
          </p:nvPicPr>
          <p:blipFill>
            <a:blip r:embed="rId8"/>
            <a:stretch>
              <a:fillRect/>
            </a:stretch>
          </p:blipFill>
          <p:spPr>
            <a:xfrm>
              <a:off x="2974022" y="3966347"/>
              <a:ext cx="296997" cy="296997"/>
            </a:xfrm>
            <a:prstGeom prst="rect">
              <a:avLst/>
            </a:prstGeom>
            <a:grpFill/>
          </p:spPr>
        </p:pic>
      </p:grpSp>
      <p:sp>
        <p:nvSpPr>
          <p:cNvPr id="167" name="TextBox 166">
            <a:extLst>
              <a:ext uri="{FF2B5EF4-FFF2-40B4-BE49-F238E27FC236}">
                <a16:creationId xmlns:a16="http://schemas.microsoft.com/office/drawing/2014/main" id="{9564F5CB-E0A3-C53E-D6B9-6AD55E8D53A3}"/>
              </a:ext>
            </a:extLst>
          </p:cNvPr>
          <p:cNvSpPr txBox="1"/>
          <p:nvPr/>
        </p:nvSpPr>
        <p:spPr>
          <a:xfrm>
            <a:off x="3146640" y="3685528"/>
            <a:ext cx="2578607"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Segoe UI"/>
                <a:ea typeface="+mn-ea"/>
                <a:cs typeface="Arial"/>
                <a:sym typeface="Arial"/>
              </a:rPr>
              <a:t>CLEARER GUARDRAILS</a:t>
            </a:r>
          </a:p>
        </p:txBody>
      </p:sp>
      <p:sp>
        <p:nvSpPr>
          <p:cNvPr id="168" name="TextBox 167">
            <a:extLst>
              <a:ext uri="{FF2B5EF4-FFF2-40B4-BE49-F238E27FC236}">
                <a16:creationId xmlns:a16="http://schemas.microsoft.com/office/drawing/2014/main" id="{4E4E249B-5044-CEC6-D030-B0603D5046E0}"/>
              </a:ext>
            </a:extLst>
          </p:cNvPr>
          <p:cNvSpPr txBox="1"/>
          <p:nvPr/>
        </p:nvSpPr>
        <p:spPr>
          <a:xfrm>
            <a:off x="3146640" y="3930410"/>
            <a:ext cx="2841257"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FFFFFF"/>
                </a:solidFill>
                <a:effectLst/>
                <a:uLnTx/>
                <a:uFillTx/>
                <a:latin typeface="Segoe UI"/>
                <a:ea typeface="+mn-ea"/>
                <a:cs typeface="Arial"/>
                <a:sym typeface="Arial"/>
              </a:rPr>
              <a:t>One governed framework sets what can be shared, with whom and under what safeguards.</a:t>
            </a:r>
          </a:p>
        </p:txBody>
      </p:sp>
      <p:sp>
        <p:nvSpPr>
          <p:cNvPr id="161" name="TextBox 160">
            <a:extLst>
              <a:ext uri="{FF2B5EF4-FFF2-40B4-BE49-F238E27FC236}">
                <a16:creationId xmlns:a16="http://schemas.microsoft.com/office/drawing/2014/main" id="{B86DAD3E-D208-BEF1-1842-67A0C67CDCA7}"/>
              </a:ext>
            </a:extLst>
          </p:cNvPr>
          <p:cNvSpPr txBox="1"/>
          <p:nvPr/>
        </p:nvSpPr>
        <p:spPr>
          <a:xfrm>
            <a:off x="842411" y="3704537"/>
            <a:ext cx="548461"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73%</a:t>
            </a:r>
          </a:p>
        </p:txBody>
      </p:sp>
      <p:grpSp>
        <p:nvGrpSpPr>
          <p:cNvPr id="181" name="Group 180">
            <a:extLst>
              <a:ext uri="{FF2B5EF4-FFF2-40B4-BE49-F238E27FC236}">
                <a16:creationId xmlns:a16="http://schemas.microsoft.com/office/drawing/2014/main" id="{1FE75C59-F2FD-24E5-29EC-07345705C9D6}"/>
              </a:ext>
            </a:extLst>
          </p:cNvPr>
          <p:cNvGrpSpPr/>
          <p:nvPr/>
        </p:nvGrpSpPr>
        <p:grpSpPr>
          <a:xfrm>
            <a:off x="367990" y="3679634"/>
            <a:ext cx="342000" cy="342000"/>
            <a:chOff x="4922876" y="2802104"/>
            <a:chExt cx="683808" cy="683808"/>
          </a:xfrm>
          <a:solidFill>
            <a:schemeClr val="tx1">
              <a:lumMod val="50000"/>
              <a:lumOff val="50000"/>
            </a:schemeClr>
          </a:solidFill>
        </p:grpSpPr>
        <p:sp>
          <p:nvSpPr>
            <p:cNvPr id="182" name="Rounded Rectangle 21">
              <a:extLst>
                <a:ext uri="{FF2B5EF4-FFF2-40B4-BE49-F238E27FC236}">
                  <a16:creationId xmlns:a16="http://schemas.microsoft.com/office/drawing/2014/main" id="{033EB593-F2AB-8800-6AE5-80F2710C842A}"/>
                </a:ext>
              </a:extLst>
            </p:cNvPr>
            <p:cNvSpPr/>
            <p:nvPr/>
          </p:nvSpPr>
          <p:spPr>
            <a:xfrm>
              <a:off x="4922876" y="2802104"/>
              <a:ext cx="683808" cy="683808"/>
            </a:xfrm>
            <a:prstGeom prst="roundRect">
              <a:avLst>
                <a:gd name="adj" fmla="val 50000"/>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83" name="Picture 182" descr="image.png">
              <a:extLst>
                <a:ext uri="{FF2B5EF4-FFF2-40B4-BE49-F238E27FC236}">
                  <a16:creationId xmlns:a16="http://schemas.microsoft.com/office/drawing/2014/main" id="{343209F2-5776-8D50-87C2-562876F2F9A0}"/>
                </a:ext>
              </a:extLst>
            </p:cNvPr>
            <p:cNvPicPr>
              <a:picLocks noChangeAspect="1"/>
            </p:cNvPicPr>
            <p:nvPr/>
          </p:nvPicPr>
          <p:blipFill>
            <a:blip r:embed="rId8"/>
            <a:stretch>
              <a:fillRect/>
            </a:stretch>
          </p:blipFill>
          <p:spPr>
            <a:xfrm>
              <a:off x="5073314" y="2952541"/>
              <a:ext cx="382932" cy="382932"/>
            </a:xfrm>
            <a:prstGeom prst="rect">
              <a:avLst/>
            </a:prstGeom>
            <a:grpFill/>
          </p:spPr>
        </p:pic>
      </p:grpSp>
      <p:sp>
        <p:nvSpPr>
          <p:cNvPr id="169" name="Rounded Rectangle 25">
            <a:extLst>
              <a:ext uri="{FF2B5EF4-FFF2-40B4-BE49-F238E27FC236}">
                <a16:creationId xmlns:a16="http://schemas.microsoft.com/office/drawing/2014/main" id="{8CE9AEC9-45EC-3F30-21F8-53CE5135CC06}"/>
              </a:ext>
            </a:extLst>
          </p:cNvPr>
          <p:cNvSpPr/>
          <p:nvPr/>
        </p:nvSpPr>
        <p:spPr>
          <a:xfrm>
            <a:off x="187298" y="4733331"/>
            <a:ext cx="1666662" cy="915209"/>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71" name="TextBox 170">
            <a:extLst>
              <a:ext uri="{FF2B5EF4-FFF2-40B4-BE49-F238E27FC236}">
                <a16:creationId xmlns:a16="http://schemas.microsoft.com/office/drawing/2014/main" id="{4D85E624-749E-6C2E-E29E-9EBAB4E939D0}"/>
              </a:ext>
            </a:extLst>
          </p:cNvPr>
          <p:cNvSpPr txBox="1"/>
          <p:nvPr/>
        </p:nvSpPr>
        <p:spPr>
          <a:xfrm>
            <a:off x="282090" y="5202012"/>
            <a:ext cx="1554608"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Lack of external industry participation</a:t>
            </a:r>
          </a:p>
        </p:txBody>
      </p:sp>
      <p:sp>
        <p:nvSpPr>
          <p:cNvPr id="172" name="Chevron 28">
            <a:extLst>
              <a:ext uri="{FF2B5EF4-FFF2-40B4-BE49-F238E27FC236}">
                <a16:creationId xmlns:a16="http://schemas.microsoft.com/office/drawing/2014/main" id="{76E1CD78-0378-337B-6B5C-BAA53AADF7B9}"/>
              </a:ext>
            </a:extLst>
          </p:cNvPr>
          <p:cNvSpPr/>
          <p:nvPr/>
        </p:nvSpPr>
        <p:spPr>
          <a:xfrm>
            <a:off x="2001307" y="5003080"/>
            <a:ext cx="219456" cy="310896"/>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173" name="Rounded Rectangle 29">
            <a:extLst>
              <a:ext uri="{FF2B5EF4-FFF2-40B4-BE49-F238E27FC236}">
                <a16:creationId xmlns:a16="http://schemas.microsoft.com/office/drawing/2014/main" id="{FC47FD2D-4A63-596E-63B2-A42E0CDB3CE2}"/>
              </a:ext>
            </a:extLst>
          </p:cNvPr>
          <p:cNvSpPr/>
          <p:nvPr/>
        </p:nvSpPr>
        <p:spPr>
          <a:xfrm>
            <a:off x="2353636" y="4733331"/>
            <a:ext cx="3725701" cy="915209"/>
          </a:xfrm>
          <a:prstGeom prst="roundRect">
            <a:avLst>
              <a:gd name="adj" fmla="val 8000"/>
            </a:avLst>
          </a:pr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grpSp>
        <p:nvGrpSpPr>
          <p:cNvPr id="191" name="Group 190">
            <a:extLst>
              <a:ext uri="{FF2B5EF4-FFF2-40B4-BE49-F238E27FC236}">
                <a16:creationId xmlns:a16="http://schemas.microsoft.com/office/drawing/2014/main" id="{3880D3BE-93D9-07EA-DCBD-BC720D4A6BDC}"/>
              </a:ext>
            </a:extLst>
          </p:cNvPr>
          <p:cNvGrpSpPr/>
          <p:nvPr/>
        </p:nvGrpSpPr>
        <p:grpSpPr>
          <a:xfrm>
            <a:off x="2477962" y="4869324"/>
            <a:ext cx="576000" cy="576000"/>
            <a:chOff x="2857345" y="4791502"/>
            <a:chExt cx="530352" cy="530352"/>
          </a:xfrm>
          <a:solidFill>
            <a:schemeClr val="accent2"/>
          </a:solidFill>
        </p:grpSpPr>
        <p:sp>
          <p:nvSpPr>
            <p:cNvPr id="174" name="Oval 173">
              <a:extLst>
                <a:ext uri="{FF2B5EF4-FFF2-40B4-BE49-F238E27FC236}">
                  <a16:creationId xmlns:a16="http://schemas.microsoft.com/office/drawing/2014/main" id="{DDCDE625-2F6C-3BCE-F865-7866EAA47BE1}"/>
                </a:ext>
              </a:extLst>
            </p:cNvPr>
            <p:cNvSpPr/>
            <p:nvPr/>
          </p:nvSpPr>
          <p:spPr>
            <a:xfrm>
              <a:off x="2857345" y="4791502"/>
              <a:ext cx="530352" cy="530352"/>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pic>
          <p:nvPicPr>
            <p:cNvPr id="175" name="Picture 174" descr="image.png">
              <a:extLst>
                <a:ext uri="{FF2B5EF4-FFF2-40B4-BE49-F238E27FC236}">
                  <a16:creationId xmlns:a16="http://schemas.microsoft.com/office/drawing/2014/main" id="{03AD65A0-19E8-C669-D8CA-15D797F7790D}"/>
                </a:ext>
              </a:extLst>
            </p:cNvPr>
            <p:cNvPicPr>
              <a:picLocks noChangeAspect="1"/>
            </p:cNvPicPr>
            <p:nvPr/>
          </p:nvPicPr>
          <p:blipFill>
            <a:blip r:embed="rId9"/>
            <a:stretch>
              <a:fillRect/>
            </a:stretch>
          </p:blipFill>
          <p:spPr>
            <a:xfrm>
              <a:off x="2974022" y="4908179"/>
              <a:ext cx="296997" cy="296997"/>
            </a:xfrm>
            <a:prstGeom prst="rect">
              <a:avLst/>
            </a:prstGeom>
            <a:grpFill/>
          </p:spPr>
        </p:pic>
      </p:grpSp>
      <p:sp>
        <p:nvSpPr>
          <p:cNvPr id="176" name="TextBox 175">
            <a:extLst>
              <a:ext uri="{FF2B5EF4-FFF2-40B4-BE49-F238E27FC236}">
                <a16:creationId xmlns:a16="http://schemas.microsoft.com/office/drawing/2014/main" id="{32807EA9-E4DA-0C42-D293-5751A25C1376}"/>
              </a:ext>
            </a:extLst>
          </p:cNvPr>
          <p:cNvSpPr txBox="1"/>
          <p:nvPr/>
        </p:nvSpPr>
        <p:spPr>
          <a:xfrm>
            <a:off x="3146640" y="4826778"/>
            <a:ext cx="2578607" cy="2154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Segoe UI"/>
                <a:ea typeface="+mn-ea"/>
                <a:cs typeface="Arial"/>
                <a:sym typeface="Arial"/>
              </a:rPr>
              <a:t>A TRUSTED NETWORK</a:t>
            </a:r>
          </a:p>
        </p:txBody>
      </p:sp>
      <p:sp>
        <p:nvSpPr>
          <p:cNvPr id="177" name="TextBox 176">
            <a:extLst>
              <a:ext uri="{FF2B5EF4-FFF2-40B4-BE49-F238E27FC236}">
                <a16:creationId xmlns:a16="http://schemas.microsoft.com/office/drawing/2014/main" id="{9FE629B8-B58A-663D-E783-8944FA7B9547}"/>
              </a:ext>
            </a:extLst>
          </p:cNvPr>
          <p:cNvSpPr txBox="1"/>
          <p:nvPr/>
        </p:nvSpPr>
        <p:spPr>
          <a:xfrm>
            <a:off x="3146640" y="5071660"/>
            <a:ext cx="2841257" cy="50783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Segoe UI"/>
                <a:ea typeface="+mn-ea"/>
                <a:cs typeface="Arial"/>
                <a:sym typeface="Arial"/>
              </a:rPr>
              <a:t>Shared rules and oversight build trust, giving organizations the confidence to contribute and act on shared intelligence.</a:t>
            </a:r>
            <a:endParaRPr kumimoji="0" sz="1100" b="0" i="0" u="none" strike="noStrike" kern="1200" cap="none" spc="0" normalizeH="0" baseline="0" noProof="0" dirty="0">
              <a:ln>
                <a:noFill/>
              </a:ln>
              <a:solidFill>
                <a:srgbClr val="FFFFFF"/>
              </a:solidFill>
              <a:effectLst/>
              <a:uLnTx/>
              <a:uFillTx/>
              <a:latin typeface="Segoe UI"/>
              <a:ea typeface="+mn-ea"/>
              <a:cs typeface="Arial"/>
              <a:sym typeface="Arial"/>
            </a:endParaRPr>
          </a:p>
        </p:txBody>
      </p:sp>
      <p:sp>
        <p:nvSpPr>
          <p:cNvPr id="170" name="TextBox 169">
            <a:extLst>
              <a:ext uri="{FF2B5EF4-FFF2-40B4-BE49-F238E27FC236}">
                <a16:creationId xmlns:a16="http://schemas.microsoft.com/office/drawing/2014/main" id="{806F1455-1429-9294-5263-C0F32531165F}"/>
              </a:ext>
            </a:extLst>
          </p:cNvPr>
          <p:cNvSpPr txBox="1"/>
          <p:nvPr/>
        </p:nvSpPr>
        <p:spPr>
          <a:xfrm>
            <a:off x="842411" y="4845787"/>
            <a:ext cx="548461" cy="30777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0000">
                    <a:lumMod val="65000"/>
                    <a:lumOff val="35000"/>
                  </a:srgbClr>
                </a:solidFill>
                <a:effectLst/>
                <a:uLnTx/>
                <a:uFillTx/>
                <a:latin typeface="Segoe UI"/>
                <a:ea typeface="+mn-ea"/>
                <a:cs typeface="Arial"/>
                <a:sym typeface="Arial"/>
              </a:rPr>
              <a:t>60%</a:t>
            </a:r>
          </a:p>
        </p:txBody>
      </p:sp>
      <p:grpSp>
        <p:nvGrpSpPr>
          <p:cNvPr id="184" name="Group 183">
            <a:extLst>
              <a:ext uri="{FF2B5EF4-FFF2-40B4-BE49-F238E27FC236}">
                <a16:creationId xmlns:a16="http://schemas.microsoft.com/office/drawing/2014/main" id="{291D2843-B380-D391-6CB2-167478A3605D}"/>
              </a:ext>
            </a:extLst>
          </p:cNvPr>
          <p:cNvGrpSpPr/>
          <p:nvPr/>
        </p:nvGrpSpPr>
        <p:grpSpPr>
          <a:xfrm>
            <a:off x="367990" y="4820884"/>
            <a:ext cx="342000" cy="342000"/>
            <a:chOff x="8891371" y="2802104"/>
            <a:chExt cx="683808" cy="683808"/>
          </a:xfrm>
          <a:solidFill>
            <a:schemeClr val="tx1">
              <a:lumMod val="50000"/>
              <a:lumOff val="50000"/>
            </a:schemeClr>
          </a:solidFill>
        </p:grpSpPr>
        <p:sp>
          <p:nvSpPr>
            <p:cNvPr id="185" name="Rounded Rectangle 31">
              <a:extLst>
                <a:ext uri="{FF2B5EF4-FFF2-40B4-BE49-F238E27FC236}">
                  <a16:creationId xmlns:a16="http://schemas.microsoft.com/office/drawing/2014/main" id="{0ED4CA89-A390-64B7-5DEB-019AC130C77B}"/>
                </a:ext>
              </a:extLst>
            </p:cNvPr>
            <p:cNvSpPr/>
            <p:nvPr/>
          </p:nvSpPr>
          <p:spPr>
            <a:xfrm>
              <a:off x="8891371" y="2802104"/>
              <a:ext cx="683808" cy="683808"/>
            </a:xfrm>
            <a:prstGeom prst="roundRect">
              <a:avLst>
                <a:gd name="adj" fmla="val 50000"/>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86" name="Picture 185" descr="ic_people_w.png">
              <a:extLst>
                <a:ext uri="{FF2B5EF4-FFF2-40B4-BE49-F238E27FC236}">
                  <a16:creationId xmlns:a16="http://schemas.microsoft.com/office/drawing/2014/main" id="{E775A239-D9D1-C8B0-F626-E8BA574A9456}"/>
                </a:ext>
              </a:extLst>
            </p:cNvPr>
            <p:cNvPicPr>
              <a:picLocks noChangeAspect="1"/>
            </p:cNvPicPr>
            <p:nvPr/>
          </p:nvPicPr>
          <p:blipFill>
            <a:blip r:embed="rId9"/>
            <a:stretch>
              <a:fillRect/>
            </a:stretch>
          </p:blipFill>
          <p:spPr>
            <a:xfrm>
              <a:off x="9041810" y="2952541"/>
              <a:ext cx="382932" cy="382932"/>
            </a:xfrm>
            <a:prstGeom prst="rect">
              <a:avLst/>
            </a:prstGeom>
            <a:grpFill/>
          </p:spPr>
        </p:pic>
      </p:grpSp>
      <p:sp>
        <p:nvSpPr>
          <p:cNvPr id="4" name="Rounded Rectangle 193">
            <a:extLst>
              <a:ext uri="{FF2B5EF4-FFF2-40B4-BE49-F238E27FC236}">
                <a16:creationId xmlns:a16="http://schemas.microsoft.com/office/drawing/2014/main" id="{B348BE0A-A454-0708-A1D2-3A62082FC176}"/>
              </a:ext>
            </a:extLst>
          </p:cNvPr>
          <p:cNvSpPr/>
          <p:nvPr/>
        </p:nvSpPr>
        <p:spPr>
          <a:xfrm>
            <a:off x="6368436" y="6051291"/>
            <a:ext cx="5577840" cy="438116"/>
          </a:xfrm>
          <a:prstGeom prst="roundRect">
            <a:avLst>
              <a:gd name="adj" fmla="val 20000"/>
            </a:avLst>
          </a:prstGeom>
          <a:solidFill>
            <a:srgbClr val="023D20"/>
          </a:solidFill>
          <a:ln w="15875">
            <a:solidFill>
              <a:srgbClr val="86BC25"/>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000" b="1" i="0" u="none" strike="noStrike" kern="1200" cap="none" spc="0" normalizeH="0" baseline="0" noProof="0" dirty="0">
                <a:ln>
                  <a:noFill/>
                </a:ln>
                <a:solidFill>
                  <a:srgbClr val="86BC25"/>
                </a:solidFill>
                <a:effectLst/>
                <a:uLnTx/>
                <a:uFillTx/>
                <a:latin typeface="Segoe UI"/>
                <a:ea typeface="+mn-ea"/>
                <a:cs typeface="+mn-cs"/>
                <a:sym typeface="Arial"/>
              </a:rPr>
              <a:t>Beyond the barriers: </a:t>
            </a:r>
            <a:r>
              <a:rPr kumimoji="0" lang="en-US" sz="1000" b="0" i="0" u="none" strike="noStrike" kern="1200" cap="none" spc="0" normalizeH="0" baseline="0" noProof="0" dirty="0">
                <a:ln>
                  <a:noFill/>
                </a:ln>
                <a:solidFill>
                  <a:srgbClr val="FFFFFF"/>
                </a:solidFill>
                <a:effectLst/>
                <a:uLnTx/>
                <a:uFillTx/>
                <a:latin typeface="Segoe UI"/>
                <a:ea typeface="+mn-ea"/>
                <a:cs typeface="+mn-cs"/>
                <a:sym typeface="Arial"/>
              </a:rPr>
              <a:t>A central utility also connects each sector's partial view of the fraud lifecycle, so fraud can be spotted and stopped earlier. </a:t>
            </a:r>
            <a:endParaRPr kumimoji="0" lang="en-CA" sz="1000" b="0" i="0" u="none" strike="noStrike" kern="1200" cap="none" spc="0" normalizeH="0" baseline="0" noProof="0" dirty="0">
              <a:ln>
                <a:noFill/>
              </a:ln>
              <a:solidFill>
                <a:srgbClr val="FFFFFF"/>
              </a:solidFill>
              <a:effectLst/>
              <a:uLnTx/>
              <a:uFillTx/>
              <a:latin typeface="Segoe UI"/>
              <a:ea typeface="+mn-ea"/>
              <a:cs typeface="+mn-cs"/>
              <a:sym typeface="Arial"/>
            </a:endParaRPr>
          </a:p>
        </p:txBody>
      </p:sp>
      <p:grpSp>
        <p:nvGrpSpPr>
          <p:cNvPr id="7" name="Group 6">
            <a:extLst>
              <a:ext uri="{FF2B5EF4-FFF2-40B4-BE49-F238E27FC236}">
                <a16:creationId xmlns:a16="http://schemas.microsoft.com/office/drawing/2014/main" id="{C69452AB-A9AB-99DB-35BE-DB21F0CD73CB}"/>
              </a:ext>
            </a:extLst>
          </p:cNvPr>
          <p:cNvGrpSpPr/>
          <p:nvPr/>
        </p:nvGrpSpPr>
        <p:grpSpPr>
          <a:xfrm>
            <a:off x="249638" y="464705"/>
            <a:ext cx="11521440" cy="585793"/>
            <a:chOff x="249638" y="464705"/>
            <a:chExt cx="11521440" cy="585793"/>
          </a:xfrm>
        </p:grpSpPr>
        <p:sp>
          <p:nvSpPr>
            <p:cNvPr id="8" name="Text 22">
              <a:extLst>
                <a:ext uri="{FF2B5EF4-FFF2-40B4-BE49-F238E27FC236}">
                  <a16:creationId xmlns:a16="http://schemas.microsoft.com/office/drawing/2014/main" id="{FC301557-2BFE-D0F2-64CF-02F262D1C6E5}"/>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86BC25"/>
                  </a:solidFill>
                  <a:effectLst/>
                  <a:uLnTx/>
                  <a:uFillTx/>
                  <a:latin typeface="Segoe UI" panose="020B0502040204020203" pitchFamily="34" charset="0"/>
                  <a:ea typeface="Arial" pitchFamily="34" charset="-122"/>
                  <a:cs typeface="Segoe UI" panose="020B0502040204020203" pitchFamily="34" charset="0"/>
                  <a:sym typeface="Arial"/>
                </a:rPr>
                <a:t>THE SOLUTION</a:t>
              </a:r>
            </a:p>
          </p:txBody>
        </p:sp>
        <p:sp>
          <p:nvSpPr>
            <p:cNvPr id="9" name="TextBox 8">
              <a:extLst>
                <a:ext uri="{FF2B5EF4-FFF2-40B4-BE49-F238E27FC236}">
                  <a16:creationId xmlns:a16="http://schemas.microsoft.com/office/drawing/2014/main" id="{DEAC3A66-00C7-D887-E769-A663F3FF0193}"/>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dirty="0">
                  <a:ln>
                    <a:noFill/>
                  </a:ln>
                  <a:solidFill>
                    <a:srgbClr val="FFFFFF"/>
                  </a:solidFill>
                  <a:effectLst/>
                  <a:uLnTx/>
                  <a:uFillTx/>
                  <a:latin typeface="Segoe UI"/>
                  <a:cs typeface="Arial"/>
                  <a:sym typeface="Arial"/>
                </a:rPr>
                <a:t>A centralized utility addresses all three barriers at the source</a:t>
              </a:r>
            </a:p>
          </p:txBody>
        </p:sp>
      </p:grpSp>
      <p:sp>
        <p:nvSpPr>
          <p:cNvPr id="13" name="Rectangle 12">
            <a:extLst>
              <a:ext uri="{FF2B5EF4-FFF2-40B4-BE49-F238E27FC236}">
                <a16:creationId xmlns:a16="http://schemas.microsoft.com/office/drawing/2014/main" id="{B593C267-6BF3-292A-A711-6037C4F1409F}"/>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extLst>
                    <a:ext uri="{A12FA001-AC4F-418D-AE19-62706E023703}">
                      <ahyp:hlinkClr xmlns:ahyp="http://schemas.microsoft.com/office/drawing/2018/hyperlinkcolor" val="tx"/>
                    </a:ext>
                  </a:extLst>
                </a:hlinkClick>
              </a:rPr>
              <a:t>Appendix – C </a:t>
            </a:r>
            <a:endParaRPr kumimoji="0" lang="en-US" sz="800" b="0"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1514459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B5E8CA1D-7E59-1B51-6C68-80A59E433675}"/>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08C2B63A-5DF8-1E37-A627-70A4C1927B18}"/>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3. Operating Model Transformation</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"Currently we are automating most of our operational tasks and enabling AI tools with human oversight to verify the complex cases to minimize the related risks." — </a:t>
            </a:r>
            <a:r>
              <a:rPr kumimoji="0" lang="en-US" sz="2000" b="1"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Senior Manager of Top 100 Global Financial Institution</a:t>
            </a:r>
          </a:p>
        </p:txBody>
      </p:sp>
    </p:spTree>
    <p:extLst>
      <p:ext uri="{BB962C8B-B14F-4D97-AF65-F5344CB8AC3E}">
        <p14:creationId xmlns:p14="http://schemas.microsoft.com/office/powerpoint/2010/main" val="20732694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87DE6-1A32-D3C4-9330-FB1ECC0D858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0D8B53-4806-7938-A6D7-CEAF39330B16}"/>
              </a:ext>
            </a:extLst>
          </p:cNvPr>
          <p:cNvSpPr/>
          <p:nvPr/>
        </p:nvSpPr>
        <p:spPr>
          <a:xfrm>
            <a:off x="0" y="0"/>
            <a:ext cx="12191695" cy="338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32" name="Rectangle: Rounded Corners 31">
            <a:extLst>
              <a:ext uri="{FF2B5EF4-FFF2-40B4-BE49-F238E27FC236}">
                <a16:creationId xmlns:a16="http://schemas.microsoft.com/office/drawing/2014/main" id="{CCAF0DAB-1DE5-7E56-9C90-F8DDBFE0A8EC}"/>
              </a:ext>
            </a:extLst>
          </p:cNvPr>
          <p:cNvSpPr/>
          <p:nvPr/>
        </p:nvSpPr>
        <p:spPr>
          <a:xfrm>
            <a:off x="245871" y="1795716"/>
            <a:ext cx="5916632" cy="2497601"/>
          </a:xfrm>
          <a:prstGeom prst="roundRect">
            <a:avLst>
              <a:gd name="adj" fmla="val 6627"/>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42" name="TextBox 41">
            <a:extLst>
              <a:ext uri="{FF2B5EF4-FFF2-40B4-BE49-F238E27FC236}">
                <a16:creationId xmlns:a16="http://schemas.microsoft.com/office/drawing/2014/main" id="{6DA7A109-5812-469F-EA71-C62CBD8BAC98}"/>
              </a:ext>
            </a:extLst>
          </p:cNvPr>
          <p:cNvSpPr txBox="1"/>
          <p:nvPr/>
        </p:nvSpPr>
        <p:spPr>
          <a:xfrm>
            <a:off x="320040" y="1155192"/>
            <a:ext cx="11521440" cy="43088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Most fraud leaders describe their programs as integrated or advanced. Banking respondents report higher maturity than insurers (85% vs. 72%), and within both sectors the largest institutions lead.</a:t>
            </a:r>
          </a:p>
        </p:txBody>
      </p:sp>
      <p:grpSp>
        <p:nvGrpSpPr>
          <p:cNvPr id="3" name="Group 2">
            <a:extLst>
              <a:ext uri="{FF2B5EF4-FFF2-40B4-BE49-F238E27FC236}">
                <a16:creationId xmlns:a16="http://schemas.microsoft.com/office/drawing/2014/main" id="{0B950AC0-4F85-528D-CA70-517E18F778F0}"/>
              </a:ext>
            </a:extLst>
          </p:cNvPr>
          <p:cNvGrpSpPr/>
          <p:nvPr/>
        </p:nvGrpSpPr>
        <p:grpSpPr>
          <a:xfrm>
            <a:off x="245871" y="4582097"/>
            <a:ext cx="5886444" cy="1403624"/>
            <a:chOff x="6053691" y="4646300"/>
            <a:chExt cx="5886444" cy="1403624"/>
          </a:xfrm>
        </p:grpSpPr>
        <p:sp>
          <p:nvSpPr>
            <p:cNvPr id="68" name="TextBox 67">
              <a:extLst>
                <a:ext uri="{FF2B5EF4-FFF2-40B4-BE49-F238E27FC236}">
                  <a16:creationId xmlns:a16="http://schemas.microsoft.com/office/drawing/2014/main" id="{F9042F63-40AB-814D-FDBD-D552CFF8524C}"/>
                </a:ext>
              </a:extLst>
            </p:cNvPr>
            <p:cNvSpPr txBox="1"/>
            <p:nvPr/>
          </p:nvSpPr>
          <p:spPr>
            <a:xfrm>
              <a:off x="6265566" y="4646300"/>
              <a:ext cx="548640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MATURITY RISES WITH </a:t>
              </a:r>
              <a:r>
                <a:rPr kumimoji="0" lang="en-US"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INSTITUTION SIZE</a:t>
              </a:r>
              <a:endPar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70" name="TextBox 69">
              <a:extLst>
                <a:ext uri="{FF2B5EF4-FFF2-40B4-BE49-F238E27FC236}">
                  <a16:creationId xmlns:a16="http://schemas.microsoft.com/office/drawing/2014/main" id="{688A0E3B-1430-FA44-16AC-EE15186EEB29}"/>
                </a:ext>
              </a:extLst>
            </p:cNvPr>
            <p:cNvSpPr txBox="1"/>
            <p:nvPr/>
          </p:nvSpPr>
          <p:spPr>
            <a:xfrm>
              <a:off x="6265566" y="4859857"/>
              <a:ext cx="5486400" cy="18466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 rating their program </a:t>
              </a:r>
              <a:r>
                <a:rPr kumimoji="0" sz="1200" b="1"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integrated</a:t>
              </a:r>
              <a:r>
                <a:rPr kumimoji="0" sz="1200" b="0"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 or </a:t>
              </a:r>
              <a:r>
                <a:rPr kumimoji="0" sz="1200" b="1" i="0" u="none" strike="noStrike" kern="1200" cap="none" spc="0" normalizeH="0" baseline="0" noProof="0" dirty="0">
                  <a:ln>
                    <a:noFill/>
                  </a:ln>
                  <a:solidFill>
                    <a:srgbClr val="FFFFFF">
                      <a:lumMod val="50000"/>
                    </a:srgbClr>
                  </a:solidFill>
                  <a:effectLst/>
                  <a:uLnTx/>
                  <a:uFillTx/>
                  <a:latin typeface="Segoe UI" panose="020B0502040204020203" pitchFamily="34" charset="0"/>
                  <a:ea typeface="+mn-ea"/>
                  <a:cs typeface="Segoe UI" panose="020B0502040204020203" pitchFamily="34" charset="0"/>
                  <a:sym typeface="Arial"/>
                </a:rPr>
                <a:t>advanced</a:t>
              </a:r>
            </a:p>
          </p:txBody>
        </p:sp>
        <p:sp>
          <p:nvSpPr>
            <p:cNvPr id="72" name="TextBox 71">
              <a:extLst>
                <a:ext uri="{FF2B5EF4-FFF2-40B4-BE49-F238E27FC236}">
                  <a16:creationId xmlns:a16="http://schemas.microsoft.com/office/drawing/2014/main" id="{67E4D846-A343-D8F4-A264-E05ACE34214D}"/>
                </a:ext>
              </a:extLst>
            </p:cNvPr>
            <p:cNvSpPr txBox="1"/>
            <p:nvPr/>
          </p:nvSpPr>
          <p:spPr>
            <a:xfrm>
              <a:off x="6053691" y="5129822"/>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Top 100 Global </a:t>
              </a:r>
              <a:r>
                <a:rPr kumimoji="0" lang="en-US"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Financial Institutions</a:t>
              </a:r>
              <a:endParaRPr kumimoji="0"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endParaRPr>
            </a:p>
          </p:txBody>
        </p:sp>
        <p:sp>
          <p:nvSpPr>
            <p:cNvPr id="74" name="Rectangle 73">
              <a:extLst>
                <a:ext uri="{FF2B5EF4-FFF2-40B4-BE49-F238E27FC236}">
                  <a16:creationId xmlns:a16="http://schemas.microsoft.com/office/drawing/2014/main" id="{A158BFC6-F81C-370D-8C61-D36A70E25C22}"/>
                </a:ext>
              </a:extLst>
            </p:cNvPr>
            <p:cNvSpPr/>
            <p:nvPr/>
          </p:nvSpPr>
          <p:spPr>
            <a:xfrm>
              <a:off x="8648295" y="5125541"/>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6" name="Rectangle 75">
              <a:extLst>
                <a:ext uri="{FF2B5EF4-FFF2-40B4-BE49-F238E27FC236}">
                  <a16:creationId xmlns:a16="http://schemas.microsoft.com/office/drawing/2014/main" id="{2EC8FEE3-4945-B1DA-DC24-3BC18AACC1D8}"/>
                </a:ext>
              </a:extLst>
            </p:cNvPr>
            <p:cNvSpPr/>
            <p:nvPr/>
          </p:nvSpPr>
          <p:spPr>
            <a:xfrm>
              <a:off x="8648295" y="5125541"/>
              <a:ext cx="2466136" cy="164592"/>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8" name="TextBox 77">
              <a:extLst>
                <a:ext uri="{FF2B5EF4-FFF2-40B4-BE49-F238E27FC236}">
                  <a16:creationId xmlns:a16="http://schemas.microsoft.com/office/drawing/2014/main" id="{A7FEB9FB-6CAF-65AF-01D7-15425554D1B3}"/>
                </a:ext>
              </a:extLst>
            </p:cNvPr>
            <p:cNvSpPr txBox="1"/>
            <p:nvPr/>
          </p:nvSpPr>
          <p:spPr>
            <a:xfrm>
              <a:off x="11391495" y="5127045"/>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93%</a:t>
              </a:r>
            </a:p>
          </p:txBody>
        </p:sp>
        <p:sp>
          <p:nvSpPr>
            <p:cNvPr id="80" name="TextBox 79">
              <a:extLst>
                <a:ext uri="{FF2B5EF4-FFF2-40B4-BE49-F238E27FC236}">
                  <a16:creationId xmlns:a16="http://schemas.microsoft.com/office/drawing/2014/main" id="{2C12C54A-288D-B617-B1DD-E3759BB17216}"/>
                </a:ext>
              </a:extLst>
            </p:cNvPr>
            <p:cNvSpPr txBox="1"/>
            <p:nvPr/>
          </p:nvSpPr>
          <p:spPr>
            <a:xfrm>
              <a:off x="6053691" y="5376711"/>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Large </a:t>
              </a:r>
              <a:r>
                <a:rPr kumimoji="0" lang="en-US"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Financial Institutions</a:t>
              </a:r>
              <a:endParaRPr kumimoji="0" sz="11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endParaRPr>
            </a:p>
          </p:txBody>
        </p:sp>
        <p:sp>
          <p:nvSpPr>
            <p:cNvPr id="82" name="Rectangle 81">
              <a:extLst>
                <a:ext uri="{FF2B5EF4-FFF2-40B4-BE49-F238E27FC236}">
                  <a16:creationId xmlns:a16="http://schemas.microsoft.com/office/drawing/2014/main" id="{1E1E670A-19A9-7D27-C55D-D29795BCEDAF}"/>
                </a:ext>
              </a:extLst>
            </p:cNvPr>
            <p:cNvSpPr/>
            <p:nvPr/>
          </p:nvSpPr>
          <p:spPr>
            <a:xfrm>
              <a:off x="8648295" y="5372429"/>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4" name="Rectangle 83">
              <a:extLst>
                <a:ext uri="{FF2B5EF4-FFF2-40B4-BE49-F238E27FC236}">
                  <a16:creationId xmlns:a16="http://schemas.microsoft.com/office/drawing/2014/main" id="{E5144965-1B3B-EB31-43AD-09826B0AF21C}"/>
                </a:ext>
              </a:extLst>
            </p:cNvPr>
            <p:cNvSpPr/>
            <p:nvPr/>
          </p:nvSpPr>
          <p:spPr>
            <a:xfrm>
              <a:off x="8648295" y="5372429"/>
              <a:ext cx="2041855" cy="164592"/>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6" name="TextBox 85">
              <a:extLst>
                <a:ext uri="{FF2B5EF4-FFF2-40B4-BE49-F238E27FC236}">
                  <a16:creationId xmlns:a16="http://schemas.microsoft.com/office/drawing/2014/main" id="{1ED4A16D-37A1-1FC5-C2EB-A4472F639AC8}"/>
                </a:ext>
              </a:extLst>
            </p:cNvPr>
            <p:cNvSpPr txBox="1"/>
            <p:nvPr/>
          </p:nvSpPr>
          <p:spPr>
            <a:xfrm>
              <a:off x="11391495" y="5373933"/>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77%</a:t>
              </a:r>
            </a:p>
          </p:txBody>
        </p:sp>
        <p:sp>
          <p:nvSpPr>
            <p:cNvPr id="88" name="TextBox 87">
              <a:extLst>
                <a:ext uri="{FF2B5EF4-FFF2-40B4-BE49-F238E27FC236}">
                  <a16:creationId xmlns:a16="http://schemas.microsoft.com/office/drawing/2014/main" id="{F4814E24-3792-0F94-FD70-2A715521C141}"/>
                </a:ext>
              </a:extLst>
            </p:cNvPr>
            <p:cNvSpPr txBox="1"/>
            <p:nvPr/>
          </p:nvSpPr>
          <p:spPr>
            <a:xfrm>
              <a:off x="6053691" y="5633759"/>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Top 50 Global Insurer</a:t>
              </a:r>
              <a:r>
                <a:rPr kumimoji="0" lang="en-US"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s</a:t>
              </a:r>
              <a:endParaRPr kumimoji="0"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90" name="Rectangle 89">
              <a:extLst>
                <a:ext uri="{FF2B5EF4-FFF2-40B4-BE49-F238E27FC236}">
                  <a16:creationId xmlns:a16="http://schemas.microsoft.com/office/drawing/2014/main" id="{FDDDAFCC-6948-BB07-AB19-5C50E436EE29}"/>
                </a:ext>
              </a:extLst>
            </p:cNvPr>
            <p:cNvSpPr/>
            <p:nvPr/>
          </p:nvSpPr>
          <p:spPr>
            <a:xfrm>
              <a:off x="8648295" y="5629477"/>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2" name="Rectangle 91">
              <a:extLst>
                <a:ext uri="{FF2B5EF4-FFF2-40B4-BE49-F238E27FC236}">
                  <a16:creationId xmlns:a16="http://schemas.microsoft.com/office/drawing/2014/main" id="{47059C6C-D5F0-5B5B-F3B3-D3068BDDF4BC}"/>
                </a:ext>
              </a:extLst>
            </p:cNvPr>
            <p:cNvSpPr/>
            <p:nvPr/>
          </p:nvSpPr>
          <p:spPr>
            <a:xfrm>
              <a:off x="8648295" y="5629477"/>
              <a:ext cx="2121408" cy="164592"/>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4" name="TextBox 93">
              <a:extLst>
                <a:ext uri="{FF2B5EF4-FFF2-40B4-BE49-F238E27FC236}">
                  <a16:creationId xmlns:a16="http://schemas.microsoft.com/office/drawing/2014/main" id="{D9ECAB83-10A3-00AD-7605-169F98A4C47B}"/>
                </a:ext>
              </a:extLst>
            </p:cNvPr>
            <p:cNvSpPr txBox="1"/>
            <p:nvPr/>
          </p:nvSpPr>
          <p:spPr>
            <a:xfrm>
              <a:off x="11391495" y="5630981"/>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80%</a:t>
              </a:r>
            </a:p>
          </p:txBody>
        </p:sp>
        <p:sp>
          <p:nvSpPr>
            <p:cNvPr id="96" name="TextBox 95">
              <a:extLst>
                <a:ext uri="{FF2B5EF4-FFF2-40B4-BE49-F238E27FC236}">
                  <a16:creationId xmlns:a16="http://schemas.microsoft.com/office/drawing/2014/main" id="{3DC405F5-92B3-604B-AFD9-3706677678FA}"/>
                </a:ext>
              </a:extLst>
            </p:cNvPr>
            <p:cNvSpPr txBox="1"/>
            <p:nvPr/>
          </p:nvSpPr>
          <p:spPr>
            <a:xfrm>
              <a:off x="6053691" y="5880647"/>
              <a:ext cx="2466136" cy="1692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Large Insurers</a:t>
              </a:r>
            </a:p>
          </p:txBody>
        </p:sp>
        <p:sp>
          <p:nvSpPr>
            <p:cNvPr id="98" name="Rectangle 97">
              <a:extLst>
                <a:ext uri="{FF2B5EF4-FFF2-40B4-BE49-F238E27FC236}">
                  <a16:creationId xmlns:a16="http://schemas.microsoft.com/office/drawing/2014/main" id="{489E1120-7B2D-8421-0768-B494A1A712A5}"/>
                </a:ext>
              </a:extLst>
            </p:cNvPr>
            <p:cNvSpPr/>
            <p:nvPr/>
          </p:nvSpPr>
          <p:spPr>
            <a:xfrm>
              <a:off x="8648295" y="5876365"/>
              <a:ext cx="2651760" cy="164592"/>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0" name="Rectangle 99">
              <a:extLst>
                <a:ext uri="{FF2B5EF4-FFF2-40B4-BE49-F238E27FC236}">
                  <a16:creationId xmlns:a16="http://schemas.microsoft.com/office/drawing/2014/main" id="{BC3D7E50-370F-4974-5727-96FF945BFA6B}"/>
                </a:ext>
              </a:extLst>
            </p:cNvPr>
            <p:cNvSpPr/>
            <p:nvPr/>
          </p:nvSpPr>
          <p:spPr>
            <a:xfrm>
              <a:off x="8648295" y="5876365"/>
              <a:ext cx="1591056" cy="164592"/>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2" name="TextBox 101">
              <a:extLst>
                <a:ext uri="{FF2B5EF4-FFF2-40B4-BE49-F238E27FC236}">
                  <a16:creationId xmlns:a16="http://schemas.microsoft.com/office/drawing/2014/main" id="{ADD3445D-4B61-F748-F621-A60D177ECB35}"/>
                </a:ext>
              </a:extLst>
            </p:cNvPr>
            <p:cNvSpPr txBox="1"/>
            <p:nvPr/>
          </p:nvSpPr>
          <p:spPr>
            <a:xfrm>
              <a:off x="11391495" y="5877869"/>
              <a:ext cx="548640" cy="16158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60%</a:t>
              </a:r>
            </a:p>
          </p:txBody>
        </p:sp>
      </p:grpSp>
      <p:grpSp>
        <p:nvGrpSpPr>
          <p:cNvPr id="177" name="Group 176">
            <a:extLst>
              <a:ext uri="{FF2B5EF4-FFF2-40B4-BE49-F238E27FC236}">
                <a16:creationId xmlns:a16="http://schemas.microsoft.com/office/drawing/2014/main" id="{40BA0A46-5DF3-F06F-5BD5-A837AFB16144}"/>
              </a:ext>
            </a:extLst>
          </p:cNvPr>
          <p:cNvGrpSpPr/>
          <p:nvPr/>
        </p:nvGrpSpPr>
        <p:grpSpPr>
          <a:xfrm>
            <a:off x="410694" y="1874685"/>
            <a:ext cx="5586984" cy="2386584"/>
            <a:chOff x="406846" y="2029968"/>
            <a:chExt cx="5586984" cy="2386584"/>
          </a:xfrm>
        </p:grpSpPr>
        <p:sp>
          <p:nvSpPr>
            <p:cNvPr id="104" name="TextBox 103">
              <a:extLst>
                <a:ext uri="{FF2B5EF4-FFF2-40B4-BE49-F238E27FC236}">
                  <a16:creationId xmlns:a16="http://schemas.microsoft.com/office/drawing/2014/main" id="{EE40552A-3E32-5424-426D-685DC070EB81}"/>
                </a:ext>
              </a:extLst>
            </p:cNvPr>
            <p:cNvSpPr txBox="1"/>
            <p:nvPr/>
          </p:nvSpPr>
          <p:spPr>
            <a:xfrm>
              <a:off x="406846" y="2029968"/>
              <a:ext cx="3657600" cy="18466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WHERE PROGRAMS SIT TODAY</a:t>
              </a:r>
            </a:p>
          </p:txBody>
        </p:sp>
        <p:sp>
          <p:nvSpPr>
            <p:cNvPr id="106" name="Rectangle 105">
              <a:extLst>
                <a:ext uri="{FF2B5EF4-FFF2-40B4-BE49-F238E27FC236}">
                  <a16:creationId xmlns:a16="http://schemas.microsoft.com/office/drawing/2014/main" id="{9DAFF09F-7F60-9195-81F8-514BF9B7B9C0}"/>
                </a:ext>
              </a:extLst>
            </p:cNvPr>
            <p:cNvSpPr/>
            <p:nvPr/>
          </p:nvSpPr>
          <p:spPr>
            <a:xfrm>
              <a:off x="516574" y="3322320"/>
              <a:ext cx="850392" cy="27432"/>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8" name="TextBox 107">
              <a:extLst>
                <a:ext uri="{FF2B5EF4-FFF2-40B4-BE49-F238E27FC236}">
                  <a16:creationId xmlns:a16="http://schemas.microsoft.com/office/drawing/2014/main" id="{D2425724-8CA3-D117-25EA-87B834AC2FB9}"/>
                </a:ext>
              </a:extLst>
            </p:cNvPr>
            <p:cNvSpPr txBox="1"/>
            <p:nvPr/>
          </p:nvSpPr>
          <p:spPr>
            <a:xfrm>
              <a:off x="406846" y="3073200"/>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1%</a:t>
              </a:r>
            </a:p>
          </p:txBody>
        </p:sp>
        <p:sp>
          <p:nvSpPr>
            <p:cNvPr id="110" name="Rectangle 109">
              <a:extLst>
                <a:ext uri="{FF2B5EF4-FFF2-40B4-BE49-F238E27FC236}">
                  <a16:creationId xmlns:a16="http://schemas.microsoft.com/office/drawing/2014/main" id="{509742F4-09E2-DEFF-0CAC-5F350C213650}"/>
                </a:ext>
              </a:extLst>
            </p:cNvPr>
            <p:cNvSpPr/>
            <p:nvPr/>
          </p:nvSpPr>
          <p:spPr>
            <a:xfrm>
              <a:off x="406846" y="3349751"/>
              <a:ext cx="1069848" cy="1066801"/>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2" name="TextBox 111">
              <a:extLst>
                <a:ext uri="{FF2B5EF4-FFF2-40B4-BE49-F238E27FC236}">
                  <a16:creationId xmlns:a16="http://schemas.microsoft.com/office/drawing/2014/main" id="{596AAE80-71FD-D891-F4DF-B9B94EF287E2}"/>
                </a:ext>
              </a:extLst>
            </p:cNvPr>
            <p:cNvSpPr txBox="1"/>
            <p:nvPr/>
          </p:nvSpPr>
          <p:spPr>
            <a:xfrm>
              <a:off x="479998"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Reactive</a:t>
              </a:r>
            </a:p>
          </p:txBody>
        </p:sp>
        <p:sp>
          <p:nvSpPr>
            <p:cNvPr id="114" name="TextBox 113">
              <a:extLst>
                <a:ext uri="{FF2B5EF4-FFF2-40B4-BE49-F238E27FC236}">
                  <a16:creationId xmlns:a16="http://schemas.microsoft.com/office/drawing/2014/main" id="{D264D6F8-CB6A-D2D8-B835-170E931F0D7D}"/>
                </a:ext>
              </a:extLst>
            </p:cNvPr>
            <p:cNvSpPr txBox="1"/>
            <p:nvPr/>
          </p:nvSpPr>
          <p:spPr>
            <a:xfrm>
              <a:off x="479998" y="3614928"/>
              <a:ext cx="941831"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Primarily incident-driven</a:t>
              </a:r>
            </a:p>
          </p:txBody>
        </p:sp>
        <p:sp>
          <p:nvSpPr>
            <p:cNvPr id="116" name="Rectangle 115">
              <a:extLst>
                <a:ext uri="{FF2B5EF4-FFF2-40B4-BE49-F238E27FC236}">
                  <a16:creationId xmlns:a16="http://schemas.microsoft.com/office/drawing/2014/main" id="{BEA507AB-B9A9-9B4C-3AF5-337CBACA6630}"/>
                </a:ext>
              </a:extLst>
            </p:cNvPr>
            <p:cNvSpPr/>
            <p:nvPr/>
          </p:nvSpPr>
          <p:spPr>
            <a:xfrm>
              <a:off x="1645857" y="3279093"/>
              <a:ext cx="850392" cy="70658"/>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8" name="TextBox 117">
              <a:extLst>
                <a:ext uri="{FF2B5EF4-FFF2-40B4-BE49-F238E27FC236}">
                  <a16:creationId xmlns:a16="http://schemas.microsoft.com/office/drawing/2014/main" id="{9792B575-351D-8122-EC80-02A519EE9D80}"/>
                </a:ext>
              </a:extLst>
            </p:cNvPr>
            <p:cNvSpPr txBox="1"/>
            <p:nvPr/>
          </p:nvSpPr>
          <p:spPr>
            <a:xfrm>
              <a:off x="1536129" y="3029973"/>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5%</a:t>
              </a:r>
            </a:p>
          </p:txBody>
        </p:sp>
        <p:sp>
          <p:nvSpPr>
            <p:cNvPr id="120" name="Rectangle 119">
              <a:extLst>
                <a:ext uri="{FF2B5EF4-FFF2-40B4-BE49-F238E27FC236}">
                  <a16:creationId xmlns:a16="http://schemas.microsoft.com/office/drawing/2014/main" id="{4D816BD5-5DBB-D987-142A-B3B646416ABF}"/>
                </a:ext>
              </a:extLst>
            </p:cNvPr>
            <p:cNvSpPr/>
            <p:nvPr/>
          </p:nvSpPr>
          <p:spPr>
            <a:xfrm>
              <a:off x="1536129" y="3349751"/>
              <a:ext cx="1069848" cy="1066801"/>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2" name="TextBox 121">
              <a:extLst>
                <a:ext uri="{FF2B5EF4-FFF2-40B4-BE49-F238E27FC236}">
                  <a16:creationId xmlns:a16="http://schemas.microsoft.com/office/drawing/2014/main" id="{73C0F0CE-887B-E489-C23B-2D5D4D89A9F0}"/>
                </a:ext>
              </a:extLst>
            </p:cNvPr>
            <p:cNvSpPr txBox="1"/>
            <p:nvPr/>
          </p:nvSpPr>
          <p:spPr>
            <a:xfrm>
              <a:off x="1568132" y="3413759"/>
              <a:ext cx="1005842"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Foundational</a:t>
              </a:r>
            </a:p>
          </p:txBody>
        </p:sp>
        <p:sp>
          <p:nvSpPr>
            <p:cNvPr id="124" name="TextBox 123">
              <a:extLst>
                <a:ext uri="{FF2B5EF4-FFF2-40B4-BE49-F238E27FC236}">
                  <a16:creationId xmlns:a16="http://schemas.microsoft.com/office/drawing/2014/main" id="{E090423B-D209-D84F-314F-E9AB7F3127DC}"/>
                </a:ext>
              </a:extLst>
            </p:cNvPr>
            <p:cNvSpPr txBox="1"/>
            <p:nvPr/>
          </p:nvSpPr>
          <p:spPr>
            <a:xfrm>
              <a:off x="1609281" y="3614928"/>
              <a:ext cx="941831"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Controls established within individual business units</a:t>
              </a:r>
            </a:p>
          </p:txBody>
        </p:sp>
        <p:sp>
          <p:nvSpPr>
            <p:cNvPr id="126" name="Rectangle 125">
              <a:extLst>
                <a:ext uri="{FF2B5EF4-FFF2-40B4-BE49-F238E27FC236}">
                  <a16:creationId xmlns:a16="http://schemas.microsoft.com/office/drawing/2014/main" id="{85C943E1-5013-DE12-6134-66A69EF021DD}"/>
                </a:ext>
              </a:extLst>
            </p:cNvPr>
            <p:cNvSpPr/>
            <p:nvPr/>
          </p:nvSpPr>
          <p:spPr>
            <a:xfrm>
              <a:off x="2775142" y="3180172"/>
              <a:ext cx="850392" cy="169579"/>
            </a:xfrm>
            <a:prstGeom prst="rect">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8" name="TextBox 127">
              <a:extLst>
                <a:ext uri="{FF2B5EF4-FFF2-40B4-BE49-F238E27FC236}">
                  <a16:creationId xmlns:a16="http://schemas.microsoft.com/office/drawing/2014/main" id="{1DAD6A12-0DE5-4C03-D05C-C93C84A2B008}"/>
                </a:ext>
              </a:extLst>
            </p:cNvPr>
            <p:cNvSpPr txBox="1"/>
            <p:nvPr/>
          </p:nvSpPr>
          <p:spPr>
            <a:xfrm>
              <a:off x="2665414" y="2931052"/>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12%</a:t>
              </a:r>
            </a:p>
          </p:txBody>
        </p:sp>
        <p:sp>
          <p:nvSpPr>
            <p:cNvPr id="130" name="Rectangle 129">
              <a:extLst>
                <a:ext uri="{FF2B5EF4-FFF2-40B4-BE49-F238E27FC236}">
                  <a16:creationId xmlns:a16="http://schemas.microsoft.com/office/drawing/2014/main" id="{D6F66167-3FA9-EC58-B104-7EEC0FB50745}"/>
                </a:ext>
              </a:extLst>
            </p:cNvPr>
            <p:cNvSpPr/>
            <p:nvPr/>
          </p:nvSpPr>
          <p:spPr>
            <a:xfrm>
              <a:off x="2665414" y="3349751"/>
              <a:ext cx="1069848" cy="1066801"/>
            </a:xfrm>
            <a:prstGeom prst="rect">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2" name="TextBox 131">
              <a:extLst>
                <a:ext uri="{FF2B5EF4-FFF2-40B4-BE49-F238E27FC236}">
                  <a16:creationId xmlns:a16="http://schemas.microsoft.com/office/drawing/2014/main" id="{F156A2EE-6495-D1B9-DE26-C1CBF388CC91}"/>
                </a:ext>
              </a:extLst>
            </p:cNvPr>
            <p:cNvSpPr txBox="1"/>
            <p:nvPr/>
          </p:nvSpPr>
          <p:spPr>
            <a:xfrm>
              <a:off x="2738566"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Managed</a:t>
              </a:r>
            </a:p>
          </p:txBody>
        </p:sp>
        <p:sp>
          <p:nvSpPr>
            <p:cNvPr id="134" name="TextBox 133">
              <a:extLst>
                <a:ext uri="{FF2B5EF4-FFF2-40B4-BE49-F238E27FC236}">
                  <a16:creationId xmlns:a16="http://schemas.microsoft.com/office/drawing/2014/main" id="{E2245F6C-EE4F-F9D6-AB7E-D6CE5617FA6B}"/>
                </a:ext>
              </a:extLst>
            </p:cNvPr>
            <p:cNvSpPr txBox="1"/>
            <p:nvPr/>
          </p:nvSpPr>
          <p:spPr>
            <a:xfrm>
              <a:off x="2738566" y="3614928"/>
              <a:ext cx="941831"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Enterprise standards and governance in place</a:t>
              </a:r>
            </a:p>
          </p:txBody>
        </p:sp>
        <p:sp>
          <p:nvSpPr>
            <p:cNvPr id="136" name="Rectangle 135">
              <a:extLst>
                <a:ext uri="{FF2B5EF4-FFF2-40B4-BE49-F238E27FC236}">
                  <a16:creationId xmlns:a16="http://schemas.microsoft.com/office/drawing/2014/main" id="{F3205766-8A2B-1521-1964-C6BD2C077279}"/>
                </a:ext>
              </a:extLst>
            </p:cNvPr>
            <p:cNvSpPr/>
            <p:nvPr/>
          </p:nvSpPr>
          <p:spPr>
            <a:xfrm>
              <a:off x="3904425" y="2727959"/>
              <a:ext cx="850392" cy="621792"/>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8" name="TextBox 137">
              <a:extLst>
                <a:ext uri="{FF2B5EF4-FFF2-40B4-BE49-F238E27FC236}">
                  <a16:creationId xmlns:a16="http://schemas.microsoft.com/office/drawing/2014/main" id="{A7B8675C-CF47-20BA-365E-7A0646EB4749}"/>
                </a:ext>
              </a:extLst>
            </p:cNvPr>
            <p:cNvSpPr txBox="1"/>
            <p:nvPr/>
          </p:nvSpPr>
          <p:spPr>
            <a:xfrm>
              <a:off x="3794698" y="2478839"/>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44%</a:t>
              </a:r>
            </a:p>
          </p:txBody>
        </p:sp>
        <p:sp>
          <p:nvSpPr>
            <p:cNvPr id="140" name="Rectangle 139">
              <a:extLst>
                <a:ext uri="{FF2B5EF4-FFF2-40B4-BE49-F238E27FC236}">
                  <a16:creationId xmlns:a16="http://schemas.microsoft.com/office/drawing/2014/main" id="{E400F3D4-4D81-CCBF-48CF-BBDFB472EB8E}"/>
                </a:ext>
              </a:extLst>
            </p:cNvPr>
            <p:cNvSpPr/>
            <p:nvPr/>
          </p:nvSpPr>
          <p:spPr>
            <a:xfrm>
              <a:off x="3794698" y="3349751"/>
              <a:ext cx="1069848" cy="1066801"/>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42" name="TextBox 141">
              <a:extLst>
                <a:ext uri="{FF2B5EF4-FFF2-40B4-BE49-F238E27FC236}">
                  <a16:creationId xmlns:a16="http://schemas.microsoft.com/office/drawing/2014/main" id="{5DE7D402-DB2A-EFF7-6279-D6705C787C19}"/>
                </a:ext>
              </a:extLst>
            </p:cNvPr>
            <p:cNvSpPr txBox="1"/>
            <p:nvPr/>
          </p:nvSpPr>
          <p:spPr>
            <a:xfrm>
              <a:off x="3867850"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Integrated</a:t>
              </a:r>
            </a:p>
          </p:txBody>
        </p:sp>
        <p:sp>
          <p:nvSpPr>
            <p:cNvPr id="144" name="TextBox 143">
              <a:extLst>
                <a:ext uri="{FF2B5EF4-FFF2-40B4-BE49-F238E27FC236}">
                  <a16:creationId xmlns:a16="http://schemas.microsoft.com/office/drawing/2014/main" id="{83B305B7-A9EA-8E8D-99B1-979A11B66A23}"/>
                </a:ext>
              </a:extLst>
            </p:cNvPr>
            <p:cNvSpPr txBox="1"/>
            <p:nvPr/>
          </p:nvSpPr>
          <p:spPr>
            <a:xfrm>
              <a:off x="3867850" y="3614928"/>
              <a:ext cx="941831" cy="76944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Data, analytics and operations integrated across major fraud types</a:t>
              </a:r>
            </a:p>
          </p:txBody>
        </p:sp>
        <p:sp>
          <p:nvSpPr>
            <p:cNvPr id="146" name="Rectangle 145">
              <a:extLst>
                <a:ext uri="{FF2B5EF4-FFF2-40B4-BE49-F238E27FC236}">
                  <a16:creationId xmlns:a16="http://schemas.microsoft.com/office/drawing/2014/main" id="{FB365C75-94B0-071A-081A-880B892D1091}"/>
                </a:ext>
              </a:extLst>
            </p:cNvPr>
            <p:cNvSpPr/>
            <p:nvPr/>
          </p:nvSpPr>
          <p:spPr>
            <a:xfrm>
              <a:off x="5033709" y="2812749"/>
              <a:ext cx="850392" cy="537002"/>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48" name="TextBox 147">
              <a:extLst>
                <a:ext uri="{FF2B5EF4-FFF2-40B4-BE49-F238E27FC236}">
                  <a16:creationId xmlns:a16="http://schemas.microsoft.com/office/drawing/2014/main" id="{A312C1A6-794C-A043-0B49-438A66EF6553}"/>
                </a:ext>
              </a:extLst>
            </p:cNvPr>
            <p:cNvSpPr txBox="1"/>
            <p:nvPr/>
          </p:nvSpPr>
          <p:spPr>
            <a:xfrm>
              <a:off x="4923982" y="2563629"/>
              <a:ext cx="1069848" cy="230832"/>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38%</a:t>
              </a:r>
            </a:p>
          </p:txBody>
        </p:sp>
        <p:sp>
          <p:nvSpPr>
            <p:cNvPr id="150" name="Rectangle 149">
              <a:extLst>
                <a:ext uri="{FF2B5EF4-FFF2-40B4-BE49-F238E27FC236}">
                  <a16:creationId xmlns:a16="http://schemas.microsoft.com/office/drawing/2014/main" id="{9BDAF2AE-3CE8-2BBE-2AED-B346F5B601B1}"/>
                </a:ext>
              </a:extLst>
            </p:cNvPr>
            <p:cNvSpPr/>
            <p:nvPr/>
          </p:nvSpPr>
          <p:spPr>
            <a:xfrm>
              <a:off x="4923982" y="3349751"/>
              <a:ext cx="1069848" cy="1066801"/>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52" name="TextBox 151">
              <a:extLst>
                <a:ext uri="{FF2B5EF4-FFF2-40B4-BE49-F238E27FC236}">
                  <a16:creationId xmlns:a16="http://schemas.microsoft.com/office/drawing/2014/main" id="{7C8641FB-D28B-1D83-AC27-56082F657534}"/>
                </a:ext>
              </a:extLst>
            </p:cNvPr>
            <p:cNvSpPr txBox="1"/>
            <p:nvPr/>
          </p:nvSpPr>
          <p:spPr>
            <a:xfrm>
              <a:off x="4997134" y="3413759"/>
              <a:ext cx="923544" cy="184666"/>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Advanced</a:t>
              </a:r>
            </a:p>
          </p:txBody>
        </p:sp>
        <p:sp>
          <p:nvSpPr>
            <p:cNvPr id="154" name="TextBox 153">
              <a:extLst>
                <a:ext uri="{FF2B5EF4-FFF2-40B4-BE49-F238E27FC236}">
                  <a16:creationId xmlns:a16="http://schemas.microsoft.com/office/drawing/2014/main" id="{12904219-6BF4-5A7E-02E4-C975D28E9841}"/>
                </a:ext>
              </a:extLst>
            </p:cNvPr>
            <p:cNvSpPr txBox="1"/>
            <p:nvPr/>
          </p:nvSpPr>
          <p:spPr>
            <a:xfrm>
              <a:off x="4997134" y="3614928"/>
              <a:ext cx="941831" cy="76944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Predictive intelligence and ecosystem collaboration embedded</a:t>
              </a:r>
            </a:p>
          </p:txBody>
        </p:sp>
        <p:sp>
          <p:nvSpPr>
            <p:cNvPr id="156" name="Rectangle 155">
              <a:extLst>
                <a:ext uri="{FF2B5EF4-FFF2-40B4-BE49-F238E27FC236}">
                  <a16:creationId xmlns:a16="http://schemas.microsoft.com/office/drawing/2014/main" id="{3A9C8F15-8C97-0B77-8F8E-73EF83A21166}"/>
                </a:ext>
              </a:extLst>
            </p:cNvPr>
            <p:cNvSpPr/>
            <p:nvPr/>
          </p:nvSpPr>
          <p:spPr>
            <a:xfrm>
              <a:off x="3794698" y="2414016"/>
              <a:ext cx="2199132" cy="2286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58" name="Rectangle 157">
              <a:extLst>
                <a:ext uri="{FF2B5EF4-FFF2-40B4-BE49-F238E27FC236}">
                  <a16:creationId xmlns:a16="http://schemas.microsoft.com/office/drawing/2014/main" id="{B9C3089A-D953-7451-9F87-18EE6DE50163}"/>
                </a:ext>
              </a:extLst>
            </p:cNvPr>
            <p:cNvSpPr/>
            <p:nvPr/>
          </p:nvSpPr>
          <p:spPr>
            <a:xfrm>
              <a:off x="3794698" y="2414016"/>
              <a:ext cx="22860" cy="109728"/>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60" name="Rectangle 159">
              <a:extLst>
                <a:ext uri="{FF2B5EF4-FFF2-40B4-BE49-F238E27FC236}">
                  <a16:creationId xmlns:a16="http://schemas.microsoft.com/office/drawing/2014/main" id="{DAA033E1-FED6-5137-C14C-A125990981CB}"/>
                </a:ext>
              </a:extLst>
            </p:cNvPr>
            <p:cNvSpPr/>
            <p:nvPr/>
          </p:nvSpPr>
          <p:spPr>
            <a:xfrm>
              <a:off x="5970969" y="2414016"/>
              <a:ext cx="22860" cy="109728"/>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62" name="TextBox 161">
              <a:extLst>
                <a:ext uri="{FF2B5EF4-FFF2-40B4-BE49-F238E27FC236}">
                  <a16:creationId xmlns:a16="http://schemas.microsoft.com/office/drawing/2014/main" id="{ADA623CE-C178-E232-440F-43FE2D2758D1}"/>
                </a:ext>
              </a:extLst>
            </p:cNvPr>
            <p:cNvSpPr txBox="1"/>
            <p:nvPr/>
          </p:nvSpPr>
          <p:spPr>
            <a:xfrm>
              <a:off x="3794698" y="2179151"/>
              <a:ext cx="2199132" cy="192360"/>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82% integrated or advanced</a:t>
              </a:r>
            </a:p>
          </p:txBody>
        </p:sp>
        <p:sp>
          <p:nvSpPr>
            <p:cNvPr id="164" name="TextBox 163">
              <a:extLst>
                <a:ext uri="{FF2B5EF4-FFF2-40B4-BE49-F238E27FC236}">
                  <a16:creationId xmlns:a16="http://schemas.microsoft.com/office/drawing/2014/main" id="{DDA7C91D-E45D-F790-FC84-3A9CD6E60A57}"/>
                </a:ext>
              </a:extLst>
            </p:cNvPr>
            <p:cNvSpPr txBox="1"/>
            <p:nvPr/>
          </p:nvSpPr>
          <p:spPr>
            <a:xfrm>
              <a:off x="406846" y="2286000"/>
              <a:ext cx="237744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rPr>
                <a:t>Low maturity → high maturity</a:t>
              </a:r>
            </a:p>
          </p:txBody>
        </p:sp>
      </p:grpSp>
      <p:grpSp>
        <p:nvGrpSpPr>
          <p:cNvPr id="4" name="Group 3">
            <a:extLst>
              <a:ext uri="{FF2B5EF4-FFF2-40B4-BE49-F238E27FC236}">
                <a16:creationId xmlns:a16="http://schemas.microsoft.com/office/drawing/2014/main" id="{A19B4BDC-749E-454E-A5D0-E2C377C63A8D}"/>
              </a:ext>
            </a:extLst>
          </p:cNvPr>
          <p:cNvGrpSpPr/>
          <p:nvPr/>
        </p:nvGrpSpPr>
        <p:grpSpPr>
          <a:xfrm>
            <a:off x="6644405" y="4714846"/>
            <a:ext cx="5301723" cy="1138126"/>
            <a:chOff x="635446" y="4765040"/>
            <a:chExt cx="5257800" cy="1138126"/>
          </a:xfrm>
        </p:grpSpPr>
        <p:sp>
          <p:nvSpPr>
            <p:cNvPr id="170" name="TextBox 169">
              <a:extLst>
                <a:ext uri="{FF2B5EF4-FFF2-40B4-BE49-F238E27FC236}">
                  <a16:creationId xmlns:a16="http://schemas.microsoft.com/office/drawing/2014/main" id="{A76EC001-FF6C-E29F-0642-D09154E1AD8F}"/>
                </a:ext>
              </a:extLst>
            </p:cNvPr>
            <p:cNvSpPr txBox="1"/>
            <p:nvPr/>
          </p:nvSpPr>
          <p:spPr>
            <a:xfrm>
              <a:off x="635446" y="4765040"/>
              <a:ext cx="525780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READING THE RESULTS</a:t>
              </a:r>
            </a:p>
          </p:txBody>
        </p:sp>
        <p:sp>
          <p:nvSpPr>
            <p:cNvPr id="172" name="TextBox 171">
              <a:extLst>
                <a:ext uri="{FF2B5EF4-FFF2-40B4-BE49-F238E27FC236}">
                  <a16:creationId xmlns:a16="http://schemas.microsoft.com/office/drawing/2014/main" id="{D74B9B09-318D-9356-BC73-FB49BACD44F2}"/>
                </a:ext>
              </a:extLst>
            </p:cNvPr>
            <p:cNvSpPr txBox="1"/>
            <p:nvPr/>
          </p:nvSpPr>
          <p:spPr>
            <a:xfrm>
              <a:off x="635446" y="5041392"/>
              <a:ext cx="5257800" cy="86177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a:pPr>
              <a:r>
                <a:rPr kumimoji="0" sz="14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Scale matters. </a:t>
              </a: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With more data, budget and specialist talent to integrate fraud operations, larger institutions are better placed to reach the upper tiers, suggesting that maturity still depends heavily on the resources an organization can commit.</a:t>
              </a:r>
              <a:endParaRPr kumimoji="0" sz="14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sp>
        <p:nvSpPr>
          <p:cNvPr id="174" name="Rectangle 173">
            <a:extLst>
              <a:ext uri="{FF2B5EF4-FFF2-40B4-BE49-F238E27FC236}">
                <a16:creationId xmlns:a16="http://schemas.microsoft.com/office/drawing/2014/main" id="{10627AD5-ADF2-C3C9-5B6B-CBE1258311C3}"/>
              </a:ext>
            </a:extLst>
          </p:cNvPr>
          <p:cNvSpPr/>
          <p:nvPr/>
        </p:nvSpPr>
        <p:spPr>
          <a:xfrm>
            <a:off x="320040" y="6175067"/>
            <a:ext cx="11548872" cy="50292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lIns="36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6BC25"/>
                </a:solidFill>
                <a:effectLst/>
                <a:uLnTx/>
                <a:uFillTx/>
                <a:latin typeface="Segoe UI" panose="020B0502040204020203" pitchFamily="34" charset="0"/>
                <a:ea typeface="+mn-ea"/>
                <a:cs typeface="Segoe UI" panose="020B0502040204020203" pitchFamily="34" charset="0"/>
                <a:sym typeface="Arial"/>
              </a:rPr>
              <a:t>WHAT IT MEANS  </a:t>
            </a:r>
            <a:r>
              <a:rPr kumimoji="0" lang="en-US" sz="13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Confidence is high, but priorities are shifting. What leaders rely on today is not what they plan to rely on next.</a:t>
            </a:r>
          </a:p>
        </p:txBody>
      </p:sp>
      <p:sp>
        <p:nvSpPr>
          <p:cNvPr id="44" name="Rectangle 43">
            <a:extLst>
              <a:ext uri="{FF2B5EF4-FFF2-40B4-BE49-F238E27FC236}">
                <a16:creationId xmlns:a16="http://schemas.microsoft.com/office/drawing/2014/main" id="{1ABF5886-849C-6275-EA75-BC2606059543}"/>
              </a:ext>
            </a:extLst>
          </p:cNvPr>
          <p:cNvSpPr/>
          <p:nvPr/>
        </p:nvSpPr>
        <p:spPr>
          <a:xfrm>
            <a:off x="6285886" y="2082080"/>
            <a:ext cx="2743200" cy="220590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8" name="TextBox 47">
            <a:extLst>
              <a:ext uri="{FF2B5EF4-FFF2-40B4-BE49-F238E27FC236}">
                <a16:creationId xmlns:a16="http://schemas.microsoft.com/office/drawing/2014/main" id="{9D4DEC1F-A23C-1CAC-11CE-75149F5E21E4}"/>
              </a:ext>
            </a:extLst>
          </p:cNvPr>
          <p:cNvSpPr txBox="1"/>
          <p:nvPr/>
        </p:nvSpPr>
        <p:spPr>
          <a:xfrm>
            <a:off x="7253573" y="2396318"/>
            <a:ext cx="1285240" cy="26161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dirty="0">
                <a:ln>
                  <a:noFill/>
                </a:ln>
                <a:solidFill>
                  <a:srgbClr val="43B02A"/>
                </a:solidFill>
                <a:effectLst/>
                <a:uLnTx/>
                <a:uFillTx/>
                <a:latin typeface="Segoe UI" panose="020B0502040204020203" pitchFamily="34" charset="0"/>
                <a:ea typeface="+mn-ea"/>
                <a:cs typeface="Segoe UI" panose="020B0502040204020203" pitchFamily="34" charset="0"/>
                <a:sym typeface="Arial"/>
              </a:rPr>
              <a:t>BANKING </a:t>
            </a:r>
            <a:endParaRPr kumimoji="0" lang="en-CA" sz="1700" b="0" i="0" u="none" strike="noStrike" kern="1200" cap="none" spc="0" normalizeH="0" baseline="0" noProof="0" dirty="0">
              <a:ln>
                <a:noFill/>
              </a:ln>
              <a:solidFill>
                <a:srgbClr val="43B02A"/>
              </a:solidFill>
              <a:effectLst/>
              <a:uLnTx/>
              <a:uFillTx/>
              <a:latin typeface="Segoe UI" panose="020B0502040204020203" pitchFamily="34" charset="0"/>
              <a:ea typeface="+mn-ea"/>
              <a:cs typeface="Segoe UI" panose="020B0502040204020203" pitchFamily="34" charset="0"/>
              <a:sym typeface="Arial"/>
            </a:endParaRPr>
          </a:p>
        </p:txBody>
      </p:sp>
      <p:sp>
        <p:nvSpPr>
          <p:cNvPr id="50" name="TextBox 49">
            <a:extLst>
              <a:ext uri="{FF2B5EF4-FFF2-40B4-BE49-F238E27FC236}">
                <a16:creationId xmlns:a16="http://schemas.microsoft.com/office/drawing/2014/main" id="{7E4A6F62-DF14-AE9C-32C0-0ED9E4DD4EF4}"/>
              </a:ext>
            </a:extLst>
          </p:cNvPr>
          <p:cNvSpPr txBox="1"/>
          <p:nvPr/>
        </p:nvSpPr>
        <p:spPr>
          <a:xfrm>
            <a:off x="6426934" y="2901698"/>
            <a:ext cx="1371600" cy="692497"/>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4500" b="1" i="0" u="none" strike="noStrike" kern="1200" cap="none" spc="0" normalizeH="0" baseline="0" noProof="0" dirty="0">
                <a:ln>
                  <a:noFill/>
                </a:ln>
                <a:solidFill>
                  <a:srgbClr val="43B02A"/>
                </a:solidFill>
                <a:effectLst/>
                <a:uLnTx/>
                <a:uFillTx/>
                <a:latin typeface="Segoe UI" panose="020B0502040204020203" pitchFamily="34" charset="0"/>
                <a:ea typeface="+mn-ea"/>
                <a:cs typeface="Segoe UI" panose="020B0502040204020203" pitchFamily="34" charset="0"/>
                <a:sym typeface="Arial"/>
              </a:rPr>
              <a:t>85%</a:t>
            </a:r>
          </a:p>
        </p:txBody>
      </p:sp>
      <p:sp>
        <p:nvSpPr>
          <p:cNvPr id="52" name="TextBox 51">
            <a:extLst>
              <a:ext uri="{FF2B5EF4-FFF2-40B4-BE49-F238E27FC236}">
                <a16:creationId xmlns:a16="http://schemas.microsoft.com/office/drawing/2014/main" id="{64F0F000-03AE-7C91-C075-76E7FCED7477}"/>
              </a:ext>
            </a:extLst>
          </p:cNvPr>
          <p:cNvSpPr txBox="1"/>
          <p:nvPr/>
        </p:nvSpPr>
        <p:spPr>
          <a:xfrm>
            <a:off x="7634141" y="3015944"/>
            <a:ext cx="1371600" cy="461665"/>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1500" b="1"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Integrated </a:t>
            </a:r>
            <a:r>
              <a:rPr kumimoji="0" lang="en-US" sz="15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or</a:t>
            </a:r>
            <a:r>
              <a:rPr kumimoji="0" lang="en-US" sz="1500" b="1"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 Advanced</a:t>
            </a:r>
          </a:p>
        </p:txBody>
      </p:sp>
      <p:sp>
        <p:nvSpPr>
          <p:cNvPr id="54" name="TextBox 53">
            <a:extLst>
              <a:ext uri="{FF2B5EF4-FFF2-40B4-BE49-F238E27FC236}">
                <a16:creationId xmlns:a16="http://schemas.microsoft.com/office/drawing/2014/main" id="{6CCFA096-A12A-FF04-B255-5D14F3303DE0}"/>
              </a:ext>
            </a:extLst>
          </p:cNvPr>
          <p:cNvSpPr txBox="1"/>
          <p:nvPr/>
        </p:nvSpPr>
        <p:spPr>
          <a:xfrm>
            <a:off x="6446390" y="3674991"/>
            <a:ext cx="2464146"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Nearly half (48%) of banking respondents describe their program as </a:t>
            </a:r>
            <a:r>
              <a:rPr kumimoji="0" lang="en-US"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integrated</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and 37% selected </a:t>
            </a:r>
            <a:r>
              <a:rPr kumimoji="0" lang="en-US"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advanced</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t>
            </a:r>
          </a:p>
        </p:txBody>
      </p:sp>
      <p:sp>
        <p:nvSpPr>
          <p:cNvPr id="56" name="Rectangle 55">
            <a:extLst>
              <a:ext uri="{FF2B5EF4-FFF2-40B4-BE49-F238E27FC236}">
                <a16:creationId xmlns:a16="http://schemas.microsoft.com/office/drawing/2014/main" id="{8A755762-75D6-2298-171B-AD0291A4D5B7}"/>
              </a:ext>
            </a:extLst>
          </p:cNvPr>
          <p:cNvSpPr/>
          <p:nvPr/>
        </p:nvSpPr>
        <p:spPr>
          <a:xfrm>
            <a:off x="9166246" y="2082080"/>
            <a:ext cx="2743200" cy="220590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60" name="TextBox 59">
            <a:extLst>
              <a:ext uri="{FF2B5EF4-FFF2-40B4-BE49-F238E27FC236}">
                <a16:creationId xmlns:a16="http://schemas.microsoft.com/office/drawing/2014/main" id="{AABA58D4-7927-47CA-5B7A-F894B32AF6C6}"/>
              </a:ext>
            </a:extLst>
          </p:cNvPr>
          <p:cNvSpPr txBox="1"/>
          <p:nvPr/>
        </p:nvSpPr>
        <p:spPr>
          <a:xfrm>
            <a:off x="10133933" y="2396318"/>
            <a:ext cx="1285240" cy="26161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INSURANCE </a:t>
            </a:r>
            <a:endParaRPr kumimoji="0" lang="en-CA" sz="1700" b="0"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sp>
        <p:nvSpPr>
          <p:cNvPr id="62" name="TextBox 61">
            <a:extLst>
              <a:ext uri="{FF2B5EF4-FFF2-40B4-BE49-F238E27FC236}">
                <a16:creationId xmlns:a16="http://schemas.microsoft.com/office/drawing/2014/main" id="{D3A4BD59-CFA7-ABB8-95F5-1DC130F027E1}"/>
              </a:ext>
            </a:extLst>
          </p:cNvPr>
          <p:cNvSpPr txBox="1"/>
          <p:nvPr/>
        </p:nvSpPr>
        <p:spPr>
          <a:xfrm>
            <a:off x="9307294" y="2901698"/>
            <a:ext cx="1371600" cy="692497"/>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4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72%</a:t>
            </a:r>
          </a:p>
        </p:txBody>
      </p:sp>
      <p:sp>
        <p:nvSpPr>
          <p:cNvPr id="64" name="TextBox 63">
            <a:extLst>
              <a:ext uri="{FF2B5EF4-FFF2-40B4-BE49-F238E27FC236}">
                <a16:creationId xmlns:a16="http://schemas.microsoft.com/office/drawing/2014/main" id="{8F66A6F0-1F04-B7D5-2057-01994907E346}"/>
              </a:ext>
            </a:extLst>
          </p:cNvPr>
          <p:cNvSpPr txBox="1"/>
          <p:nvPr/>
        </p:nvSpPr>
        <p:spPr>
          <a:xfrm>
            <a:off x="10514501" y="3015944"/>
            <a:ext cx="1371600" cy="461665"/>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Integrated</a:t>
            </a: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t>
            </a:r>
            <a:r>
              <a:rPr kumimoji="0" sz="15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or</a:t>
            </a: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t>
            </a:r>
            <a:r>
              <a:rPr kumimoji="0" lang="en-US"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a:t>
            </a:r>
            <a:r>
              <a:rPr kumimoji="0" sz="1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dvanced</a:t>
            </a:r>
          </a:p>
        </p:txBody>
      </p:sp>
      <p:sp>
        <p:nvSpPr>
          <p:cNvPr id="66" name="TextBox 65">
            <a:extLst>
              <a:ext uri="{FF2B5EF4-FFF2-40B4-BE49-F238E27FC236}">
                <a16:creationId xmlns:a16="http://schemas.microsoft.com/office/drawing/2014/main" id="{9207EF7A-340B-DE12-AAA3-72945B411EB9}"/>
              </a:ext>
            </a:extLst>
          </p:cNvPr>
          <p:cNvSpPr txBox="1"/>
          <p:nvPr/>
        </p:nvSpPr>
        <p:spPr>
          <a:xfrm>
            <a:off x="9326750" y="3674991"/>
            <a:ext cx="2464146"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40% of insurance respondents describe their program as </a:t>
            </a:r>
            <a:r>
              <a:rPr kumimoji="0" lang="en-US"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advanced</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ahead of the 32% who selected </a:t>
            </a:r>
            <a:r>
              <a:rPr kumimoji="0" lang="en-US"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integrated</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t>
            </a:r>
          </a:p>
        </p:txBody>
      </p:sp>
      <p:pic>
        <p:nvPicPr>
          <p:cNvPr id="187" name="Picture 186">
            <a:extLst>
              <a:ext uri="{FF2B5EF4-FFF2-40B4-BE49-F238E27FC236}">
                <a16:creationId xmlns:a16="http://schemas.microsoft.com/office/drawing/2014/main" id="{83A41D65-DE08-C696-70B4-21DEBA0524E1}"/>
              </a:ext>
            </a:extLst>
          </p:cNvPr>
          <p:cNvPicPr>
            <a:picLocks noChangeAspect="1"/>
          </p:cNvPicPr>
          <p:nvPr/>
        </p:nvPicPr>
        <p:blipFill>
          <a:blip r:embed="rId3"/>
          <a:stretch>
            <a:fillRect/>
          </a:stretch>
        </p:blipFill>
        <p:spPr>
          <a:xfrm>
            <a:off x="6440014" y="2178335"/>
            <a:ext cx="720000" cy="720000"/>
          </a:xfrm>
          <a:prstGeom prst="rect">
            <a:avLst/>
          </a:prstGeom>
        </p:spPr>
      </p:pic>
      <p:sp>
        <p:nvSpPr>
          <p:cNvPr id="191" name="Rectangle 190">
            <a:extLst>
              <a:ext uri="{FF2B5EF4-FFF2-40B4-BE49-F238E27FC236}">
                <a16:creationId xmlns:a16="http://schemas.microsoft.com/office/drawing/2014/main" id="{6C715FA2-3CA1-8AFE-2EA1-975F8065BE9D}"/>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OPERATING MODEL TRANSFORMATION</a:t>
            </a:r>
          </a:p>
        </p:txBody>
      </p:sp>
      <p:grpSp>
        <p:nvGrpSpPr>
          <p:cNvPr id="193" name="Group 192">
            <a:extLst>
              <a:ext uri="{FF2B5EF4-FFF2-40B4-BE49-F238E27FC236}">
                <a16:creationId xmlns:a16="http://schemas.microsoft.com/office/drawing/2014/main" id="{BD5927B5-A3C9-91F3-7570-0208CA27E2EA}"/>
              </a:ext>
            </a:extLst>
          </p:cNvPr>
          <p:cNvGrpSpPr/>
          <p:nvPr/>
        </p:nvGrpSpPr>
        <p:grpSpPr>
          <a:xfrm>
            <a:off x="9320374" y="2178335"/>
            <a:ext cx="720000" cy="720000"/>
            <a:chOff x="3319272" y="3429000"/>
            <a:chExt cx="329184" cy="329184"/>
          </a:xfrm>
        </p:grpSpPr>
        <p:sp>
          <p:nvSpPr>
            <p:cNvPr id="194" name="Rounded Rectangle 42">
              <a:extLst>
                <a:ext uri="{FF2B5EF4-FFF2-40B4-BE49-F238E27FC236}">
                  <a16:creationId xmlns:a16="http://schemas.microsoft.com/office/drawing/2014/main" id="{2D4AF295-ADD9-0085-05EF-A795E2EE42BB}"/>
                </a:ext>
              </a:extLst>
            </p:cNvPr>
            <p:cNvSpPr/>
            <p:nvPr/>
          </p:nvSpPr>
          <p:spPr>
            <a:xfrm>
              <a:off x="3319272" y="3429000"/>
              <a:ext cx="329184" cy="329184"/>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95" name="Picture 194" descr="ic_shield_w.png">
              <a:extLst>
                <a:ext uri="{FF2B5EF4-FFF2-40B4-BE49-F238E27FC236}">
                  <a16:creationId xmlns:a16="http://schemas.microsoft.com/office/drawing/2014/main" id="{1BF3CE91-F5EB-12CC-DD22-D72ACEDB470F}"/>
                </a:ext>
              </a:extLst>
            </p:cNvPr>
            <p:cNvPicPr>
              <a:picLocks noChangeAspect="1"/>
            </p:cNvPicPr>
            <p:nvPr/>
          </p:nvPicPr>
          <p:blipFill>
            <a:blip r:embed="rId4"/>
            <a:stretch>
              <a:fillRect/>
            </a:stretch>
          </p:blipFill>
          <p:spPr>
            <a:xfrm>
              <a:off x="3391692" y="3501420"/>
              <a:ext cx="184343" cy="184343"/>
            </a:xfrm>
            <a:prstGeom prst="rect">
              <a:avLst/>
            </a:prstGeom>
          </p:spPr>
        </p:pic>
      </p:grpSp>
      <p:sp>
        <p:nvSpPr>
          <p:cNvPr id="6" name="Chevron 19">
            <a:extLst>
              <a:ext uri="{FF2B5EF4-FFF2-40B4-BE49-F238E27FC236}">
                <a16:creationId xmlns:a16="http://schemas.microsoft.com/office/drawing/2014/main" id="{00BE6EE0-B4F4-2331-3AC8-F49B42356DCF}"/>
              </a:ext>
            </a:extLst>
          </p:cNvPr>
          <p:cNvSpPr/>
          <p:nvPr/>
        </p:nvSpPr>
        <p:spPr>
          <a:xfrm>
            <a:off x="6203206" y="4933187"/>
            <a:ext cx="243184" cy="701444"/>
          </a:xfrm>
          <a:prstGeom prst="chevr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8" name="TextBox 7">
            <a:extLst>
              <a:ext uri="{FF2B5EF4-FFF2-40B4-BE49-F238E27FC236}">
                <a16:creationId xmlns:a16="http://schemas.microsoft.com/office/drawing/2014/main" id="{2039AEB9-1ED7-17DF-5E81-FDC92B6CE4D4}"/>
              </a:ext>
            </a:extLst>
          </p:cNvPr>
          <p:cNvSpPr txBox="1"/>
          <p:nvPr/>
        </p:nvSpPr>
        <p:spPr>
          <a:xfrm>
            <a:off x="6285886" y="1803134"/>
            <a:ext cx="525780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SECTOR BREAKDOWN</a:t>
            </a:r>
            <a:endParaRPr kumimoji="0" sz="15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endParaRPr>
          </a:p>
        </p:txBody>
      </p:sp>
      <p:grpSp>
        <p:nvGrpSpPr>
          <p:cNvPr id="9" name="Group 8">
            <a:extLst>
              <a:ext uri="{FF2B5EF4-FFF2-40B4-BE49-F238E27FC236}">
                <a16:creationId xmlns:a16="http://schemas.microsoft.com/office/drawing/2014/main" id="{D6D8964B-B4D2-E22A-B12B-457A07C38160}"/>
              </a:ext>
            </a:extLst>
          </p:cNvPr>
          <p:cNvGrpSpPr/>
          <p:nvPr/>
        </p:nvGrpSpPr>
        <p:grpSpPr>
          <a:xfrm>
            <a:off x="249638" y="464705"/>
            <a:ext cx="11521440" cy="585793"/>
            <a:chOff x="249638" y="464705"/>
            <a:chExt cx="11521440" cy="585793"/>
          </a:xfrm>
        </p:grpSpPr>
        <p:sp>
          <p:nvSpPr>
            <p:cNvPr id="10" name="Text 22">
              <a:extLst>
                <a:ext uri="{FF2B5EF4-FFF2-40B4-BE49-F238E27FC236}">
                  <a16:creationId xmlns:a16="http://schemas.microsoft.com/office/drawing/2014/main" id="{E4171AD6-9372-123A-A331-3718D6F1E587}"/>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THE STARTING POINT</a:t>
              </a:r>
            </a:p>
          </p:txBody>
        </p:sp>
        <p:sp>
          <p:nvSpPr>
            <p:cNvPr id="11" name="TextBox 10">
              <a:extLst>
                <a:ext uri="{FF2B5EF4-FFF2-40B4-BE49-F238E27FC236}">
                  <a16:creationId xmlns:a16="http://schemas.microsoft.com/office/drawing/2014/main" id="{DA1862B9-764F-B34C-D5CF-2639782DB83B}"/>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11111"/>
                  </a:solidFill>
                  <a:effectLst/>
                  <a:uLnTx/>
                  <a:uFillTx/>
                  <a:latin typeface="Segoe UI" panose="020B0502040204020203" pitchFamily="34" charset="0"/>
                  <a:ea typeface="+mn-ea"/>
                  <a:cs typeface="Segoe UI" panose="020B0502040204020203" pitchFamily="34" charset="0"/>
                  <a:sym typeface="Arial"/>
                </a:rPr>
                <a:t>82% of fraud programs report strong maturity, but scale remains a key differentiator</a:t>
              </a:r>
            </a:p>
          </p:txBody>
        </p:sp>
      </p:grpSp>
      <p:sp>
        <p:nvSpPr>
          <p:cNvPr id="7" name="Rectangle 6">
            <a:extLst>
              <a:ext uri="{FF2B5EF4-FFF2-40B4-BE49-F238E27FC236}">
                <a16:creationId xmlns:a16="http://schemas.microsoft.com/office/drawing/2014/main" id="{BADD6BF1-6189-D48A-A1C3-B519C0382917}"/>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D</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1464127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9F5F9-61EC-529C-A855-DD31A7C82010}"/>
            </a:ext>
          </a:extLst>
        </p:cNvPr>
        <p:cNvGrpSpPr/>
        <p:nvPr/>
      </p:nvGrpSpPr>
      <p:grpSpPr>
        <a:xfrm>
          <a:off x="0" y="0"/>
          <a:ext cx="0" cy="0"/>
          <a:chOff x="0" y="0"/>
          <a:chExt cx="0" cy="0"/>
        </a:xfrm>
      </p:grpSpPr>
      <p:sp>
        <p:nvSpPr>
          <p:cNvPr id="153" name="Rectangle 152">
            <a:extLst>
              <a:ext uri="{FF2B5EF4-FFF2-40B4-BE49-F238E27FC236}">
                <a16:creationId xmlns:a16="http://schemas.microsoft.com/office/drawing/2014/main" id="{6FEC4548-FA50-598E-CBA4-7BEE6FB67DBA}"/>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OPERATING MODEL TRANSFORMATION</a:t>
            </a:r>
          </a:p>
        </p:txBody>
      </p:sp>
      <p:sp>
        <p:nvSpPr>
          <p:cNvPr id="7" name="Rounded Rectangle 6">
            <a:extLst>
              <a:ext uri="{FF2B5EF4-FFF2-40B4-BE49-F238E27FC236}">
                <a16:creationId xmlns:a16="http://schemas.microsoft.com/office/drawing/2014/main" id="{4C7F93B9-389B-9B7F-54DE-B3483249392E}"/>
              </a:ext>
            </a:extLst>
          </p:cNvPr>
          <p:cNvSpPr/>
          <p:nvPr/>
        </p:nvSpPr>
        <p:spPr>
          <a:xfrm>
            <a:off x="320040" y="1853694"/>
            <a:ext cx="5440680" cy="4789529"/>
          </a:xfrm>
          <a:prstGeom prst="roundRect">
            <a:avLst>
              <a:gd name="adj" fmla="val 3000"/>
            </a:avLst>
          </a:prstGeom>
          <a:solidFill>
            <a:srgbClr val="FFFFFF"/>
          </a:solid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 name="TextBox 7">
            <a:extLst>
              <a:ext uri="{FF2B5EF4-FFF2-40B4-BE49-F238E27FC236}">
                <a16:creationId xmlns:a16="http://schemas.microsoft.com/office/drawing/2014/main" id="{6AE030A3-0941-2778-52F7-A64C9173DAD4}"/>
              </a:ext>
            </a:extLst>
          </p:cNvPr>
          <p:cNvSpPr txBox="1"/>
          <p:nvPr/>
        </p:nvSpPr>
        <p:spPr>
          <a:xfrm>
            <a:off x="502920" y="1933012"/>
            <a:ext cx="507492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FOCUS TODAY VS IN THREE YEARS</a:t>
            </a:r>
            <a:endParaRPr kumimoji="0" sz="13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grpSp>
        <p:nvGrpSpPr>
          <p:cNvPr id="9" name="Group 8">
            <a:extLst>
              <a:ext uri="{FF2B5EF4-FFF2-40B4-BE49-F238E27FC236}">
                <a16:creationId xmlns:a16="http://schemas.microsoft.com/office/drawing/2014/main" id="{C84B57A7-654D-319F-1842-AFB4ED7A6988}"/>
              </a:ext>
            </a:extLst>
          </p:cNvPr>
          <p:cNvGrpSpPr/>
          <p:nvPr/>
        </p:nvGrpSpPr>
        <p:grpSpPr>
          <a:xfrm>
            <a:off x="3815714" y="5542987"/>
            <a:ext cx="1819900" cy="214997"/>
            <a:chOff x="3749039" y="5326380"/>
            <a:chExt cx="1819900" cy="214997"/>
          </a:xfrm>
        </p:grpSpPr>
        <p:sp>
          <p:nvSpPr>
            <p:cNvPr id="10" name="TextBox 9">
              <a:extLst>
                <a:ext uri="{FF2B5EF4-FFF2-40B4-BE49-F238E27FC236}">
                  <a16:creationId xmlns:a16="http://schemas.microsoft.com/office/drawing/2014/main" id="{0DC383D8-BC4A-580F-12DB-69474EE9CCD7}"/>
                </a:ext>
              </a:extLst>
            </p:cNvPr>
            <p:cNvSpPr txBox="1"/>
            <p:nvPr/>
          </p:nvSpPr>
          <p:spPr>
            <a:xfrm>
              <a:off x="3749039" y="5372100"/>
              <a:ext cx="731520" cy="169277"/>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13" name="TextBox 12">
              <a:extLst>
                <a:ext uri="{FF2B5EF4-FFF2-40B4-BE49-F238E27FC236}">
                  <a16:creationId xmlns:a16="http://schemas.microsoft.com/office/drawing/2014/main" id="{0FE46E98-FA47-7087-C6AD-12A318724BFB}"/>
                </a:ext>
              </a:extLst>
            </p:cNvPr>
            <p:cNvSpPr txBox="1"/>
            <p:nvPr/>
          </p:nvSpPr>
          <p:spPr>
            <a:xfrm>
              <a:off x="4306581" y="5326380"/>
              <a:ext cx="1262358" cy="15388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lang="en-US"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Change in 3 Years</a:t>
              </a:r>
              <a:endParaRPr kumimoji="0"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grpSp>
      <p:grpSp>
        <p:nvGrpSpPr>
          <p:cNvPr id="44" name="Group 43">
            <a:extLst>
              <a:ext uri="{FF2B5EF4-FFF2-40B4-BE49-F238E27FC236}">
                <a16:creationId xmlns:a16="http://schemas.microsoft.com/office/drawing/2014/main" id="{DA367EC8-BCD9-9F07-12C9-D03C66747FDE}"/>
              </a:ext>
            </a:extLst>
          </p:cNvPr>
          <p:cNvGrpSpPr/>
          <p:nvPr/>
        </p:nvGrpSpPr>
        <p:grpSpPr>
          <a:xfrm>
            <a:off x="661034" y="6363679"/>
            <a:ext cx="4709161" cy="153888"/>
            <a:chOff x="594359" y="6086112"/>
            <a:chExt cx="4709161" cy="153888"/>
          </a:xfrm>
        </p:grpSpPr>
        <p:sp>
          <p:nvSpPr>
            <p:cNvPr id="46" name="Rounded Rectangle 38">
              <a:extLst>
                <a:ext uri="{FF2B5EF4-FFF2-40B4-BE49-F238E27FC236}">
                  <a16:creationId xmlns:a16="http://schemas.microsoft.com/office/drawing/2014/main" id="{481466AC-D827-9624-25F3-034BD08AE971}"/>
                </a:ext>
              </a:extLst>
            </p:cNvPr>
            <p:cNvSpPr/>
            <p:nvPr/>
          </p:nvSpPr>
          <p:spPr>
            <a:xfrm>
              <a:off x="594359" y="6103620"/>
              <a:ext cx="128016" cy="118872"/>
            </a:xfrm>
            <a:prstGeom prst="roundRect">
              <a:avLst>
                <a:gd name="adj" fmla="val 30000"/>
              </a:avLst>
            </a:prstGeom>
            <a:solidFill>
              <a:srgbClr val="C8CB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8" name="TextBox 47">
              <a:extLst>
                <a:ext uri="{FF2B5EF4-FFF2-40B4-BE49-F238E27FC236}">
                  <a16:creationId xmlns:a16="http://schemas.microsoft.com/office/drawing/2014/main" id="{DE8638C9-D387-0619-AA9A-4BF42FBE8A9B}"/>
                </a:ext>
              </a:extLst>
            </p:cNvPr>
            <p:cNvSpPr txBox="1"/>
            <p:nvPr/>
          </p:nvSpPr>
          <p:spPr>
            <a:xfrm>
              <a:off x="795528" y="6086112"/>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Other</a:t>
              </a:r>
              <a:endParaRPr kumimoji="0" sz="10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endParaRPr>
            </a:p>
          </p:txBody>
        </p:sp>
        <p:sp>
          <p:nvSpPr>
            <p:cNvPr id="49" name="TextBox 48">
              <a:extLst>
                <a:ext uri="{FF2B5EF4-FFF2-40B4-BE49-F238E27FC236}">
                  <a16:creationId xmlns:a16="http://schemas.microsoft.com/office/drawing/2014/main" id="{961233FC-9E78-97A8-AD0F-CE5D720A7588}"/>
                </a:ext>
              </a:extLst>
            </p:cNvPr>
            <p:cNvSpPr txBox="1"/>
            <p:nvPr/>
          </p:nvSpPr>
          <p:spPr>
            <a:xfrm>
              <a:off x="3749039" y="608611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TextBox 49">
              <a:extLst>
                <a:ext uri="{FF2B5EF4-FFF2-40B4-BE49-F238E27FC236}">
                  <a16:creationId xmlns:a16="http://schemas.microsoft.com/office/drawing/2014/main" id="{C21B3227-8C03-4DF6-8C6D-61FAC4A698F3}"/>
                </a:ext>
              </a:extLst>
            </p:cNvPr>
            <p:cNvSpPr txBox="1"/>
            <p:nvPr/>
          </p:nvSpPr>
          <p:spPr>
            <a:xfrm>
              <a:off x="4572000" y="608611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−19% </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a:t>
              </a:r>
            </a:p>
          </p:txBody>
        </p:sp>
      </p:grpSp>
      <p:grpSp>
        <p:nvGrpSpPr>
          <p:cNvPr id="52" name="Group 51">
            <a:extLst>
              <a:ext uri="{FF2B5EF4-FFF2-40B4-BE49-F238E27FC236}">
                <a16:creationId xmlns:a16="http://schemas.microsoft.com/office/drawing/2014/main" id="{AD75951C-4161-47D2-72A6-1DB23F6DEFED}"/>
              </a:ext>
            </a:extLst>
          </p:cNvPr>
          <p:cNvGrpSpPr/>
          <p:nvPr/>
        </p:nvGrpSpPr>
        <p:grpSpPr>
          <a:xfrm rot="20166160">
            <a:off x="1477186" y="2447796"/>
            <a:ext cx="2933725" cy="2933725"/>
            <a:chOff x="619505" y="2055114"/>
            <a:chExt cx="2464308" cy="2464308"/>
          </a:xfrm>
        </p:grpSpPr>
        <p:sp>
          <p:nvSpPr>
            <p:cNvPr id="132" name="Arc 41%">
              <a:extLst>
                <a:ext uri="{FF2B5EF4-FFF2-40B4-BE49-F238E27FC236}">
                  <a16:creationId xmlns:a16="http://schemas.microsoft.com/office/drawing/2014/main" id="{4ED500DC-D60E-91A1-2596-0903AF70166E}"/>
                </a:ext>
              </a:extLst>
            </p:cNvPr>
            <p:cNvSpPr/>
            <p:nvPr/>
          </p:nvSpPr>
          <p:spPr>
            <a:xfrm>
              <a:off x="619505" y="2055114"/>
              <a:ext cx="2464308" cy="2464308"/>
            </a:xfrm>
            <a:prstGeom prst="blockArc">
              <a:avLst>
                <a:gd name="adj1" fmla="val 16236000"/>
                <a:gd name="adj2" fmla="val 3419999"/>
                <a:gd name="adj3" fmla="val 15306"/>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3" name="Arc 18%">
              <a:extLst>
                <a:ext uri="{FF2B5EF4-FFF2-40B4-BE49-F238E27FC236}">
                  <a16:creationId xmlns:a16="http://schemas.microsoft.com/office/drawing/2014/main" id="{8E2850BB-69FE-06F4-5D8F-A8E541BEAE87}"/>
                </a:ext>
              </a:extLst>
            </p:cNvPr>
            <p:cNvSpPr/>
            <p:nvPr/>
          </p:nvSpPr>
          <p:spPr>
            <a:xfrm>
              <a:off x="619505" y="2055114"/>
              <a:ext cx="2464308" cy="2464308"/>
            </a:xfrm>
            <a:prstGeom prst="blockArc">
              <a:avLst>
                <a:gd name="adj1" fmla="val 3492000"/>
                <a:gd name="adj2" fmla="val 7308000"/>
                <a:gd name="adj3" fmla="val 15306"/>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4" name="Arc 12%">
              <a:extLst>
                <a:ext uri="{FF2B5EF4-FFF2-40B4-BE49-F238E27FC236}">
                  <a16:creationId xmlns:a16="http://schemas.microsoft.com/office/drawing/2014/main" id="{6D6F45F6-41D2-86FB-6846-FCF8A283ED9F}"/>
                </a:ext>
              </a:extLst>
            </p:cNvPr>
            <p:cNvSpPr/>
            <p:nvPr/>
          </p:nvSpPr>
          <p:spPr>
            <a:xfrm>
              <a:off x="619505" y="2055114"/>
              <a:ext cx="2464308" cy="2464308"/>
            </a:xfrm>
            <a:prstGeom prst="blockArc">
              <a:avLst>
                <a:gd name="adj1" fmla="val 7380000"/>
                <a:gd name="adj2" fmla="val 9900000"/>
                <a:gd name="adj3" fmla="val 15306"/>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5" name="Arc 29%">
              <a:extLst>
                <a:ext uri="{FF2B5EF4-FFF2-40B4-BE49-F238E27FC236}">
                  <a16:creationId xmlns:a16="http://schemas.microsoft.com/office/drawing/2014/main" id="{C4975829-DC2C-5C8F-8E5A-9C5957E8EA45}"/>
                </a:ext>
              </a:extLst>
            </p:cNvPr>
            <p:cNvSpPr/>
            <p:nvPr/>
          </p:nvSpPr>
          <p:spPr>
            <a:xfrm>
              <a:off x="619505" y="2055114"/>
              <a:ext cx="2464308" cy="2464308"/>
            </a:xfrm>
            <a:prstGeom prst="blockArc">
              <a:avLst>
                <a:gd name="adj1" fmla="val 9971999"/>
                <a:gd name="adj2" fmla="val 16163999"/>
                <a:gd name="adj3" fmla="val 15306"/>
              </a:avLst>
            </a:prstGeom>
            <a:solidFill>
              <a:srgbClr val="C8CB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grpSp>
        <p:nvGrpSpPr>
          <p:cNvPr id="53" name="Group 52">
            <a:extLst>
              <a:ext uri="{FF2B5EF4-FFF2-40B4-BE49-F238E27FC236}">
                <a16:creationId xmlns:a16="http://schemas.microsoft.com/office/drawing/2014/main" id="{12F0CAFF-54B0-BA65-CCEB-EC05BBA5CF97}"/>
              </a:ext>
            </a:extLst>
          </p:cNvPr>
          <p:cNvGrpSpPr/>
          <p:nvPr/>
        </p:nvGrpSpPr>
        <p:grpSpPr>
          <a:xfrm rot="90755">
            <a:off x="2152037" y="3122647"/>
            <a:ext cx="1584022" cy="1584022"/>
            <a:chOff x="1021840" y="2457450"/>
            <a:chExt cx="1659636" cy="1659636"/>
          </a:xfrm>
        </p:grpSpPr>
        <p:sp>
          <p:nvSpPr>
            <p:cNvPr id="128" name="Arc 34%">
              <a:extLst>
                <a:ext uri="{FF2B5EF4-FFF2-40B4-BE49-F238E27FC236}">
                  <a16:creationId xmlns:a16="http://schemas.microsoft.com/office/drawing/2014/main" id="{3BB6A91D-9C45-98DB-2C87-378E3E434901}"/>
                </a:ext>
              </a:extLst>
            </p:cNvPr>
            <p:cNvSpPr/>
            <p:nvPr/>
          </p:nvSpPr>
          <p:spPr>
            <a:xfrm>
              <a:off x="1021840" y="2457450"/>
              <a:ext cx="1659636" cy="1659636"/>
            </a:xfrm>
            <a:prstGeom prst="blockArc">
              <a:avLst>
                <a:gd name="adj1" fmla="val 16236000"/>
                <a:gd name="adj2" fmla="val 1907999"/>
                <a:gd name="adj3" fmla="val 21212"/>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9" name="Arc 10%">
              <a:extLst>
                <a:ext uri="{FF2B5EF4-FFF2-40B4-BE49-F238E27FC236}">
                  <a16:creationId xmlns:a16="http://schemas.microsoft.com/office/drawing/2014/main" id="{66D12488-C401-1566-217F-06EE70985891}"/>
                </a:ext>
              </a:extLst>
            </p:cNvPr>
            <p:cNvSpPr/>
            <p:nvPr/>
          </p:nvSpPr>
          <p:spPr>
            <a:xfrm>
              <a:off x="1021840" y="2457450"/>
              <a:ext cx="1659636" cy="1659636"/>
            </a:xfrm>
            <a:prstGeom prst="blockArc">
              <a:avLst>
                <a:gd name="adj1" fmla="val 1980000"/>
                <a:gd name="adj2" fmla="val 4067999"/>
                <a:gd name="adj3" fmla="val 21212"/>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0" name="Arc 20%">
              <a:extLst>
                <a:ext uri="{FF2B5EF4-FFF2-40B4-BE49-F238E27FC236}">
                  <a16:creationId xmlns:a16="http://schemas.microsoft.com/office/drawing/2014/main" id="{2E9EDB04-7897-5CCC-91B1-9E1F66004318}"/>
                </a:ext>
              </a:extLst>
            </p:cNvPr>
            <p:cNvSpPr/>
            <p:nvPr/>
          </p:nvSpPr>
          <p:spPr>
            <a:xfrm>
              <a:off x="1021840" y="2457450"/>
              <a:ext cx="1659636" cy="1659636"/>
            </a:xfrm>
            <a:prstGeom prst="blockArc">
              <a:avLst>
                <a:gd name="adj1" fmla="val 4140000"/>
                <a:gd name="adj2" fmla="val 8387999"/>
                <a:gd name="adj3" fmla="val 21212"/>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1" name="Arc 36%">
              <a:extLst>
                <a:ext uri="{FF2B5EF4-FFF2-40B4-BE49-F238E27FC236}">
                  <a16:creationId xmlns:a16="http://schemas.microsoft.com/office/drawing/2014/main" id="{6016305E-470D-FC2B-82DD-516FFCF743AA}"/>
                </a:ext>
              </a:extLst>
            </p:cNvPr>
            <p:cNvSpPr/>
            <p:nvPr/>
          </p:nvSpPr>
          <p:spPr>
            <a:xfrm>
              <a:off x="1021840" y="2457450"/>
              <a:ext cx="1659636" cy="1659636"/>
            </a:xfrm>
            <a:prstGeom prst="blockArc">
              <a:avLst>
                <a:gd name="adj1" fmla="val 8460000"/>
                <a:gd name="adj2" fmla="val 16163999"/>
                <a:gd name="adj3" fmla="val 21212"/>
              </a:avLst>
            </a:prstGeom>
            <a:solidFill>
              <a:srgbClr val="C8CB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sp>
        <p:nvSpPr>
          <p:cNvPr id="54" name="TextBox 53">
            <a:extLst>
              <a:ext uri="{FF2B5EF4-FFF2-40B4-BE49-F238E27FC236}">
                <a16:creationId xmlns:a16="http://schemas.microsoft.com/office/drawing/2014/main" id="{2F3B4152-9095-489B-A1A7-F555D9713EFF}"/>
              </a:ext>
            </a:extLst>
          </p:cNvPr>
          <p:cNvSpPr txBox="1"/>
          <p:nvPr/>
        </p:nvSpPr>
        <p:spPr>
          <a:xfrm>
            <a:off x="3903198" y="3209452"/>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41%</a:t>
            </a:r>
          </a:p>
        </p:txBody>
      </p:sp>
      <p:sp>
        <p:nvSpPr>
          <p:cNvPr id="55" name="TextBox 54">
            <a:extLst>
              <a:ext uri="{FF2B5EF4-FFF2-40B4-BE49-F238E27FC236}">
                <a16:creationId xmlns:a16="http://schemas.microsoft.com/office/drawing/2014/main" id="{2A7EA6A2-2AEA-6EA8-BBA6-5CF0902E48EC}"/>
              </a:ext>
            </a:extLst>
          </p:cNvPr>
          <p:cNvSpPr txBox="1"/>
          <p:nvPr/>
        </p:nvSpPr>
        <p:spPr>
          <a:xfrm>
            <a:off x="3350063" y="4927668"/>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18%</a:t>
            </a:r>
          </a:p>
        </p:txBody>
      </p:sp>
      <p:sp>
        <p:nvSpPr>
          <p:cNvPr id="57" name="TextBox 56">
            <a:extLst>
              <a:ext uri="{FF2B5EF4-FFF2-40B4-BE49-F238E27FC236}">
                <a16:creationId xmlns:a16="http://schemas.microsoft.com/office/drawing/2014/main" id="{592A399B-D020-3F9B-ECEC-35EFE2E11ED4}"/>
              </a:ext>
            </a:extLst>
          </p:cNvPr>
          <p:cNvSpPr txBox="1"/>
          <p:nvPr/>
        </p:nvSpPr>
        <p:spPr>
          <a:xfrm>
            <a:off x="2124707" y="4891492"/>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12%</a:t>
            </a:r>
          </a:p>
        </p:txBody>
      </p:sp>
      <p:sp>
        <p:nvSpPr>
          <p:cNvPr id="61" name="TextBox 60">
            <a:extLst>
              <a:ext uri="{FF2B5EF4-FFF2-40B4-BE49-F238E27FC236}">
                <a16:creationId xmlns:a16="http://schemas.microsoft.com/office/drawing/2014/main" id="{A525FC36-585D-34C1-6D16-2F20D50C6593}"/>
              </a:ext>
            </a:extLst>
          </p:cNvPr>
          <p:cNvSpPr txBox="1"/>
          <p:nvPr/>
        </p:nvSpPr>
        <p:spPr>
          <a:xfrm>
            <a:off x="3373568" y="3586805"/>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34%</a:t>
            </a:r>
          </a:p>
        </p:txBody>
      </p:sp>
      <p:sp>
        <p:nvSpPr>
          <p:cNvPr id="62" name="TextBox 61">
            <a:extLst>
              <a:ext uri="{FF2B5EF4-FFF2-40B4-BE49-F238E27FC236}">
                <a16:creationId xmlns:a16="http://schemas.microsoft.com/office/drawing/2014/main" id="{A46CA9A5-9005-29CC-3082-BF570B328A5D}"/>
              </a:ext>
            </a:extLst>
          </p:cNvPr>
          <p:cNvSpPr txBox="1"/>
          <p:nvPr/>
        </p:nvSpPr>
        <p:spPr>
          <a:xfrm>
            <a:off x="3157802" y="4314540"/>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10%</a:t>
            </a:r>
          </a:p>
        </p:txBody>
      </p:sp>
      <p:sp>
        <p:nvSpPr>
          <p:cNvPr id="63" name="TextBox 62">
            <a:extLst>
              <a:ext uri="{FF2B5EF4-FFF2-40B4-BE49-F238E27FC236}">
                <a16:creationId xmlns:a16="http://schemas.microsoft.com/office/drawing/2014/main" id="{11CA4733-EFE0-D44A-B433-56DEAD61A57E}"/>
              </a:ext>
            </a:extLst>
          </p:cNvPr>
          <p:cNvSpPr txBox="1"/>
          <p:nvPr/>
        </p:nvSpPr>
        <p:spPr>
          <a:xfrm>
            <a:off x="2634668" y="4406872"/>
            <a:ext cx="309380" cy="184665"/>
          </a:xfrm>
          <a:prstGeom prst="rect">
            <a:avLst/>
          </a:prstGeom>
          <a:noFill/>
        </p:spPr>
        <p:txBody>
          <a:bodyPr wrap="non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20%</a:t>
            </a:r>
          </a:p>
        </p:txBody>
      </p:sp>
      <p:sp>
        <p:nvSpPr>
          <p:cNvPr id="209" name="Rounded Rectangle 42">
            <a:extLst>
              <a:ext uri="{FF2B5EF4-FFF2-40B4-BE49-F238E27FC236}">
                <a16:creationId xmlns:a16="http://schemas.microsoft.com/office/drawing/2014/main" id="{D975212E-94B3-AB5D-7D29-2F4C231F611D}"/>
              </a:ext>
            </a:extLst>
          </p:cNvPr>
          <p:cNvSpPr/>
          <p:nvPr/>
        </p:nvSpPr>
        <p:spPr>
          <a:xfrm>
            <a:off x="5935979" y="1899055"/>
            <a:ext cx="5925312" cy="1477590"/>
          </a:xfrm>
          <a:prstGeom prst="roundRect">
            <a:avLst>
              <a:gd name="adj" fmla="val 5000"/>
            </a:avLst>
          </a:prstGeom>
          <a:solidFill>
            <a:srgbClr val="046A3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231" name="Group 230">
            <a:extLst>
              <a:ext uri="{FF2B5EF4-FFF2-40B4-BE49-F238E27FC236}">
                <a16:creationId xmlns:a16="http://schemas.microsoft.com/office/drawing/2014/main" id="{60815CD6-3162-065A-85A4-CDB76DD0EB86}"/>
              </a:ext>
            </a:extLst>
          </p:cNvPr>
          <p:cNvGrpSpPr/>
          <p:nvPr/>
        </p:nvGrpSpPr>
        <p:grpSpPr>
          <a:xfrm>
            <a:off x="6022720" y="2470552"/>
            <a:ext cx="677825" cy="677825"/>
            <a:chOff x="6035039" y="2027288"/>
            <a:chExt cx="457200" cy="457200"/>
          </a:xfrm>
        </p:grpSpPr>
        <p:sp>
          <p:nvSpPr>
            <p:cNvPr id="210" name="Rounded Rectangle 43">
              <a:extLst>
                <a:ext uri="{FF2B5EF4-FFF2-40B4-BE49-F238E27FC236}">
                  <a16:creationId xmlns:a16="http://schemas.microsoft.com/office/drawing/2014/main" id="{CC8A44C2-3A1E-D693-7E9D-578BEF83D18A}"/>
                </a:ext>
              </a:extLst>
            </p:cNvPr>
            <p:cNvSpPr/>
            <p:nvPr/>
          </p:nvSpPr>
          <p:spPr>
            <a:xfrm>
              <a:off x="6035039" y="2027288"/>
              <a:ext cx="457200" cy="457200"/>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1" name="Picture 210" descr="ic_robot_w.png">
              <a:extLst>
                <a:ext uri="{FF2B5EF4-FFF2-40B4-BE49-F238E27FC236}">
                  <a16:creationId xmlns:a16="http://schemas.microsoft.com/office/drawing/2014/main" id="{79C19088-EC0F-7C22-3E4C-5E040C5D8CBC}"/>
                </a:ext>
              </a:extLst>
            </p:cNvPr>
            <p:cNvPicPr>
              <a:picLocks noChangeAspect="1"/>
            </p:cNvPicPr>
            <p:nvPr/>
          </p:nvPicPr>
          <p:blipFill>
            <a:blip r:embed="rId4"/>
            <a:stretch>
              <a:fillRect/>
            </a:stretch>
          </p:blipFill>
          <p:spPr>
            <a:xfrm>
              <a:off x="6135623" y="2127872"/>
              <a:ext cx="256032" cy="256032"/>
            </a:xfrm>
            <a:prstGeom prst="rect">
              <a:avLst/>
            </a:prstGeom>
          </p:spPr>
        </p:pic>
      </p:grpSp>
      <p:sp>
        <p:nvSpPr>
          <p:cNvPr id="212" name="TextBox 211">
            <a:extLst>
              <a:ext uri="{FF2B5EF4-FFF2-40B4-BE49-F238E27FC236}">
                <a16:creationId xmlns:a16="http://schemas.microsoft.com/office/drawing/2014/main" id="{9F94F080-F1D6-9D39-4E9E-4388B5DDB532}"/>
              </a:ext>
            </a:extLst>
          </p:cNvPr>
          <p:cNvSpPr txBox="1"/>
          <p:nvPr/>
        </p:nvSpPr>
        <p:spPr>
          <a:xfrm>
            <a:off x="6211060" y="2080706"/>
            <a:ext cx="4559047"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3B02A">
                    <a:lumMod val="20000"/>
                    <a:lumOff val="80000"/>
                  </a:srgbClr>
                </a:solidFill>
                <a:effectLst/>
                <a:uLnTx/>
                <a:uFillTx/>
                <a:latin typeface="Segoe UI" panose="020B0502040204020203" pitchFamily="34" charset="0"/>
                <a:ea typeface="+mn-ea"/>
                <a:cs typeface="Segoe UI" panose="020B0502040204020203" pitchFamily="34" charset="0"/>
                <a:sym typeface="Arial"/>
              </a:rPr>
              <a:t>1. AI-enabled tools remain #1, and keep growing</a:t>
            </a:r>
          </a:p>
        </p:txBody>
      </p:sp>
      <p:sp>
        <p:nvSpPr>
          <p:cNvPr id="213" name="Rounded Rectangle 46">
            <a:extLst>
              <a:ext uri="{FF2B5EF4-FFF2-40B4-BE49-F238E27FC236}">
                <a16:creationId xmlns:a16="http://schemas.microsoft.com/office/drawing/2014/main" id="{D1BA2DCA-BAA3-52F0-AFD0-32F3A4762EBC}"/>
              </a:ext>
            </a:extLst>
          </p:cNvPr>
          <p:cNvSpPr/>
          <p:nvPr/>
        </p:nvSpPr>
        <p:spPr>
          <a:xfrm>
            <a:off x="10656950" y="2093782"/>
            <a:ext cx="1152905" cy="310896"/>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34% → 41%</a:t>
            </a:r>
          </a:p>
        </p:txBody>
      </p:sp>
      <p:sp>
        <p:nvSpPr>
          <p:cNvPr id="215" name="TextBox 214">
            <a:extLst>
              <a:ext uri="{FF2B5EF4-FFF2-40B4-BE49-F238E27FC236}">
                <a16:creationId xmlns:a16="http://schemas.microsoft.com/office/drawing/2014/main" id="{0BD8D9F5-9B3C-2FAC-29E4-5210E8F255CB}"/>
              </a:ext>
            </a:extLst>
          </p:cNvPr>
          <p:cNvSpPr txBox="1"/>
          <p:nvPr/>
        </p:nvSpPr>
        <p:spPr>
          <a:xfrm>
            <a:off x="6766969" y="2517454"/>
            <a:ext cx="4938873" cy="686919"/>
          </a:xfrm>
          <a:prstGeom prst="rect">
            <a:avLst/>
          </a:prstGeom>
          <a:noFill/>
        </p:spPr>
        <p:txBody>
          <a:bodyPr wrap="square" lIns="0" tIns="0" rIns="0" bIns="0" anchor="t">
            <a:spAutoFit/>
          </a:bodyPr>
          <a:lstStyle/>
          <a:p>
            <a:pPr marL="0" marR="0" lvl="0" indent="0" algn="l" defTabSz="457200" rtl="0" eaLnBrk="1" fontAlgn="auto" latinLnBrk="0" hangingPunct="1">
              <a:lnSpc>
                <a:spcPct val="114000"/>
              </a:lnSpc>
              <a:spcBef>
                <a:spcPts val="0"/>
              </a:spcBef>
              <a:spcAft>
                <a:spcPts val="300"/>
              </a:spcAft>
              <a:buClrTx/>
              <a:buSzTx/>
              <a:buFontTx/>
              <a:buNone/>
              <a:tabLst/>
              <a:defRPr/>
            </a:pPr>
            <a:r>
              <a:rPr kumimoji="0" sz="1000" b="0" i="0" u="none" strike="noStrike" kern="1200" cap="none" spc="0" normalizeH="0" baseline="0" noProof="0">
                <a:ln>
                  <a:noFill/>
                </a:ln>
                <a:solidFill>
                  <a:srgbClr val="43B02A">
                    <a:lumMod val="20000"/>
                    <a:lumOff val="80000"/>
                  </a:srgbClr>
                </a:solidFill>
                <a:effectLst/>
                <a:uLnTx/>
                <a:uFillTx/>
                <a:latin typeface="Segoe UI" panose="020B0502040204020203" pitchFamily="34" charset="0"/>
                <a:ea typeface="+mn-ea"/>
                <a:cs typeface="Segoe UI" panose="020B0502040204020203" pitchFamily="34" charset="0"/>
                <a:sym typeface="Arial"/>
              </a:rPr>
              <a:t>As expected, AI-enabled tools are already the most common way organizations scale fraud and investigations operations, and their lead widens over the next three years. Focus on AI rises at Top 100 banks (35% to 40%), large banks (34% to 43%) and, most sharply, large insurance carriers (10% to 40%).</a:t>
            </a:r>
          </a:p>
        </p:txBody>
      </p:sp>
      <p:sp>
        <p:nvSpPr>
          <p:cNvPr id="216" name="Rounded Rectangle 49">
            <a:extLst>
              <a:ext uri="{FF2B5EF4-FFF2-40B4-BE49-F238E27FC236}">
                <a16:creationId xmlns:a16="http://schemas.microsoft.com/office/drawing/2014/main" id="{D745B02D-C78B-47D9-8380-235DBB16830D}"/>
              </a:ext>
            </a:extLst>
          </p:cNvPr>
          <p:cNvSpPr/>
          <p:nvPr/>
        </p:nvSpPr>
        <p:spPr>
          <a:xfrm>
            <a:off x="5935979" y="3559078"/>
            <a:ext cx="5925312" cy="1477590"/>
          </a:xfrm>
          <a:prstGeom prst="roundRect">
            <a:avLst>
              <a:gd name="adj" fmla="val 5000"/>
            </a:avLst>
          </a:prstGeom>
          <a:solidFill>
            <a:schemeClr val="bg1">
              <a:lumMod val="75000"/>
            </a:schemeClr>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230" name="Group 229">
            <a:extLst>
              <a:ext uri="{FF2B5EF4-FFF2-40B4-BE49-F238E27FC236}">
                <a16:creationId xmlns:a16="http://schemas.microsoft.com/office/drawing/2014/main" id="{CEB1DBD4-CE47-3627-A50D-B16B9E766484}"/>
              </a:ext>
            </a:extLst>
          </p:cNvPr>
          <p:cNvGrpSpPr/>
          <p:nvPr/>
        </p:nvGrpSpPr>
        <p:grpSpPr>
          <a:xfrm>
            <a:off x="6022720" y="4130576"/>
            <a:ext cx="677825" cy="677825"/>
            <a:chOff x="6062472" y="3873371"/>
            <a:chExt cx="457200" cy="457200"/>
          </a:xfrm>
        </p:grpSpPr>
        <p:sp>
          <p:nvSpPr>
            <p:cNvPr id="217" name="Rounded Rectangle 50">
              <a:extLst>
                <a:ext uri="{FF2B5EF4-FFF2-40B4-BE49-F238E27FC236}">
                  <a16:creationId xmlns:a16="http://schemas.microsoft.com/office/drawing/2014/main" id="{8627049E-0CAA-2AF5-8C6B-EDBE536B6E90}"/>
                </a:ext>
              </a:extLst>
            </p:cNvPr>
            <p:cNvSpPr/>
            <p:nvPr/>
          </p:nvSpPr>
          <p:spPr>
            <a:xfrm>
              <a:off x="6062472" y="3873371"/>
              <a:ext cx="457200" cy="457200"/>
            </a:xfrm>
            <a:prstGeom prst="roundRect">
              <a:avLst>
                <a:gd name="adj" fmla="val 50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8" name="Picture 217" descr="ic_userminus_w.png">
              <a:extLst>
                <a:ext uri="{FF2B5EF4-FFF2-40B4-BE49-F238E27FC236}">
                  <a16:creationId xmlns:a16="http://schemas.microsoft.com/office/drawing/2014/main" id="{358C549E-05C8-A156-D175-B96144E4C1B5}"/>
                </a:ext>
              </a:extLst>
            </p:cNvPr>
            <p:cNvPicPr>
              <a:picLocks noChangeAspect="1"/>
            </p:cNvPicPr>
            <p:nvPr/>
          </p:nvPicPr>
          <p:blipFill>
            <a:blip r:embed="rId5"/>
            <a:stretch>
              <a:fillRect/>
            </a:stretch>
          </p:blipFill>
          <p:spPr>
            <a:xfrm>
              <a:off x="6163056" y="3973954"/>
              <a:ext cx="256032" cy="256032"/>
            </a:xfrm>
            <a:prstGeom prst="rect">
              <a:avLst/>
            </a:prstGeom>
          </p:spPr>
        </p:pic>
      </p:grpSp>
      <p:sp>
        <p:nvSpPr>
          <p:cNvPr id="219" name="TextBox 218">
            <a:extLst>
              <a:ext uri="{FF2B5EF4-FFF2-40B4-BE49-F238E27FC236}">
                <a16:creationId xmlns:a16="http://schemas.microsoft.com/office/drawing/2014/main" id="{80CD7924-2C45-4D93-09ED-C810A9A11860}"/>
              </a:ext>
            </a:extLst>
          </p:cNvPr>
          <p:cNvSpPr txBox="1"/>
          <p:nvPr/>
        </p:nvSpPr>
        <p:spPr>
          <a:xfrm>
            <a:off x="6211060" y="3748424"/>
            <a:ext cx="4559047"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262626"/>
                </a:solidFill>
                <a:effectLst/>
                <a:uLnTx/>
                <a:uFillTx/>
                <a:latin typeface="Segoe UI" panose="020B0502040204020203" pitchFamily="34" charset="0"/>
                <a:ea typeface="+mn-ea"/>
                <a:cs typeface="Segoe UI" panose="020B0502040204020203" pitchFamily="34" charset="0"/>
                <a:sym typeface="Arial"/>
              </a:rPr>
              <a:t>2. A clear shift away from adding headcount</a:t>
            </a:r>
          </a:p>
        </p:txBody>
      </p:sp>
      <p:sp>
        <p:nvSpPr>
          <p:cNvPr id="220" name="Rounded Rectangle 53">
            <a:extLst>
              <a:ext uri="{FF2B5EF4-FFF2-40B4-BE49-F238E27FC236}">
                <a16:creationId xmlns:a16="http://schemas.microsoft.com/office/drawing/2014/main" id="{129EFB10-6CD1-B5EF-3038-C5DDED269C62}"/>
              </a:ext>
            </a:extLst>
          </p:cNvPr>
          <p:cNvSpPr/>
          <p:nvPr/>
        </p:nvSpPr>
        <p:spPr>
          <a:xfrm>
            <a:off x="10656950" y="3753805"/>
            <a:ext cx="1152905" cy="310896"/>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20% → 12%</a:t>
            </a:r>
          </a:p>
        </p:txBody>
      </p:sp>
      <p:sp>
        <p:nvSpPr>
          <p:cNvPr id="222" name="TextBox 221">
            <a:extLst>
              <a:ext uri="{FF2B5EF4-FFF2-40B4-BE49-F238E27FC236}">
                <a16:creationId xmlns:a16="http://schemas.microsoft.com/office/drawing/2014/main" id="{E2542DBF-CF67-D7AE-DF0A-E1AFB92B0982}"/>
              </a:ext>
            </a:extLst>
          </p:cNvPr>
          <p:cNvSpPr txBox="1"/>
          <p:nvPr/>
        </p:nvSpPr>
        <p:spPr>
          <a:xfrm>
            <a:off x="6766969" y="4177477"/>
            <a:ext cx="4938873" cy="686919"/>
          </a:xfrm>
          <a:prstGeom prst="rect">
            <a:avLst/>
          </a:prstGeom>
          <a:noFill/>
        </p:spPr>
        <p:txBody>
          <a:bodyPr wrap="square" lIns="0" tIns="0" rIns="0" bIns="0" anchor="t">
            <a:spAutoFit/>
          </a:bodyPr>
          <a:lstStyle/>
          <a:p>
            <a:pPr marL="0" marR="0" lvl="0" indent="0" algn="l" defTabSz="457200" rtl="0" eaLnBrk="1" fontAlgn="auto" latinLnBrk="0" hangingPunct="1">
              <a:lnSpc>
                <a:spcPct val="114000"/>
              </a:lnSpc>
              <a:spcBef>
                <a:spcPts val="0"/>
              </a:spcBef>
              <a:spcAft>
                <a:spcPts val="300"/>
              </a:spcAft>
              <a:buClrTx/>
              <a:buSzTx/>
              <a:buFontTx/>
              <a:buNone/>
              <a:tabLst/>
              <a:defRPr/>
            </a:pP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Unsurprisingly,</a:t>
            </a: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 adding headcount </a:t>
            </a: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is losing ground. Combined focus on hiring full-time staff and outsourcing to contractors falls from 20% to 12%, with hiring alone halving </a:t>
            </a:r>
            <a:r>
              <a:rPr kumimoji="0" lang="en-CA"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a:t>
            </a: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10% to 5%)</a:t>
            </a: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 across all respondents</a:t>
            </a:r>
            <a:r>
              <a:rPr kumimoji="0"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sym typeface="Arial"/>
              </a:rPr>
              <a:t>. The shift is sharpest at large insurance carriers, where outsourcing drops from 30% to 0%.</a:t>
            </a:r>
          </a:p>
        </p:txBody>
      </p:sp>
      <p:sp>
        <p:nvSpPr>
          <p:cNvPr id="223" name="Rounded Rectangle 56">
            <a:extLst>
              <a:ext uri="{FF2B5EF4-FFF2-40B4-BE49-F238E27FC236}">
                <a16:creationId xmlns:a16="http://schemas.microsoft.com/office/drawing/2014/main" id="{3D06BAB4-A0FF-90CC-79BD-9C9526766D28}"/>
              </a:ext>
            </a:extLst>
          </p:cNvPr>
          <p:cNvSpPr/>
          <p:nvPr/>
        </p:nvSpPr>
        <p:spPr>
          <a:xfrm>
            <a:off x="5935979" y="5219101"/>
            <a:ext cx="5925312" cy="1477590"/>
          </a:xfrm>
          <a:prstGeom prst="roundRect">
            <a:avLst>
              <a:gd name="adj" fmla="val 5000"/>
            </a:avLst>
          </a:prstGeom>
          <a:solidFill>
            <a:schemeClr val="accent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232" name="Group 231">
            <a:extLst>
              <a:ext uri="{FF2B5EF4-FFF2-40B4-BE49-F238E27FC236}">
                <a16:creationId xmlns:a16="http://schemas.microsoft.com/office/drawing/2014/main" id="{6320F574-67B5-2C86-2864-827B38793CB8}"/>
              </a:ext>
            </a:extLst>
          </p:cNvPr>
          <p:cNvGrpSpPr/>
          <p:nvPr/>
        </p:nvGrpSpPr>
        <p:grpSpPr>
          <a:xfrm>
            <a:off x="6022720" y="5790599"/>
            <a:ext cx="677825" cy="677825"/>
            <a:chOff x="6099048" y="5347335"/>
            <a:chExt cx="457200" cy="457200"/>
          </a:xfrm>
        </p:grpSpPr>
        <p:sp>
          <p:nvSpPr>
            <p:cNvPr id="224" name="Rounded Rectangle 57">
              <a:extLst>
                <a:ext uri="{FF2B5EF4-FFF2-40B4-BE49-F238E27FC236}">
                  <a16:creationId xmlns:a16="http://schemas.microsoft.com/office/drawing/2014/main" id="{8B3180C2-9D90-5681-6F2B-F3B56E2E538C}"/>
                </a:ext>
              </a:extLst>
            </p:cNvPr>
            <p:cNvSpPr/>
            <p:nvPr/>
          </p:nvSpPr>
          <p:spPr>
            <a:xfrm>
              <a:off x="6099048" y="5347335"/>
              <a:ext cx="457200" cy="457200"/>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25" name="Picture 224" descr="ic_flow_w.png">
              <a:extLst>
                <a:ext uri="{FF2B5EF4-FFF2-40B4-BE49-F238E27FC236}">
                  <a16:creationId xmlns:a16="http://schemas.microsoft.com/office/drawing/2014/main" id="{B097B4FC-159C-84F4-9DA4-071AFEEFF0DF}"/>
                </a:ext>
              </a:extLst>
            </p:cNvPr>
            <p:cNvPicPr>
              <a:picLocks noChangeAspect="1"/>
            </p:cNvPicPr>
            <p:nvPr/>
          </p:nvPicPr>
          <p:blipFill>
            <a:blip r:embed="rId6"/>
            <a:stretch>
              <a:fillRect/>
            </a:stretch>
          </p:blipFill>
          <p:spPr>
            <a:xfrm>
              <a:off x="6199632" y="5447919"/>
              <a:ext cx="256032" cy="256032"/>
            </a:xfrm>
            <a:prstGeom prst="rect">
              <a:avLst/>
            </a:prstGeom>
          </p:spPr>
        </p:pic>
      </p:grpSp>
      <p:sp>
        <p:nvSpPr>
          <p:cNvPr id="226" name="TextBox 225">
            <a:extLst>
              <a:ext uri="{FF2B5EF4-FFF2-40B4-BE49-F238E27FC236}">
                <a16:creationId xmlns:a16="http://schemas.microsoft.com/office/drawing/2014/main" id="{AF196AE9-36AE-1B4E-10E1-ABD8841652E1}"/>
              </a:ext>
            </a:extLst>
          </p:cNvPr>
          <p:cNvSpPr txBox="1"/>
          <p:nvPr/>
        </p:nvSpPr>
        <p:spPr>
          <a:xfrm>
            <a:off x="6211060" y="5408448"/>
            <a:ext cx="4559047"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3. The future need for </a:t>
            </a:r>
            <a:r>
              <a:rPr kumimoji="0" sz="15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process redesign</a:t>
            </a:r>
          </a:p>
        </p:txBody>
      </p:sp>
      <p:sp>
        <p:nvSpPr>
          <p:cNvPr id="227" name="Rounded Rectangle 60">
            <a:extLst>
              <a:ext uri="{FF2B5EF4-FFF2-40B4-BE49-F238E27FC236}">
                <a16:creationId xmlns:a16="http://schemas.microsoft.com/office/drawing/2014/main" id="{EFB45EEB-F67C-C257-1CB1-D58307517CB7}"/>
              </a:ext>
            </a:extLst>
          </p:cNvPr>
          <p:cNvSpPr/>
          <p:nvPr/>
        </p:nvSpPr>
        <p:spPr>
          <a:xfrm>
            <a:off x="11166738" y="5413828"/>
            <a:ext cx="643117" cy="310896"/>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1.8x</a:t>
            </a:r>
          </a:p>
        </p:txBody>
      </p:sp>
      <p:sp>
        <p:nvSpPr>
          <p:cNvPr id="229" name="TextBox 228">
            <a:extLst>
              <a:ext uri="{FF2B5EF4-FFF2-40B4-BE49-F238E27FC236}">
                <a16:creationId xmlns:a16="http://schemas.microsoft.com/office/drawing/2014/main" id="{5E7EE1ED-CC71-6429-545C-663EB4D7D572}"/>
              </a:ext>
            </a:extLst>
          </p:cNvPr>
          <p:cNvSpPr txBox="1"/>
          <p:nvPr/>
        </p:nvSpPr>
        <p:spPr>
          <a:xfrm>
            <a:off x="6766969" y="5837500"/>
            <a:ext cx="4938873" cy="686919"/>
          </a:xfrm>
          <a:prstGeom prst="rect">
            <a:avLst/>
          </a:prstGeom>
          <a:noFill/>
        </p:spPr>
        <p:txBody>
          <a:bodyPr wrap="square" lIns="0" tIns="0" rIns="0" bIns="0" anchor="t">
            <a:spAutoFit/>
          </a:bodyPr>
          <a:lstStyle/>
          <a:p>
            <a:pPr marL="0" marR="0" lvl="0" indent="0" algn="l" defTabSz="457200" rtl="0" eaLnBrk="1" fontAlgn="auto" latinLnBrk="0" hangingPunct="1">
              <a:lnSpc>
                <a:spcPct val="114000"/>
              </a:lnSpc>
              <a:spcBef>
                <a:spcPts val="0"/>
              </a:spcBef>
              <a:spcAft>
                <a:spcPts val="300"/>
              </a:spcAft>
              <a:buClrTx/>
              <a:buSzTx/>
              <a:buFont typeface="Arial"/>
              <a:buNone/>
              <a:tabLst/>
              <a:defRPr/>
            </a:pPr>
            <a:r>
              <a:rPr kumimoji="0" lang="en-US" sz="1000" b="0" i="0" u="none" strike="noStrike" kern="1200" cap="none" spc="0" normalizeH="0" baseline="0" noProof="0">
                <a:ln>
                  <a:noFill/>
                </a:ln>
                <a:solidFill>
                  <a:srgbClr val="FFFFFF"/>
                </a:solidFill>
                <a:effectLst/>
                <a:uLnTx/>
                <a:uFillTx/>
                <a:latin typeface="Segoe UI" panose="020B0502040204020203" pitchFamily="34" charset="0"/>
                <a:cs typeface="Segoe UI" panose="020B0502040204020203" pitchFamily="34" charset="0"/>
                <a:sym typeface="Arial"/>
              </a:rPr>
              <a:t>To capture AI’s value, organizations must redesign the processes around it; adding AI to existing workflows only goes so far.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Focus on redesigning processes and playbooks,</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nearly doubles from 10% to 18%. </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For the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Top 100 banks</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this rises nearly 2x</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(8% to 15%) and </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for the </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Top 50 carriers</a:t>
            </a:r>
            <a:r>
              <a:rPr kumimoji="0" lang="en-US"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it increases nearly 4x</a:t>
            </a:r>
            <a:r>
              <a:rPr kumimoji="0" sz="10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(7% to 27%).</a:t>
            </a:r>
          </a:p>
        </p:txBody>
      </p:sp>
      <p:sp>
        <p:nvSpPr>
          <p:cNvPr id="239" name="TextBox 238"/>
          <p:cNvSpPr txBox="1"/>
          <p:nvPr/>
        </p:nvSpPr>
        <p:spPr>
          <a:xfrm>
            <a:off x="550534" y="6474244"/>
            <a:ext cx="5074920" cy="138499"/>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900" b="1" i="0" u="none" strike="noStrike" kern="0" cap="none" spc="0" normalizeH="0" baseline="0" noProof="0">
                <a:ln>
                  <a:noFill/>
                </a:ln>
                <a:solidFill>
                  <a:srgbClr val="046A38"/>
                </a:solidFill>
                <a:effectLst/>
                <a:uLnTx/>
                <a:uFillTx/>
                <a:latin typeface="Segoe UI"/>
                <a:cs typeface="Arial"/>
                <a:sym typeface="Arial"/>
              </a:rPr>
              <a:t>▲ Gaining importance</a:t>
            </a:r>
            <a:r>
              <a:rPr kumimoji="0" sz="900" b="0" i="0" u="none" strike="noStrike" kern="0" cap="none" spc="0" normalizeH="0" baseline="0" noProof="0">
                <a:ln>
                  <a:noFill/>
                </a:ln>
                <a:solidFill>
                  <a:srgbClr val="404040"/>
                </a:solidFill>
                <a:effectLst/>
                <a:uLnTx/>
                <a:uFillTx/>
                <a:latin typeface="Segoe UI"/>
                <a:cs typeface="Arial"/>
                <a:sym typeface="Arial"/>
              </a:rPr>
              <a:t> </a:t>
            </a:r>
            <a:r>
              <a:rPr kumimoji="0" lang="en-CA" sz="9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 </a:t>
            </a:r>
            <a:r>
              <a:rPr kumimoji="0" sz="900" b="1" i="0" u="none" strike="noStrike" kern="0" cap="none" spc="0" normalizeH="0" baseline="0" noProof="0">
                <a:ln>
                  <a:noFill/>
                </a:ln>
                <a:solidFill>
                  <a:srgbClr val="DA291C"/>
                </a:solidFill>
                <a:effectLst/>
                <a:uLnTx/>
                <a:uFillTx/>
                <a:latin typeface="Segoe UI"/>
                <a:cs typeface="Arial"/>
                <a:sym typeface="Arial"/>
              </a:rPr>
              <a:t>▼ Losing importance</a:t>
            </a:r>
            <a:endParaRPr kumimoji="0" sz="900" b="0" i="0" u="none" strike="noStrike" kern="0" cap="none" spc="0" normalizeH="0" baseline="0" noProof="0">
              <a:ln>
                <a:noFill/>
              </a:ln>
              <a:solidFill>
                <a:srgbClr val="404040"/>
              </a:solidFill>
              <a:effectLst/>
              <a:uLnTx/>
              <a:uFillTx/>
              <a:latin typeface="Segoe UI"/>
              <a:cs typeface="Arial"/>
              <a:sym typeface="Arial"/>
            </a:endParaRPr>
          </a:p>
        </p:txBody>
      </p:sp>
      <p:sp>
        <p:nvSpPr>
          <p:cNvPr id="240" name="Oval 239"/>
          <p:cNvSpPr/>
          <p:nvPr/>
        </p:nvSpPr>
        <p:spPr>
          <a:xfrm>
            <a:off x="4221275" y="2766729"/>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1</a:t>
            </a:r>
          </a:p>
        </p:txBody>
      </p:sp>
      <p:sp>
        <p:nvSpPr>
          <p:cNvPr id="241" name="Oval 240"/>
          <p:cNvSpPr/>
          <p:nvPr/>
        </p:nvSpPr>
        <p:spPr>
          <a:xfrm>
            <a:off x="1848646" y="5219341"/>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2</a:t>
            </a:r>
          </a:p>
        </p:txBody>
      </p:sp>
      <p:sp>
        <p:nvSpPr>
          <p:cNvPr id="242" name="Oval 241"/>
          <p:cNvSpPr/>
          <p:nvPr/>
        </p:nvSpPr>
        <p:spPr>
          <a:xfrm>
            <a:off x="3573487" y="5234594"/>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3</a:t>
            </a:r>
          </a:p>
        </p:txBody>
      </p:sp>
      <p:sp>
        <p:nvSpPr>
          <p:cNvPr id="24" name="Rectangle 23">
            <a:extLst>
              <a:ext uri="{FF2B5EF4-FFF2-40B4-BE49-F238E27FC236}">
                <a16:creationId xmlns:a16="http://schemas.microsoft.com/office/drawing/2014/main" id="{230274F0-3DCF-78E8-AE20-37364CC2B427}"/>
              </a:ext>
            </a:extLst>
          </p:cNvPr>
          <p:cNvSpPr/>
          <p:nvPr/>
        </p:nvSpPr>
        <p:spPr>
          <a:xfrm>
            <a:off x="2272886" y="2373029"/>
            <a:ext cx="1342324" cy="261610"/>
          </a:xfrm>
          <a:prstGeom prst="rect">
            <a:avLst/>
          </a:prstGeom>
          <a:noFill/>
        </p:spPr>
        <p:txBody>
          <a:bodyPr wrap="none" lIns="91440" tIns="45720" rIns="91440" bIns="45720">
            <a:prstTxWarp prst="textArchUp">
              <a:avLst>
                <a:gd name="adj" fmla="val 10991590"/>
              </a:avLst>
            </a:prstTxWarp>
            <a:spAutoFit/>
            <a:scene3d>
              <a:camera prst="orthographicFront">
                <a:rot lat="420000" lon="0" rev="0"/>
              </a:camera>
              <a:lightRig rig="threePt" dir="t"/>
            </a:scene3d>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w="0"/>
                <a:solidFill>
                  <a:srgbClr val="000000"/>
                </a:solidFill>
                <a:effectLst/>
                <a:uLnTx/>
                <a:uFillTx/>
                <a:latin typeface="Segoe UI" panose="020B0502040204020203" pitchFamily="34" charset="0"/>
                <a:cs typeface="Segoe UI" panose="020B0502040204020203" pitchFamily="34" charset="0"/>
                <a:sym typeface="Arial"/>
              </a:rPr>
              <a:t>FOCUS IN 3 YEARS</a:t>
            </a:r>
          </a:p>
        </p:txBody>
      </p:sp>
      <p:grpSp>
        <p:nvGrpSpPr>
          <p:cNvPr id="32" name="Group 31">
            <a:extLst>
              <a:ext uri="{FF2B5EF4-FFF2-40B4-BE49-F238E27FC236}">
                <a16:creationId xmlns:a16="http://schemas.microsoft.com/office/drawing/2014/main" id="{E8FF2BA6-FDA1-FDBC-59AC-5BA676B6B7BB}"/>
              </a:ext>
            </a:extLst>
          </p:cNvPr>
          <p:cNvGrpSpPr/>
          <p:nvPr/>
        </p:nvGrpSpPr>
        <p:grpSpPr>
          <a:xfrm>
            <a:off x="661034" y="6161490"/>
            <a:ext cx="4709161" cy="153888"/>
            <a:chOff x="594359" y="5738640"/>
            <a:chExt cx="4709161" cy="153888"/>
          </a:xfrm>
        </p:grpSpPr>
        <p:sp>
          <p:nvSpPr>
            <p:cNvPr id="33" name="Rounded Rectangle 26">
              <a:extLst>
                <a:ext uri="{FF2B5EF4-FFF2-40B4-BE49-F238E27FC236}">
                  <a16:creationId xmlns:a16="http://schemas.microsoft.com/office/drawing/2014/main" id="{5708A951-7CDF-E1E9-1C80-83103E15A457}"/>
                </a:ext>
              </a:extLst>
            </p:cNvPr>
            <p:cNvSpPr/>
            <p:nvPr/>
          </p:nvSpPr>
          <p:spPr>
            <a:xfrm>
              <a:off x="594359" y="5756148"/>
              <a:ext cx="128016" cy="118872"/>
            </a:xfrm>
            <a:prstGeom prst="roundRect">
              <a:avLst>
                <a:gd name="adj" fmla="val 30000"/>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34" name="TextBox 33">
              <a:extLst>
                <a:ext uri="{FF2B5EF4-FFF2-40B4-BE49-F238E27FC236}">
                  <a16:creationId xmlns:a16="http://schemas.microsoft.com/office/drawing/2014/main" id="{96580202-1782-42DB-4079-9881691EC18E}"/>
                </a:ext>
              </a:extLst>
            </p:cNvPr>
            <p:cNvSpPr txBox="1"/>
            <p:nvPr/>
          </p:nvSpPr>
          <p:spPr>
            <a:xfrm>
              <a:off x="795528" y="5738640"/>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1  Process redesign</a:t>
              </a:r>
            </a:p>
          </p:txBody>
        </p:sp>
        <p:sp>
          <p:nvSpPr>
            <p:cNvPr id="35" name="TextBox 34">
              <a:extLst>
                <a:ext uri="{FF2B5EF4-FFF2-40B4-BE49-F238E27FC236}">
                  <a16:creationId xmlns:a16="http://schemas.microsoft.com/office/drawing/2014/main" id="{DE2D16CA-853E-4140-A04C-02750CB294C6}"/>
                </a:ext>
              </a:extLst>
            </p:cNvPr>
            <p:cNvSpPr txBox="1"/>
            <p:nvPr/>
          </p:nvSpPr>
          <p:spPr>
            <a:xfrm>
              <a:off x="3749039" y="5738640"/>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TextBox 35">
              <a:extLst>
                <a:ext uri="{FF2B5EF4-FFF2-40B4-BE49-F238E27FC236}">
                  <a16:creationId xmlns:a16="http://schemas.microsoft.com/office/drawing/2014/main" id="{7E809FEF-DEB9-0B5E-0A7F-36805FEBCEB2}"/>
                </a:ext>
              </a:extLst>
            </p:cNvPr>
            <p:cNvSpPr txBox="1"/>
            <p:nvPr/>
          </p:nvSpPr>
          <p:spPr>
            <a:xfrm>
              <a:off x="4572000" y="5738640"/>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+80% </a:t>
              </a:r>
              <a:r>
                <a:rPr kumimoji="0" sz="1000" b="0"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a:t>
              </a:r>
            </a:p>
          </p:txBody>
        </p:sp>
      </p:grpSp>
      <p:sp>
        <p:nvSpPr>
          <p:cNvPr id="41" name="Oval 40">
            <a:extLst>
              <a:ext uri="{FF2B5EF4-FFF2-40B4-BE49-F238E27FC236}">
                <a16:creationId xmlns:a16="http://schemas.microsoft.com/office/drawing/2014/main" id="{4D0DE9C1-3F3E-995D-62D6-0F581115C08D}"/>
              </a:ext>
            </a:extLst>
          </p:cNvPr>
          <p:cNvSpPr/>
          <p:nvPr/>
        </p:nvSpPr>
        <p:spPr>
          <a:xfrm>
            <a:off x="827464" y="6158814"/>
            <a:ext cx="169200" cy="169200"/>
          </a:xfrm>
          <a:prstGeom prst="ellipse">
            <a:avLst/>
          </a:prstGeom>
          <a:solidFill>
            <a:srgbClr val="86BC25"/>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023D20"/>
                </a:solidFill>
                <a:effectLst/>
                <a:uLnTx/>
                <a:uFillTx/>
                <a:latin typeface="Segoe UI"/>
                <a:ea typeface="+mn-ea"/>
                <a:cs typeface="+mn-cs"/>
                <a:sym typeface="Arial"/>
              </a:rPr>
              <a:t>3</a:t>
            </a:r>
          </a:p>
        </p:txBody>
      </p:sp>
      <p:sp>
        <p:nvSpPr>
          <p:cNvPr id="38" name="Rounded Rectangle 30">
            <a:extLst>
              <a:ext uri="{FF2B5EF4-FFF2-40B4-BE49-F238E27FC236}">
                <a16:creationId xmlns:a16="http://schemas.microsoft.com/office/drawing/2014/main" id="{E044F2CA-B2C8-F5EE-E55C-BBADC4C082E5}"/>
              </a:ext>
            </a:extLst>
          </p:cNvPr>
          <p:cNvSpPr/>
          <p:nvPr/>
        </p:nvSpPr>
        <p:spPr>
          <a:xfrm>
            <a:off x="661034" y="5976810"/>
            <a:ext cx="128016" cy="118872"/>
          </a:xfrm>
          <a:prstGeom prst="roundRect">
            <a:avLst>
              <a:gd name="adj" fmla="val 3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40" name="TextBox 39">
            <a:extLst>
              <a:ext uri="{FF2B5EF4-FFF2-40B4-BE49-F238E27FC236}">
                <a16:creationId xmlns:a16="http://schemas.microsoft.com/office/drawing/2014/main" id="{F18D89E8-B3C6-8CD9-BAB8-7D7251D8066D}"/>
              </a:ext>
            </a:extLst>
          </p:cNvPr>
          <p:cNvSpPr txBox="1"/>
          <p:nvPr/>
        </p:nvSpPr>
        <p:spPr>
          <a:xfrm>
            <a:off x="862203" y="5959302"/>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2. Adding headcount (hiring + outsourcing)</a:t>
            </a:r>
          </a:p>
        </p:txBody>
      </p:sp>
      <p:sp>
        <p:nvSpPr>
          <p:cNvPr id="42" name="TextBox 41">
            <a:extLst>
              <a:ext uri="{FF2B5EF4-FFF2-40B4-BE49-F238E27FC236}">
                <a16:creationId xmlns:a16="http://schemas.microsoft.com/office/drawing/2014/main" id="{70C21C21-DC55-9418-063C-0A2089AFEC14}"/>
              </a:ext>
            </a:extLst>
          </p:cNvPr>
          <p:cNvSpPr txBox="1"/>
          <p:nvPr/>
        </p:nvSpPr>
        <p:spPr>
          <a:xfrm>
            <a:off x="3815714" y="595930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TextBox 42">
            <a:extLst>
              <a:ext uri="{FF2B5EF4-FFF2-40B4-BE49-F238E27FC236}">
                <a16:creationId xmlns:a16="http://schemas.microsoft.com/office/drawing/2014/main" id="{D4671481-A49F-CD0D-2787-F0E0CCDC06A2}"/>
              </a:ext>
            </a:extLst>
          </p:cNvPr>
          <p:cNvSpPr txBox="1"/>
          <p:nvPr/>
        </p:nvSpPr>
        <p:spPr>
          <a:xfrm>
            <a:off x="4638675" y="5959302"/>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DA291C"/>
                </a:solidFill>
                <a:effectLst/>
                <a:uLnTx/>
                <a:uFillTx/>
                <a:latin typeface="Segoe UI" panose="020B0502040204020203" pitchFamily="34" charset="0"/>
                <a:ea typeface="+mn-ea"/>
                <a:cs typeface="Segoe UI" panose="020B0502040204020203" pitchFamily="34" charset="0"/>
                <a:sym typeface="Arial"/>
              </a:rPr>
              <a:t>−40% </a:t>
            </a:r>
            <a:r>
              <a:rPr kumimoji="0" sz="1000" b="0" i="0" u="none" strike="noStrike" kern="1200" cap="none" spc="0" normalizeH="0" baseline="0" noProof="0">
                <a:ln>
                  <a:noFill/>
                </a:ln>
                <a:solidFill>
                  <a:srgbClr val="DA291C"/>
                </a:solidFill>
                <a:effectLst/>
                <a:uLnTx/>
                <a:uFillTx/>
                <a:latin typeface="Segoe UI" panose="020B0502040204020203" pitchFamily="34" charset="0"/>
                <a:ea typeface="+mn-ea"/>
                <a:cs typeface="Segoe UI" panose="020B0502040204020203" pitchFamily="34" charset="0"/>
                <a:sym typeface="Arial"/>
              </a:rPr>
              <a:t>▼</a:t>
            </a:r>
          </a:p>
        </p:txBody>
      </p:sp>
      <p:sp>
        <p:nvSpPr>
          <p:cNvPr id="56" name="Oval 55">
            <a:extLst>
              <a:ext uri="{FF2B5EF4-FFF2-40B4-BE49-F238E27FC236}">
                <a16:creationId xmlns:a16="http://schemas.microsoft.com/office/drawing/2014/main" id="{4CB8F956-D157-F5F5-5315-CF07E7100ED1}"/>
              </a:ext>
            </a:extLst>
          </p:cNvPr>
          <p:cNvSpPr/>
          <p:nvPr/>
        </p:nvSpPr>
        <p:spPr>
          <a:xfrm>
            <a:off x="827464" y="5951857"/>
            <a:ext cx="169200" cy="169200"/>
          </a:xfrm>
          <a:prstGeom prst="ellipse">
            <a:avLst/>
          </a:prstGeom>
          <a:solidFill>
            <a:srgbClr val="8A8D90"/>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dirty="0">
                <a:ln>
                  <a:noFill/>
                </a:ln>
                <a:solidFill>
                  <a:srgbClr val="FFFFFF"/>
                </a:solidFill>
                <a:effectLst/>
                <a:uLnTx/>
                <a:uFillTx/>
                <a:latin typeface="Segoe UI"/>
                <a:ea typeface="+mn-ea"/>
                <a:cs typeface="+mn-cs"/>
                <a:sym typeface="Arial"/>
              </a:rPr>
              <a:t>2</a:t>
            </a:r>
          </a:p>
        </p:txBody>
      </p:sp>
      <p:grpSp>
        <p:nvGrpSpPr>
          <p:cNvPr id="14" name="Group 13">
            <a:extLst>
              <a:ext uri="{FF2B5EF4-FFF2-40B4-BE49-F238E27FC236}">
                <a16:creationId xmlns:a16="http://schemas.microsoft.com/office/drawing/2014/main" id="{818272F8-2A67-0E60-9B75-1C281E6B61A2}"/>
              </a:ext>
            </a:extLst>
          </p:cNvPr>
          <p:cNvGrpSpPr/>
          <p:nvPr/>
        </p:nvGrpSpPr>
        <p:grpSpPr>
          <a:xfrm>
            <a:off x="661034" y="5757114"/>
            <a:ext cx="4709161" cy="153888"/>
            <a:chOff x="594359" y="5564904"/>
            <a:chExt cx="4709161" cy="153888"/>
          </a:xfrm>
        </p:grpSpPr>
        <p:grpSp>
          <p:nvGrpSpPr>
            <p:cNvPr id="26" name="Group 25">
              <a:extLst>
                <a:ext uri="{FF2B5EF4-FFF2-40B4-BE49-F238E27FC236}">
                  <a16:creationId xmlns:a16="http://schemas.microsoft.com/office/drawing/2014/main" id="{38568044-C97E-B23C-1B52-4EAC9407AD2D}"/>
                </a:ext>
              </a:extLst>
            </p:cNvPr>
            <p:cNvGrpSpPr/>
            <p:nvPr/>
          </p:nvGrpSpPr>
          <p:grpSpPr>
            <a:xfrm>
              <a:off x="795528" y="5564904"/>
              <a:ext cx="4507992" cy="153888"/>
              <a:chOff x="795528" y="5564904"/>
              <a:chExt cx="4507992" cy="153888"/>
            </a:xfrm>
          </p:grpSpPr>
          <p:sp>
            <p:nvSpPr>
              <p:cNvPr id="29" name="TextBox 28">
                <a:extLst>
                  <a:ext uri="{FF2B5EF4-FFF2-40B4-BE49-F238E27FC236}">
                    <a16:creationId xmlns:a16="http://schemas.microsoft.com/office/drawing/2014/main" id="{2F729F82-3206-619C-F190-E05E0A3574B6}"/>
                  </a:ext>
                </a:extLst>
              </p:cNvPr>
              <p:cNvSpPr txBox="1"/>
              <p:nvPr/>
            </p:nvSpPr>
            <p:spPr>
              <a:xfrm>
                <a:off x="795528" y="5564904"/>
                <a:ext cx="2926080" cy="15388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1. </a:t>
                </a: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AI-enabled tools</a:t>
                </a:r>
              </a:p>
            </p:txBody>
          </p:sp>
          <p:sp>
            <p:nvSpPr>
              <p:cNvPr id="30" name="TextBox 29">
                <a:extLst>
                  <a:ext uri="{FF2B5EF4-FFF2-40B4-BE49-F238E27FC236}">
                    <a16:creationId xmlns:a16="http://schemas.microsoft.com/office/drawing/2014/main" id="{95075D1D-B603-8947-2C58-31656DC79113}"/>
                  </a:ext>
                </a:extLst>
              </p:cNvPr>
              <p:cNvSpPr txBox="1"/>
              <p:nvPr/>
            </p:nvSpPr>
            <p:spPr>
              <a:xfrm>
                <a:off x="3749039" y="5564904"/>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TextBox 30">
                <a:extLst>
                  <a:ext uri="{FF2B5EF4-FFF2-40B4-BE49-F238E27FC236}">
                    <a16:creationId xmlns:a16="http://schemas.microsoft.com/office/drawing/2014/main" id="{59AAAEA7-13E4-DF13-4788-EF58B5E2A911}"/>
                  </a:ext>
                </a:extLst>
              </p:cNvPr>
              <p:cNvSpPr txBox="1"/>
              <p:nvPr/>
            </p:nvSpPr>
            <p:spPr>
              <a:xfrm>
                <a:off x="4572000" y="5564904"/>
                <a:ext cx="731520" cy="15388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+21% </a:t>
                </a:r>
                <a:r>
                  <a:rPr kumimoji="0" sz="1000" b="0" i="0" u="none" strike="noStrike" kern="1200" cap="none" spc="0" normalizeH="0" baseline="0" noProof="0">
                    <a:ln>
                      <a:noFill/>
                    </a:ln>
                    <a:solidFill>
                      <a:srgbClr val="046A38"/>
                    </a:solidFill>
                    <a:effectLst/>
                    <a:uLnTx/>
                    <a:uFillTx/>
                    <a:latin typeface="Segoe UI" panose="020B0502040204020203" pitchFamily="34" charset="0"/>
                    <a:ea typeface="+mn-ea"/>
                    <a:cs typeface="Segoe UI" panose="020B0502040204020203" pitchFamily="34" charset="0"/>
                    <a:sym typeface="Arial"/>
                  </a:rPr>
                  <a:t>▲</a:t>
                </a:r>
              </a:p>
            </p:txBody>
          </p:sp>
        </p:grpSp>
        <p:sp>
          <p:nvSpPr>
            <p:cNvPr id="27" name="Rounded Rectangle 18">
              <a:extLst>
                <a:ext uri="{FF2B5EF4-FFF2-40B4-BE49-F238E27FC236}">
                  <a16:creationId xmlns:a16="http://schemas.microsoft.com/office/drawing/2014/main" id="{D367344A-A86E-286C-2A89-9EFC4C9E2E3B}"/>
                </a:ext>
              </a:extLst>
            </p:cNvPr>
            <p:cNvSpPr/>
            <p:nvPr/>
          </p:nvSpPr>
          <p:spPr>
            <a:xfrm>
              <a:off x="594359" y="5582412"/>
              <a:ext cx="128016" cy="118872"/>
            </a:xfrm>
            <a:prstGeom prst="roundRect">
              <a:avLst>
                <a:gd name="adj" fmla="val 3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sp>
        <p:nvSpPr>
          <p:cNvPr id="59" name="Oval 58">
            <a:extLst>
              <a:ext uri="{FF2B5EF4-FFF2-40B4-BE49-F238E27FC236}">
                <a16:creationId xmlns:a16="http://schemas.microsoft.com/office/drawing/2014/main" id="{0ED31F04-07E7-6CB2-2CB0-F2A2D0E78D20}"/>
              </a:ext>
            </a:extLst>
          </p:cNvPr>
          <p:cNvSpPr/>
          <p:nvPr/>
        </p:nvSpPr>
        <p:spPr>
          <a:xfrm>
            <a:off x="827464" y="5754438"/>
            <a:ext cx="169200" cy="169200"/>
          </a:xfrm>
          <a:prstGeom prst="ellipse">
            <a:avLst/>
          </a:prstGeom>
          <a:solidFill>
            <a:srgbClr val="046A38"/>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dirty="0">
                <a:ln>
                  <a:noFill/>
                </a:ln>
                <a:solidFill>
                  <a:srgbClr val="FFFFFF"/>
                </a:solidFill>
                <a:effectLst/>
                <a:uLnTx/>
                <a:uFillTx/>
                <a:latin typeface="Segoe UI"/>
                <a:ea typeface="+mn-ea"/>
                <a:cs typeface="+mn-cs"/>
                <a:sym typeface="Arial"/>
              </a:rPr>
              <a:t>1</a:t>
            </a:r>
          </a:p>
        </p:txBody>
      </p:sp>
      <p:grpSp>
        <p:nvGrpSpPr>
          <p:cNvPr id="146" name="Group 145">
            <a:extLst>
              <a:ext uri="{FF2B5EF4-FFF2-40B4-BE49-F238E27FC236}">
                <a16:creationId xmlns:a16="http://schemas.microsoft.com/office/drawing/2014/main" id="{654676CB-216A-6328-C393-0596A9BAC590}"/>
              </a:ext>
            </a:extLst>
          </p:cNvPr>
          <p:cNvGrpSpPr/>
          <p:nvPr/>
        </p:nvGrpSpPr>
        <p:grpSpPr>
          <a:xfrm>
            <a:off x="249638" y="464705"/>
            <a:ext cx="11521440" cy="585793"/>
            <a:chOff x="249638" y="464705"/>
            <a:chExt cx="11521440" cy="585793"/>
          </a:xfrm>
        </p:grpSpPr>
        <p:sp>
          <p:nvSpPr>
            <p:cNvPr id="147" name="Text 22">
              <a:extLst>
                <a:ext uri="{FF2B5EF4-FFF2-40B4-BE49-F238E27FC236}">
                  <a16:creationId xmlns:a16="http://schemas.microsoft.com/office/drawing/2014/main" id="{75223A1A-4B36-DC63-83C4-1B21A2467724}"/>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SCALING THE OPERATION</a:t>
              </a:r>
            </a:p>
          </p:txBody>
        </p:sp>
        <p:sp>
          <p:nvSpPr>
            <p:cNvPr id="148" name="TextBox 147">
              <a:extLst>
                <a:ext uri="{FF2B5EF4-FFF2-40B4-BE49-F238E27FC236}">
                  <a16:creationId xmlns:a16="http://schemas.microsoft.com/office/drawing/2014/main" id="{341310A2-84E4-61BF-3F07-8846123B7246}"/>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a:ln>
                    <a:noFill/>
                  </a:ln>
                  <a:solidFill>
                    <a:srgbClr val="111111"/>
                  </a:solidFill>
                  <a:effectLst/>
                  <a:uLnTx/>
                  <a:uFillTx/>
                  <a:latin typeface="Segoe UI" panose="020B0502040204020203" pitchFamily="34" charset="0"/>
                  <a:cs typeface="Segoe UI" panose="020B0502040204020203" pitchFamily="34" charset="0"/>
                  <a:sym typeface="Arial"/>
                </a:rPr>
                <a:t>AI keeps growing, headcount steps back, and process redesign is the surprise</a:t>
              </a:r>
            </a:p>
          </p:txBody>
        </p:sp>
      </p:grpSp>
      <p:sp>
        <p:nvSpPr>
          <p:cNvPr id="155" name="TextBox 154">
            <a:extLst>
              <a:ext uri="{FF2B5EF4-FFF2-40B4-BE49-F238E27FC236}">
                <a16:creationId xmlns:a16="http://schemas.microsoft.com/office/drawing/2014/main" id="{438A6427-0FF3-31ED-4320-B9B5EFECD14B}"/>
              </a:ext>
            </a:extLst>
          </p:cNvPr>
          <p:cNvSpPr txBox="1"/>
          <p:nvPr/>
        </p:nvSpPr>
        <p:spPr>
          <a:xfrm>
            <a:off x="320040" y="1155192"/>
            <a:ext cx="11521440" cy="64633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1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rPr>
              <a:t>With most programs already self-rated as mature, the focus turns to how leaders plan to scale from here. Organizations were asked how they scale fraud and investigations operations today, and where their focus will be over the next three years. Across both banking and insurance, the answers point in the same direction.</a:t>
            </a:r>
            <a:endParaRPr kumimoji="0" lang="en-US" sz="1400" b="0"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endParaRPr>
          </a:p>
        </p:txBody>
      </p:sp>
      <p:sp>
        <p:nvSpPr>
          <p:cNvPr id="3" name="Rectangle 2">
            <a:extLst>
              <a:ext uri="{FF2B5EF4-FFF2-40B4-BE49-F238E27FC236}">
                <a16:creationId xmlns:a16="http://schemas.microsoft.com/office/drawing/2014/main" id="{EB5DBE57-AD00-69E4-D4A7-716D9010A3E7}"/>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D</a:t>
            </a:r>
            <a:r>
              <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 </a:t>
            </a:r>
            <a:endPar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6" name="Oval 5">
            <a:extLst>
              <a:ext uri="{FF2B5EF4-FFF2-40B4-BE49-F238E27FC236}">
                <a16:creationId xmlns:a16="http://schemas.microsoft.com/office/drawing/2014/main" id="{FB785E7B-D61A-05F7-4F82-2ACECE4AD0BB}"/>
              </a:ext>
            </a:extLst>
          </p:cNvPr>
          <p:cNvSpPr/>
          <p:nvPr/>
        </p:nvSpPr>
        <p:spPr>
          <a:xfrm>
            <a:off x="6027342" y="2005578"/>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1</a:t>
            </a:r>
          </a:p>
        </p:txBody>
      </p:sp>
      <p:sp>
        <p:nvSpPr>
          <p:cNvPr id="12" name="Oval 11">
            <a:extLst>
              <a:ext uri="{FF2B5EF4-FFF2-40B4-BE49-F238E27FC236}">
                <a16:creationId xmlns:a16="http://schemas.microsoft.com/office/drawing/2014/main" id="{493526E0-022A-38EF-223D-3708A8EBBD8E}"/>
              </a:ext>
            </a:extLst>
          </p:cNvPr>
          <p:cNvSpPr/>
          <p:nvPr/>
        </p:nvSpPr>
        <p:spPr>
          <a:xfrm>
            <a:off x="6027342" y="3694231"/>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2</a:t>
            </a:r>
          </a:p>
        </p:txBody>
      </p:sp>
      <p:sp>
        <p:nvSpPr>
          <p:cNvPr id="16" name="Oval 15">
            <a:extLst>
              <a:ext uri="{FF2B5EF4-FFF2-40B4-BE49-F238E27FC236}">
                <a16:creationId xmlns:a16="http://schemas.microsoft.com/office/drawing/2014/main" id="{FD5E5165-8571-9CDF-F110-9C7DD0508AB3}"/>
              </a:ext>
            </a:extLst>
          </p:cNvPr>
          <p:cNvSpPr/>
          <p:nvPr/>
        </p:nvSpPr>
        <p:spPr>
          <a:xfrm>
            <a:off x="6027342" y="5348534"/>
            <a:ext cx="366405" cy="366405"/>
          </a:xfrm>
          <a:prstGeom prst="ellipse">
            <a:avLst/>
          </a:prstGeom>
          <a:solidFill>
            <a:schemeClr val="tx1"/>
          </a:solidFill>
          <a:ln w="19050">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a:ln>
                  <a:noFill/>
                </a:ln>
                <a:solidFill>
                  <a:srgbClr val="FFFFFF"/>
                </a:solidFill>
                <a:effectLst/>
                <a:uLnTx/>
                <a:uFillTx/>
                <a:latin typeface="Segoe UI"/>
                <a:ea typeface="+mn-ea"/>
                <a:cs typeface="+mn-cs"/>
                <a:sym typeface="Arial"/>
              </a:rPr>
              <a:t>3</a:t>
            </a:r>
          </a:p>
        </p:txBody>
      </p:sp>
      <p:sp>
        <p:nvSpPr>
          <p:cNvPr id="18" name="Rectangle 17">
            <a:extLst>
              <a:ext uri="{FF2B5EF4-FFF2-40B4-BE49-F238E27FC236}">
                <a16:creationId xmlns:a16="http://schemas.microsoft.com/office/drawing/2014/main" id="{284ACE73-DD08-FF1B-EA0B-06B3BEF9D734}"/>
              </a:ext>
            </a:extLst>
          </p:cNvPr>
          <p:cNvSpPr/>
          <p:nvPr/>
        </p:nvSpPr>
        <p:spPr>
          <a:xfrm>
            <a:off x="2399991" y="3067076"/>
            <a:ext cx="1088114" cy="261610"/>
          </a:xfrm>
          <a:prstGeom prst="rect">
            <a:avLst/>
          </a:prstGeom>
          <a:noFill/>
        </p:spPr>
        <p:txBody>
          <a:bodyPr wrap="none" lIns="91440" tIns="45720" rIns="91440" bIns="45720">
            <a:prstTxWarp prst="textArchUp">
              <a:avLst>
                <a:gd name="adj" fmla="val 10468689"/>
              </a:avLst>
            </a:prstTxWarp>
            <a:spAutoFit/>
            <a:scene3d>
              <a:camera prst="orthographicFront">
                <a:rot lat="420000" lon="0" rev="0"/>
              </a:camera>
              <a:lightRig rig="threePt" dir="t"/>
            </a:scene3d>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w="0"/>
                <a:solidFill>
                  <a:srgbClr val="000000"/>
                </a:solidFill>
                <a:effectLst/>
                <a:uLnTx/>
                <a:uFillTx/>
                <a:latin typeface="Segoe UI" panose="020B0502040204020203" pitchFamily="34" charset="0"/>
                <a:cs typeface="Segoe UI" panose="020B0502040204020203" pitchFamily="34" charset="0"/>
                <a:sym typeface="Arial"/>
              </a:rPr>
              <a:t>FOCUS TODAY</a:t>
            </a:r>
          </a:p>
        </p:txBody>
      </p:sp>
    </p:spTree>
    <p:extLst>
      <p:ext uri="{BB962C8B-B14F-4D97-AF65-F5344CB8AC3E}">
        <p14:creationId xmlns:p14="http://schemas.microsoft.com/office/powerpoint/2010/main" val="161393993"/>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6D52B074-7025-5481-0B38-5D5BF5A48524}"/>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80281C64-5DE0-08AB-F211-6229FF02E066}"/>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4. Regulatory &amp; Market Change</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"Deepfakes, AI, and synthetic ids. AI is getting more advance, but regulations are slow[ing] down AI detection and fraudsters have a green field with AI with no oversight." </a:t>
            </a:r>
            <a:r>
              <a:rPr kumimoji="0" lang="en-US" sz="2000" b="1"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t>— Senior Manager of Large Global Financial Institution</a:t>
            </a:r>
            <a:endParaRPr kumimoji="0" lang="en-US" sz="2000" b="1" i="0" u="none" strike="noStrike" kern="0" cap="none" spc="0" normalizeH="0" baseline="0" noProof="0" dirty="0">
              <a:ln>
                <a:noFill/>
              </a:ln>
              <a:solidFill>
                <a:srgbClr val="000000"/>
              </a:solidFill>
              <a:effectLst/>
              <a:uLnTx/>
              <a:uFillTx/>
              <a:latin typeface="Open Sans"/>
              <a:ea typeface="Open Sans"/>
              <a:cs typeface="Open Sans"/>
              <a:sym typeface="Open Sans"/>
            </a:endParaRPr>
          </a:p>
        </p:txBody>
      </p:sp>
    </p:spTree>
    <p:extLst>
      <p:ext uri="{BB962C8B-B14F-4D97-AF65-F5344CB8AC3E}">
        <p14:creationId xmlns:p14="http://schemas.microsoft.com/office/powerpoint/2010/main" val="3769115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50D7C-60E8-61B9-4FFF-17120D67BC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A40D31-958F-BDE6-84D4-32882E3D3471}"/>
              </a:ext>
            </a:extLst>
          </p:cNvPr>
          <p:cNvSpPr/>
          <p:nvPr/>
        </p:nvSpPr>
        <p:spPr>
          <a:xfrm>
            <a:off x="0" y="0"/>
            <a:ext cx="12191695" cy="338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65" name="Rectangle 64">
            <a:extLst>
              <a:ext uri="{FF2B5EF4-FFF2-40B4-BE49-F238E27FC236}">
                <a16:creationId xmlns:a16="http://schemas.microsoft.com/office/drawing/2014/main" id="{0B52354D-4EB1-A450-A9C3-2F7EBAC5B1D7}"/>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prstClr val="whit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REGULATORY &amp; MARKET CHANGE</a:t>
            </a:r>
          </a:p>
        </p:txBody>
      </p:sp>
      <p:sp>
        <p:nvSpPr>
          <p:cNvPr id="15" name="Rounded Rectangle 7">
            <a:extLst>
              <a:ext uri="{FF2B5EF4-FFF2-40B4-BE49-F238E27FC236}">
                <a16:creationId xmlns:a16="http://schemas.microsoft.com/office/drawing/2014/main" id="{9EA536E0-F277-15DA-FEDA-1635656DD100}"/>
              </a:ext>
            </a:extLst>
          </p:cNvPr>
          <p:cNvSpPr/>
          <p:nvPr/>
        </p:nvSpPr>
        <p:spPr>
          <a:xfrm>
            <a:off x="320040" y="1868776"/>
            <a:ext cx="5235934" cy="333550"/>
          </a:xfrm>
          <a:prstGeom prst="roundRect">
            <a:avLst>
              <a:gd name="adj" fmla="val 15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48%</a:t>
            </a:r>
          </a:p>
        </p:txBody>
      </p:sp>
      <p:sp>
        <p:nvSpPr>
          <p:cNvPr id="19" name="Rounded Rectangle 9">
            <a:extLst>
              <a:ext uri="{FF2B5EF4-FFF2-40B4-BE49-F238E27FC236}">
                <a16:creationId xmlns:a16="http://schemas.microsoft.com/office/drawing/2014/main" id="{BA5BDED5-10D6-62A0-D11D-90543DD3386B}"/>
              </a:ext>
            </a:extLst>
          </p:cNvPr>
          <p:cNvSpPr/>
          <p:nvPr/>
        </p:nvSpPr>
        <p:spPr>
          <a:xfrm>
            <a:off x="320040" y="2257189"/>
            <a:ext cx="365760" cy="365760"/>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 name="Picture 20" descr="ic_tools_w.png">
            <a:extLst>
              <a:ext uri="{FF2B5EF4-FFF2-40B4-BE49-F238E27FC236}">
                <a16:creationId xmlns:a16="http://schemas.microsoft.com/office/drawing/2014/main" id="{A561603B-8668-DFC1-EEC2-037E4A88480C}"/>
              </a:ext>
            </a:extLst>
          </p:cNvPr>
          <p:cNvPicPr>
            <a:picLocks noChangeAspect="1"/>
          </p:cNvPicPr>
          <p:nvPr/>
        </p:nvPicPr>
        <p:blipFill>
          <a:blip r:embed="rId3"/>
          <a:stretch>
            <a:fillRect/>
          </a:stretch>
        </p:blipFill>
        <p:spPr>
          <a:xfrm>
            <a:off x="400508" y="2337657"/>
            <a:ext cx="204825" cy="204825"/>
          </a:xfrm>
          <a:prstGeom prst="rect">
            <a:avLst/>
          </a:prstGeom>
        </p:spPr>
      </p:pic>
      <p:sp>
        <p:nvSpPr>
          <p:cNvPr id="23" name="TextBox 22">
            <a:extLst>
              <a:ext uri="{FF2B5EF4-FFF2-40B4-BE49-F238E27FC236}">
                <a16:creationId xmlns:a16="http://schemas.microsoft.com/office/drawing/2014/main" id="{6A9DC6BC-5F4E-08EB-3950-B52F64E4A0B9}"/>
              </a:ext>
            </a:extLst>
          </p:cNvPr>
          <p:cNvSpPr txBox="1"/>
          <p:nvPr/>
        </p:nvSpPr>
        <p:spPr>
          <a:xfrm>
            <a:off x="777240" y="2257190"/>
            <a:ext cx="4994818"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3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Remediating existing gaps</a:t>
            </a:r>
          </a:p>
        </p:txBody>
      </p:sp>
      <p:sp>
        <p:nvSpPr>
          <p:cNvPr id="25" name="TextBox 24">
            <a:extLst>
              <a:ext uri="{FF2B5EF4-FFF2-40B4-BE49-F238E27FC236}">
                <a16:creationId xmlns:a16="http://schemas.microsoft.com/office/drawing/2014/main" id="{87CE4E8F-3398-5EFD-810F-187A9F12683A}"/>
              </a:ext>
            </a:extLst>
          </p:cNvPr>
          <p:cNvSpPr txBox="1"/>
          <p:nvPr/>
        </p:nvSpPr>
        <p:spPr>
          <a:xfrm>
            <a:off x="777240" y="2478236"/>
            <a:ext cx="4994818"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Fixing known compliance and control weaknesses</a:t>
            </a:r>
          </a:p>
        </p:txBody>
      </p:sp>
      <p:sp>
        <p:nvSpPr>
          <p:cNvPr id="27" name="Rounded Rectangle 13">
            <a:extLst>
              <a:ext uri="{FF2B5EF4-FFF2-40B4-BE49-F238E27FC236}">
                <a16:creationId xmlns:a16="http://schemas.microsoft.com/office/drawing/2014/main" id="{3DB750E4-63E9-C76A-6D81-D11FC90D8982}"/>
              </a:ext>
            </a:extLst>
          </p:cNvPr>
          <p:cNvSpPr/>
          <p:nvPr/>
        </p:nvSpPr>
        <p:spPr>
          <a:xfrm>
            <a:off x="5641452" y="1868776"/>
            <a:ext cx="4194311" cy="333550"/>
          </a:xfrm>
          <a:prstGeom prst="roundRect">
            <a:avLst>
              <a:gd name="adj" fmla="val 15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CA" sz="1800" b="1"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39%</a:t>
            </a:r>
          </a:p>
        </p:txBody>
      </p:sp>
      <p:grpSp>
        <p:nvGrpSpPr>
          <p:cNvPr id="207" name="Group 206">
            <a:extLst>
              <a:ext uri="{FF2B5EF4-FFF2-40B4-BE49-F238E27FC236}">
                <a16:creationId xmlns:a16="http://schemas.microsoft.com/office/drawing/2014/main" id="{081F1FC8-DF04-5ADF-F468-32B1B8B91CD7}"/>
              </a:ext>
            </a:extLst>
          </p:cNvPr>
          <p:cNvGrpSpPr/>
          <p:nvPr/>
        </p:nvGrpSpPr>
        <p:grpSpPr>
          <a:xfrm>
            <a:off x="5641452" y="2275478"/>
            <a:ext cx="365760" cy="365760"/>
            <a:chOff x="5881786" y="2434293"/>
            <a:chExt cx="365760" cy="365760"/>
          </a:xfrm>
        </p:grpSpPr>
        <p:sp>
          <p:nvSpPr>
            <p:cNvPr id="31" name="Rounded Rectangle 15">
              <a:extLst>
                <a:ext uri="{FF2B5EF4-FFF2-40B4-BE49-F238E27FC236}">
                  <a16:creationId xmlns:a16="http://schemas.microsoft.com/office/drawing/2014/main" id="{7CFA363B-E6DD-A701-8BDD-111C00239FA8}"/>
                </a:ext>
              </a:extLst>
            </p:cNvPr>
            <p:cNvSpPr/>
            <p:nvPr/>
          </p:nvSpPr>
          <p:spPr>
            <a:xfrm>
              <a:off x="5881786" y="2434293"/>
              <a:ext cx="365760" cy="365760"/>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33" name="Picture 32" descr="ic_binoc_w.png">
              <a:extLst>
                <a:ext uri="{FF2B5EF4-FFF2-40B4-BE49-F238E27FC236}">
                  <a16:creationId xmlns:a16="http://schemas.microsoft.com/office/drawing/2014/main" id="{3FFF9AED-09FA-08A0-DB9E-88F242AA0398}"/>
                </a:ext>
              </a:extLst>
            </p:cNvPr>
            <p:cNvPicPr>
              <a:picLocks noChangeAspect="1"/>
            </p:cNvPicPr>
            <p:nvPr/>
          </p:nvPicPr>
          <p:blipFill>
            <a:blip r:embed="rId4"/>
            <a:stretch>
              <a:fillRect/>
            </a:stretch>
          </p:blipFill>
          <p:spPr>
            <a:xfrm>
              <a:off x="5962253" y="2514760"/>
              <a:ext cx="204825" cy="204825"/>
            </a:xfrm>
            <a:prstGeom prst="rect">
              <a:avLst/>
            </a:prstGeom>
          </p:spPr>
        </p:pic>
      </p:grpSp>
      <p:sp>
        <p:nvSpPr>
          <p:cNvPr id="35" name="TextBox 34">
            <a:extLst>
              <a:ext uri="{FF2B5EF4-FFF2-40B4-BE49-F238E27FC236}">
                <a16:creationId xmlns:a16="http://schemas.microsoft.com/office/drawing/2014/main" id="{3C7D6C3D-248F-6D2A-60EB-256A11449FF7}"/>
              </a:ext>
            </a:extLst>
          </p:cNvPr>
          <p:cNvSpPr txBox="1"/>
          <p:nvPr/>
        </p:nvSpPr>
        <p:spPr>
          <a:xfrm>
            <a:off x="6080364" y="2257190"/>
            <a:ext cx="395542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023D20"/>
                </a:solidFill>
                <a:effectLst/>
                <a:uLnTx/>
                <a:uFillTx/>
                <a:latin typeface="Segoe UI" panose="020B0502040204020203" pitchFamily="34" charset="0"/>
                <a:ea typeface="+mn-ea"/>
                <a:cs typeface="Segoe UI" panose="020B0502040204020203" pitchFamily="34" charset="0"/>
                <a:sym typeface="Arial"/>
              </a:rPr>
              <a:t>Meeting upcoming regulation</a:t>
            </a:r>
          </a:p>
        </p:txBody>
      </p:sp>
      <p:sp>
        <p:nvSpPr>
          <p:cNvPr id="37" name="TextBox 36">
            <a:extLst>
              <a:ext uri="{FF2B5EF4-FFF2-40B4-BE49-F238E27FC236}">
                <a16:creationId xmlns:a16="http://schemas.microsoft.com/office/drawing/2014/main" id="{9E8C6F67-BB66-6F37-C8AD-5F6E07C4B569}"/>
              </a:ext>
            </a:extLst>
          </p:cNvPr>
          <p:cNvSpPr txBox="1"/>
          <p:nvPr/>
        </p:nvSpPr>
        <p:spPr>
          <a:xfrm>
            <a:off x="6080364" y="2478236"/>
            <a:ext cx="39554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Building ahead of new and draft requirements</a:t>
            </a:r>
          </a:p>
        </p:txBody>
      </p:sp>
      <p:sp>
        <p:nvSpPr>
          <p:cNvPr id="39" name="Rounded Rectangle 19">
            <a:extLst>
              <a:ext uri="{FF2B5EF4-FFF2-40B4-BE49-F238E27FC236}">
                <a16:creationId xmlns:a16="http://schemas.microsoft.com/office/drawing/2014/main" id="{4DDDF606-9EA5-2624-1B00-D8338977D8D0}"/>
              </a:ext>
            </a:extLst>
          </p:cNvPr>
          <p:cNvSpPr/>
          <p:nvPr/>
        </p:nvSpPr>
        <p:spPr>
          <a:xfrm>
            <a:off x="9921240" y="1868776"/>
            <a:ext cx="1911095" cy="333550"/>
          </a:xfrm>
          <a:prstGeom prst="roundRect">
            <a:avLst>
              <a:gd name="adj" fmla="val 15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13%</a:t>
            </a:r>
          </a:p>
        </p:txBody>
      </p:sp>
      <p:grpSp>
        <p:nvGrpSpPr>
          <p:cNvPr id="209" name="Group 208">
            <a:extLst>
              <a:ext uri="{FF2B5EF4-FFF2-40B4-BE49-F238E27FC236}">
                <a16:creationId xmlns:a16="http://schemas.microsoft.com/office/drawing/2014/main" id="{EE1E171E-99FC-9B31-D415-3115894F9143}"/>
              </a:ext>
            </a:extLst>
          </p:cNvPr>
          <p:cNvGrpSpPr/>
          <p:nvPr/>
        </p:nvGrpSpPr>
        <p:grpSpPr>
          <a:xfrm>
            <a:off x="9921240" y="2275478"/>
            <a:ext cx="365760" cy="365760"/>
            <a:chOff x="10385846" y="2434293"/>
            <a:chExt cx="365760" cy="365760"/>
          </a:xfrm>
        </p:grpSpPr>
        <p:sp>
          <p:nvSpPr>
            <p:cNvPr id="43" name="Rounded Rectangle 21">
              <a:extLst>
                <a:ext uri="{FF2B5EF4-FFF2-40B4-BE49-F238E27FC236}">
                  <a16:creationId xmlns:a16="http://schemas.microsoft.com/office/drawing/2014/main" id="{56B65900-34BE-9E1E-A03C-532FC6F02EA8}"/>
                </a:ext>
              </a:extLst>
            </p:cNvPr>
            <p:cNvSpPr/>
            <p:nvPr/>
          </p:nvSpPr>
          <p:spPr>
            <a:xfrm>
              <a:off x="10385846" y="2434293"/>
              <a:ext cx="365760" cy="365760"/>
            </a:xfrm>
            <a:prstGeom prst="roundRect">
              <a:avLst>
                <a:gd name="adj" fmla="val 5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45" name="Picture 44" descr="ic_minus_w.png">
              <a:extLst>
                <a:ext uri="{FF2B5EF4-FFF2-40B4-BE49-F238E27FC236}">
                  <a16:creationId xmlns:a16="http://schemas.microsoft.com/office/drawing/2014/main" id="{70654E4B-2430-C2B5-11C9-C26EEC30DDDA}"/>
                </a:ext>
              </a:extLst>
            </p:cNvPr>
            <p:cNvPicPr>
              <a:picLocks noChangeAspect="1"/>
            </p:cNvPicPr>
            <p:nvPr/>
          </p:nvPicPr>
          <p:blipFill>
            <a:blip r:embed="rId5"/>
            <a:stretch>
              <a:fillRect/>
            </a:stretch>
          </p:blipFill>
          <p:spPr>
            <a:xfrm>
              <a:off x="10466313" y="2514760"/>
              <a:ext cx="204825" cy="204825"/>
            </a:xfrm>
            <a:prstGeom prst="rect">
              <a:avLst/>
            </a:prstGeom>
          </p:spPr>
        </p:pic>
      </p:grpSp>
      <p:sp>
        <p:nvSpPr>
          <p:cNvPr id="47" name="TextBox 46">
            <a:extLst>
              <a:ext uri="{FF2B5EF4-FFF2-40B4-BE49-F238E27FC236}">
                <a16:creationId xmlns:a16="http://schemas.microsoft.com/office/drawing/2014/main" id="{920FB115-E40A-213A-FF89-34C34F8E1548}"/>
              </a:ext>
            </a:extLst>
          </p:cNvPr>
          <p:cNvSpPr txBox="1"/>
          <p:nvPr/>
        </p:nvSpPr>
        <p:spPr>
          <a:xfrm>
            <a:off x="10360152" y="2257189"/>
            <a:ext cx="1389888"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Not a driver</a:t>
            </a:r>
          </a:p>
        </p:txBody>
      </p:sp>
      <p:sp>
        <p:nvSpPr>
          <p:cNvPr id="49" name="TextBox 48">
            <a:extLst>
              <a:ext uri="{FF2B5EF4-FFF2-40B4-BE49-F238E27FC236}">
                <a16:creationId xmlns:a16="http://schemas.microsoft.com/office/drawing/2014/main" id="{EC5E0D81-7872-F885-D7E1-316824DD583E}"/>
              </a:ext>
            </a:extLst>
          </p:cNvPr>
          <p:cNvSpPr txBox="1"/>
          <p:nvPr/>
        </p:nvSpPr>
        <p:spPr>
          <a:xfrm>
            <a:off x="10360152" y="2478235"/>
            <a:ext cx="1389888"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Other priorities lead</a:t>
            </a:r>
          </a:p>
        </p:txBody>
      </p:sp>
      <p:sp>
        <p:nvSpPr>
          <p:cNvPr id="51" name="TextBox 50">
            <a:extLst>
              <a:ext uri="{FF2B5EF4-FFF2-40B4-BE49-F238E27FC236}">
                <a16:creationId xmlns:a16="http://schemas.microsoft.com/office/drawing/2014/main" id="{5050E19F-621A-8389-1700-5B987C34A70B}"/>
              </a:ext>
            </a:extLst>
          </p:cNvPr>
          <p:cNvSpPr txBox="1"/>
          <p:nvPr/>
        </p:nvSpPr>
        <p:spPr>
          <a:xfrm>
            <a:off x="320040" y="2956648"/>
            <a:ext cx="566928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rPr>
              <a:t>SMALLER INSTITUTIONS ARE </a:t>
            </a:r>
            <a:r>
              <a:rPr kumimoji="0" lang="en-US" sz="1500" b="1" i="0" u="none" strike="noStrike" kern="1200" cap="none" spc="0" normalizeH="0" baseline="0" noProof="0" dirty="0">
                <a:ln>
                  <a:noFill/>
                </a:ln>
                <a:solidFill>
                  <a:prstClr val="black"/>
                </a:solidFill>
                <a:effectLst/>
                <a:highlight>
                  <a:srgbClr val="FFFF00"/>
                </a:highlight>
                <a:uLnTx/>
                <a:uFillTx/>
                <a:latin typeface="Segoe UI" panose="020B0502040204020203" pitchFamily="34" charset="0"/>
                <a:ea typeface="+mn-ea"/>
                <a:cs typeface="Segoe UI" panose="020B0502040204020203" pitchFamily="34" charset="0"/>
                <a:sym typeface="Arial"/>
              </a:rPr>
              <a:t>STUCK</a:t>
            </a:r>
            <a:r>
              <a:rPr kumimoji="0" lang="en-US" sz="15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rPr>
              <a:t> ON REMEDIATION</a:t>
            </a:r>
            <a:endParaRPr kumimoji="0" lang="en-US" sz="15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endParaRPr>
          </a:p>
        </p:txBody>
      </p:sp>
      <p:sp>
        <p:nvSpPr>
          <p:cNvPr id="53" name="Rounded Rectangle 26">
            <a:extLst>
              <a:ext uri="{FF2B5EF4-FFF2-40B4-BE49-F238E27FC236}">
                <a16:creationId xmlns:a16="http://schemas.microsoft.com/office/drawing/2014/main" id="{3CB21993-8133-11CF-7891-D38E08F3B9F2}"/>
              </a:ext>
            </a:extLst>
          </p:cNvPr>
          <p:cNvSpPr/>
          <p:nvPr/>
        </p:nvSpPr>
        <p:spPr>
          <a:xfrm>
            <a:off x="338328" y="3405456"/>
            <a:ext cx="2798064" cy="2898065"/>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55" name="Rounded Rectangle 27">
            <a:extLst>
              <a:ext uri="{FF2B5EF4-FFF2-40B4-BE49-F238E27FC236}">
                <a16:creationId xmlns:a16="http://schemas.microsoft.com/office/drawing/2014/main" id="{247E382D-7518-61E6-3A5A-0E0975811561}"/>
              </a:ext>
            </a:extLst>
          </p:cNvPr>
          <p:cNvSpPr/>
          <p:nvPr/>
        </p:nvSpPr>
        <p:spPr>
          <a:xfrm>
            <a:off x="429768" y="3450409"/>
            <a:ext cx="540000" cy="540000"/>
          </a:xfrm>
          <a:prstGeom prst="roundRect">
            <a:avLst>
              <a:gd name="adj" fmla="val 50000"/>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57" name="Picture 56" descr="ic_bank_w.png">
            <a:extLst>
              <a:ext uri="{FF2B5EF4-FFF2-40B4-BE49-F238E27FC236}">
                <a16:creationId xmlns:a16="http://schemas.microsoft.com/office/drawing/2014/main" id="{93CC5BF3-F2B0-3189-AA7E-63AB7C0F3430}"/>
              </a:ext>
            </a:extLst>
          </p:cNvPr>
          <p:cNvPicPr>
            <a:picLocks noChangeAspect="1"/>
          </p:cNvPicPr>
          <p:nvPr/>
        </p:nvPicPr>
        <p:blipFill>
          <a:blip r:embed="rId6"/>
          <a:stretch>
            <a:fillRect/>
          </a:stretch>
        </p:blipFill>
        <p:spPr>
          <a:xfrm>
            <a:off x="548567" y="3569208"/>
            <a:ext cx="302400" cy="302400"/>
          </a:xfrm>
          <a:prstGeom prst="rect">
            <a:avLst/>
          </a:prstGeom>
        </p:spPr>
      </p:pic>
      <p:sp>
        <p:nvSpPr>
          <p:cNvPr id="59" name="TextBox 58">
            <a:extLst>
              <a:ext uri="{FF2B5EF4-FFF2-40B4-BE49-F238E27FC236}">
                <a16:creationId xmlns:a16="http://schemas.microsoft.com/office/drawing/2014/main" id="{7F2F4E9F-60EC-3386-6987-724B6B80F083}"/>
              </a:ext>
            </a:extLst>
          </p:cNvPr>
          <p:cNvSpPr txBox="1"/>
          <p:nvPr/>
        </p:nvSpPr>
        <p:spPr>
          <a:xfrm>
            <a:off x="1051558" y="3608914"/>
            <a:ext cx="2103120"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5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sym typeface="Arial"/>
              </a:rPr>
              <a:t>BANKING</a:t>
            </a:r>
          </a:p>
        </p:txBody>
      </p:sp>
      <p:sp>
        <p:nvSpPr>
          <p:cNvPr id="61" name="TextBox 60">
            <a:extLst>
              <a:ext uri="{FF2B5EF4-FFF2-40B4-BE49-F238E27FC236}">
                <a16:creationId xmlns:a16="http://schemas.microsoft.com/office/drawing/2014/main" id="{B59BD90A-0F10-4605-04E8-68877CB47B57}"/>
              </a:ext>
            </a:extLst>
          </p:cNvPr>
          <p:cNvSpPr txBox="1"/>
          <p:nvPr/>
        </p:nvSpPr>
        <p:spPr>
          <a:xfrm>
            <a:off x="457200" y="409963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Top 100 Global FIs </a:t>
            </a:r>
          </a:p>
        </p:txBody>
      </p:sp>
      <p:sp>
        <p:nvSpPr>
          <p:cNvPr id="63" name="Rounded Rectangle 31">
            <a:extLst>
              <a:ext uri="{FF2B5EF4-FFF2-40B4-BE49-F238E27FC236}">
                <a16:creationId xmlns:a16="http://schemas.microsoft.com/office/drawing/2014/main" id="{1AA4D6FA-6B38-9A17-BCB9-3DFEB5EEADA3}"/>
              </a:ext>
            </a:extLst>
          </p:cNvPr>
          <p:cNvSpPr/>
          <p:nvPr/>
        </p:nvSpPr>
        <p:spPr>
          <a:xfrm>
            <a:off x="457200" y="4309942"/>
            <a:ext cx="1059972"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66" name="Rounded Rectangle 32">
            <a:extLst>
              <a:ext uri="{FF2B5EF4-FFF2-40B4-BE49-F238E27FC236}">
                <a16:creationId xmlns:a16="http://schemas.microsoft.com/office/drawing/2014/main" id="{B116E1BF-8DE0-CCD6-E1D0-5081091C4C5D}"/>
              </a:ext>
            </a:extLst>
          </p:cNvPr>
          <p:cNvSpPr/>
          <p:nvPr/>
        </p:nvSpPr>
        <p:spPr>
          <a:xfrm>
            <a:off x="1517172" y="4309942"/>
            <a:ext cx="1211397"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68" name="Rounded Rectangle 33">
            <a:extLst>
              <a:ext uri="{FF2B5EF4-FFF2-40B4-BE49-F238E27FC236}">
                <a16:creationId xmlns:a16="http://schemas.microsoft.com/office/drawing/2014/main" id="{68D2A7AC-1D39-329B-744A-F133312D5B81}"/>
              </a:ext>
            </a:extLst>
          </p:cNvPr>
          <p:cNvSpPr/>
          <p:nvPr/>
        </p:nvSpPr>
        <p:spPr>
          <a:xfrm>
            <a:off x="2728569" y="4309942"/>
            <a:ext cx="252374" cy="164592"/>
          </a:xfrm>
          <a:prstGeom prst="roundRect">
            <a:avLst>
              <a:gd name="adj" fmla="val 3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0" name="TextBox 69">
            <a:extLst>
              <a:ext uri="{FF2B5EF4-FFF2-40B4-BE49-F238E27FC236}">
                <a16:creationId xmlns:a16="http://schemas.microsoft.com/office/drawing/2014/main" id="{E299BC18-0676-C1B4-A661-9D9C3BB8D746}"/>
              </a:ext>
            </a:extLst>
          </p:cNvPr>
          <p:cNvSpPr txBox="1"/>
          <p:nvPr/>
        </p:nvSpPr>
        <p:spPr>
          <a:xfrm>
            <a:off x="457200" y="4492822"/>
            <a:ext cx="256032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CA"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42% remediating</a:t>
            </a:r>
            <a:r>
              <a:rPr kumimoji="0" lang="en-CA"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kumimoji="0" lang="en-CA" sz="9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cs typeface="Segoe UI" panose="020B0502040204020203" pitchFamily="34" charset="0"/>
                <a:sym typeface="Arial"/>
              </a:rPr>
              <a:t>·</a:t>
            </a:r>
            <a:r>
              <a:rPr kumimoji="0"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48% upcoming</a:t>
            </a:r>
          </a:p>
        </p:txBody>
      </p:sp>
      <p:sp>
        <p:nvSpPr>
          <p:cNvPr id="72" name="TextBox 71">
            <a:extLst>
              <a:ext uri="{FF2B5EF4-FFF2-40B4-BE49-F238E27FC236}">
                <a16:creationId xmlns:a16="http://schemas.microsoft.com/office/drawing/2014/main" id="{D34B6BFD-52CE-926A-E414-696130E3A0C2}"/>
              </a:ext>
            </a:extLst>
          </p:cNvPr>
          <p:cNvSpPr txBox="1"/>
          <p:nvPr/>
        </p:nvSpPr>
        <p:spPr>
          <a:xfrm>
            <a:off x="457200" y="473971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Large FIs </a:t>
            </a:r>
          </a:p>
        </p:txBody>
      </p:sp>
      <p:sp>
        <p:nvSpPr>
          <p:cNvPr id="74" name="Rounded Rectangle 36">
            <a:extLst>
              <a:ext uri="{FF2B5EF4-FFF2-40B4-BE49-F238E27FC236}">
                <a16:creationId xmlns:a16="http://schemas.microsoft.com/office/drawing/2014/main" id="{536A357D-5A97-C645-E172-51BCE65FA7D3}"/>
              </a:ext>
            </a:extLst>
          </p:cNvPr>
          <p:cNvSpPr/>
          <p:nvPr/>
        </p:nvSpPr>
        <p:spPr>
          <a:xfrm>
            <a:off x="457200" y="4950022"/>
            <a:ext cx="1362821"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6" name="Rounded Rectangle 37">
            <a:extLst>
              <a:ext uri="{FF2B5EF4-FFF2-40B4-BE49-F238E27FC236}">
                <a16:creationId xmlns:a16="http://schemas.microsoft.com/office/drawing/2014/main" id="{69D7CB97-6733-904F-CF8C-FC7E876E6869}"/>
              </a:ext>
            </a:extLst>
          </p:cNvPr>
          <p:cNvSpPr/>
          <p:nvPr/>
        </p:nvSpPr>
        <p:spPr>
          <a:xfrm>
            <a:off x="1820021" y="4950022"/>
            <a:ext cx="731885"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78" name="Rounded Rectangle 38">
            <a:extLst>
              <a:ext uri="{FF2B5EF4-FFF2-40B4-BE49-F238E27FC236}">
                <a16:creationId xmlns:a16="http://schemas.microsoft.com/office/drawing/2014/main" id="{532FC1DF-30BC-C3AD-5E82-2EC1917A7E3E}"/>
              </a:ext>
            </a:extLst>
          </p:cNvPr>
          <p:cNvSpPr/>
          <p:nvPr/>
        </p:nvSpPr>
        <p:spPr>
          <a:xfrm>
            <a:off x="2551907" y="4950022"/>
            <a:ext cx="429036" cy="164592"/>
          </a:xfrm>
          <a:prstGeom prst="roundRect">
            <a:avLst>
              <a:gd name="adj" fmla="val 3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80" name="TextBox 79">
            <a:extLst>
              <a:ext uri="{FF2B5EF4-FFF2-40B4-BE49-F238E27FC236}">
                <a16:creationId xmlns:a16="http://schemas.microsoft.com/office/drawing/2014/main" id="{960B568E-1856-38FA-0D9D-65CD4820DD86}"/>
              </a:ext>
            </a:extLst>
          </p:cNvPr>
          <p:cNvSpPr txBox="1"/>
          <p:nvPr/>
        </p:nvSpPr>
        <p:spPr>
          <a:xfrm>
            <a:off x="457200" y="5132902"/>
            <a:ext cx="256032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54% remediating</a:t>
            </a:r>
            <a:r>
              <a:rPr kumimoji="0" lang="en-US"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kumimoji="0" lang="en-CA" sz="9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cs typeface="Segoe UI" panose="020B0502040204020203" pitchFamily="34" charset="0"/>
                <a:sym typeface="Arial"/>
              </a:rPr>
              <a:t>·</a:t>
            </a:r>
            <a:r>
              <a:rPr kumimoji="0" lang="en-CA"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lang="en-CA"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29% upcoming</a:t>
            </a:r>
          </a:p>
        </p:txBody>
      </p:sp>
      <p:sp>
        <p:nvSpPr>
          <p:cNvPr id="83" name="TextBox 82">
            <a:extLst>
              <a:ext uri="{FF2B5EF4-FFF2-40B4-BE49-F238E27FC236}">
                <a16:creationId xmlns:a16="http://schemas.microsoft.com/office/drawing/2014/main" id="{2B5EA2C3-6B0E-FA84-4C86-D358F5112252}"/>
              </a:ext>
            </a:extLst>
          </p:cNvPr>
          <p:cNvSpPr txBox="1"/>
          <p:nvPr/>
        </p:nvSpPr>
        <p:spPr>
          <a:xfrm>
            <a:off x="457200" y="5465962"/>
            <a:ext cx="2560320" cy="69249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Top 100 Global Financial Institutions are modestly weighted towards investing in upcoming regulatory requirements, whereas Large Financial Institutions are nearly twice as likely to prioritize remediation of existing gaps (54% vs. 29%).</a:t>
            </a:r>
            <a:endPar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sp>
        <p:nvSpPr>
          <p:cNvPr id="87" name="Rounded Rectangle 41">
            <a:extLst>
              <a:ext uri="{FF2B5EF4-FFF2-40B4-BE49-F238E27FC236}">
                <a16:creationId xmlns:a16="http://schemas.microsoft.com/office/drawing/2014/main" id="{019D10F1-32A3-81F0-5150-7EA335CA41A0}"/>
              </a:ext>
            </a:extLst>
          </p:cNvPr>
          <p:cNvSpPr/>
          <p:nvPr/>
        </p:nvSpPr>
        <p:spPr>
          <a:xfrm>
            <a:off x="3209544" y="3376939"/>
            <a:ext cx="2798064" cy="2898065"/>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1" name="Rounded Rectangle 42">
            <a:extLst>
              <a:ext uri="{FF2B5EF4-FFF2-40B4-BE49-F238E27FC236}">
                <a16:creationId xmlns:a16="http://schemas.microsoft.com/office/drawing/2014/main" id="{531A1A04-D92B-5956-982C-26012EE6F265}"/>
              </a:ext>
            </a:extLst>
          </p:cNvPr>
          <p:cNvSpPr/>
          <p:nvPr/>
        </p:nvSpPr>
        <p:spPr>
          <a:xfrm>
            <a:off x="3319272" y="3450409"/>
            <a:ext cx="540000" cy="540000"/>
          </a:xfrm>
          <a:prstGeom prst="roundRect">
            <a:avLst>
              <a:gd name="adj" fmla="val 50000"/>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94" name="Picture 93" descr="ic_shield_w.png">
            <a:extLst>
              <a:ext uri="{FF2B5EF4-FFF2-40B4-BE49-F238E27FC236}">
                <a16:creationId xmlns:a16="http://schemas.microsoft.com/office/drawing/2014/main" id="{C47F472F-82E9-7D84-A782-B82F12B8E78F}"/>
              </a:ext>
            </a:extLst>
          </p:cNvPr>
          <p:cNvPicPr>
            <a:picLocks noChangeAspect="1"/>
          </p:cNvPicPr>
          <p:nvPr/>
        </p:nvPicPr>
        <p:blipFill>
          <a:blip r:embed="rId7"/>
          <a:stretch>
            <a:fillRect/>
          </a:stretch>
        </p:blipFill>
        <p:spPr>
          <a:xfrm>
            <a:off x="3438071" y="3569208"/>
            <a:ext cx="302400" cy="302400"/>
          </a:xfrm>
          <a:prstGeom prst="rect">
            <a:avLst/>
          </a:prstGeom>
        </p:spPr>
      </p:pic>
      <p:sp>
        <p:nvSpPr>
          <p:cNvPr id="97" name="TextBox 96">
            <a:extLst>
              <a:ext uri="{FF2B5EF4-FFF2-40B4-BE49-F238E27FC236}">
                <a16:creationId xmlns:a16="http://schemas.microsoft.com/office/drawing/2014/main" id="{7DFBF664-782B-B417-11D6-6D7AF34BB78A}"/>
              </a:ext>
            </a:extLst>
          </p:cNvPr>
          <p:cNvSpPr txBox="1"/>
          <p:nvPr/>
        </p:nvSpPr>
        <p:spPr>
          <a:xfrm>
            <a:off x="3941062" y="3608914"/>
            <a:ext cx="2103120" cy="230832"/>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5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sym typeface="Arial"/>
              </a:rPr>
              <a:t>INSURANCE</a:t>
            </a:r>
          </a:p>
        </p:txBody>
      </p:sp>
      <p:sp>
        <p:nvSpPr>
          <p:cNvPr id="101" name="TextBox 100">
            <a:extLst>
              <a:ext uri="{FF2B5EF4-FFF2-40B4-BE49-F238E27FC236}">
                <a16:creationId xmlns:a16="http://schemas.microsoft.com/office/drawing/2014/main" id="{2B0C3D95-999F-D503-2CD1-3B30D8E03510}"/>
              </a:ext>
            </a:extLst>
          </p:cNvPr>
          <p:cNvSpPr txBox="1"/>
          <p:nvPr/>
        </p:nvSpPr>
        <p:spPr>
          <a:xfrm>
            <a:off x="3346704" y="409963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Top 50 Global Carriers </a:t>
            </a:r>
          </a:p>
        </p:txBody>
      </p:sp>
      <p:sp>
        <p:nvSpPr>
          <p:cNvPr id="105" name="Rounded Rectangle 46">
            <a:extLst>
              <a:ext uri="{FF2B5EF4-FFF2-40B4-BE49-F238E27FC236}">
                <a16:creationId xmlns:a16="http://schemas.microsoft.com/office/drawing/2014/main" id="{909F4EAA-89E2-E666-0D01-A5D404EF8F28}"/>
              </a:ext>
            </a:extLst>
          </p:cNvPr>
          <p:cNvSpPr/>
          <p:nvPr/>
        </p:nvSpPr>
        <p:spPr>
          <a:xfrm>
            <a:off x="3346704" y="4309942"/>
            <a:ext cx="832835"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9" name="Rounded Rectangle 47">
            <a:extLst>
              <a:ext uri="{FF2B5EF4-FFF2-40B4-BE49-F238E27FC236}">
                <a16:creationId xmlns:a16="http://schemas.microsoft.com/office/drawing/2014/main" id="{288F5202-EE92-6A05-6B43-DFB2AF9687EB}"/>
              </a:ext>
            </a:extLst>
          </p:cNvPr>
          <p:cNvSpPr/>
          <p:nvPr/>
        </p:nvSpPr>
        <p:spPr>
          <a:xfrm>
            <a:off x="4179539" y="4309942"/>
            <a:ext cx="1186159"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1" name="Rounded Rectangle 48">
            <a:extLst>
              <a:ext uri="{FF2B5EF4-FFF2-40B4-BE49-F238E27FC236}">
                <a16:creationId xmlns:a16="http://schemas.microsoft.com/office/drawing/2014/main" id="{79D68776-17B7-4712-E0E8-4076B392C78D}"/>
              </a:ext>
            </a:extLst>
          </p:cNvPr>
          <p:cNvSpPr/>
          <p:nvPr/>
        </p:nvSpPr>
        <p:spPr>
          <a:xfrm>
            <a:off x="5365699" y="4309942"/>
            <a:ext cx="504748" cy="164592"/>
          </a:xfrm>
          <a:prstGeom prst="roundRect">
            <a:avLst>
              <a:gd name="adj" fmla="val 3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3" name="TextBox 112">
            <a:extLst>
              <a:ext uri="{FF2B5EF4-FFF2-40B4-BE49-F238E27FC236}">
                <a16:creationId xmlns:a16="http://schemas.microsoft.com/office/drawing/2014/main" id="{E64A5243-F01A-A1CE-7283-DD3C79FAA3D1}"/>
              </a:ext>
            </a:extLst>
          </p:cNvPr>
          <p:cNvSpPr txBox="1"/>
          <p:nvPr/>
        </p:nvSpPr>
        <p:spPr>
          <a:xfrm>
            <a:off x="3346704" y="4492822"/>
            <a:ext cx="256032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33% remediating</a:t>
            </a:r>
            <a:r>
              <a:rPr kumimoji="0" lang="en-CA"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sym typeface="Arial"/>
              </a:rPr>
              <a:t>·</a:t>
            </a:r>
            <a:r>
              <a:rPr kumimoji="0"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47% upcoming</a:t>
            </a:r>
          </a:p>
        </p:txBody>
      </p:sp>
      <p:sp>
        <p:nvSpPr>
          <p:cNvPr id="117" name="TextBox 116">
            <a:extLst>
              <a:ext uri="{FF2B5EF4-FFF2-40B4-BE49-F238E27FC236}">
                <a16:creationId xmlns:a16="http://schemas.microsoft.com/office/drawing/2014/main" id="{323A9F63-B641-F4CE-98BE-1E914F4A6334}"/>
              </a:ext>
            </a:extLst>
          </p:cNvPr>
          <p:cNvSpPr txBox="1"/>
          <p:nvPr/>
        </p:nvSpPr>
        <p:spPr>
          <a:xfrm>
            <a:off x="3346704" y="4739710"/>
            <a:ext cx="2560320" cy="15388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sym typeface="Arial"/>
              </a:rPr>
              <a:t>Large Carriers </a:t>
            </a:r>
          </a:p>
        </p:txBody>
      </p:sp>
      <p:sp>
        <p:nvSpPr>
          <p:cNvPr id="121" name="Rounded Rectangle 51">
            <a:extLst>
              <a:ext uri="{FF2B5EF4-FFF2-40B4-BE49-F238E27FC236}">
                <a16:creationId xmlns:a16="http://schemas.microsoft.com/office/drawing/2014/main" id="{04362CDF-C0AD-33B9-343C-8D206875C852}"/>
              </a:ext>
            </a:extLst>
          </p:cNvPr>
          <p:cNvSpPr/>
          <p:nvPr/>
        </p:nvSpPr>
        <p:spPr>
          <a:xfrm>
            <a:off x="3346704" y="4950022"/>
            <a:ext cx="1766620" cy="164592"/>
          </a:xfrm>
          <a:prstGeom prst="roundRect">
            <a:avLst>
              <a:gd name="adj" fmla="val 3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25" name="Rounded Rectangle 52">
            <a:extLst>
              <a:ext uri="{FF2B5EF4-FFF2-40B4-BE49-F238E27FC236}">
                <a16:creationId xmlns:a16="http://schemas.microsoft.com/office/drawing/2014/main" id="{A776D1DA-4845-89B3-F1F1-CD0034CBA9AA}"/>
              </a:ext>
            </a:extLst>
          </p:cNvPr>
          <p:cNvSpPr/>
          <p:nvPr/>
        </p:nvSpPr>
        <p:spPr>
          <a:xfrm>
            <a:off x="5113324" y="4950022"/>
            <a:ext cx="757123" cy="164592"/>
          </a:xfrm>
          <a:prstGeom prst="roundRect">
            <a:avLst>
              <a:gd name="adj" fmla="val 3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31" name="TextBox 130">
            <a:extLst>
              <a:ext uri="{FF2B5EF4-FFF2-40B4-BE49-F238E27FC236}">
                <a16:creationId xmlns:a16="http://schemas.microsoft.com/office/drawing/2014/main" id="{8F286847-A7A6-9A4E-EB6F-CAF24535E962}"/>
              </a:ext>
            </a:extLst>
          </p:cNvPr>
          <p:cNvSpPr txBox="1"/>
          <p:nvPr/>
        </p:nvSpPr>
        <p:spPr>
          <a:xfrm>
            <a:off x="3346704" y="5132902"/>
            <a:ext cx="2560320" cy="1384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70% remediating</a:t>
            </a:r>
            <a:r>
              <a:rPr kumimoji="0" lang="en-US" sz="900" b="0"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 </a:t>
            </a:r>
            <a:r>
              <a:rPr kumimoji="0" lang="en-CA" sz="900" b="1" i="0" u="none" strike="noStrike" kern="1200" cap="none" spc="0" normalizeH="0" baseline="0" noProof="0">
                <a:ln>
                  <a:noFill/>
                </a:ln>
                <a:solidFill>
                  <a:prstClr val="black">
                    <a:lumMod val="75000"/>
                    <a:lumOff val="25000"/>
                  </a:prstClr>
                </a:solidFill>
                <a:effectLst/>
                <a:uLnTx/>
                <a:uFillTx/>
                <a:latin typeface="Segoe UI" panose="020B0502040204020203" pitchFamily="34" charset="0"/>
                <a:cs typeface="Segoe UI" panose="020B0502040204020203" pitchFamily="34" charset="0"/>
                <a:sym typeface="Arial"/>
              </a:rPr>
              <a:t>·</a:t>
            </a:r>
            <a:r>
              <a:rPr kumimoji="0" sz="9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30% upcoming</a:t>
            </a:r>
          </a:p>
        </p:txBody>
      </p:sp>
      <p:sp>
        <p:nvSpPr>
          <p:cNvPr id="135" name="TextBox 134">
            <a:extLst>
              <a:ext uri="{FF2B5EF4-FFF2-40B4-BE49-F238E27FC236}">
                <a16:creationId xmlns:a16="http://schemas.microsoft.com/office/drawing/2014/main" id="{4826E89B-63FF-4E0E-9F93-5D66FB6641BF}"/>
              </a:ext>
            </a:extLst>
          </p:cNvPr>
          <p:cNvSpPr txBox="1"/>
          <p:nvPr/>
        </p:nvSpPr>
        <p:spPr>
          <a:xfrm>
            <a:off x="3346704" y="5465962"/>
            <a:ext cx="2560320" cy="69249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The divergence is most pronounced in insurance, where 70% of Large Insurance Carriers prioritize investments to  remediation of existing gaps, compared with 33% of Top 50 Global Insurance Carriers.</a:t>
            </a:r>
            <a:endPar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endParaRPr>
          </a:p>
        </p:txBody>
      </p:sp>
      <p:grpSp>
        <p:nvGrpSpPr>
          <p:cNvPr id="85" name="Group 84">
            <a:extLst>
              <a:ext uri="{FF2B5EF4-FFF2-40B4-BE49-F238E27FC236}">
                <a16:creationId xmlns:a16="http://schemas.microsoft.com/office/drawing/2014/main" id="{A75582F6-C48A-4AA8-1067-6CCC55B28FED}"/>
              </a:ext>
            </a:extLst>
          </p:cNvPr>
          <p:cNvGrpSpPr/>
          <p:nvPr/>
        </p:nvGrpSpPr>
        <p:grpSpPr>
          <a:xfrm>
            <a:off x="249638" y="464705"/>
            <a:ext cx="11521440" cy="585793"/>
            <a:chOff x="249638" y="464705"/>
            <a:chExt cx="11521440" cy="585793"/>
          </a:xfrm>
        </p:grpSpPr>
        <p:sp>
          <p:nvSpPr>
            <p:cNvPr id="86" name="Text 22">
              <a:extLst>
                <a:ext uri="{FF2B5EF4-FFF2-40B4-BE49-F238E27FC236}">
                  <a16:creationId xmlns:a16="http://schemas.microsoft.com/office/drawing/2014/main" id="{177870FA-3ACD-7332-78B6-4C372F72BFF1}"/>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WHERE INVESTMENT IS GOING</a:t>
              </a:r>
            </a:p>
          </p:txBody>
        </p:sp>
        <p:sp>
          <p:nvSpPr>
            <p:cNvPr id="88" name="TextBox 87">
              <a:extLst>
                <a:ext uri="{FF2B5EF4-FFF2-40B4-BE49-F238E27FC236}">
                  <a16:creationId xmlns:a16="http://schemas.microsoft.com/office/drawing/2014/main" id="{DEBB915B-81C9-357E-9A6C-D4461E320A87}"/>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a:ln>
                    <a:noFill/>
                  </a:ln>
                  <a:solidFill>
                    <a:srgbClr val="111111"/>
                  </a:solidFill>
                  <a:effectLst/>
                  <a:uLnTx/>
                  <a:uFillTx/>
                  <a:latin typeface="Segoe UI" panose="020B0502040204020203" pitchFamily="34" charset="0"/>
                  <a:cs typeface="Segoe UI" panose="020B0502040204020203" pitchFamily="34" charset="0"/>
                  <a:sym typeface="Arial"/>
                </a:rPr>
                <a:t>Fraud programs prioritize today's compliance gaps over tomorrow's regulation</a:t>
              </a:r>
            </a:p>
          </p:txBody>
        </p:sp>
      </p:grpSp>
      <p:sp>
        <p:nvSpPr>
          <p:cNvPr id="90" name="TextBox 89">
            <a:extLst>
              <a:ext uri="{FF2B5EF4-FFF2-40B4-BE49-F238E27FC236}">
                <a16:creationId xmlns:a16="http://schemas.microsoft.com/office/drawing/2014/main" id="{70A5B6AA-FFFF-C955-3358-27406A79E032}"/>
              </a:ext>
            </a:extLst>
          </p:cNvPr>
          <p:cNvSpPr txBox="1"/>
          <p:nvPr/>
        </p:nvSpPr>
        <p:spPr>
          <a:xfrm>
            <a:off x="320040" y="1155192"/>
            <a:ext cx="11521440" cy="43088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Regulation remains a powerful driver of fraud spending: Nearly half (</a:t>
            </a:r>
            <a:r>
              <a:rPr kumimoji="0" lang="en-US" sz="1400" b="1"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48%</a:t>
            </a:r>
            <a:r>
              <a:rPr kumimoji="0" lang="en-US" sz="1400" b="0"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 are investing mainly to remediate existing compliance and control gaps, compared with </a:t>
            </a:r>
            <a:r>
              <a:rPr kumimoji="0" lang="en-US" sz="1400" b="1"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39%</a:t>
            </a:r>
            <a:r>
              <a:rPr kumimoji="0" lang="en-US" sz="1400" b="0" i="0" u="none" strike="noStrike" kern="1200" cap="none" spc="0" normalizeH="0" baseline="0" noProof="0">
                <a:ln>
                  <a:noFill/>
                </a:ln>
                <a:solidFill>
                  <a:srgbClr val="404040"/>
                </a:solidFill>
                <a:effectLst/>
                <a:uLnTx/>
                <a:uFillTx/>
                <a:latin typeface="Segoe UI" panose="020B0502040204020203" pitchFamily="34" charset="0"/>
                <a:cs typeface="Segoe UI" panose="020B0502040204020203" pitchFamily="34" charset="0"/>
                <a:sym typeface="Arial"/>
              </a:rPr>
              <a:t> investing ahead of upcoming and draft regulations. How organizations split depends heavily on their size and jurisdiction.</a:t>
            </a:r>
          </a:p>
        </p:txBody>
      </p:sp>
      <p:sp>
        <p:nvSpPr>
          <p:cNvPr id="7" name="Rectangle 6">
            <a:extLst>
              <a:ext uri="{FF2B5EF4-FFF2-40B4-BE49-F238E27FC236}">
                <a16:creationId xmlns:a16="http://schemas.microsoft.com/office/drawing/2014/main" id="{C9BC499B-EF51-8195-3EF5-13B813501B4D}"/>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E </a:t>
            </a:r>
            <a:endParaRPr kumimoji="0" lang="en-US" sz="8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
        <p:nvSpPr>
          <p:cNvPr id="84" name="TextBox 83">
            <a:extLst>
              <a:ext uri="{FF2B5EF4-FFF2-40B4-BE49-F238E27FC236}">
                <a16:creationId xmlns:a16="http://schemas.microsoft.com/office/drawing/2014/main" id="{6CD6A1FD-D2B5-936A-55E1-990105715E81}"/>
              </a:ext>
            </a:extLst>
          </p:cNvPr>
          <p:cNvSpPr txBox="1"/>
          <p:nvPr/>
        </p:nvSpPr>
        <p:spPr>
          <a:xfrm>
            <a:off x="6199632" y="2956648"/>
            <a:ext cx="5669280" cy="2308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rPr>
              <a:t>REGIONAL DIFFERENCES IN INVESTMENT FOCUS</a:t>
            </a:r>
            <a:endParaRPr kumimoji="0" sz="15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sym typeface="Arial"/>
            </a:endParaRPr>
          </a:p>
        </p:txBody>
      </p:sp>
      <p:sp>
        <p:nvSpPr>
          <p:cNvPr id="89" name="Rounded Rectangle 56">
            <a:extLst>
              <a:ext uri="{FF2B5EF4-FFF2-40B4-BE49-F238E27FC236}">
                <a16:creationId xmlns:a16="http://schemas.microsoft.com/office/drawing/2014/main" id="{AC4A3BE3-4C47-2874-3D26-5142108F623B}"/>
              </a:ext>
            </a:extLst>
          </p:cNvPr>
          <p:cNvSpPr/>
          <p:nvPr/>
        </p:nvSpPr>
        <p:spPr>
          <a:xfrm>
            <a:off x="8732520" y="3418494"/>
            <a:ext cx="118872" cy="118872"/>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2" name="TextBox 91">
            <a:extLst>
              <a:ext uri="{FF2B5EF4-FFF2-40B4-BE49-F238E27FC236}">
                <a16:creationId xmlns:a16="http://schemas.microsoft.com/office/drawing/2014/main" id="{43BB945E-BB9B-C29D-06F8-0BC0735D8B66}"/>
              </a:ext>
            </a:extLst>
          </p:cNvPr>
          <p:cNvSpPr txBox="1"/>
          <p:nvPr/>
        </p:nvSpPr>
        <p:spPr>
          <a:xfrm>
            <a:off x="8897112" y="3404108"/>
            <a:ext cx="102412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Remediation-led</a:t>
            </a:r>
          </a:p>
        </p:txBody>
      </p:sp>
      <p:sp>
        <p:nvSpPr>
          <p:cNvPr id="93" name="Rounded Rectangle 58">
            <a:extLst>
              <a:ext uri="{FF2B5EF4-FFF2-40B4-BE49-F238E27FC236}">
                <a16:creationId xmlns:a16="http://schemas.microsoft.com/office/drawing/2014/main" id="{85166313-735B-01F3-B204-54E7FFC5F79B}"/>
              </a:ext>
            </a:extLst>
          </p:cNvPr>
          <p:cNvSpPr/>
          <p:nvPr/>
        </p:nvSpPr>
        <p:spPr>
          <a:xfrm>
            <a:off x="9921240" y="3418494"/>
            <a:ext cx="118872" cy="118872"/>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5" name="TextBox 94">
            <a:extLst>
              <a:ext uri="{FF2B5EF4-FFF2-40B4-BE49-F238E27FC236}">
                <a16:creationId xmlns:a16="http://schemas.microsoft.com/office/drawing/2014/main" id="{EDB698EB-2EF4-5D7C-F768-52A8B83D5758}"/>
              </a:ext>
            </a:extLst>
          </p:cNvPr>
          <p:cNvSpPr txBox="1"/>
          <p:nvPr/>
        </p:nvSpPr>
        <p:spPr>
          <a:xfrm>
            <a:off x="10085832" y="3404108"/>
            <a:ext cx="102412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Forward-looking</a:t>
            </a:r>
          </a:p>
        </p:txBody>
      </p:sp>
      <p:sp>
        <p:nvSpPr>
          <p:cNvPr id="96" name="Rounded Rectangle 60">
            <a:extLst>
              <a:ext uri="{FF2B5EF4-FFF2-40B4-BE49-F238E27FC236}">
                <a16:creationId xmlns:a16="http://schemas.microsoft.com/office/drawing/2014/main" id="{E14C3506-87D4-B5EE-43B6-60396B5FF6F8}"/>
              </a:ext>
            </a:extLst>
          </p:cNvPr>
          <p:cNvSpPr/>
          <p:nvPr/>
        </p:nvSpPr>
        <p:spPr>
          <a:xfrm>
            <a:off x="11109960" y="3418494"/>
            <a:ext cx="118872" cy="118872"/>
          </a:xfrm>
          <a:prstGeom prst="roundRect">
            <a:avLst>
              <a:gd name="adj" fmla="val 5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98" name="TextBox 97">
            <a:extLst>
              <a:ext uri="{FF2B5EF4-FFF2-40B4-BE49-F238E27FC236}">
                <a16:creationId xmlns:a16="http://schemas.microsoft.com/office/drawing/2014/main" id="{1A2DEFFF-9967-2933-A3F7-4CA44B3497AB}"/>
              </a:ext>
            </a:extLst>
          </p:cNvPr>
          <p:cNvSpPr txBox="1"/>
          <p:nvPr/>
        </p:nvSpPr>
        <p:spPr>
          <a:xfrm>
            <a:off x="11274552" y="3404108"/>
            <a:ext cx="777240"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Evenly split</a:t>
            </a:r>
          </a:p>
        </p:txBody>
      </p:sp>
      <p:pic>
        <p:nvPicPr>
          <p:cNvPr id="99" name="Picture 98" descr="worldmap.png">
            <a:extLst>
              <a:ext uri="{FF2B5EF4-FFF2-40B4-BE49-F238E27FC236}">
                <a16:creationId xmlns:a16="http://schemas.microsoft.com/office/drawing/2014/main" id="{C76FD326-DD6B-FDE9-3B4E-0FCF09CA0F80}"/>
              </a:ext>
            </a:extLst>
          </p:cNvPr>
          <p:cNvPicPr>
            <a:picLocks noChangeAspect="1"/>
          </p:cNvPicPr>
          <p:nvPr/>
        </p:nvPicPr>
        <p:blipFill>
          <a:blip r:embed="rId8"/>
          <a:stretch>
            <a:fillRect/>
          </a:stretch>
        </p:blipFill>
        <p:spPr>
          <a:xfrm>
            <a:off x="6199632" y="3802542"/>
            <a:ext cx="5669280" cy="2258568"/>
          </a:xfrm>
          <a:prstGeom prst="rect">
            <a:avLst/>
          </a:prstGeom>
        </p:spPr>
      </p:pic>
      <p:sp>
        <p:nvSpPr>
          <p:cNvPr id="100" name="Rounded Rectangle 63">
            <a:extLst>
              <a:ext uri="{FF2B5EF4-FFF2-40B4-BE49-F238E27FC236}">
                <a16:creationId xmlns:a16="http://schemas.microsoft.com/office/drawing/2014/main" id="{2FF9C98C-1B69-CEAF-5A97-156E6EF4AEF0}"/>
              </a:ext>
            </a:extLst>
          </p:cNvPr>
          <p:cNvSpPr/>
          <p:nvPr/>
        </p:nvSpPr>
        <p:spPr>
          <a:xfrm>
            <a:off x="7377176" y="4066702"/>
            <a:ext cx="164592" cy="164592"/>
          </a:xfrm>
          <a:prstGeom prst="roundRect">
            <a:avLst>
              <a:gd name="adj" fmla="val 50000"/>
            </a:avLst>
          </a:prstGeom>
          <a:solidFill>
            <a:srgbClr val="FFFFFF"/>
          </a:solidFill>
          <a:ln w="31750">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2" name="Rounded Rectangle 64">
            <a:extLst>
              <a:ext uri="{FF2B5EF4-FFF2-40B4-BE49-F238E27FC236}">
                <a16:creationId xmlns:a16="http://schemas.microsoft.com/office/drawing/2014/main" id="{F358A262-F7F1-9B26-9172-DFA117583857}"/>
              </a:ext>
            </a:extLst>
          </p:cNvPr>
          <p:cNvSpPr/>
          <p:nvPr/>
        </p:nvSpPr>
        <p:spPr>
          <a:xfrm>
            <a:off x="7427468" y="4116994"/>
            <a:ext cx="64008" cy="64008"/>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3" name="Rounded Rectangle 65">
            <a:extLst>
              <a:ext uri="{FF2B5EF4-FFF2-40B4-BE49-F238E27FC236}">
                <a16:creationId xmlns:a16="http://schemas.microsoft.com/office/drawing/2014/main" id="{87207E75-163B-222F-3345-2537483F190B}"/>
              </a:ext>
            </a:extLst>
          </p:cNvPr>
          <p:cNvSpPr/>
          <p:nvPr/>
        </p:nvSpPr>
        <p:spPr>
          <a:xfrm>
            <a:off x="7408672" y="4365914"/>
            <a:ext cx="164592" cy="164592"/>
          </a:xfrm>
          <a:prstGeom prst="roundRect">
            <a:avLst>
              <a:gd name="adj" fmla="val 50000"/>
            </a:avLst>
          </a:prstGeom>
          <a:solidFill>
            <a:srgbClr val="FFFFFF"/>
          </a:solidFill>
          <a:ln w="31750">
            <a:solidFill>
              <a:srgbClr val="8A8D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4" name="Rounded Rectangle 66">
            <a:extLst>
              <a:ext uri="{FF2B5EF4-FFF2-40B4-BE49-F238E27FC236}">
                <a16:creationId xmlns:a16="http://schemas.microsoft.com/office/drawing/2014/main" id="{F8E09CF6-1C54-D3CF-8804-BFFC150B6A04}"/>
              </a:ext>
            </a:extLst>
          </p:cNvPr>
          <p:cNvSpPr/>
          <p:nvPr/>
        </p:nvSpPr>
        <p:spPr>
          <a:xfrm>
            <a:off x="7458964" y="4416206"/>
            <a:ext cx="64008" cy="64008"/>
          </a:xfrm>
          <a:prstGeom prst="roundRect">
            <a:avLst>
              <a:gd name="adj" fmla="val 50000"/>
            </a:avLst>
          </a:prstGeom>
          <a:solidFill>
            <a:srgbClr val="8A8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6" name="Rounded Rectangle 67">
            <a:extLst>
              <a:ext uri="{FF2B5EF4-FFF2-40B4-BE49-F238E27FC236}">
                <a16:creationId xmlns:a16="http://schemas.microsoft.com/office/drawing/2014/main" id="{9A725818-B7BC-ABC3-8195-C2BD660CC3FE}"/>
              </a:ext>
            </a:extLst>
          </p:cNvPr>
          <p:cNvSpPr/>
          <p:nvPr/>
        </p:nvSpPr>
        <p:spPr>
          <a:xfrm>
            <a:off x="9077960" y="4192686"/>
            <a:ext cx="164592" cy="164592"/>
          </a:xfrm>
          <a:prstGeom prst="roundRect">
            <a:avLst>
              <a:gd name="adj" fmla="val 50000"/>
            </a:avLst>
          </a:prstGeom>
          <a:solidFill>
            <a:srgbClr val="FFFFFF"/>
          </a:solidFill>
          <a:ln w="31750">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7" name="Rounded Rectangle 68">
            <a:extLst>
              <a:ext uri="{FF2B5EF4-FFF2-40B4-BE49-F238E27FC236}">
                <a16:creationId xmlns:a16="http://schemas.microsoft.com/office/drawing/2014/main" id="{51AC15B9-E86D-FD6F-A419-537322AD1FEA}"/>
              </a:ext>
            </a:extLst>
          </p:cNvPr>
          <p:cNvSpPr/>
          <p:nvPr/>
        </p:nvSpPr>
        <p:spPr>
          <a:xfrm>
            <a:off x="9128252" y="4242978"/>
            <a:ext cx="64008" cy="64008"/>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08" name="Rounded Rectangle 69">
            <a:extLst>
              <a:ext uri="{FF2B5EF4-FFF2-40B4-BE49-F238E27FC236}">
                <a16:creationId xmlns:a16="http://schemas.microsoft.com/office/drawing/2014/main" id="{A68ABFFD-632B-89E3-D900-16A9E1811728}"/>
              </a:ext>
            </a:extLst>
          </p:cNvPr>
          <p:cNvSpPr/>
          <p:nvPr/>
        </p:nvSpPr>
        <p:spPr>
          <a:xfrm>
            <a:off x="10586618" y="4958826"/>
            <a:ext cx="164592" cy="164592"/>
          </a:xfrm>
          <a:prstGeom prst="roundRect">
            <a:avLst>
              <a:gd name="adj" fmla="val 50000"/>
            </a:avLst>
          </a:prstGeom>
          <a:solidFill>
            <a:srgbClr val="FFFFFF"/>
          </a:solidFill>
          <a:ln w="31750">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0" name="Rounded Rectangle 70">
            <a:extLst>
              <a:ext uri="{FF2B5EF4-FFF2-40B4-BE49-F238E27FC236}">
                <a16:creationId xmlns:a16="http://schemas.microsoft.com/office/drawing/2014/main" id="{D03808F7-6698-DB05-3D24-E3CF31A60A92}"/>
              </a:ext>
            </a:extLst>
          </p:cNvPr>
          <p:cNvSpPr/>
          <p:nvPr/>
        </p:nvSpPr>
        <p:spPr>
          <a:xfrm>
            <a:off x="10636910" y="5009118"/>
            <a:ext cx="64008" cy="64008"/>
          </a:xfrm>
          <a:prstGeom prst="roundRect">
            <a:avLst>
              <a:gd name="adj" fmla="val 50000"/>
            </a:avLst>
          </a:prstGeom>
          <a:solidFill>
            <a:srgbClr val="6FB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2" name="Rounded Rectangle 71">
            <a:extLst>
              <a:ext uri="{FF2B5EF4-FFF2-40B4-BE49-F238E27FC236}">
                <a16:creationId xmlns:a16="http://schemas.microsoft.com/office/drawing/2014/main" id="{45867D1C-0B2A-1924-B42C-96A82063C9A6}"/>
              </a:ext>
            </a:extLst>
          </p:cNvPr>
          <p:cNvSpPr/>
          <p:nvPr/>
        </p:nvSpPr>
        <p:spPr>
          <a:xfrm>
            <a:off x="11062208" y="5373786"/>
            <a:ext cx="164592" cy="164592"/>
          </a:xfrm>
          <a:prstGeom prst="roundRect">
            <a:avLst>
              <a:gd name="adj" fmla="val 50000"/>
            </a:avLst>
          </a:prstGeom>
          <a:solidFill>
            <a:srgbClr val="FFFFFF"/>
          </a:solidFill>
          <a:ln w="31750">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114" name="Rounded Rectangle 72">
            <a:extLst>
              <a:ext uri="{FF2B5EF4-FFF2-40B4-BE49-F238E27FC236}">
                <a16:creationId xmlns:a16="http://schemas.microsoft.com/office/drawing/2014/main" id="{DABC61B4-A8C4-699E-8447-BE315EF52E87}"/>
              </a:ext>
            </a:extLst>
          </p:cNvPr>
          <p:cNvSpPr/>
          <p:nvPr/>
        </p:nvSpPr>
        <p:spPr>
          <a:xfrm>
            <a:off x="11112500" y="5424078"/>
            <a:ext cx="64008" cy="64008"/>
          </a:xfrm>
          <a:prstGeom prst="roundRect">
            <a:avLst>
              <a:gd name="adj" fmla="val 50000"/>
            </a:avLst>
          </a:prstGeom>
          <a:solidFill>
            <a:srgbClr val="CC3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cxnSp>
        <p:nvCxnSpPr>
          <p:cNvPr id="115" name="Connector 73">
            <a:extLst>
              <a:ext uri="{FF2B5EF4-FFF2-40B4-BE49-F238E27FC236}">
                <a16:creationId xmlns:a16="http://schemas.microsoft.com/office/drawing/2014/main" id="{0AE1A628-7318-9AFD-61C1-3170DE07DBB4}"/>
              </a:ext>
            </a:extLst>
          </p:cNvPr>
          <p:cNvCxnSpPr/>
          <p:nvPr/>
        </p:nvCxnSpPr>
        <p:spPr>
          <a:xfrm>
            <a:off x="7459472" y="4049430"/>
            <a:ext cx="0" cy="99568"/>
          </a:xfrm>
          <a:prstGeom prst="line">
            <a:avLst/>
          </a:prstGeom>
          <a:ln w="15875">
            <a:solidFill>
              <a:srgbClr val="CC3300"/>
            </a:solidFill>
          </a:ln>
        </p:spPr>
        <p:style>
          <a:lnRef idx="2">
            <a:schemeClr val="accent1"/>
          </a:lnRef>
          <a:fillRef idx="0">
            <a:schemeClr val="accent1"/>
          </a:fillRef>
          <a:effectRef idx="1">
            <a:schemeClr val="accent1"/>
          </a:effectRef>
          <a:fontRef idx="minor">
            <a:schemeClr val="tx1"/>
          </a:fontRef>
        </p:style>
      </p:cxnSp>
      <p:sp>
        <p:nvSpPr>
          <p:cNvPr id="116" name="Rounded Rectangle 74">
            <a:extLst>
              <a:ext uri="{FF2B5EF4-FFF2-40B4-BE49-F238E27FC236}">
                <a16:creationId xmlns:a16="http://schemas.microsoft.com/office/drawing/2014/main" id="{7DA22549-B935-7069-0E05-D622C48EA5F7}"/>
              </a:ext>
            </a:extLst>
          </p:cNvPr>
          <p:cNvSpPr/>
          <p:nvPr/>
        </p:nvSpPr>
        <p:spPr>
          <a:xfrm>
            <a:off x="6263640" y="3628806"/>
            <a:ext cx="1371600" cy="420624"/>
          </a:xfrm>
          <a:prstGeom prst="roundRect">
            <a:avLst>
              <a:gd name="adj" fmla="val 12000"/>
            </a:avLst>
          </a:prstGeom>
          <a:solidFill>
            <a:srgbClr val="FFFFFF"/>
          </a:solidFill>
          <a:ln w="15875">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18" name="Picture 117" descr="ca.png">
            <a:extLst>
              <a:ext uri="{FF2B5EF4-FFF2-40B4-BE49-F238E27FC236}">
                <a16:creationId xmlns:a16="http://schemas.microsoft.com/office/drawing/2014/main" id="{256C9CB9-0BEB-A906-F37B-66E6F1AB9242}"/>
              </a:ext>
            </a:extLst>
          </p:cNvPr>
          <p:cNvPicPr>
            <a:picLocks noChangeAspect="1"/>
          </p:cNvPicPr>
          <p:nvPr/>
        </p:nvPicPr>
        <p:blipFill>
          <a:blip r:embed="rId9"/>
          <a:stretch>
            <a:fillRect/>
          </a:stretch>
        </p:blipFill>
        <p:spPr>
          <a:xfrm>
            <a:off x="6336792" y="3692814"/>
            <a:ext cx="233172" cy="155448"/>
          </a:xfrm>
          <a:prstGeom prst="roundRect">
            <a:avLst/>
          </a:prstGeom>
          <a:ln w="6350">
            <a:solidFill>
              <a:srgbClr val="D0D0CE"/>
            </a:solidFill>
          </a:ln>
        </p:spPr>
      </p:pic>
      <p:sp>
        <p:nvSpPr>
          <p:cNvPr id="119" name="TextBox 118">
            <a:extLst>
              <a:ext uri="{FF2B5EF4-FFF2-40B4-BE49-F238E27FC236}">
                <a16:creationId xmlns:a16="http://schemas.microsoft.com/office/drawing/2014/main" id="{F3086939-1BBA-5680-885E-747E6BF85E05}"/>
              </a:ext>
            </a:extLst>
          </p:cNvPr>
          <p:cNvSpPr txBox="1"/>
          <p:nvPr/>
        </p:nvSpPr>
        <p:spPr>
          <a:xfrm>
            <a:off x="6624827" y="3689022"/>
            <a:ext cx="982980"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Canad</a:t>
            </a: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a</a:t>
            </a:r>
            <a:endPar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120" name="TextBox 119">
            <a:extLst>
              <a:ext uri="{FF2B5EF4-FFF2-40B4-BE49-F238E27FC236}">
                <a16:creationId xmlns:a16="http://schemas.microsoft.com/office/drawing/2014/main" id="{55755B18-91B5-356E-4528-1595265A7519}"/>
              </a:ext>
            </a:extLst>
          </p:cNvPr>
          <p:cNvSpPr txBox="1"/>
          <p:nvPr/>
        </p:nvSpPr>
        <p:spPr>
          <a:xfrm>
            <a:off x="6316914" y="3873145"/>
            <a:ext cx="1340330"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CC3300"/>
                </a:solidFill>
                <a:effectLst/>
                <a:uLnTx/>
                <a:uFillTx/>
                <a:latin typeface="Segoe UI" panose="020B0502040204020203" pitchFamily="34" charset="0"/>
                <a:ea typeface="+mn-ea"/>
                <a:cs typeface="Segoe UI" panose="020B0502040204020203" pitchFamily="34" charset="0"/>
                <a:sym typeface="Arial"/>
              </a:rPr>
              <a:t>63%</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remediating</a:t>
            </a:r>
          </a:p>
        </p:txBody>
      </p:sp>
      <p:cxnSp>
        <p:nvCxnSpPr>
          <p:cNvPr id="122" name="Connector 78">
            <a:extLst>
              <a:ext uri="{FF2B5EF4-FFF2-40B4-BE49-F238E27FC236}">
                <a16:creationId xmlns:a16="http://schemas.microsoft.com/office/drawing/2014/main" id="{C449ACC9-967B-2CF6-B084-E22C98A0C85F}"/>
              </a:ext>
            </a:extLst>
          </p:cNvPr>
          <p:cNvCxnSpPr/>
          <p:nvPr/>
        </p:nvCxnSpPr>
        <p:spPr>
          <a:xfrm flipV="1">
            <a:off x="7490968" y="4448210"/>
            <a:ext cx="0" cy="424180"/>
          </a:xfrm>
          <a:prstGeom prst="line">
            <a:avLst/>
          </a:prstGeom>
          <a:ln w="15875">
            <a:solidFill>
              <a:srgbClr val="8A8D90"/>
            </a:solidFill>
          </a:ln>
        </p:spPr>
        <p:style>
          <a:lnRef idx="2">
            <a:schemeClr val="accent1"/>
          </a:lnRef>
          <a:fillRef idx="0">
            <a:schemeClr val="accent1"/>
          </a:fillRef>
          <a:effectRef idx="1">
            <a:schemeClr val="accent1"/>
          </a:effectRef>
          <a:fontRef idx="minor">
            <a:schemeClr val="tx1"/>
          </a:fontRef>
        </p:style>
      </p:cxnSp>
      <p:sp>
        <p:nvSpPr>
          <p:cNvPr id="123" name="Rounded Rectangle 79">
            <a:extLst>
              <a:ext uri="{FF2B5EF4-FFF2-40B4-BE49-F238E27FC236}">
                <a16:creationId xmlns:a16="http://schemas.microsoft.com/office/drawing/2014/main" id="{8CBB12DC-9D3D-3ECB-FF34-D25E665183E3}"/>
              </a:ext>
            </a:extLst>
          </p:cNvPr>
          <p:cNvSpPr/>
          <p:nvPr/>
        </p:nvSpPr>
        <p:spPr>
          <a:xfrm>
            <a:off x="6263640" y="4872390"/>
            <a:ext cx="2001992" cy="420624"/>
          </a:xfrm>
          <a:prstGeom prst="roundRect">
            <a:avLst>
              <a:gd name="adj" fmla="val 12000"/>
            </a:avLst>
          </a:prstGeom>
          <a:solidFill>
            <a:srgbClr val="FFFFFF"/>
          </a:solidFill>
          <a:ln w="15875">
            <a:solidFill>
              <a:srgbClr val="8A8D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24" name="Picture 123" descr="us.png">
            <a:extLst>
              <a:ext uri="{FF2B5EF4-FFF2-40B4-BE49-F238E27FC236}">
                <a16:creationId xmlns:a16="http://schemas.microsoft.com/office/drawing/2014/main" id="{42DE2EC9-9524-E4DC-E2D5-DD62BD74DBAE}"/>
              </a:ext>
            </a:extLst>
          </p:cNvPr>
          <p:cNvPicPr>
            <a:picLocks noChangeAspect="1"/>
          </p:cNvPicPr>
          <p:nvPr/>
        </p:nvPicPr>
        <p:blipFill>
          <a:blip r:embed="rId10"/>
          <a:stretch>
            <a:fillRect/>
          </a:stretch>
        </p:blipFill>
        <p:spPr>
          <a:xfrm>
            <a:off x="6336792" y="4936398"/>
            <a:ext cx="233172" cy="155448"/>
          </a:xfrm>
          <a:prstGeom prst="roundRect">
            <a:avLst/>
          </a:prstGeom>
          <a:ln w="6350">
            <a:solidFill>
              <a:srgbClr val="D0D0CE"/>
            </a:solidFill>
          </a:ln>
        </p:spPr>
      </p:pic>
      <p:sp>
        <p:nvSpPr>
          <p:cNvPr id="126" name="TextBox 125">
            <a:extLst>
              <a:ext uri="{FF2B5EF4-FFF2-40B4-BE49-F238E27FC236}">
                <a16:creationId xmlns:a16="http://schemas.microsoft.com/office/drawing/2014/main" id="{6366FF55-3A21-7252-26C2-EF4EE6D89CB6}"/>
              </a:ext>
            </a:extLst>
          </p:cNvPr>
          <p:cNvSpPr txBox="1"/>
          <p:nvPr/>
        </p:nvSpPr>
        <p:spPr>
          <a:xfrm>
            <a:off x="6624827" y="4932605"/>
            <a:ext cx="1485899"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United States</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p>
        </p:txBody>
      </p:sp>
      <p:sp>
        <p:nvSpPr>
          <p:cNvPr id="128" name="TextBox 127">
            <a:extLst>
              <a:ext uri="{FF2B5EF4-FFF2-40B4-BE49-F238E27FC236}">
                <a16:creationId xmlns:a16="http://schemas.microsoft.com/office/drawing/2014/main" id="{192768D3-3B5E-5012-2169-AC5C6EB2A5FE}"/>
              </a:ext>
            </a:extLst>
          </p:cNvPr>
          <p:cNvSpPr txBox="1"/>
          <p:nvPr/>
        </p:nvSpPr>
        <p:spPr>
          <a:xfrm>
            <a:off x="6316914" y="5100336"/>
            <a:ext cx="1874519"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8A8D90"/>
                </a:solidFill>
                <a:effectLst/>
                <a:uLnTx/>
                <a:uFillTx/>
                <a:latin typeface="Segoe UI" panose="020B0502040204020203" pitchFamily="34" charset="0"/>
                <a:ea typeface="+mn-ea"/>
                <a:cs typeface="Segoe UI" panose="020B0502040204020203" pitchFamily="34" charset="0"/>
                <a:sym typeface="Arial"/>
              </a:rPr>
              <a:t>41% / 43%</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remediating / upcoming</a:t>
            </a:r>
          </a:p>
        </p:txBody>
      </p:sp>
      <p:cxnSp>
        <p:nvCxnSpPr>
          <p:cNvPr id="129" name="Connector 83">
            <a:extLst>
              <a:ext uri="{FF2B5EF4-FFF2-40B4-BE49-F238E27FC236}">
                <a16:creationId xmlns:a16="http://schemas.microsoft.com/office/drawing/2014/main" id="{469C3D29-2FF1-36AE-E662-1794CB3E8652}"/>
              </a:ext>
            </a:extLst>
          </p:cNvPr>
          <p:cNvCxnSpPr/>
          <p:nvPr/>
        </p:nvCxnSpPr>
        <p:spPr>
          <a:xfrm>
            <a:off x="9160256" y="4012854"/>
            <a:ext cx="0" cy="262128"/>
          </a:xfrm>
          <a:prstGeom prst="line">
            <a:avLst/>
          </a:prstGeom>
          <a:ln w="15875">
            <a:solidFill>
              <a:srgbClr val="6FBF5A"/>
            </a:solidFill>
          </a:ln>
        </p:spPr>
        <p:style>
          <a:lnRef idx="2">
            <a:schemeClr val="accent1"/>
          </a:lnRef>
          <a:fillRef idx="0">
            <a:schemeClr val="accent1"/>
          </a:fillRef>
          <a:effectRef idx="1">
            <a:schemeClr val="accent1"/>
          </a:effectRef>
          <a:fontRef idx="minor">
            <a:schemeClr val="tx1"/>
          </a:fontRef>
        </p:style>
      </p:cxnSp>
      <p:sp>
        <p:nvSpPr>
          <p:cNvPr id="130" name="Rounded Rectangle 84">
            <a:extLst>
              <a:ext uri="{FF2B5EF4-FFF2-40B4-BE49-F238E27FC236}">
                <a16:creationId xmlns:a16="http://schemas.microsoft.com/office/drawing/2014/main" id="{92AB7DF5-9FD1-E46B-88DE-9A7DED121D82}"/>
              </a:ext>
            </a:extLst>
          </p:cNvPr>
          <p:cNvSpPr/>
          <p:nvPr/>
        </p:nvSpPr>
        <p:spPr>
          <a:xfrm>
            <a:off x="8412480" y="3592230"/>
            <a:ext cx="1417320" cy="420624"/>
          </a:xfrm>
          <a:prstGeom prst="roundRect">
            <a:avLst>
              <a:gd name="adj" fmla="val 12000"/>
            </a:avLst>
          </a:prstGeom>
          <a:solidFill>
            <a:srgbClr val="FFFFFF"/>
          </a:solidFill>
          <a:ln w="15875">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32" name="Picture 131" descr="eu.png">
            <a:extLst>
              <a:ext uri="{FF2B5EF4-FFF2-40B4-BE49-F238E27FC236}">
                <a16:creationId xmlns:a16="http://schemas.microsoft.com/office/drawing/2014/main" id="{9B50C184-524D-0E18-D2FB-57EB4A35BAEF}"/>
              </a:ext>
            </a:extLst>
          </p:cNvPr>
          <p:cNvPicPr>
            <a:picLocks noChangeAspect="1"/>
          </p:cNvPicPr>
          <p:nvPr/>
        </p:nvPicPr>
        <p:blipFill>
          <a:blip r:embed="rId11"/>
          <a:stretch>
            <a:fillRect/>
          </a:stretch>
        </p:blipFill>
        <p:spPr>
          <a:xfrm>
            <a:off x="8485632" y="3656238"/>
            <a:ext cx="233172" cy="155448"/>
          </a:xfrm>
          <a:prstGeom prst="roundRect">
            <a:avLst/>
          </a:prstGeom>
          <a:ln w="6350">
            <a:solidFill>
              <a:srgbClr val="D0D0CE"/>
            </a:solidFill>
          </a:ln>
        </p:spPr>
      </p:pic>
      <p:pic>
        <p:nvPicPr>
          <p:cNvPr id="133" name="Picture 132" descr="uk.png">
            <a:extLst>
              <a:ext uri="{FF2B5EF4-FFF2-40B4-BE49-F238E27FC236}">
                <a16:creationId xmlns:a16="http://schemas.microsoft.com/office/drawing/2014/main" id="{78A3D044-CE17-AB80-01CE-FFBF2498A788}"/>
              </a:ext>
            </a:extLst>
          </p:cNvPr>
          <p:cNvPicPr>
            <a:picLocks noChangeAspect="1"/>
          </p:cNvPicPr>
          <p:nvPr/>
        </p:nvPicPr>
        <p:blipFill>
          <a:blip r:embed="rId12"/>
          <a:stretch>
            <a:fillRect/>
          </a:stretch>
        </p:blipFill>
        <p:spPr>
          <a:xfrm>
            <a:off x="8755380" y="3656238"/>
            <a:ext cx="233172" cy="155448"/>
          </a:xfrm>
          <a:prstGeom prst="roundRect">
            <a:avLst/>
          </a:prstGeom>
          <a:ln w="6350">
            <a:solidFill>
              <a:srgbClr val="D0D0CE"/>
            </a:solidFill>
          </a:ln>
        </p:spPr>
      </p:pic>
      <p:sp>
        <p:nvSpPr>
          <p:cNvPr id="134" name="TextBox 133">
            <a:extLst>
              <a:ext uri="{FF2B5EF4-FFF2-40B4-BE49-F238E27FC236}">
                <a16:creationId xmlns:a16="http://schemas.microsoft.com/office/drawing/2014/main" id="{04B4A419-709A-9408-A656-B40A32CFB6B8}"/>
              </a:ext>
            </a:extLst>
          </p:cNvPr>
          <p:cNvSpPr txBox="1"/>
          <p:nvPr/>
        </p:nvSpPr>
        <p:spPr>
          <a:xfrm>
            <a:off x="9043415" y="3652446"/>
            <a:ext cx="758952"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EU + </a:t>
            </a:r>
            <a:r>
              <a:rPr kumimoji="0" lang="en-US"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UK</a:t>
            </a:r>
            <a:endPar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136" name="TextBox 135">
            <a:extLst>
              <a:ext uri="{FF2B5EF4-FFF2-40B4-BE49-F238E27FC236}">
                <a16:creationId xmlns:a16="http://schemas.microsoft.com/office/drawing/2014/main" id="{A246B7D7-6F7B-2FEB-B6EA-D24AD369A5BE}"/>
              </a:ext>
            </a:extLst>
          </p:cNvPr>
          <p:cNvSpPr txBox="1"/>
          <p:nvPr/>
        </p:nvSpPr>
        <p:spPr>
          <a:xfrm>
            <a:off x="8465753" y="3836569"/>
            <a:ext cx="1388893"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50%</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upcoming</a:t>
            </a:r>
          </a:p>
        </p:txBody>
      </p:sp>
      <p:cxnSp>
        <p:nvCxnSpPr>
          <p:cNvPr id="137" name="Connector 89">
            <a:extLst>
              <a:ext uri="{FF2B5EF4-FFF2-40B4-BE49-F238E27FC236}">
                <a16:creationId xmlns:a16="http://schemas.microsoft.com/office/drawing/2014/main" id="{2016EC1D-4C2E-778F-686F-504E23CBAAAC}"/>
              </a:ext>
            </a:extLst>
          </p:cNvPr>
          <p:cNvCxnSpPr/>
          <p:nvPr/>
        </p:nvCxnSpPr>
        <p:spPr>
          <a:xfrm>
            <a:off x="10515600" y="5041122"/>
            <a:ext cx="153314" cy="0"/>
          </a:xfrm>
          <a:prstGeom prst="line">
            <a:avLst/>
          </a:prstGeom>
          <a:ln w="15875">
            <a:solidFill>
              <a:srgbClr val="6FBF5A"/>
            </a:solidFill>
          </a:ln>
        </p:spPr>
        <p:style>
          <a:lnRef idx="2">
            <a:schemeClr val="accent1"/>
          </a:lnRef>
          <a:fillRef idx="0">
            <a:schemeClr val="accent1"/>
          </a:fillRef>
          <a:effectRef idx="1">
            <a:schemeClr val="accent1"/>
          </a:effectRef>
          <a:fontRef idx="minor">
            <a:schemeClr val="tx1"/>
          </a:fontRef>
        </p:style>
      </p:cxnSp>
      <p:sp>
        <p:nvSpPr>
          <p:cNvPr id="138" name="Rounded Rectangle 90">
            <a:extLst>
              <a:ext uri="{FF2B5EF4-FFF2-40B4-BE49-F238E27FC236}">
                <a16:creationId xmlns:a16="http://schemas.microsoft.com/office/drawing/2014/main" id="{2B2976E3-9BE7-4839-3297-F5FDCD581AF4}"/>
              </a:ext>
            </a:extLst>
          </p:cNvPr>
          <p:cNvSpPr/>
          <p:nvPr/>
        </p:nvSpPr>
        <p:spPr>
          <a:xfrm>
            <a:off x="9189720" y="4854102"/>
            <a:ext cx="1325880" cy="420624"/>
          </a:xfrm>
          <a:prstGeom prst="roundRect">
            <a:avLst>
              <a:gd name="adj" fmla="val 12000"/>
            </a:avLst>
          </a:prstGeom>
          <a:solidFill>
            <a:srgbClr val="FFFFFF"/>
          </a:solidFill>
          <a:ln w="15875">
            <a:solidFill>
              <a:srgbClr val="6FB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39" name="Picture 138" descr="sg.png">
            <a:extLst>
              <a:ext uri="{FF2B5EF4-FFF2-40B4-BE49-F238E27FC236}">
                <a16:creationId xmlns:a16="http://schemas.microsoft.com/office/drawing/2014/main" id="{EBE9495B-8318-FF88-D368-D62B41B98E3E}"/>
              </a:ext>
            </a:extLst>
          </p:cNvPr>
          <p:cNvPicPr>
            <a:picLocks noChangeAspect="1"/>
          </p:cNvPicPr>
          <p:nvPr/>
        </p:nvPicPr>
        <p:blipFill>
          <a:blip r:embed="rId13"/>
          <a:stretch>
            <a:fillRect/>
          </a:stretch>
        </p:blipFill>
        <p:spPr>
          <a:xfrm>
            <a:off x="9262872" y="4918110"/>
            <a:ext cx="233172" cy="155448"/>
          </a:xfrm>
          <a:prstGeom prst="roundRect">
            <a:avLst/>
          </a:prstGeom>
          <a:ln w="6350">
            <a:solidFill>
              <a:srgbClr val="D0D0CE"/>
            </a:solidFill>
          </a:ln>
        </p:spPr>
      </p:pic>
      <p:sp>
        <p:nvSpPr>
          <p:cNvPr id="140" name="TextBox 139">
            <a:extLst>
              <a:ext uri="{FF2B5EF4-FFF2-40B4-BE49-F238E27FC236}">
                <a16:creationId xmlns:a16="http://schemas.microsoft.com/office/drawing/2014/main" id="{02CA68A2-3088-7C3E-F0AE-8E160DBE09F4}"/>
              </a:ext>
            </a:extLst>
          </p:cNvPr>
          <p:cNvSpPr txBox="1"/>
          <p:nvPr/>
        </p:nvSpPr>
        <p:spPr>
          <a:xfrm>
            <a:off x="9550908" y="4914318"/>
            <a:ext cx="937259"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Singapore</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p>
        </p:txBody>
      </p:sp>
      <p:sp>
        <p:nvSpPr>
          <p:cNvPr id="141" name="TextBox 140">
            <a:extLst>
              <a:ext uri="{FF2B5EF4-FFF2-40B4-BE49-F238E27FC236}">
                <a16:creationId xmlns:a16="http://schemas.microsoft.com/office/drawing/2014/main" id="{CCD185B5-3F9B-C4E3-E014-81737590E3FD}"/>
              </a:ext>
            </a:extLst>
          </p:cNvPr>
          <p:cNvSpPr txBox="1"/>
          <p:nvPr/>
        </p:nvSpPr>
        <p:spPr>
          <a:xfrm>
            <a:off x="9242994" y="5098441"/>
            <a:ext cx="129176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6FBF5A"/>
                </a:solidFill>
                <a:effectLst/>
                <a:uLnTx/>
                <a:uFillTx/>
                <a:latin typeface="Segoe UI" panose="020B0502040204020203" pitchFamily="34" charset="0"/>
                <a:ea typeface="+mn-ea"/>
                <a:cs typeface="Segoe UI" panose="020B0502040204020203" pitchFamily="34" charset="0"/>
                <a:sym typeface="Arial"/>
              </a:rPr>
              <a:t>50%</a:t>
            </a:r>
            <a:r>
              <a:rPr kumimoji="0" sz="900" b="0" i="0" u="none" strike="noStrike" kern="1200" cap="none" spc="0" normalizeH="0" baseline="0" noProof="0">
                <a:ln>
                  <a:noFill/>
                </a:ln>
                <a:solidFill>
                  <a:srgbClr val="404040"/>
                </a:solidFill>
                <a:effectLst/>
                <a:uLnTx/>
                <a:uFillTx/>
                <a:latin typeface="Segoe UI" panose="020B0502040204020203" pitchFamily="34" charset="0"/>
                <a:ea typeface="+mn-ea"/>
                <a:cs typeface="Segoe UI" panose="020B0502040204020203" pitchFamily="34" charset="0"/>
                <a:sym typeface="Arial"/>
              </a:rPr>
              <a:t>  upcoming</a:t>
            </a:r>
          </a:p>
        </p:txBody>
      </p:sp>
      <p:cxnSp>
        <p:nvCxnSpPr>
          <p:cNvPr id="142" name="Connector 94">
            <a:extLst>
              <a:ext uri="{FF2B5EF4-FFF2-40B4-BE49-F238E27FC236}">
                <a16:creationId xmlns:a16="http://schemas.microsoft.com/office/drawing/2014/main" id="{D62735C6-269D-58D0-D771-69E9D95D4965}"/>
              </a:ext>
            </a:extLst>
          </p:cNvPr>
          <p:cNvCxnSpPr/>
          <p:nvPr/>
        </p:nvCxnSpPr>
        <p:spPr>
          <a:xfrm>
            <a:off x="10515600" y="5456082"/>
            <a:ext cx="628904" cy="0"/>
          </a:xfrm>
          <a:prstGeom prst="line">
            <a:avLst/>
          </a:prstGeom>
          <a:ln w="15875">
            <a:solidFill>
              <a:srgbClr val="CC3300"/>
            </a:solidFill>
          </a:ln>
        </p:spPr>
        <p:style>
          <a:lnRef idx="2">
            <a:schemeClr val="accent1"/>
          </a:lnRef>
          <a:fillRef idx="0">
            <a:schemeClr val="accent1"/>
          </a:fillRef>
          <a:effectRef idx="1">
            <a:schemeClr val="accent1"/>
          </a:effectRef>
          <a:fontRef idx="minor">
            <a:schemeClr val="tx1"/>
          </a:fontRef>
        </p:style>
      </p:cxnSp>
      <p:sp>
        <p:nvSpPr>
          <p:cNvPr id="143" name="Rounded Rectangle 95">
            <a:extLst>
              <a:ext uri="{FF2B5EF4-FFF2-40B4-BE49-F238E27FC236}">
                <a16:creationId xmlns:a16="http://schemas.microsoft.com/office/drawing/2014/main" id="{DBDEE5A7-FB08-0E03-6589-E3E9F5398AF2}"/>
              </a:ext>
            </a:extLst>
          </p:cNvPr>
          <p:cNvSpPr/>
          <p:nvPr/>
        </p:nvSpPr>
        <p:spPr>
          <a:xfrm>
            <a:off x="9189720" y="5421030"/>
            <a:ext cx="1325880" cy="420624"/>
          </a:xfrm>
          <a:prstGeom prst="roundRect">
            <a:avLst>
              <a:gd name="adj" fmla="val 12000"/>
            </a:avLst>
          </a:prstGeom>
          <a:solidFill>
            <a:srgbClr val="FFFFFF"/>
          </a:solidFill>
          <a:ln w="15875">
            <a:solidFill>
              <a:srgbClr val="CC3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44" name="Picture 143" descr="au.png">
            <a:extLst>
              <a:ext uri="{FF2B5EF4-FFF2-40B4-BE49-F238E27FC236}">
                <a16:creationId xmlns:a16="http://schemas.microsoft.com/office/drawing/2014/main" id="{9B509B38-F41D-25A5-3CDE-0BBF8220C87B}"/>
              </a:ext>
            </a:extLst>
          </p:cNvPr>
          <p:cNvPicPr>
            <a:picLocks noChangeAspect="1"/>
          </p:cNvPicPr>
          <p:nvPr/>
        </p:nvPicPr>
        <p:blipFill>
          <a:blip r:embed="rId14"/>
          <a:stretch>
            <a:fillRect/>
          </a:stretch>
        </p:blipFill>
        <p:spPr>
          <a:xfrm>
            <a:off x="9262872" y="5485038"/>
            <a:ext cx="233172" cy="155448"/>
          </a:xfrm>
          <a:prstGeom prst="roundRect">
            <a:avLst/>
          </a:prstGeom>
          <a:ln w="6350">
            <a:solidFill>
              <a:srgbClr val="D0D0CE"/>
            </a:solidFill>
          </a:ln>
        </p:spPr>
      </p:pic>
      <p:sp>
        <p:nvSpPr>
          <p:cNvPr id="145" name="TextBox 144">
            <a:extLst>
              <a:ext uri="{FF2B5EF4-FFF2-40B4-BE49-F238E27FC236}">
                <a16:creationId xmlns:a16="http://schemas.microsoft.com/office/drawing/2014/main" id="{41E7C86A-AB7C-9238-393C-3716CBE07C4A}"/>
              </a:ext>
            </a:extLst>
          </p:cNvPr>
          <p:cNvSpPr txBox="1"/>
          <p:nvPr/>
        </p:nvSpPr>
        <p:spPr>
          <a:xfrm>
            <a:off x="9550908" y="5481246"/>
            <a:ext cx="937259" cy="153888"/>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sym typeface="Arial"/>
              </a:rPr>
              <a:t>Australia</a:t>
            </a:r>
            <a:r>
              <a:rPr kumimoji="0" sz="1000" b="0" i="0" u="none" strike="noStrike" kern="1200" cap="none" spc="0" normalizeH="0" baseline="0" noProof="0">
                <a:ln>
                  <a:noFill/>
                </a:ln>
                <a:solidFill>
                  <a:srgbClr val="75787B"/>
                </a:solidFill>
                <a:effectLst/>
                <a:uLnTx/>
                <a:uFillTx/>
                <a:latin typeface="Segoe UI" panose="020B0502040204020203" pitchFamily="34" charset="0"/>
                <a:ea typeface="+mn-ea"/>
                <a:cs typeface="Segoe UI" panose="020B0502040204020203" pitchFamily="34" charset="0"/>
                <a:sym typeface="Arial"/>
              </a:rPr>
              <a:t> </a:t>
            </a:r>
          </a:p>
        </p:txBody>
      </p:sp>
      <p:sp>
        <p:nvSpPr>
          <p:cNvPr id="146" name="TextBox 145">
            <a:extLst>
              <a:ext uri="{FF2B5EF4-FFF2-40B4-BE49-F238E27FC236}">
                <a16:creationId xmlns:a16="http://schemas.microsoft.com/office/drawing/2014/main" id="{A7CB9D72-9EE9-C595-FD14-0985A82EFE0C}"/>
              </a:ext>
            </a:extLst>
          </p:cNvPr>
          <p:cNvSpPr txBox="1"/>
          <p:nvPr/>
        </p:nvSpPr>
        <p:spPr>
          <a:xfrm>
            <a:off x="9242994" y="5665369"/>
            <a:ext cx="1291768" cy="138499"/>
          </a:xfrm>
          <a:prstGeom prst="rect">
            <a:avLst/>
          </a:prstGeom>
          <a:noFill/>
          <a:ln/>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dirty="0">
                <a:ln>
                  <a:noFill/>
                </a:ln>
                <a:solidFill>
                  <a:srgbClr val="CC3300"/>
                </a:solidFill>
                <a:effectLst/>
                <a:uLnTx/>
                <a:uFillTx/>
                <a:latin typeface="Segoe UI" panose="020B0502040204020203" pitchFamily="34" charset="0"/>
                <a:ea typeface="+mn-ea"/>
                <a:cs typeface="Segoe UI" panose="020B0502040204020203" pitchFamily="34" charset="0"/>
                <a:sym typeface="Arial"/>
              </a:rPr>
              <a:t>63%</a:t>
            </a:r>
            <a:r>
              <a:rPr kumimoji="0" sz="9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remediating</a:t>
            </a:r>
          </a:p>
        </p:txBody>
      </p:sp>
    </p:spTree>
    <p:extLst>
      <p:ext uri="{BB962C8B-B14F-4D97-AF65-F5344CB8AC3E}">
        <p14:creationId xmlns:p14="http://schemas.microsoft.com/office/powerpoint/2010/main" val="1174598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96C25-6E9F-1053-C296-EA995A01ED29}"/>
            </a:ext>
          </a:extLst>
        </p:cNvPr>
        <p:cNvGrpSpPr/>
        <p:nvPr/>
      </p:nvGrpSpPr>
      <p:grpSpPr>
        <a:xfrm>
          <a:off x="0" y="0"/>
          <a:ext cx="0" cy="0"/>
          <a:chOff x="0" y="0"/>
          <a:chExt cx="0" cy="0"/>
        </a:xfrm>
      </p:grpSpPr>
      <p:sp>
        <p:nvSpPr>
          <p:cNvPr id="341" name="Rounded Rectangle 50">
            <a:extLst>
              <a:ext uri="{FF2B5EF4-FFF2-40B4-BE49-F238E27FC236}">
                <a16:creationId xmlns:a16="http://schemas.microsoft.com/office/drawing/2014/main" id="{83E508CE-6292-4A8D-09DC-FD434ED780E7}"/>
              </a:ext>
            </a:extLst>
          </p:cNvPr>
          <p:cNvSpPr/>
          <p:nvPr/>
        </p:nvSpPr>
        <p:spPr>
          <a:xfrm>
            <a:off x="320040" y="5638800"/>
            <a:ext cx="5632704" cy="901444"/>
          </a:xfrm>
          <a:prstGeom prst="roundRect">
            <a:avLst>
              <a:gd name="adj" fmla="val 5000"/>
            </a:avLst>
          </a:prstGeom>
          <a:solidFill>
            <a:srgbClr val="FFFFFF"/>
          </a:solidFill>
          <a:ln w="38100">
            <a:solidFill>
              <a:srgbClr val="F0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2" name="Rectangle 1">
            <a:extLst>
              <a:ext uri="{FF2B5EF4-FFF2-40B4-BE49-F238E27FC236}">
                <a16:creationId xmlns:a16="http://schemas.microsoft.com/office/drawing/2014/main" id="{BE8F940B-7B5E-69E5-059A-DCB16FD6D2F4}"/>
              </a:ext>
            </a:extLst>
          </p:cNvPr>
          <p:cNvSpPr/>
          <p:nvPr/>
        </p:nvSpPr>
        <p:spPr>
          <a:xfrm>
            <a:off x="0" y="0"/>
            <a:ext cx="12191695" cy="3383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libri"/>
              <a:ea typeface="+mn-ea"/>
              <a:cs typeface="+mn-cs"/>
              <a:sym typeface="Arial"/>
            </a:endParaRPr>
          </a:p>
        </p:txBody>
      </p:sp>
      <p:sp>
        <p:nvSpPr>
          <p:cNvPr id="65" name="Rectangle 64">
            <a:extLst>
              <a:ext uri="{FF2B5EF4-FFF2-40B4-BE49-F238E27FC236}">
                <a16:creationId xmlns:a16="http://schemas.microsoft.com/office/drawing/2014/main" id="{1D130DC1-7D01-049B-431F-25B3E378CC84}"/>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REGULATORY &amp; MARKET CHANGE</a:t>
            </a:r>
          </a:p>
        </p:txBody>
      </p:sp>
      <p:sp>
        <p:nvSpPr>
          <p:cNvPr id="173" name="TextBox 172">
            <a:extLst>
              <a:ext uri="{FF2B5EF4-FFF2-40B4-BE49-F238E27FC236}">
                <a16:creationId xmlns:a16="http://schemas.microsoft.com/office/drawing/2014/main" id="{EF78BC5D-4939-FF26-EA68-B880BF01495B}"/>
              </a:ext>
            </a:extLst>
          </p:cNvPr>
          <p:cNvSpPr txBox="1"/>
          <p:nvPr/>
        </p:nvSpPr>
        <p:spPr>
          <a:xfrm>
            <a:off x="320040" y="1965960"/>
            <a:ext cx="566928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TOP THREE ANTICIPATED CHANGES</a:t>
            </a:r>
            <a:endParaRPr kumimoji="0" sz="1300" b="0"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175" name="Rounded Rectangle 7">
            <a:extLst>
              <a:ext uri="{FF2B5EF4-FFF2-40B4-BE49-F238E27FC236}">
                <a16:creationId xmlns:a16="http://schemas.microsoft.com/office/drawing/2014/main" id="{C8C722C8-D1E4-F6D7-409B-1FFC334DABA3}"/>
              </a:ext>
            </a:extLst>
          </p:cNvPr>
          <p:cNvSpPr/>
          <p:nvPr/>
        </p:nvSpPr>
        <p:spPr>
          <a:xfrm>
            <a:off x="326359" y="2232152"/>
            <a:ext cx="3749039" cy="1930273"/>
          </a:xfrm>
          <a:prstGeom prst="roundRect">
            <a:avLst>
              <a:gd name="adj" fmla="val 5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7" name="Group 326">
            <a:extLst>
              <a:ext uri="{FF2B5EF4-FFF2-40B4-BE49-F238E27FC236}">
                <a16:creationId xmlns:a16="http://schemas.microsoft.com/office/drawing/2014/main" id="{B254BE5C-73F2-8941-1A85-19147BD823F8}"/>
              </a:ext>
            </a:extLst>
          </p:cNvPr>
          <p:cNvGrpSpPr/>
          <p:nvPr/>
        </p:nvGrpSpPr>
        <p:grpSpPr>
          <a:xfrm>
            <a:off x="502920" y="2415032"/>
            <a:ext cx="576000" cy="576000"/>
            <a:chOff x="502920" y="2491232"/>
            <a:chExt cx="566928" cy="566928"/>
          </a:xfrm>
        </p:grpSpPr>
        <p:sp>
          <p:nvSpPr>
            <p:cNvPr id="177" name="Rounded Rectangle 8">
              <a:extLst>
                <a:ext uri="{FF2B5EF4-FFF2-40B4-BE49-F238E27FC236}">
                  <a16:creationId xmlns:a16="http://schemas.microsoft.com/office/drawing/2014/main" id="{FEB84158-278E-02C2-1130-9154E00808CA}"/>
                </a:ext>
              </a:extLst>
            </p:cNvPr>
            <p:cNvSpPr/>
            <p:nvPr/>
          </p:nvSpPr>
          <p:spPr>
            <a:xfrm>
              <a:off x="502920" y="2491232"/>
              <a:ext cx="566928" cy="566928"/>
            </a:xfrm>
            <a:prstGeom prst="roundRect">
              <a:avLst>
                <a:gd name="adj" fmla="val 5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79" name="Picture 178" descr="ic_id_w.png">
              <a:extLst>
                <a:ext uri="{FF2B5EF4-FFF2-40B4-BE49-F238E27FC236}">
                  <a16:creationId xmlns:a16="http://schemas.microsoft.com/office/drawing/2014/main" id="{577464DB-4CC4-11FA-3BD4-DA067D4722B7}"/>
                </a:ext>
              </a:extLst>
            </p:cNvPr>
            <p:cNvPicPr>
              <a:picLocks noChangeAspect="1"/>
            </p:cNvPicPr>
            <p:nvPr/>
          </p:nvPicPr>
          <p:blipFill>
            <a:blip r:embed="rId3"/>
            <a:stretch>
              <a:fillRect/>
            </a:stretch>
          </p:blipFill>
          <p:spPr>
            <a:xfrm>
              <a:off x="627644" y="2615956"/>
              <a:ext cx="317479" cy="317479"/>
            </a:xfrm>
            <a:prstGeom prst="rect">
              <a:avLst/>
            </a:prstGeom>
          </p:spPr>
        </p:pic>
      </p:grpSp>
      <p:sp>
        <p:nvSpPr>
          <p:cNvPr id="181" name="TextBox 180">
            <a:extLst>
              <a:ext uri="{FF2B5EF4-FFF2-40B4-BE49-F238E27FC236}">
                <a16:creationId xmlns:a16="http://schemas.microsoft.com/office/drawing/2014/main" id="{C6B30655-CDA8-75DA-3A8D-5953414CC18C}"/>
              </a:ext>
            </a:extLst>
          </p:cNvPr>
          <p:cNvSpPr txBox="1"/>
          <p:nvPr/>
        </p:nvSpPr>
        <p:spPr>
          <a:xfrm>
            <a:off x="1216152" y="2443131"/>
            <a:ext cx="1645920" cy="49244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71%</a:t>
            </a:r>
          </a:p>
        </p:txBody>
      </p:sp>
      <p:sp>
        <p:nvSpPr>
          <p:cNvPr id="183" name="Rounded Rectangle 11">
            <a:extLst>
              <a:ext uri="{FF2B5EF4-FFF2-40B4-BE49-F238E27FC236}">
                <a16:creationId xmlns:a16="http://schemas.microsoft.com/office/drawing/2014/main" id="{2C64C571-35C8-D040-15A1-05F34478052C}"/>
              </a:ext>
            </a:extLst>
          </p:cNvPr>
          <p:cNvSpPr/>
          <p:nvPr/>
        </p:nvSpPr>
        <p:spPr>
          <a:xfrm>
            <a:off x="3566159" y="2415032"/>
            <a:ext cx="360000" cy="36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#1</a:t>
            </a:r>
          </a:p>
        </p:txBody>
      </p:sp>
      <p:sp>
        <p:nvSpPr>
          <p:cNvPr id="187" name="TextBox 186">
            <a:extLst>
              <a:ext uri="{FF2B5EF4-FFF2-40B4-BE49-F238E27FC236}">
                <a16:creationId xmlns:a16="http://schemas.microsoft.com/office/drawing/2014/main" id="{5C393E1D-C38F-7EDF-8799-7D78F8F5B29F}"/>
              </a:ext>
            </a:extLst>
          </p:cNvPr>
          <p:cNvSpPr txBox="1"/>
          <p:nvPr/>
        </p:nvSpPr>
        <p:spPr>
          <a:xfrm>
            <a:off x="502920" y="3051540"/>
            <a:ext cx="3383279" cy="369332"/>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DCEFD0"/>
                </a:solidFill>
                <a:effectLst/>
                <a:uLnTx/>
                <a:uFillTx/>
                <a:latin typeface="Segoe UI" panose="020B0502040204020203" pitchFamily="34" charset="0"/>
                <a:ea typeface="+mn-ea"/>
                <a:cs typeface="Segoe UI" panose="020B0502040204020203" pitchFamily="34" charset="0"/>
                <a:sym typeface="Arial"/>
              </a:rPr>
              <a:t>CUSTOMER IDENTITY, AUTHENTICATION &amp; DIGITAL TRUST</a:t>
            </a:r>
          </a:p>
        </p:txBody>
      </p:sp>
      <p:sp>
        <p:nvSpPr>
          <p:cNvPr id="189" name="TextBox 188">
            <a:extLst>
              <a:ext uri="{FF2B5EF4-FFF2-40B4-BE49-F238E27FC236}">
                <a16:creationId xmlns:a16="http://schemas.microsoft.com/office/drawing/2014/main" id="{FD223FF5-EE11-62FC-F39F-6756044EB9C1}"/>
              </a:ext>
            </a:extLst>
          </p:cNvPr>
          <p:cNvSpPr txBox="1"/>
          <p:nvPr/>
        </p:nvSpPr>
        <p:spPr>
          <a:xfrm>
            <a:off x="502920" y="3466592"/>
            <a:ext cx="3383279"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Rising expectations for how customers are verified and protected, as deepfakes and synthetic identities make it harder to know who is on the other end.</a:t>
            </a:r>
          </a:p>
        </p:txBody>
      </p:sp>
      <p:sp>
        <p:nvSpPr>
          <p:cNvPr id="191" name="Rounded Rectangle 15">
            <a:extLst>
              <a:ext uri="{FF2B5EF4-FFF2-40B4-BE49-F238E27FC236}">
                <a16:creationId xmlns:a16="http://schemas.microsoft.com/office/drawing/2014/main" id="{CB5EA6E2-58E0-ECB8-190A-A96C82D5B842}"/>
              </a:ext>
            </a:extLst>
          </p:cNvPr>
          <p:cNvSpPr/>
          <p:nvPr/>
        </p:nvSpPr>
        <p:spPr>
          <a:xfrm>
            <a:off x="4219956" y="2232152"/>
            <a:ext cx="3749039" cy="1930273"/>
          </a:xfrm>
          <a:prstGeom prst="roundRect">
            <a:avLst>
              <a:gd name="adj" fmla="val 5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8" name="Group 327">
            <a:extLst>
              <a:ext uri="{FF2B5EF4-FFF2-40B4-BE49-F238E27FC236}">
                <a16:creationId xmlns:a16="http://schemas.microsoft.com/office/drawing/2014/main" id="{43535E94-0496-59CE-7BD8-B492362F224D}"/>
              </a:ext>
            </a:extLst>
          </p:cNvPr>
          <p:cNvGrpSpPr/>
          <p:nvPr/>
        </p:nvGrpSpPr>
        <p:grpSpPr>
          <a:xfrm>
            <a:off x="4402836" y="2415032"/>
            <a:ext cx="576000" cy="576000"/>
            <a:chOff x="4402836" y="2491232"/>
            <a:chExt cx="566928" cy="566928"/>
          </a:xfrm>
        </p:grpSpPr>
        <p:sp>
          <p:nvSpPr>
            <p:cNvPr id="193" name="Rounded Rectangle 16">
              <a:extLst>
                <a:ext uri="{FF2B5EF4-FFF2-40B4-BE49-F238E27FC236}">
                  <a16:creationId xmlns:a16="http://schemas.microsoft.com/office/drawing/2014/main" id="{D04E8EB5-24CB-1956-168F-2B1CABD84B26}"/>
                </a:ext>
              </a:extLst>
            </p:cNvPr>
            <p:cNvSpPr/>
            <p:nvPr/>
          </p:nvSpPr>
          <p:spPr>
            <a:xfrm>
              <a:off x="4402836" y="2491232"/>
              <a:ext cx="566928" cy="566928"/>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195" name="Picture 194" descr="ic_lock_w.png">
              <a:extLst>
                <a:ext uri="{FF2B5EF4-FFF2-40B4-BE49-F238E27FC236}">
                  <a16:creationId xmlns:a16="http://schemas.microsoft.com/office/drawing/2014/main" id="{038D349F-EE91-F3A2-53F2-6A248B238746}"/>
                </a:ext>
              </a:extLst>
            </p:cNvPr>
            <p:cNvPicPr>
              <a:picLocks noChangeAspect="1"/>
            </p:cNvPicPr>
            <p:nvPr/>
          </p:nvPicPr>
          <p:blipFill>
            <a:blip r:embed="rId4"/>
            <a:stretch>
              <a:fillRect/>
            </a:stretch>
          </p:blipFill>
          <p:spPr>
            <a:xfrm>
              <a:off x="4527560" y="2615956"/>
              <a:ext cx="317479" cy="317479"/>
            </a:xfrm>
            <a:prstGeom prst="rect">
              <a:avLst/>
            </a:prstGeom>
          </p:spPr>
        </p:pic>
      </p:grpSp>
      <p:sp>
        <p:nvSpPr>
          <p:cNvPr id="197" name="TextBox 196">
            <a:extLst>
              <a:ext uri="{FF2B5EF4-FFF2-40B4-BE49-F238E27FC236}">
                <a16:creationId xmlns:a16="http://schemas.microsoft.com/office/drawing/2014/main" id="{F8306A01-B79B-C7C5-9D47-88A190967AB1}"/>
              </a:ext>
            </a:extLst>
          </p:cNvPr>
          <p:cNvSpPr txBox="1"/>
          <p:nvPr/>
        </p:nvSpPr>
        <p:spPr>
          <a:xfrm>
            <a:off x="5116068" y="2443131"/>
            <a:ext cx="1645920" cy="49244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66%</a:t>
            </a:r>
          </a:p>
        </p:txBody>
      </p:sp>
      <p:sp>
        <p:nvSpPr>
          <p:cNvPr id="200" name="Rounded Rectangle 19">
            <a:extLst>
              <a:ext uri="{FF2B5EF4-FFF2-40B4-BE49-F238E27FC236}">
                <a16:creationId xmlns:a16="http://schemas.microsoft.com/office/drawing/2014/main" id="{01F220EE-6673-BC2F-7C48-089D5EFC5C3C}"/>
              </a:ext>
            </a:extLst>
          </p:cNvPr>
          <p:cNvSpPr/>
          <p:nvPr/>
        </p:nvSpPr>
        <p:spPr>
          <a:xfrm>
            <a:off x="7466075" y="2415032"/>
            <a:ext cx="360000" cy="36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dirty="0">
                <a:ln>
                  <a:noFill/>
                </a:ln>
                <a:solidFill>
                  <a:srgbClr val="4EA72E"/>
                </a:solidFill>
                <a:effectLst/>
                <a:uLnTx/>
                <a:uFillTx/>
                <a:latin typeface="Segoe UI" panose="020B0502040204020203" pitchFamily="34" charset="0"/>
                <a:ea typeface="+mn-ea"/>
                <a:cs typeface="Segoe UI" panose="020B0502040204020203" pitchFamily="34" charset="0"/>
                <a:sym typeface="Arial"/>
              </a:rPr>
              <a:t>#2</a:t>
            </a:r>
          </a:p>
        </p:txBody>
      </p:sp>
      <p:sp>
        <p:nvSpPr>
          <p:cNvPr id="204" name="TextBox 203">
            <a:extLst>
              <a:ext uri="{FF2B5EF4-FFF2-40B4-BE49-F238E27FC236}">
                <a16:creationId xmlns:a16="http://schemas.microsoft.com/office/drawing/2014/main" id="{2D69CD41-4A14-2D55-675B-1EE1F6692FA1}"/>
              </a:ext>
            </a:extLst>
          </p:cNvPr>
          <p:cNvSpPr txBox="1"/>
          <p:nvPr/>
        </p:nvSpPr>
        <p:spPr>
          <a:xfrm>
            <a:off x="4402836" y="3143873"/>
            <a:ext cx="3383279" cy="184666"/>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DCEFD0"/>
                </a:solidFill>
                <a:effectLst/>
                <a:uLnTx/>
                <a:uFillTx/>
                <a:latin typeface="Segoe UI" panose="020B0502040204020203" pitchFamily="34" charset="0"/>
                <a:ea typeface="+mn-ea"/>
                <a:cs typeface="Segoe UI" panose="020B0502040204020203" pitchFamily="34" charset="0"/>
                <a:sym typeface="Arial"/>
              </a:rPr>
              <a:t>PRIVACY, DATA-SHARING &amp; AI GOVERNANCE</a:t>
            </a:r>
          </a:p>
        </p:txBody>
      </p:sp>
      <p:sp>
        <p:nvSpPr>
          <p:cNvPr id="206" name="TextBox 205">
            <a:extLst>
              <a:ext uri="{FF2B5EF4-FFF2-40B4-BE49-F238E27FC236}">
                <a16:creationId xmlns:a16="http://schemas.microsoft.com/office/drawing/2014/main" id="{98C8D8F5-1DE3-A497-7524-CE19DC74063F}"/>
              </a:ext>
            </a:extLst>
          </p:cNvPr>
          <p:cNvSpPr txBox="1"/>
          <p:nvPr/>
        </p:nvSpPr>
        <p:spPr>
          <a:xfrm>
            <a:off x="4402836" y="3466592"/>
            <a:ext cx="3383279"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New rules on how customer data can be used and shared, and how AI models must be governed, shaping what fraud teams can build and deploy.</a:t>
            </a:r>
          </a:p>
        </p:txBody>
      </p:sp>
      <p:sp>
        <p:nvSpPr>
          <p:cNvPr id="210" name="Rounded Rectangle 23">
            <a:extLst>
              <a:ext uri="{FF2B5EF4-FFF2-40B4-BE49-F238E27FC236}">
                <a16:creationId xmlns:a16="http://schemas.microsoft.com/office/drawing/2014/main" id="{A6B7451B-24AE-CE62-99B6-E23ED2C281C2}"/>
              </a:ext>
            </a:extLst>
          </p:cNvPr>
          <p:cNvSpPr/>
          <p:nvPr/>
        </p:nvSpPr>
        <p:spPr>
          <a:xfrm>
            <a:off x="8119872" y="2232152"/>
            <a:ext cx="3749039" cy="1930273"/>
          </a:xfrm>
          <a:prstGeom prst="roundRect">
            <a:avLst>
              <a:gd name="adj" fmla="val 5000"/>
            </a:avLst>
          </a:prstGeom>
          <a:solidFill>
            <a:srgbClr val="02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9" name="Group 328">
            <a:extLst>
              <a:ext uri="{FF2B5EF4-FFF2-40B4-BE49-F238E27FC236}">
                <a16:creationId xmlns:a16="http://schemas.microsoft.com/office/drawing/2014/main" id="{4A8C9172-3268-D120-E80A-D7D9AD9414B3}"/>
              </a:ext>
            </a:extLst>
          </p:cNvPr>
          <p:cNvGrpSpPr/>
          <p:nvPr/>
        </p:nvGrpSpPr>
        <p:grpSpPr>
          <a:xfrm>
            <a:off x="8302752" y="2415032"/>
            <a:ext cx="576000" cy="576000"/>
            <a:chOff x="8302752" y="2491232"/>
            <a:chExt cx="566928" cy="566928"/>
          </a:xfrm>
        </p:grpSpPr>
        <p:sp>
          <p:nvSpPr>
            <p:cNvPr id="214" name="Rounded Rectangle 24">
              <a:extLst>
                <a:ext uri="{FF2B5EF4-FFF2-40B4-BE49-F238E27FC236}">
                  <a16:creationId xmlns:a16="http://schemas.microsoft.com/office/drawing/2014/main" id="{D3710F9C-48EE-2FBC-6E37-892E8FD50B64}"/>
                </a:ext>
              </a:extLst>
            </p:cNvPr>
            <p:cNvSpPr/>
            <p:nvPr/>
          </p:nvSpPr>
          <p:spPr>
            <a:xfrm>
              <a:off x="8302752" y="2491232"/>
              <a:ext cx="566928" cy="566928"/>
            </a:xfrm>
            <a:prstGeom prst="roundRect">
              <a:avLst>
                <a:gd name="adj" fmla="val 50000"/>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16" name="Picture 215" descr="ic_bolt_w.png">
              <a:extLst>
                <a:ext uri="{FF2B5EF4-FFF2-40B4-BE49-F238E27FC236}">
                  <a16:creationId xmlns:a16="http://schemas.microsoft.com/office/drawing/2014/main" id="{81E31260-BDA9-5BF9-7833-B2549B132037}"/>
                </a:ext>
              </a:extLst>
            </p:cNvPr>
            <p:cNvPicPr>
              <a:picLocks noChangeAspect="1"/>
            </p:cNvPicPr>
            <p:nvPr/>
          </p:nvPicPr>
          <p:blipFill>
            <a:blip r:embed="rId5"/>
            <a:stretch>
              <a:fillRect/>
            </a:stretch>
          </p:blipFill>
          <p:spPr>
            <a:xfrm>
              <a:off x="8427476" y="2615956"/>
              <a:ext cx="317479" cy="317479"/>
            </a:xfrm>
            <a:prstGeom prst="rect">
              <a:avLst/>
            </a:prstGeom>
          </p:spPr>
        </p:pic>
      </p:grpSp>
      <p:sp>
        <p:nvSpPr>
          <p:cNvPr id="218" name="TextBox 217">
            <a:extLst>
              <a:ext uri="{FF2B5EF4-FFF2-40B4-BE49-F238E27FC236}">
                <a16:creationId xmlns:a16="http://schemas.microsoft.com/office/drawing/2014/main" id="{B654BB6C-D881-1B7B-B9A8-691621DA931A}"/>
              </a:ext>
            </a:extLst>
          </p:cNvPr>
          <p:cNvSpPr txBox="1"/>
          <p:nvPr/>
        </p:nvSpPr>
        <p:spPr>
          <a:xfrm>
            <a:off x="9015984" y="2443131"/>
            <a:ext cx="1645920" cy="492443"/>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65%</a:t>
            </a:r>
          </a:p>
        </p:txBody>
      </p:sp>
      <p:sp>
        <p:nvSpPr>
          <p:cNvPr id="220" name="Rounded Rectangle 27">
            <a:extLst>
              <a:ext uri="{FF2B5EF4-FFF2-40B4-BE49-F238E27FC236}">
                <a16:creationId xmlns:a16="http://schemas.microsoft.com/office/drawing/2014/main" id="{9D1FA912-C607-0D75-97CD-A4C2FC1439FF}"/>
              </a:ext>
            </a:extLst>
          </p:cNvPr>
          <p:cNvSpPr/>
          <p:nvPr/>
        </p:nvSpPr>
        <p:spPr>
          <a:xfrm>
            <a:off x="11365992" y="2415032"/>
            <a:ext cx="360000" cy="36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#3</a:t>
            </a:r>
          </a:p>
        </p:txBody>
      </p:sp>
      <p:sp>
        <p:nvSpPr>
          <p:cNvPr id="224" name="TextBox 223">
            <a:extLst>
              <a:ext uri="{FF2B5EF4-FFF2-40B4-BE49-F238E27FC236}">
                <a16:creationId xmlns:a16="http://schemas.microsoft.com/office/drawing/2014/main" id="{A3269CF9-D734-D016-E2D0-8A84ABB69A2A}"/>
              </a:ext>
            </a:extLst>
          </p:cNvPr>
          <p:cNvSpPr txBox="1"/>
          <p:nvPr/>
        </p:nvSpPr>
        <p:spPr>
          <a:xfrm>
            <a:off x="8302752" y="3143873"/>
            <a:ext cx="3383279" cy="184666"/>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DCEFD0"/>
                </a:solidFill>
                <a:effectLst/>
                <a:uLnTx/>
                <a:uFillTx/>
                <a:latin typeface="Segoe UI" panose="020B0502040204020203" pitchFamily="34" charset="0"/>
                <a:ea typeface="+mn-ea"/>
                <a:cs typeface="Segoe UI" panose="020B0502040204020203" pitchFamily="34" charset="0"/>
                <a:sym typeface="Arial"/>
              </a:rPr>
              <a:t>PAYMENT INNOVATION</a:t>
            </a:r>
          </a:p>
        </p:txBody>
      </p:sp>
      <p:sp>
        <p:nvSpPr>
          <p:cNvPr id="226" name="TextBox 225">
            <a:extLst>
              <a:ext uri="{FF2B5EF4-FFF2-40B4-BE49-F238E27FC236}">
                <a16:creationId xmlns:a16="http://schemas.microsoft.com/office/drawing/2014/main" id="{690E05E4-132D-C2D6-496B-DCBAE4DDB2D2}"/>
              </a:ext>
            </a:extLst>
          </p:cNvPr>
          <p:cNvSpPr txBox="1"/>
          <p:nvPr/>
        </p:nvSpPr>
        <p:spPr>
          <a:xfrm>
            <a:off x="8302752" y="3466592"/>
            <a:ext cx="3383279" cy="46166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srgbClr val="FFFFFF"/>
                </a:solidFill>
                <a:effectLst/>
                <a:uLnTx/>
                <a:uFillTx/>
                <a:latin typeface="Segoe UI" panose="020B0502040204020203" pitchFamily="34" charset="0"/>
                <a:ea typeface="+mn-ea"/>
                <a:cs typeface="Segoe UI" panose="020B0502040204020203" pitchFamily="34" charset="0"/>
                <a:sym typeface="Arial"/>
              </a:rPr>
              <a:t>Real-time payments, stablecoins and agentic payments move money faster, shrinking the window to detect and stop fraud before funds are gone.</a:t>
            </a:r>
          </a:p>
        </p:txBody>
      </p:sp>
      <p:sp>
        <p:nvSpPr>
          <p:cNvPr id="239" name="TextBox 238">
            <a:extLst>
              <a:ext uri="{FF2B5EF4-FFF2-40B4-BE49-F238E27FC236}">
                <a16:creationId xmlns:a16="http://schemas.microsoft.com/office/drawing/2014/main" id="{8089E128-6F1F-19A5-893F-54C708BC36CA}"/>
              </a:ext>
            </a:extLst>
          </p:cNvPr>
          <p:cNvSpPr txBox="1"/>
          <p:nvPr/>
        </p:nvSpPr>
        <p:spPr>
          <a:xfrm>
            <a:off x="320040" y="4246880"/>
            <a:ext cx="566928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46A38"/>
                </a:solidFill>
                <a:effectLst/>
                <a:uLnTx/>
                <a:uFillTx/>
                <a:latin typeface="Segoe UI" panose="020B0502040204020203" pitchFamily="34" charset="0"/>
                <a:ea typeface="+mn-ea"/>
                <a:cs typeface="Segoe UI" panose="020B0502040204020203" pitchFamily="34" charset="0"/>
                <a:sym typeface="Arial"/>
              </a:rPr>
              <a:t>FURTHER DOWN THE LIST</a:t>
            </a:r>
            <a:endParaRPr kumimoji="0" sz="1300" b="0" i="0" u="none" strike="noStrike" kern="1200" cap="none" spc="0" normalizeH="0" baseline="0" noProof="0" dirty="0">
              <a:ln>
                <a:noFill/>
              </a:ln>
              <a:solidFill>
                <a:srgbClr val="75787B"/>
              </a:solidFill>
              <a:effectLst/>
              <a:uLnTx/>
              <a:uFillTx/>
              <a:latin typeface="Segoe UI" panose="020B0502040204020203" pitchFamily="34" charset="0"/>
              <a:ea typeface="+mn-ea"/>
              <a:cs typeface="Segoe UI" panose="020B0502040204020203" pitchFamily="34" charset="0"/>
              <a:sym typeface="Arial"/>
            </a:endParaRPr>
          </a:p>
        </p:txBody>
      </p:sp>
      <p:sp>
        <p:nvSpPr>
          <p:cNvPr id="242" name="Rounded Rectangle 32">
            <a:extLst>
              <a:ext uri="{FF2B5EF4-FFF2-40B4-BE49-F238E27FC236}">
                <a16:creationId xmlns:a16="http://schemas.microsoft.com/office/drawing/2014/main" id="{C8652960-8CB7-FC67-A19D-81632A8AE9E0}"/>
              </a:ext>
            </a:extLst>
          </p:cNvPr>
          <p:cNvSpPr/>
          <p:nvPr/>
        </p:nvSpPr>
        <p:spPr>
          <a:xfrm>
            <a:off x="320040" y="4493768"/>
            <a:ext cx="1828800" cy="972000"/>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4" name="Group 323">
            <a:extLst>
              <a:ext uri="{FF2B5EF4-FFF2-40B4-BE49-F238E27FC236}">
                <a16:creationId xmlns:a16="http://schemas.microsoft.com/office/drawing/2014/main" id="{DA7BB485-12A7-50F7-F203-AD56462B954E}"/>
              </a:ext>
            </a:extLst>
          </p:cNvPr>
          <p:cNvGrpSpPr/>
          <p:nvPr/>
        </p:nvGrpSpPr>
        <p:grpSpPr>
          <a:xfrm>
            <a:off x="411479" y="4603496"/>
            <a:ext cx="360000" cy="360000"/>
            <a:chOff x="411479" y="4603496"/>
            <a:chExt cx="347472" cy="347472"/>
          </a:xfrm>
        </p:grpSpPr>
        <p:sp>
          <p:nvSpPr>
            <p:cNvPr id="244" name="Rounded Rectangle 33">
              <a:extLst>
                <a:ext uri="{FF2B5EF4-FFF2-40B4-BE49-F238E27FC236}">
                  <a16:creationId xmlns:a16="http://schemas.microsoft.com/office/drawing/2014/main" id="{6DEEB61E-50C7-3877-5F25-59CA69FB8402}"/>
                </a:ext>
              </a:extLst>
            </p:cNvPr>
            <p:cNvSpPr/>
            <p:nvPr/>
          </p:nvSpPr>
          <p:spPr>
            <a:xfrm>
              <a:off x="411479" y="4603496"/>
              <a:ext cx="347472" cy="347472"/>
            </a:xfrm>
            <a:prstGeom prst="roundRect">
              <a:avLst>
                <a:gd name="adj" fmla="val 50000"/>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47" name="Picture 246" descr="ic_scale_w.png">
              <a:extLst>
                <a:ext uri="{FF2B5EF4-FFF2-40B4-BE49-F238E27FC236}">
                  <a16:creationId xmlns:a16="http://schemas.microsoft.com/office/drawing/2014/main" id="{CC4C707B-F630-C061-D1E5-2423F1CC04BA}"/>
                </a:ext>
              </a:extLst>
            </p:cNvPr>
            <p:cNvPicPr>
              <a:picLocks noChangeAspect="1"/>
            </p:cNvPicPr>
            <p:nvPr/>
          </p:nvPicPr>
          <p:blipFill>
            <a:blip r:embed="rId6"/>
            <a:stretch>
              <a:fillRect/>
            </a:stretch>
          </p:blipFill>
          <p:spPr>
            <a:xfrm>
              <a:off x="487923" y="4679939"/>
              <a:ext cx="194584" cy="194584"/>
            </a:xfrm>
            <a:prstGeom prst="rect">
              <a:avLst/>
            </a:prstGeom>
          </p:spPr>
        </p:pic>
      </p:grpSp>
      <p:sp>
        <p:nvSpPr>
          <p:cNvPr id="249" name="TextBox 248">
            <a:extLst>
              <a:ext uri="{FF2B5EF4-FFF2-40B4-BE49-F238E27FC236}">
                <a16:creationId xmlns:a16="http://schemas.microsoft.com/office/drawing/2014/main" id="{F8942791-6A5F-2BF4-E00A-F7C87AD12B80}"/>
              </a:ext>
            </a:extLst>
          </p:cNvPr>
          <p:cNvSpPr txBox="1"/>
          <p:nvPr/>
        </p:nvSpPr>
        <p:spPr>
          <a:xfrm>
            <a:off x="882904" y="4592491"/>
            <a:ext cx="1280160" cy="38472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36%</a:t>
            </a:r>
          </a:p>
        </p:txBody>
      </p:sp>
      <p:sp>
        <p:nvSpPr>
          <p:cNvPr id="251" name="TextBox 250">
            <a:extLst>
              <a:ext uri="{FF2B5EF4-FFF2-40B4-BE49-F238E27FC236}">
                <a16:creationId xmlns:a16="http://schemas.microsoft.com/office/drawing/2014/main" id="{E0FC77D0-DCC8-B836-55AB-F1879F3D7516}"/>
              </a:ext>
            </a:extLst>
          </p:cNvPr>
          <p:cNvSpPr txBox="1"/>
          <p:nvPr/>
        </p:nvSpPr>
        <p:spPr>
          <a:xfrm>
            <a:off x="431800" y="5031232"/>
            <a:ext cx="1678432"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Liability &amp; reimbursement changes</a:t>
            </a:r>
          </a:p>
        </p:txBody>
      </p:sp>
      <p:sp>
        <p:nvSpPr>
          <p:cNvPr id="253" name="Rounded Rectangle 37">
            <a:extLst>
              <a:ext uri="{FF2B5EF4-FFF2-40B4-BE49-F238E27FC236}">
                <a16:creationId xmlns:a16="http://schemas.microsoft.com/office/drawing/2014/main" id="{F7A5072F-B7EB-0061-3CA4-A2B78102FA6A}"/>
              </a:ext>
            </a:extLst>
          </p:cNvPr>
          <p:cNvSpPr/>
          <p:nvPr/>
        </p:nvSpPr>
        <p:spPr>
          <a:xfrm>
            <a:off x="2221992" y="4493768"/>
            <a:ext cx="1828800" cy="972000"/>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5" name="Group 324">
            <a:extLst>
              <a:ext uri="{FF2B5EF4-FFF2-40B4-BE49-F238E27FC236}">
                <a16:creationId xmlns:a16="http://schemas.microsoft.com/office/drawing/2014/main" id="{2CDE4ED6-F717-A80A-8E0D-380E1CA8130D}"/>
              </a:ext>
            </a:extLst>
          </p:cNvPr>
          <p:cNvGrpSpPr/>
          <p:nvPr/>
        </p:nvGrpSpPr>
        <p:grpSpPr>
          <a:xfrm>
            <a:off x="2313432" y="4603496"/>
            <a:ext cx="360000" cy="360000"/>
            <a:chOff x="2313432" y="4603496"/>
            <a:chExt cx="347472" cy="347472"/>
          </a:xfrm>
        </p:grpSpPr>
        <p:sp>
          <p:nvSpPr>
            <p:cNvPr id="256" name="Rounded Rectangle 38">
              <a:extLst>
                <a:ext uri="{FF2B5EF4-FFF2-40B4-BE49-F238E27FC236}">
                  <a16:creationId xmlns:a16="http://schemas.microsoft.com/office/drawing/2014/main" id="{E2C4CE64-3FCB-CBFB-534B-1B7F015273A5}"/>
                </a:ext>
              </a:extLst>
            </p:cNvPr>
            <p:cNvSpPr/>
            <p:nvPr/>
          </p:nvSpPr>
          <p:spPr>
            <a:xfrm>
              <a:off x="2313432" y="4603496"/>
              <a:ext cx="347472" cy="347472"/>
            </a:xfrm>
            <a:prstGeom prst="roundRect">
              <a:avLst>
                <a:gd name="adj" fmla="val 50000"/>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58" name="Picture 257" descr="ic_aml_w.png">
              <a:extLst>
                <a:ext uri="{FF2B5EF4-FFF2-40B4-BE49-F238E27FC236}">
                  <a16:creationId xmlns:a16="http://schemas.microsoft.com/office/drawing/2014/main" id="{F58B6826-619D-67DD-B22D-2CE4B35369F5}"/>
                </a:ext>
              </a:extLst>
            </p:cNvPr>
            <p:cNvPicPr>
              <a:picLocks noChangeAspect="1"/>
            </p:cNvPicPr>
            <p:nvPr/>
          </p:nvPicPr>
          <p:blipFill>
            <a:blip r:embed="rId7"/>
            <a:stretch>
              <a:fillRect/>
            </a:stretch>
          </p:blipFill>
          <p:spPr>
            <a:xfrm>
              <a:off x="2389875" y="4679939"/>
              <a:ext cx="194584" cy="194584"/>
            </a:xfrm>
            <a:prstGeom prst="rect">
              <a:avLst/>
            </a:prstGeom>
          </p:spPr>
        </p:pic>
      </p:grpSp>
      <p:sp>
        <p:nvSpPr>
          <p:cNvPr id="261" name="TextBox 260">
            <a:extLst>
              <a:ext uri="{FF2B5EF4-FFF2-40B4-BE49-F238E27FC236}">
                <a16:creationId xmlns:a16="http://schemas.microsoft.com/office/drawing/2014/main" id="{D3768603-2799-3F0F-DB7A-38EFF9F85A08}"/>
              </a:ext>
            </a:extLst>
          </p:cNvPr>
          <p:cNvSpPr txBox="1"/>
          <p:nvPr/>
        </p:nvSpPr>
        <p:spPr>
          <a:xfrm>
            <a:off x="2784856" y="4592491"/>
            <a:ext cx="1280160" cy="38472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33%</a:t>
            </a:r>
          </a:p>
        </p:txBody>
      </p:sp>
      <p:sp>
        <p:nvSpPr>
          <p:cNvPr id="263" name="TextBox 262">
            <a:extLst>
              <a:ext uri="{FF2B5EF4-FFF2-40B4-BE49-F238E27FC236}">
                <a16:creationId xmlns:a16="http://schemas.microsoft.com/office/drawing/2014/main" id="{774B1F99-1516-31B4-026B-69932AF70C03}"/>
              </a:ext>
            </a:extLst>
          </p:cNvPr>
          <p:cNvSpPr txBox="1"/>
          <p:nvPr/>
        </p:nvSpPr>
        <p:spPr>
          <a:xfrm>
            <a:off x="2333752" y="5031232"/>
            <a:ext cx="1678432"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AML modernization initiatives</a:t>
            </a:r>
          </a:p>
        </p:txBody>
      </p:sp>
      <p:sp>
        <p:nvSpPr>
          <p:cNvPr id="265" name="Rounded Rectangle 42">
            <a:extLst>
              <a:ext uri="{FF2B5EF4-FFF2-40B4-BE49-F238E27FC236}">
                <a16:creationId xmlns:a16="http://schemas.microsoft.com/office/drawing/2014/main" id="{2EE75046-8852-53B3-526B-0F9C614C3CC5}"/>
              </a:ext>
            </a:extLst>
          </p:cNvPr>
          <p:cNvSpPr/>
          <p:nvPr/>
        </p:nvSpPr>
        <p:spPr>
          <a:xfrm>
            <a:off x="4123944" y="4493768"/>
            <a:ext cx="1828800" cy="972000"/>
          </a:xfrm>
          <a:prstGeom prst="roundRect">
            <a:avLst>
              <a:gd name="adj" fmla="val 8000"/>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grpSp>
        <p:nvGrpSpPr>
          <p:cNvPr id="326" name="Group 325">
            <a:extLst>
              <a:ext uri="{FF2B5EF4-FFF2-40B4-BE49-F238E27FC236}">
                <a16:creationId xmlns:a16="http://schemas.microsoft.com/office/drawing/2014/main" id="{77953DF0-A243-7D45-CDF4-548C9C1733F7}"/>
              </a:ext>
            </a:extLst>
          </p:cNvPr>
          <p:cNvGrpSpPr/>
          <p:nvPr/>
        </p:nvGrpSpPr>
        <p:grpSpPr>
          <a:xfrm>
            <a:off x="4215383" y="4603496"/>
            <a:ext cx="360000" cy="360000"/>
            <a:chOff x="4215383" y="4603496"/>
            <a:chExt cx="347472" cy="347472"/>
          </a:xfrm>
        </p:grpSpPr>
        <p:sp>
          <p:nvSpPr>
            <p:cNvPr id="267" name="Rounded Rectangle 43">
              <a:extLst>
                <a:ext uri="{FF2B5EF4-FFF2-40B4-BE49-F238E27FC236}">
                  <a16:creationId xmlns:a16="http://schemas.microsoft.com/office/drawing/2014/main" id="{A9DAB93C-F7FA-A4B1-F553-E5FA50860E0C}"/>
                </a:ext>
              </a:extLst>
            </p:cNvPr>
            <p:cNvSpPr/>
            <p:nvPr/>
          </p:nvSpPr>
          <p:spPr>
            <a:xfrm>
              <a:off x="4215383" y="4603496"/>
              <a:ext cx="347472" cy="347472"/>
            </a:xfrm>
            <a:prstGeom prst="roundRect">
              <a:avLst>
                <a:gd name="adj" fmla="val 50000"/>
              </a:avLst>
            </a:prstGeom>
            <a:solidFill>
              <a:srgbClr val="A9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297" name="Picture 296" descr="ic_open_w.png">
              <a:extLst>
                <a:ext uri="{FF2B5EF4-FFF2-40B4-BE49-F238E27FC236}">
                  <a16:creationId xmlns:a16="http://schemas.microsoft.com/office/drawing/2014/main" id="{0583A7EC-AE0E-9E30-0CB9-74AFCF60E8A7}"/>
                </a:ext>
              </a:extLst>
            </p:cNvPr>
            <p:cNvPicPr>
              <a:picLocks noChangeAspect="1"/>
            </p:cNvPicPr>
            <p:nvPr/>
          </p:nvPicPr>
          <p:blipFill>
            <a:blip r:embed="rId8"/>
            <a:stretch>
              <a:fillRect/>
            </a:stretch>
          </p:blipFill>
          <p:spPr>
            <a:xfrm>
              <a:off x="4291827" y="4679939"/>
              <a:ext cx="194584" cy="194584"/>
            </a:xfrm>
            <a:prstGeom prst="rect">
              <a:avLst/>
            </a:prstGeom>
          </p:spPr>
        </p:pic>
      </p:grpSp>
      <p:sp>
        <p:nvSpPr>
          <p:cNvPr id="299" name="TextBox 298">
            <a:extLst>
              <a:ext uri="{FF2B5EF4-FFF2-40B4-BE49-F238E27FC236}">
                <a16:creationId xmlns:a16="http://schemas.microsoft.com/office/drawing/2014/main" id="{0C6DE0C6-730F-2FEB-4677-C8B5E672F9A4}"/>
              </a:ext>
            </a:extLst>
          </p:cNvPr>
          <p:cNvSpPr txBox="1"/>
          <p:nvPr/>
        </p:nvSpPr>
        <p:spPr>
          <a:xfrm>
            <a:off x="4686808" y="4592491"/>
            <a:ext cx="1280160" cy="38472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29%</a:t>
            </a:r>
          </a:p>
        </p:txBody>
      </p:sp>
      <p:sp>
        <p:nvSpPr>
          <p:cNvPr id="301" name="TextBox 300">
            <a:extLst>
              <a:ext uri="{FF2B5EF4-FFF2-40B4-BE49-F238E27FC236}">
                <a16:creationId xmlns:a16="http://schemas.microsoft.com/office/drawing/2014/main" id="{A6421C99-8E1C-7DF6-1F66-14E89733C646}"/>
              </a:ext>
            </a:extLst>
          </p:cNvPr>
          <p:cNvSpPr txBox="1"/>
          <p:nvPr/>
        </p:nvSpPr>
        <p:spPr>
          <a:xfrm>
            <a:off x="4235704" y="5031232"/>
            <a:ext cx="1678432" cy="3077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Open banking / consumer-driven banking</a:t>
            </a:r>
          </a:p>
        </p:txBody>
      </p:sp>
      <p:sp>
        <p:nvSpPr>
          <p:cNvPr id="305" name="TextBox 304">
            <a:extLst>
              <a:ext uri="{FF2B5EF4-FFF2-40B4-BE49-F238E27FC236}">
                <a16:creationId xmlns:a16="http://schemas.microsoft.com/office/drawing/2014/main" id="{30543B11-F3A1-B0C6-9973-BD046F9EF9D5}"/>
              </a:ext>
            </a:extLst>
          </p:cNvPr>
          <p:cNvSpPr txBox="1"/>
          <p:nvPr/>
        </p:nvSpPr>
        <p:spPr>
          <a:xfrm>
            <a:off x="502920" y="5720080"/>
            <a:ext cx="5349240" cy="1692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WHY OPEN BANKING RANKS LAST</a:t>
            </a:r>
          </a:p>
        </p:txBody>
      </p:sp>
      <p:sp>
        <p:nvSpPr>
          <p:cNvPr id="307" name="TextBox 306">
            <a:extLst>
              <a:ext uri="{FF2B5EF4-FFF2-40B4-BE49-F238E27FC236}">
                <a16:creationId xmlns:a16="http://schemas.microsoft.com/office/drawing/2014/main" id="{54040FFC-A3B1-D483-46E9-A761DC4D3BDC}"/>
              </a:ext>
            </a:extLst>
          </p:cNvPr>
          <p:cNvSpPr txBox="1"/>
          <p:nvPr/>
        </p:nvSpPr>
        <p:spPr>
          <a:xfrm>
            <a:off x="502920" y="5907024"/>
            <a:ext cx="5349240" cy="61555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Open banking was the least selected change (29%). In many markets its frameworks are already defined and in place</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a:t>
            </a:r>
            <a:r>
              <a:rPr kumimoji="0" lang="en-US" sz="10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(e.g., the UK’s Open Banking regime, PSD2 in the EU and Australia’s Consumer Data Right)</a:t>
            </a:r>
            <a:r>
              <a:rPr kumimoji="0" sz="10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so respondents may see it as a known quantity rather than an emerging disruption.</a:t>
            </a:r>
          </a:p>
        </p:txBody>
      </p:sp>
      <p:grpSp>
        <p:nvGrpSpPr>
          <p:cNvPr id="20" name="Group 19">
            <a:extLst>
              <a:ext uri="{FF2B5EF4-FFF2-40B4-BE49-F238E27FC236}">
                <a16:creationId xmlns:a16="http://schemas.microsoft.com/office/drawing/2014/main" id="{E538B817-6044-ED42-0E0B-A3952ADAE0AC}"/>
              </a:ext>
            </a:extLst>
          </p:cNvPr>
          <p:cNvGrpSpPr/>
          <p:nvPr/>
        </p:nvGrpSpPr>
        <p:grpSpPr>
          <a:xfrm>
            <a:off x="6199632" y="4498085"/>
            <a:ext cx="5669280" cy="2042159"/>
            <a:chOff x="6199632" y="4409440"/>
            <a:chExt cx="5669280" cy="2042159"/>
          </a:xfrm>
        </p:grpSpPr>
        <p:grpSp>
          <p:nvGrpSpPr>
            <p:cNvPr id="19" name="Group 18">
              <a:extLst>
                <a:ext uri="{FF2B5EF4-FFF2-40B4-BE49-F238E27FC236}">
                  <a16:creationId xmlns:a16="http://schemas.microsoft.com/office/drawing/2014/main" id="{B96CD416-769B-62CE-1E8E-D52974FDD0F9}"/>
                </a:ext>
              </a:extLst>
            </p:cNvPr>
            <p:cNvGrpSpPr/>
            <p:nvPr/>
          </p:nvGrpSpPr>
          <p:grpSpPr>
            <a:xfrm>
              <a:off x="6199632" y="4409440"/>
              <a:ext cx="5669280" cy="2042159"/>
              <a:chOff x="6199632" y="4409440"/>
              <a:chExt cx="5669280" cy="2042159"/>
            </a:xfrm>
          </p:grpSpPr>
          <p:sp>
            <p:nvSpPr>
              <p:cNvPr id="309" name="Rounded Rectangle 50">
                <a:extLst>
                  <a:ext uri="{FF2B5EF4-FFF2-40B4-BE49-F238E27FC236}">
                    <a16:creationId xmlns:a16="http://schemas.microsoft.com/office/drawing/2014/main" id="{65084A1D-A054-E456-F5F2-A332860D935B}"/>
                  </a:ext>
                </a:extLst>
              </p:cNvPr>
              <p:cNvSpPr/>
              <p:nvPr/>
            </p:nvSpPr>
            <p:spPr>
              <a:xfrm>
                <a:off x="6199632" y="4409440"/>
                <a:ext cx="5669280" cy="2042159"/>
              </a:xfrm>
              <a:prstGeom prst="roundRect">
                <a:avLst>
                  <a:gd name="adj" fmla="val 5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sp>
            <p:nvSpPr>
              <p:cNvPr id="313" name="Rounded Rectangle 52">
                <a:extLst>
                  <a:ext uri="{FF2B5EF4-FFF2-40B4-BE49-F238E27FC236}">
                    <a16:creationId xmlns:a16="http://schemas.microsoft.com/office/drawing/2014/main" id="{0E5F8565-855E-495E-AF8C-E66C261F2FB5}"/>
                  </a:ext>
                </a:extLst>
              </p:cNvPr>
              <p:cNvSpPr/>
              <p:nvPr/>
            </p:nvSpPr>
            <p:spPr>
              <a:xfrm>
                <a:off x="6419088" y="4500880"/>
                <a:ext cx="457200" cy="457200"/>
              </a:xfrm>
              <a:prstGeom prst="roundRect">
                <a:avLst>
                  <a:gd name="adj" fmla="val 50000"/>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endParaRPr>
              </a:p>
            </p:txBody>
          </p:sp>
          <p:pic>
            <p:nvPicPr>
              <p:cNvPr id="315" name="Picture 314" descr="ic_warn_w.png">
                <a:extLst>
                  <a:ext uri="{FF2B5EF4-FFF2-40B4-BE49-F238E27FC236}">
                    <a16:creationId xmlns:a16="http://schemas.microsoft.com/office/drawing/2014/main" id="{3E2E60FB-0DA9-B992-5C69-2A073B348B5E}"/>
                  </a:ext>
                </a:extLst>
              </p:cNvPr>
              <p:cNvPicPr>
                <a:picLocks noChangeAspect="1"/>
              </p:cNvPicPr>
              <p:nvPr/>
            </p:nvPicPr>
            <p:blipFill>
              <a:blip r:embed="rId9"/>
              <a:stretch>
                <a:fillRect/>
              </a:stretch>
            </p:blipFill>
            <p:spPr>
              <a:xfrm>
                <a:off x="6519672" y="4601464"/>
                <a:ext cx="256032" cy="256032"/>
              </a:xfrm>
              <a:prstGeom prst="rect">
                <a:avLst/>
              </a:prstGeom>
            </p:spPr>
          </p:pic>
          <p:sp>
            <p:nvSpPr>
              <p:cNvPr id="317" name="TextBox 316">
                <a:extLst>
                  <a:ext uri="{FF2B5EF4-FFF2-40B4-BE49-F238E27FC236}">
                    <a16:creationId xmlns:a16="http://schemas.microsoft.com/office/drawing/2014/main" id="{20416DD8-6DC3-F622-3F18-A1653EB7C1DE}"/>
                  </a:ext>
                </a:extLst>
              </p:cNvPr>
              <p:cNvSpPr txBox="1"/>
              <p:nvPr/>
            </p:nvSpPr>
            <p:spPr>
              <a:xfrm>
                <a:off x="6995160" y="4529425"/>
                <a:ext cx="4754880" cy="400110"/>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23D20"/>
                    </a:solidFill>
                    <a:effectLst/>
                    <a:uLnTx/>
                    <a:uFillTx/>
                    <a:latin typeface="Segoe UI" panose="020B0502040204020203" pitchFamily="34" charset="0"/>
                    <a:ea typeface="+mn-ea"/>
                    <a:cs typeface="Segoe UI" panose="020B0502040204020203" pitchFamily="34" charset="0"/>
                    <a:sym typeface="Arial"/>
                  </a:rPr>
                  <a:t>THE TENSION: CHANGE IS COMING FASTER THAN READINESS</a:t>
                </a:r>
              </a:p>
            </p:txBody>
          </p:sp>
        </p:grpSp>
        <p:sp>
          <p:nvSpPr>
            <p:cNvPr id="319" name="TextBox 318">
              <a:extLst>
                <a:ext uri="{FF2B5EF4-FFF2-40B4-BE49-F238E27FC236}">
                  <a16:creationId xmlns:a16="http://schemas.microsoft.com/office/drawing/2014/main" id="{3ED3B12A-AD15-821E-CFD7-D9DD99D19D30}"/>
                </a:ext>
              </a:extLst>
            </p:cNvPr>
            <p:cNvSpPr txBox="1"/>
            <p:nvPr/>
          </p:nvSpPr>
          <p:spPr>
            <a:xfrm>
              <a:off x="6419088" y="5049520"/>
              <a:ext cx="5303520" cy="126444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500"/>
                </a:spcAft>
                <a:buClrTx/>
                <a:buSzTx/>
                <a:buFontTx/>
                <a:buNone/>
                <a:tabLst/>
                <a:defRPr/>
              </a:pPr>
              <a:r>
                <a:rPr kumimoji="0"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Respondents expect major change ahead, yet </a:t>
              </a:r>
              <a:r>
                <a:rPr kumimoji="0" sz="13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nearly half (48%) are still investing mainly to </a:t>
              </a:r>
              <a:r>
                <a:rPr kumimoji="0" lang="en-US" sz="13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remediate</a:t>
              </a:r>
              <a:r>
                <a:rPr kumimoji="0" sz="1300" b="1"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 existing compliance gaps</a:t>
              </a:r>
              <a:r>
                <a:rPr kumimoji="0"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a:t>
              </a:r>
            </a:p>
            <a:p>
              <a:pPr marL="0" marR="0" lvl="0" indent="0" algn="l" defTabSz="457200" rtl="0" eaLnBrk="1" fontAlgn="auto" latinLnBrk="0" hangingPunct="1">
                <a:lnSpc>
                  <a:spcPct val="100000"/>
                </a:lnSpc>
                <a:spcBef>
                  <a:spcPts val="0"/>
                </a:spcBef>
                <a:spcAft>
                  <a:spcPts val="500"/>
                </a:spcAft>
                <a:buClrTx/>
                <a:buSzTx/>
                <a:buFontTx/>
                <a:buNone/>
                <a:tabLst/>
                <a:defRPr/>
              </a:pPr>
              <a:r>
                <a:rPr kumimoji="0"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For organizations </a:t>
              </a:r>
              <a:r>
                <a:rPr kumimoji="0" lang="en-US"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primarily </a:t>
              </a:r>
              <a:r>
                <a:rPr kumimoji="0" sz="1300" b="0" i="0" u="none" strike="noStrike" kern="1200" cap="none" spc="0" normalizeH="0" baseline="0" noProof="0" dirty="0">
                  <a:ln>
                    <a:noFill/>
                  </a:ln>
                  <a:solidFill>
                    <a:srgbClr val="404040"/>
                  </a:solidFill>
                  <a:effectLst/>
                  <a:uLnTx/>
                  <a:uFillTx/>
                  <a:latin typeface="Segoe UI" panose="020B0502040204020203" pitchFamily="34" charset="0"/>
                  <a:ea typeface="+mn-ea"/>
                  <a:cs typeface="Segoe UI" panose="020B0502040204020203" pitchFamily="34" charset="0"/>
                  <a:sym typeface="Arial"/>
                </a:rPr>
                <a:t>focused on remediation, especially smaller institutions, each new wave of identity, data, AI and payment requirements risks adding to the backlog rather than being addressed ahead of time.</a:t>
              </a:r>
            </a:p>
          </p:txBody>
        </p:sp>
      </p:grpSp>
      <p:sp>
        <p:nvSpPr>
          <p:cNvPr id="331" name="Rounded Rectangle 11">
            <a:extLst>
              <a:ext uri="{FF2B5EF4-FFF2-40B4-BE49-F238E27FC236}">
                <a16:creationId xmlns:a16="http://schemas.microsoft.com/office/drawing/2014/main" id="{FCE5FC86-CD29-59ED-3AC5-2B73BEF7E523}"/>
              </a:ext>
            </a:extLst>
          </p:cNvPr>
          <p:cNvSpPr/>
          <p:nvPr/>
        </p:nvSpPr>
        <p:spPr>
          <a:xfrm>
            <a:off x="1815560" y="4576063"/>
            <a:ext cx="252000" cy="25200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#4</a:t>
            </a:r>
          </a:p>
        </p:txBody>
      </p:sp>
      <p:sp>
        <p:nvSpPr>
          <p:cNvPr id="335" name="Rounded Rectangle 11">
            <a:extLst>
              <a:ext uri="{FF2B5EF4-FFF2-40B4-BE49-F238E27FC236}">
                <a16:creationId xmlns:a16="http://schemas.microsoft.com/office/drawing/2014/main" id="{DC1FFB48-6D5A-4399-5C1E-89B5B01023E9}"/>
              </a:ext>
            </a:extLst>
          </p:cNvPr>
          <p:cNvSpPr/>
          <p:nvPr/>
        </p:nvSpPr>
        <p:spPr>
          <a:xfrm>
            <a:off x="3717512" y="4576063"/>
            <a:ext cx="252000" cy="25200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#5</a:t>
            </a:r>
          </a:p>
        </p:txBody>
      </p:sp>
      <p:sp>
        <p:nvSpPr>
          <p:cNvPr id="337" name="Rounded Rectangle 11">
            <a:extLst>
              <a:ext uri="{FF2B5EF4-FFF2-40B4-BE49-F238E27FC236}">
                <a16:creationId xmlns:a16="http://schemas.microsoft.com/office/drawing/2014/main" id="{3B6C0846-968D-D788-400D-2E78B3E0BD4F}"/>
              </a:ext>
            </a:extLst>
          </p:cNvPr>
          <p:cNvSpPr/>
          <p:nvPr/>
        </p:nvSpPr>
        <p:spPr>
          <a:xfrm>
            <a:off x="5619464" y="4576063"/>
            <a:ext cx="252000" cy="252000"/>
          </a:xfrm>
          <a:prstGeom prst="roundRect">
            <a:avLst>
              <a:gd name="adj" fmla="val 50000"/>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#6</a:t>
            </a:r>
          </a:p>
        </p:txBody>
      </p:sp>
      <p:sp>
        <p:nvSpPr>
          <p:cNvPr id="339" name="Flowchart: Manual Operation 338">
            <a:extLst>
              <a:ext uri="{FF2B5EF4-FFF2-40B4-BE49-F238E27FC236}">
                <a16:creationId xmlns:a16="http://schemas.microsoft.com/office/drawing/2014/main" id="{156BB1FC-2C85-62C9-E326-82A099748C3F}"/>
              </a:ext>
            </a:extLst>
          </p:cNvPr>
          <p:cNvSpPr/>
          <p:nvPr/>
        </p:nvSpPr>
        <p:spPr>
          <a:xfrm rot="10800000">
            <a:off x="4245518" y="5349911"/>
            <a:ext cx="1606642" cy="288888"/>
          </a:xfrm>
          <a:prstGeom prst="flowChartManualOperation">
            <a:avLst/>
          </a:prstGeom>
          <a:solidFill>
            <a:srgbClr val="F0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CA" sz="1400" b="0" i="0" u="none" strike="noStrike" kern="0" cap="none" spc="0" normalizeH="0" baseline="0" noProof="0" dirty="0">
              <a:ln>
                <a:noFill/>
              </a:ln>
              <a:solidFill>
                <a:prstClr val="white"/>
              </a:solidFill>
              <a:effectLst/>
              <a:uLnTx/>
              <a:uFillTx/>
              <a:latin typeface="Calibri"/>
              <a:ea typeface="+mn-ea"/>
              <a:cs typeface="+mn-cs"/>
              <a:sym typeface="Arial"/>
            </a:endParaRPr>
          </a:p>
        </p:txBody>
      </p:sp>
      <p:sp>
        <p:nvSpPr>
          <p:cNvPr id="6" name="TextBox 5">
            <a:extLst>
              <a:ext uri="{FF2B5EF4-FFF2-40B4-BE49-F238E27FC236}">
                <a16:creationId xmlns:a16="http://schemas.microsoft.com/office/drawing/2014/main" id="{7EE09981-8DEA-F181-B01F-04152660437E}"/>
              </a:ext>
            </a:extLst>
          </p:cNvPr>
          <p:cNvSpPr txBox="1"/>
          <p:nvPr/>
        </p:nvSpPr>
        <p:spPr>
          <a:xfrm>
            <a:off x="2308861" y="3959620"/>
            <a:ext cx="1841435"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Banking 72% · Insurance 68% </a:t>
            </a:r>
            <a:endParaRPr kumimoji="0" lang="en-CA" sz="800" b="1" i="0" u="none" strike="noStrike" kern="0" cap="none" spc="0" normalizeH="0" baseline="0" noProof="0" dirty="0">
              <a:ln>
                <a:noFill/>
              </a:ln>
              <a:solidFill>
                <a:prstClr val="white"/>
              </a:solidFill>
              <a:effectLst/>
              <a:uLnTx/>
              <a:uFillTx/>
              <a:latin typeface="Arial"/>
              <a:cs typeface="Arial"/>
              <a:sym typeface="Arial"/>
            </a:endParaRPr>
          </a:p>
        </p:txBody>
      </p:sp>
      <p:sp>
        <p:nvSpPr>
          <p:cNvPr id="12" name="TextBox 11">
            <a:extLst>
              <a:ext uri="{FF2B5EF4-FFF2-40B4-BE49-F238E27FC236}">
                <a16:creationId xmlns:a16="http://schemas.microsoft.com/office/drawing/2014/main" id="{2CC6B312-75F5-46DD-359F-B76D89F34923}"/>
              </a:ext>
            </a:extLst>
          </p:cNvPr>
          <p:cNvSpPr txBox="1"/>
          <p:nvPr/>
        </p:nvSpPr>
        <p:spPr>
          <a:xfrm>
            <a:off x="6202458" y="3959620"/>
            <a:ext cx="1841435"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Banking 68% · Insurance 60% </a:t>
            </a:r>
            <a:endParaRPr kumimoji="0" lang="en-CA" sz="800" b="1" i="0" u="none" strike="noStrike" kern="0" cap="none" spc="0" normalizeH="0" baseline="0" noProof="0" dirty="0">
              <a:ln>
                <a:noFill/>
              </a:ln>
              <a:solidFill>
                <a:prstClr val="white"/>
              </a:solidFill>
              <a:effectLst/>
              <a:uLnTx/>
              <a:uFillTx/>
              <a:latin typeface="Arial"/>
              <a:cs typeface="Arial"/>
              <a:sym typeface="Arial"/>
            </a:endParaRPr>
          </a:p>
        </p:txBody>
      </p:sp>
      <p:sp>
        <p:nvSpPr>
          <p:cNvPr id="16" name="TextBox 15">
            <a:extLst>
              <a:ext uri="{FF2B5EF4-FFF2-40B4-BE49-F238E27FC236}">
                <a16:creationId xmlns:a16="http://schemas.microsoft.com/office/drawing/2014/main" id="{48BCB576-1AE6-792F-A8B3-5A676062B0A7}"/>
              </a:ext>
            </a:extLst>
          </p:cNvPr>
          <p:cNvSpPr txBox="1"/>
          <p:nvPr/>
        </p:nvSpPr>
        <p:spPr>
          <a:xfrm>
            <a:off x="5326158" y="4112020"/>
            <a:ext cx="1841435"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Banking 72% · Insurance 68% </a:t>
            </a:r>
            <a:endParaRPr kumimoji="0" lang="en-CA" sz="800" b="1" i="0" u="none" strike="noStrike" kern="0" cap="none" spc="0" normalizeH="0" baseline="0" noProof="0" dirty="0">
              <a:ln>
                <a:noFill/>
              </a:ln>
              <a:solidFill>
                <a:prstClr val="white"/>
              </a:solidFill>
              <a:effectLst/>
              <a:uLnTx/>
              <a:uFillTx/>
              <a:latin typeface="Arial"/>
              <a:cs typeface="Arial"/>
              <a:sym typeface="Arial"/>
            </a:endParaRPr>
          </a:p>
        </p:txBody>
      </p:sp>
      <p:sp>
        <p:nvSpPr>
          <p:cNvPr id="18" name="TextBox 17">
            <a:extLst>
              <a:ext uri="{FF2B5EF4-FFF2-40B4-BE49-F238E27FC236}">
                <a16:creationId xmlns:a16="http://schemas.microsoft.com/office/drawing/2014/main" id="{3D4041ED-AA2C-B7B0-922C-60A2154AF6D8}"/>
              </a:ext>
            </a:extLst>
          </p:cNvPr>
          <p:cNvSpPr txBox="1"/>
          <p:nvPr/>
        </p:nvSpPr>
        <p:spPr>
          <a:xfrm>
            <a:off x="10102374" y="3959620"/>
            <a:ext cx="1841435"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sym typeface="Arial"/>
              </a:rPr>
              <a:t>Banking 61% · Insurance 76% </a:t>
            </a:r>
            <a:endParaRPr kumimoji="0" lang="en-CA" sz="800" b="1" i="0" u="none" strike="noStrike" kern="0" cap="none" spc="0" normalizeH="0" baseline="0" noProof="0" dirty="0">
              <a:ln>
                <a:noFill/>
              </a:ln>
              <a:solidFill>
                <a:prstClr val="white"/>
              </a:solidFill>
              <a:effectLst/>
              <a:uLnTx/>
              <a:uFillTx/>
              <a:latin typeface="Arial"/>
              <a:cs typeface="Arial"/>
              <a:sym typeface="Arial"/>
            </a:endParaRPr>
          </a:p>
        </p:txBody>
      </p:sp>
      <p:grpSp>
        <p:nvGrpSpPr>
          <p:cNvPr id="21" name="Group 20">
            <a:extLst>
              <a:ext uri="{FF2B5EF4-FFF2-40B4-BE49-F238E27FC236}">
                <a16:creationId xmlns:a16="http://schemas.microsoft.com/office/drawing/2014/main" id="{E0DE12D1-6D6B-3E0E-41CE-FD8EC00F69D2}"/>
              </a:ext>
            </a:extLst>
          </p:cNvPr>
          <p:cNvGrpSpPr/>
          <p:nvPr/>
        </p:nvGrpSpPr>
        <p:grpSpPr>
          <a:xfrm>
            <a:off x="249638" y="464705"/>
            <a:ext cx="11521440" cy="585793"/>
            <a:chOff x="249638" y="464705"/>
            <a:chExt cx="11521440" cy="585793"/>
          </a:xfrm>
        </p:grpSpPr>
        <p:sp>
          <p:nvSpPr>
            <p:cNvPr id="22" name="Text 22">
              <a:extLst>
                <a:ext uri="{FF2B5EF4-FFF2-40B4-BE49-F238E27FC236}">
                  <a16:creationId xmlns:a16="http://schemas.microsoft.com/office/drawing/2014/main" id="{660B26CA-2F4B-98B0-506D-013D2DFDA47A}"/>
                </a:ext>
              </a:extLst>
            </p:cNvPr>
            <p:cNvSpPr/>
            <p:nvPr/>
          </p:nvSpPr>
          <p:spPr>
            <a:xfrm>
              <a:off x="249638" y="464705"/>
              <a:ext cx="7847726" cy="232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80" normalizeH="0" baseline="0" noProof="0" dirty="0">
                  <a:ln>
                    <a:noFill/>
                  </a:ln>
                  <a:solidFill>
                    <a:srgbClr val="4EA72E"/>
                  </a:solidFill>
                  <a:effectLst/>
                  <a:uLnTx/>
                  <a:uFillTx/>
                  <a:latin typeface="Segoe UI" panose="020B0502040204020203" pitchFamily="34" charset="0"/>
                  <a:ea typeface="Arial" pitchFamily="34" charset="-122"/>
                  <a:cs typeface="Segoe UI" panose="020B0502040204020203" pitchFamily="34" charset="0"/>
                  <a:sym typeface="Arial"/>
                </a:rPr>
                <a:t>WHATS COMING NEXT</a:t>
              </a:r>
            </a:p>
          </p:txBody>
        </p:sp>
        <p:sp>
          <p:nvSpPr>
            <p:cNvPr id="23" name="TextBox 22">
              <a:extLst>
                <a:ext uri="{FF2B5EF4-FFF2-40B4-BE49-F238E27FC236}">
                  <a16:creationId xmlns:a16="http://schemas.microsoft.com/office/drawing/2014/main" id="{676B8D1E-5DFC-6C6C-DEAF-F83A771FE297}"/>
                </a:ext>
              </a:extLst>
            </p:cNvPr>
            <p:cNvSpPr txBox="1"/>
            <p:nvPr/>
          </p:nvSpPr>
          <p:spPr>
            <a:xfrm>
              <a:off x="249638" y="711944"/>
              <a:ext cx="11521440" cy="33855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200" b="1" i="0" u="none" strike="noStrike" kern="1200" cap="none" spc="0" normalizeH="0" baseline="0" noProof="0" dirty="0">
                  <a:ln>
                    <a:noFill/>
                  </a:ln>
                  <a:solidFill>
                    <a:srgbClr val="111111"/>
                  </a:solidFill>
                  <a:effectLst/>
                  <a:uLnTx/>
                  <a:uFillTx/>
                  <a:latin typeface="Segoe UI" panose="020B0502040204020203" pitchFamily="34" charset="0"/>
                  <a:cs typeface="Segoe UI" panose="020B0502040204020203" pitchFamily="34" charset="0"/>
                  <a:sym typeface="Arial"/>
                </a:rPr>
                <a:t>Top of mind changes: Customer identity, AI governance, &amp; payment innovation</a:t>
              </a:r>
            </a:p>
          </p:txBody>
        </p:sp>
      </p:grpSp>
      <p:sp>
        <p:nvSpPr>
          <p:cNvPr id="24" name="TextBox 23">
            <a:extLst>
              <a:ext uri="{FF2B5EF4-FFF2-40B4-BE49-F238E27FC236}">
                <a16:creationId xmlns:a16="http://schemas.microsoft.com/office/drawing/2014/main" id="{9540EB17-5DE2-BFA8-EC9E-D88A14C8F494}"/>
              </a:ext>
            </a:extLst>
          </p:cNvPr>
          <p:cNvSpPr txBox="1"/>
          <p:nvPr/>
        </p:nvSpPr>
        <p:spPr>
          <a:xfrm>
            <a:off x="320040" y="1155192"/>
            <a:ext cx="11521440" cy="64633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Respondents were asked which </a:t>
            </a:r>
            <a:r>
              <a:rPr kumimoji="0" lang="en-US" sz="1400" b="1"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upcoming regulatory or market changes will have the greatest impact on their fraud programs</a:t>
            </a:r>
            <a:r>
              <a:rPr kumimoji="0" lang="en-US" sz="1400" b="0" i="0" u="none" strike="noStrike" kern="1200" cap="none" spc="0" normalizeH="0" baseline="0" noProof="0" dirty="0">
                <a:ln>
                  <a:noFill/>
                </a:ln>
                <a:solidFill>
                  <a:srgbClr val="404040"/>
                </a:solidFill>
                <a:effectLst/>
                <a:uLnTx/>
                <a:uFillTx/>
                <a:latin typeface="Segoe UI" panose="020B0502040204020203" pitchFamily="34" charset="0"/>
                <a:cs typeface="Segoe UI" panose="020B0502040204020203" pitchFamily="34" charset="0"/>
                <a:sym typeface="Arial"/>
              </a:rPr>
              <a:t>, respondents converged on three. Together, they point to a fraud landscape being reshaped by how customers are verified, how data and AI are governed, and how fast money moves.</a:t>
            </a:r>
          </a:p>
        </p:txBody>
      </p:sp>
      <p:sp>
        <p:nvSpPr>
          <p:cNvPr id="4" name="Rectangle 3">
            <a:extLst>
              <a:ext uri="{FF2B5EF4-FFF2-40B4-BE49-F238E27FC236}">
                <a16:creationId xmlns:a16="http://schemas.microsoft.com/office/drawing/2014/main" id="{8FF5E665-4951-2A5F-CD48-9273B05E314A}"/>
              </a:ext>
            </a:extLst>
          </p:cNvPr>
          <p:cNvSpPr/>
          <p:nvPr/>
        </p:nvSpPr>
        <p:spPr>
          <a:xfrm>
            <a:off x="208221" y="6680947"/>
            <a:ext cx="2769649" cy="1169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 typeface="Arial"/>
              <a:buNone/>
              <a:tabLst/>
              <a:defRPr/>
            </a:pP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For detailed data please refer to </a:t>
            </a:r>
            <a:r>
              <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hlinkClick r:id="" action="ppaction://noaction"/>
              </a:rPr>
              <a:t>Appendix – E </a:t>
            </a:r>
            <a:endParaRPr kumimoji="0" lang="en-US" sz="8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Open Sans" panose="020B0606030504020204" pitchFamily="34" charset="0"/>
              <a:cs typeface="Segoe UI" panose="020B0502040204020203" pitchFamily="34" charset="0"/>
              <a:sym typeface="Arial"/>
            </a:endParaRPr>
          </a:p>
        </p:txBody>
      </p:sp>
    </p:spTree>
    <p:extLst>
      <p:ext uri="{BB962C8B-B14F-4D97-AF65-F5344CB8AC3E}">
        <p14:creationId xmlns:p14="http://schemas.microsoft.com/office/powerpoint/2010/main" val="4150166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a:stretch>
        </a:blipFill>
        <a:effectLst/>
      </p:bgPr>
    </p:bg>
    <p:spTree>
      <p:nvGrpSpPr>
        <p:cNvPr id="1" name="">
          <a:extLst>
            <a:ext uri="{FF2B5EF4-FFF2-40B4-BE49-F238E27FC236}">
              <a16:creationId xmlns:a16="http://schemas.microsoft.com/office/drawing/2014/main" id="{496308F7-D832-EB30-B8B8-FAC27973DC11}"/>
            </a:ext>
          </a:extLst>
        </p:cNvPr>
        <p:cNvGrpSpPr/>
        <p:nvPr/>
      </p:nvGrpSpPr>
      <p:grpSpPr>
        <a:xfrm>
          <a:off x="0" y="0"/>
          <a:ext cx="0" cy="0"/>
          <a:chOff x="0" y="0"/>
          <a:chExt cx="0" cy="0"/>
        </a:xfrm>
      </p:grpSpPr>
      <p:sp>
        <p:nvSpPr>
          <p:cNvPr id="10" name="Text Placeholder 3">
            <a:extLst>
              <a:ext uri="{FF2B5EF4-FFF2-40B4-BE49-F238E27FC236}">
                <a16:creationId xmlns:a16="http://schemas.microsoft.com/office/drawing/2014/main" id="{1CCCB8C9-6701-31FE-2275-E7EE13079598}"/>
              </a:ext>
            </a:extLst>
          </p:cNvPr>
          <p:cNvSpPr txBox="1">
            <a:spLocks/>
          </p:cNvSpPr>
          <p:nvPr/>
        </p:nvSpPr>
        <p:spPr>
          <a:xfrm>
            <a:off x="0" y="0"/>
            <a:ext cx="12192000" cy="6858000"/>
          </a:xfrm>
          <a:prstGeom prst="rect">
            <a:avLst/>
          </a:prstGeom>
          <a:solidFill>
            <a:schemeClr val="tx1">
              <a:lumMod val="75000"/>
              <a:lumOff val="25000"/>
              <a:alpha val="70000"/>
            </a:schemeClr>
          </a:solidFill>
          <a:ln>
            <a:noFill/>
          </a:ln>
        </p:spPr>
        <p:txBody>
          <a:bodyPr spcFirstLastPara="1" wrap="square" lIns="365760" tIns="182880" rIns="0" bIns="0" anchor="ctr"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pen Sans"/>
                <a:ea typeface="Open Sans"/>
                <a:cs typeface="Open Sans"/>
                <a:sym typeface="Open Sans"/>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pen Sans"/>
                <a:ea typeface="Open Sans"/>
                <a:cs typeface="Open Sans"/>
                <a:sym typeface="Open Sans"/>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r>
              <a:rPr kumimoji="0" lang="en-US" sz="2800" b="1"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rPr>
              <a:t>Appendices</a:t>
            </a: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endParaRPr kumimoji="0" lang="en-US" sz="2800" b="0" i="0" u="none" strike="noStrike" kern="0" cap="none" spc="0" normalizeH="0" baseline="0" noProof="0" dirty="0">
              <a:ln>
                <a:noFill/>
              </a:ln>
              <a:solidFill>
                <a:srgbClr val="FFFFFF"/>
              </a:solidFill>
              <a:effectLst>
                <a:glow rad="101600">
                  <a:srgbClr val="000000">
                    <a:alpha val="22000"/>
                  </a:srgbClr>
                </a:glow>
              </a:effectLst>
              <a:uLnTx/>
              <a:uFillTx/>
              <a:latin typeface="Segoe UI" panose="020B0502040204020203" pitchFamily="34" charset="0"/>
              <a:ea typeface="Open Sans"/>
              <a:cs typeface="Segoe UI" panose="020B0502040204020203" pitchFamily="34" charset="0"/>
              <a:sym typeface="Open Sans"/>
            </a:endParaRPr>
          </a:p>
          <a:p>
            <a:pPr marL="0" marR="0" lvl="0" indent="0" algn="l" defTabSz="914400" rtl="0" eaLnBrk="1" fontAlgn="auto" latinLnBrk="0" hangingPunct="1">
              <a:lnSpc>
                <a:spcPct val="90000"/>
              </a:lnSpc>
              <a:spcBef>
                <a:spcPts val="1000"/>
              </a:spcBef>
              <a:spcAft>
                <a:spcPts val="0"/>
              </a:spcAft>
              <a:buClr>
                <a:srgbClr val="000000"/>
              </a:buClr>
              <a:buSzPts val="1800"/>
              <a:buFont typeface="Arial"/>
              <a:buNone/>
              <a:tabLst/>
              <a:defRPr/>
            </a:pPr>
            <a:br>
              <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rPr>
            </a:br>
            <a:endParaRPr kumimoji="0" lang="en-US" sz="2000" b="0" i="1" u="none" strike="noStrike" kern="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Open Sans"/>
            </a:endParaRPr>
          </a:p>
        </p:txBody>
      </p:sp>
    </p:spTree>
    <p:extLst>
      <p:ext uri="{BB962C8B-B14F-4D97-AF65-F5344CB8AC3E}">
        <p14:creationId xmlns:p14="http://schemas.microsoft.com/office/powerpoint/2010/main" val="3555277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1DC37D5-A1D5-0F0C-8283-53301301AA2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BE017F1-6E8E-A6BF-64B1-C85CA549AF76}"/>
              </a:ext>
            </a:extLst>
          </p:cNvPr>
          <p:cNvSpPr/>
          <p:nvPr/>
        </p:nvSpPr>
        <p:spPr>
          <a:xfrm>
            <a:off x="0" y="355730"/>
            <a:ext cx="12192000" cy="2305402"/>
          </a:xfrm>
          <a:prstGeom prst="rect">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lIns="365760" tIns="274320" rIns="365760" bIns="274320" rtlCol="0" anchor="ctr" anchorCtr="0"/>
          <a:lstStyle/>
          <a:p>
            <a:pPr marL="0" marR="0" lvl="0" indent="0" algn="l" defTabSz="914400" rtl="0" eaLnBrk="1" fontAlgn="auto" latinLnBrk="0" hangingPunct="1">
              <a:lnSpc>
                <a:spcPct val="100000"/>
              </a:lnSpc>
              <a:spcBef>
                <a:spcPts val="0"/>
              </a:spcBef>
              <a:spcAft>
                <a:spcPts val="0"/>
              </a:spcAft>
              <a:buClr>
                <a:srgbClr val="FFFFFF"/>
              </a:buClr>
              <a:buSzTx/>
              <a:buFont typeface="Arial"/>
              <a:buNone/>
              <a:tabLst/>
              <a:defRPr/>
            </a:pPr>
            <a:r>
              <a:rPr kumimoji="0" lang="en-US" sz="2400" b="1"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Objective</a:t>
            </a:r>
            <a:r>
              <a:rPr kumimoji="0" lang="en-US" sz="1400" b="1"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 </a:t>
            </a:r>
          </a:p>
          <a:p>
            <a:pPr marL="0" marR="0" lvl="0" indent="0" algn="l" defTabSz="914400" rtl="0" eaLnBrk="1" fontAlgn="auto" latinLnBrk="0" hangingPunct="1">
              <a:lnSpc>
                <a:spcPct val="100000"/>
              </a:lnSpc>
              <a:spcBef>
                <a:spcPts val="0"/>
              </a:spcBef>
              <a:spcAft>
                <a:spcPts val="0"/>
              </a:spcAft>
              <a:buClr>
                <a:srgbClr val="FFFFFF"/>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endParaRPr>
          </a:p>
          <a:p>
            <a:pPr marL="0" marR="0" lvl="0" indent="0" algn="l" defTabSz="914400" rtl="0" eaLnBrk="1" fontAlgn="auto" latinLnBrk="0" hangingPunct="1">
              <a:lnSpc>
                <a:spcPct val="100000"/>
              </a:lnSpc>
              <a:spcBef>
                <a:spcPts val="0"/>
              </a:spcBef>
              <a:spcAft>
                <a:spcPts val="0"/>
              </a:spcAft>
              <a:buClr>
                <a:srgbClr val="FFFFFF"/>
              </a:buClr>
              <a:buSzTx/>
              <a:buFont typeface="Arial"/>
              <a:buNone/>
              <a:tabLst/>
              <a:defRPr/>
            </a:pPr>
            <a:r>
              <a:rPr kumimoji="0" lang="en-US" sz="14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This study was conducted to understand and qualify the shift in the fraud risk landscape with the rise of agentic commerce and payments and to support and equip merchants with an understanding of the increase in AI-enabled fraud risks in agentic commerce and what needs to be considered for the implementation of effective mitigation strategies.</a:t>
            </a:r>
          </a:p>
        </p:txBody>
      </p:sp>
      <p:sp>
        <p:nvSpPr>
          <p:cNvPr id="11" name="TextBox 10">
            <a:extLst>
              <a:ext uri="{FF2B5EF4-FFF2-40B4-BE49-F238E27FC236}">
                <a16:creationId xmlns:a16="http://schemas.microsoft.com/office/drawing/2014/main" id="{BCD04F9A-60F8-F295-D654-504B2CFA59AE}"/>
              </a:ext>
            </a:extLst>
          </p:cNvPr>
          <p:cNvSpPr txBox="1"/>
          <p:nvPr/>
        </p:nvSpPr>
        <p:spPr>
          <a:xfrm>
            <a:off x="1" y="3055814"/>
            <a:ext cx="12191996" cy="2913618"/>
          </a:xfrm>
          <a:prstGeom prst="rect">
            <a:avLst/>
          </a:prstGeom>
          <a:solidFill>
            <a:schemeClr val="bg1"/>
          </a:solidFill>
        </p:spPr>
        <p:txBody>
          <a:bodyPr wrap="square" lIns="365760" rIns="365760">
            <a:spAutoFit/>
          </a:bodyPr>
          <a:lstStyle/>
          <a:p>
            <a:pPr marL="0" marR="0" lvl="0" indent="0" algn="l" defTabSz="914400" rtl="0" eaLnBrk="1" fontAlgn="auto" latinLnBrk="0" hangingPunct="1">
              <a:lnSpc>
                <a:spcPct val="100000"/>
              </a:lnSpc>
              <a:spcBef>
                <a:spcPts val="180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Data Sources</a:t>
            </a:r>
          </a:p>
          <a:p>
            <a:pPr marL="0" marR="0" lvl="0" indent="0" algn="l" defTabSz="914400" rtl="0" eaLnBrk="1" fontAlgn="auto" latinLnBrk="0" hangingPunct="1">
              <a:lnSpc>
                <a:spcPct val="100000"/>
              </a:lnSpc>
              <a:spcBef>
                <a:spcPts val="100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Deloitte conducted a quantitative and qualitative study incorporating a variety of data and expert insights to address a key hypothesis, incorporating data from partnering solution providers specialized in AI-enabled fraud in the retail ecosystem. This study was conducted from September to October 2025 using a combination of data sources, including:</a:t>
            </a:r>
          </a:p>
          <a:p>
            <a:pPr marL="457200" marR="0" lvl="0" indent="-342900" algn="l" defTabSz="914400" rtl="0" eaLnBrk="1" fontAlgn="auto" latinLnBrk="0" hangingPunct="1">
              <a:lnSpc>
                <a:spcPct val="100000"/>
              </a:lnSpc>
              <a:spcBef>
                <a:spcPts val="1000"/>
              </a:spcBef>
              <a:spcAft>
                <a:spcPts val="0"/>
              </a:spcAft>
              <a:buClr>
                <a:srgbClr val="000000"/>
              </a:buClr>
              <a:buSzTx/>
              <a:buFont typeface="Arial" panose="020B0604020202020204" pitchFamily="34" charset="0"/>
              <a:buChar char="•"/>
              <a:tabLst/>
              <a:defRPr/>
            </a:pPr>
            <a:r>
              <a:rPr kumimoji="0" lang="en-US" sz="1400" b="1" i="1"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2025 Deloitte Survey on AI-Enabled Fraud in Retail:</a:t>
            </a:r>
            <a:r>
              <a:rPr kumimoji="0" lang="en-US" sz="1400" b="0" i="1"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 </a:t>
            </a:r>
            <a:r>
              <a:rPr kumimoji="0" lang="en-US" sz="14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39 eligible responses were collected out of a total 62 responses based on the profile of the respondents, including the size of the organization and the respondent’s position</a:t>
            </a:r>
          </a:p>
          <a:p>
            <a:pPr marL="457200" marR="0" lvl="0" indent="-342900" algn="l" defTabSz="914400" rtl="0" eaLnBrk="1" fontAlgn="auto" latinLnBrk="0" hangingPunct="1">
              <a:lnSpc>
                <a:spcPct val="100000"/>
              </a:lnSpc>
              <a:spcBef>
                <a:spcPts val="1000"/>
              </a:spcBef>
              <a:spcAft>
                <a:spcPts val="0"/>
              </a:spcAft>
              <a:buClr>
                <a:srgbClr val="000000"/>
              </a:buClr>
              <a:buSzTx/>
              <a:buFont typeface="Arial" panose="020B0604020202020204" pitchFamily="34" charset="0"/>
              <a:buChar char="•"/>
              <a:tabLst/>
              <a:defRPr/>
            </a:pPr>
            <a:r>
              <a:rPr kumimoji="0" lang="en-US" sz="1400" b="1" i="1" u="none" strike="noStrike" kern="0" cap="none" spc="0" normalizeH="0" baseline="0" noProof="0" err="1">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Riskified</a:t>
            </a:r>
            <a:r>
              <a:rPr kumimoji="0" lang="en-US" sz="1400" b="1" i="1"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 </a:t>
            </a:r>
            <a:r>
              <a:rPr kumimoji="0" lang="en-US" sz="14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Proprietary e-commerce transaction and fraud attempt data from global merchant network, as well as a 2025 survey of 5,000+ consumers on AI for shopping and agentic commerce risk</a:t>
            </a:r>
          </a:p>
          <a:p>
            <a:pPr marL="457200" marR="0" lvl="0" indent="-342900" algn="l" defTabSz="914400" rtl="0" eaLnBrk="1" fontAlgn="auto" latinLnBrk="0" hangingPunct="1">
              <a:lnSpc>
                <a:spcPct val="100000"/>
              </a:lnSpc>
              <a:spcBef>
                <a:spcPts val="1000"/>
              </a:spcBef>
              <a:spcAft>
                <a:spcPts val="0"/>
              </a:spcAft>
              <a:buClr>
                <a:srgbClr val="000000"/>
              </a:buClr>
              <a:buSzTx/>
              <a:buFont typeface="Arial" panose="020B0604020202020204" pitchFamily="34" charset="0"/>
              <a:buChar char="•"/>
              <a:tabLst/>
              <a:defRPr/>
            </a:pPr>
            <a:r>
              <a:rPr kumimoji="0" lang="en-US" sz="1400" b="1" i="1"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HUMAN Security:</a:t>
            </a:r>
            <a:r>
              <a:rPr kumimoji="0" lang="en-US" sz="1400" b="0" i="1"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 </a:t>
            </a:r>
            <a:r>
              <a:rPr kumimoji="0" lang="en-US" sz="14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Proprietary digital interaction traffic and research reports across consumer digital journey from ad views, consumption, onsite, and pre/at/post login, including measurements of change in traffic patterns and digital attacks to date</a:t>
            </a:r>
          </a:p>
        </p:txBody>
      </p:sp>
      <p:sp>
        <p:nvSpPr>
          <p:cNvPr id="18" name="Rectangle 17">
            <a:extLst>
              <a:ext uri="{FF2B5EF4-FFF2-40B4-BE49-F238E27FC236}">
                <a16:creationId xmlns:a16="http://schemas.microsoft.com/office/drawing/2014/main" id="{AFEC5613-831F-19E4-AF48-9E111B134687}"/>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METHODOLOGIES</a:t>
            </a:r>
          </a:p>
        </p:txBody>
      </p:sp>
    </p:spTree>
    <p:extLst>
      <p:ext uri="{BB962C8B-B14F-4D97-AF65-F5344CB8AC3E}">
        <p14:creationId xmlns:p14="http://schemas.microsoft.com/office/powerpoint/2010/main" val="1920260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67FFD5-949C-A9E1-1D60-4E4CB48B2FA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C205D23A-4A78-8D3D-2CEA-008EE141AAC1}"/>
              </a:ext>
            </a:extLst>
          </p:cNvPr>
          <p:cNvSpPr/>
          <p:nvPr/>
        </p:nvSpPr>
        <p:spPr>
          <a:xfrm>
            <a:off x="0" y="1239220"/>
            <a:ext cx="12192000" cy="52549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graphicFrame>
        <p:nvGraphicFramePr>
          <p:cNvPr id="2" name="Table 1">
            <a:extLst>
              <a:ext uri="{FF2B5EF4-FFF2-40B4-BE49-F238E27FC236}">
                <a16:creationId xmlns:a16="http://schemas.microsoft.com/office/drawing/2014/main" id="{F04AFCD2-069F-39F8-7089-67ABE2E39802}"/>
              </a:ext>
            </a:extLst>
          </p:cNvPr>
          <p:cNvGraphicFramePr>
            <a:graphicFrameLocks noGrp="1"/>
          </p:cNvGraphicFramePr>
          <p:nvPr/>
        </p:nvGraphicFramePr>
        <p:xfrm>
          <a:off x="370350" y="3590612"/>
          <a:ext cx="3566160" cy="2664961"/>
        </p:xfrm>
        <a:graphic>
          <a:graphicData uri="http://schemas.openxmlformats.org/drawingml/2006/table">
            <a:tbl>
              <a:tblPr firstRow="1" bandRow="1"/>
              <a:tblGrid>
                <a:gridCol w="2560320">
                  <a:extLst>
                    <a:ext uri="{9D8B030D-6E8A-4147-A177-3AD203B41FA5}">
                      <a16:colId xmlns:a16="http://schemas.microsoft.com/office/drawing/2014/main" val="1645355030"/>
                    </a:ext>
                  </a:extLst>
                </a:gridCol>
                <a:gridCol w="457200">
                  <a:extLst>
                    <a:ext uri="{9D8B030D-6E8A-4147-A177-3AD203B41FA5}">
                      <a16:colId xmlns:a16="http://schemas.microsoft.com/office/drawing/2014/main" val="2986133304"/>
                    </a:ext>
                  </a:extLst>
                </a:gridCol>
                <a:gridCol w="548640">
                  <a:extLst>
                    <a:ext uri="{9D8B030D-6E8A-4147-A177-3AD203B41FA5}">
                      <a16:colId xmlns:a16="http://schemas.microsoft.com/office/drawing/2014/main" val="284133260"/>
                    </a:ext>
                  </a:extLst>
                </a:gridCol>
              </a:tblGrid>
              <a:tr h="378961">
                <a:tc>
                  <a:txBody>
                    <a:bodyPr/>
                    <a:lstStyle/>
                    <a:p>
                      <a:r>
                        <a:rPr lang="en-US" sz="1200">
                          <a:latin typeface="Segoe UI" panose="020B0502040204020203" pitchFamily="34" charset="0"/>
                          <a:cs typeface="Segoe UI" panose="020B0502040204020203" pitchFamily="34" charset="0"/>
                        </a:rPr>
                        <a:t>Respondent Organizational Level</a:t>
                      </a:r>
                    </a:p>
                  </a:txBody>
                  <a:tcPr anchor="ctr">
                    <a:lnL w="6350" cap="flat" cmpd="sng" algn="ctr">
                      <a:solidFill>
                        <a:srgbClr val="4EA72E"/>
                      </a:solidFill>
                      <a:prstDash val="solid"/>
                      <a:round/>
                      <a:headEnd type="none" w="med" len="med"/>
                      <a:tailEnd type="none" w="med" len="med"/>
                    </a:lnL>
                    <a:lnT w="6350" cap="flat" cmpd="sng" algn="ctr">
                      <a:solidFill>
                        <a:srgbClr val="4EA72E"/>
                      </a:solidFill>
                      <a:prstDash val="solid"/>
                      <a:round/>
                      <a:headEnd type="none" w="med" len="med"/>
                      <a:tailEnd type="none" w="med" len="med"/>
                    </a:lnT>
                    <a:lnB w="38100" cap="flat" cmpd="sng">
                      <a:noFill/>
                      <a:prstDash val="solid"/>
                      <a:round/>
                      <a:headEnd type="none" w="sm" len="sm"/>
                      <a:tailEnd type="none" w="sm" len="sm"/>
                    </a:lnB>
                    <a:solidFill>
                      <a:srgbClr val="4EA72E"/>
                    </a:solidFill>
                  </a:tcPr>
                </a:tc>
                <a:tc>
                  <a:txBody>
                    <a:bodyPr/>
                    <a:lstStyle/>
                    <a:p>
                      <a:pPr algn="ctr"/>
                      <a:r>
                        <a:rPr lang="en-US" sz="1200">
                          <a:latin typeface="Segoe UI" panose="020B0502040204020203" pitchFamily="34" charset="0"/>
                          <a:cs typeface="Segoe UI" panose="020B0502040204020203" pitchFamily="34" charset="0"/>
                        </a:rPr>
                        <a:t>#</a:t>
                      </a:r>
                    </a:p>
                  </a:txBody>
                  <a:tcPr anchor="ctr">
                    <a:lnT w="6350" cap="flat" cmpd="sng" algn="ctr">
                      <a:solidFill>
                        <a:srgbClr val="4EA72E"/>
                      </a:solidFill>
                      <a:prstDash val="solid"/>
                      <a:round/>
                      <a:headEnd type="none" w="med" len="med"/>
                      <a:tailEnd type="none" w="med" len="med"/>
                    </a:lnT>
                    <a:lnB w="38100" cap="flat" cmpd="sng">
                      <a:noFill/>
                      <a:prstDash val="solid"/>
                      <a:round/>
                      <a:headEnd type="none" w="sm" len="sm"/>
                      <a:tailEnd type="none" w="sm" len="sm"/>
                    </a:lnB>
                    <a:solidFill>
                      <a:srgbClr val="4EA72E"/>
                    </a:solidFill>
                  </a:tcPr>
                </a:tc>
                <a:tc>
                  <a:txBody>
                    <a:bodyPr/>
                    <a:lstStyle/>
                    <a:p>
                      <a:pPr algn="ctr"/>
                      <a:r>
                        <a:rPr lang="en-US" sz="1200" b="0">
                          <a:latin typeface="Segoe UI" panose="020B0502040204020203" pitchFamily="34" charset="0"/>
                          <a:cs typeface="Segoe UI" panose="020B0502040204020203" pitchFamily="34" charset="0"/>
                        </a:rPr>
                        <a:t>%</a:t>
                      </a:r>
                    </a:p>
                  </a:txBody>
                  <a:tcPr anchor="ctr">
                    <a:lnR w="6350" cap="flat" cmpd="sng" algn="ctr">
                      <a:solidFill>
                        <a:srgbClr val="4EA72E"/>
                      </a:solidFill>
                      <a:prstDash val="solid"/>
                      <a:round/>
                      <a:headEnd type="none" w="med" len="med"/>
                      <a:tailEnd type="none" w="med" len="med"/>
                    </a:lnR>
                    <a:lnT w="6350" cap="flat" cmpd="sng" algn="ctr">
                      <a:solidFill>
                        <a:srgbClr val="4EA72E"/>
                      </a:solidFill>
                      <a:prstDash val="solid"/>
                      <a:round/>
                      <a:headEnd type="none" w="med" len="med"/>
                      <a:tailEnd type="none" w="med" len="med"/>
                    </a:lnT>
                    <a:lnB w="38100" cap="flat" cmpd="sng">
                      <a:noFill/>
                      <a:prstDash val="solid"/>
                      <a:round/>
                      <a:headEnd type="none" w="sm" len="sm"/>
                      <a:tailEnd type="none" w="sm" len="sm"/>
                    </a:lnB>
                    <a:solidFill>
                      <a:srgbClr val="4EA72E"/>
                    </a:solidFill>
                  </a:tcPr>
                </a:tc>
                <a:extLst>
                  <a:ext uri="{0D108BD9-81ED-4DB2-BD59-A6C34878D82A}">
                    <a16:rowId xmlns:a16="http://schemas.microsoft.com/office/drawing/2014/main" val="1389635185"/>
                  </a:ext>
                </a:extLst>
              </a:tr>
              <a:tr h="45720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C-level or equivalent</a:t>
                      </a:r>
                    </a:p>
                  </a:txBody>
                  <a:tcPr anchor="ctr">
                    <a:lnL w="6350" cap="flat" cmpd="sng" algn="ctr">
                      <a:solidFill>
                        <a:srgbClr val="4EA72E"/>
                      </a:solidFill>
                      <a:prstDash val="solid"/>
                      <a:round/>
                      <a:headEnd type="none" w="med" len="med"/>
                      <a:tailEnd type="none" w="med" len="med"/>
                    </a:lnL>
                    <a:lnR w="12700" cap="flat" cmpd="sng">
                      <a:noFill/>
                      <a:prstDash val="solid"/>
                      <a:round/>
                      <a:headEnd type="none" w="sm" len="sm"/>
                      <a:tailEnd type="none" w="sm" len="sm"/>
                    </a:lnR>
                    <a:lnT w="381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20</a:t>
                      </a:r>
                    </a:p>
                  </a:txBody>
                  <a:tcPr anchor="ctr">
                    <a:lnL w="12700" cap="flat" cmpd="sng">
                      <a:noFill/>
                      <a:prstDash val="solid"/>
                      <a:round/>
                      <a:headEnd type="none" w="sm" len="sm"/>
                      <a:tailEnd type="none" w="sm" len="sm"/>
                    </a:lnL>
                    <a:lnR w="12700" cap="flat" cmpd="sng">
                      <a:noFill/>
                      <a:prstDash val="solid"/>
                      <a:round/>
                      <a:headEnd type="none" w="sm" len="sm"/>
                      <a:tailEnd type="none" w="sm" len="sm"/>
                    </a:lnR>
                    <a:lnT w="381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51%</a:t>
                      </a:r>
                    </a:p>
                  </a:txBody>
                  <a:tcPr anchor="ctr">
                    <a:lnL w="12700" cap="flat" cmpd="sng">
                      <a:noFill/>
                      <a:prstDash val="solid"/>
                      <a:round/>
                      <a:headEnd type="none" w="sm" len="sm"/>
                      <a:tailEnd type="none" w="sm" len="sm"/>
                    </a:lnL>
                    <a:lnR w="6350" cap="flat" cmpd="sng" algn="ctr">
                      <a:solidFill>
                        <a:srgbClr val="4EA72E"/>
                      </a:solidFill>
                      <a:prstDash val="solid"/>
                      <a:round/>
                      <a:headEnd type="none" w="med" len="med"/>
                      <a:tailEnd type="none" w="med" len="med"/>
                    </a:lnR>
                    <a:lnT w="381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08542753"/>
                  </a:ext>
                </a:extLst>
              </a:tr>
              <a:tr h="45720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SVP-level or equivalent</a:t>
                      </a:r>
                    </a:p>
                  </a:txBody>
                  <a:tcPr anchor="ctr">
                    <a:lnL w="6350" cap="flat" cmpd="sng" algn="ctr">
                      <a:solidFill>
                        <a:srgbClr val="4EA72E"/>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3</a:t>
                      </a:r>
                    </a:p>
                  </a:txBody>
                  <a:tcPr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8%</a:t>
                      </a:r>
                    </a:p>
                  </a:txBody>
                  <a:tcPr anchor="ctr">
                    <a:lnL w="12700" cap="flat" cmpd="sng">
                      <a:noFill/>
                      <a:prstDash val="solid"/>
                      <a:round/>
                      <a:headEnd type="none" w="sm" len="sm"/>
                      <a:tailEnd type="none" w="sm" len="sm"/>
                    </a:lnL>
                    <a:lnR w="6350" cap="flat" cmpd="sng" algn="ctr">
                      <a:solidFill>
                        <a:srgbClr val="4EA72E"/>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2061161"/>
                  </a:ext>
                </a:extLst>
              </a:tr>
              <a:tr h="45720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VP-level or equivalent</a:t>
                      </a:r>
                    </a:p>
                  </a:txBody>
                  <a:tcPr anchor="ctr">
                    <a:lnL w="6350" cap="flat" cmpd="sng" algn="ctr">
                      <a:solidFill>
                        <a:srgbClr val="4EA72E"/>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7</a:t>
                      </a:r>
                    </a:p>
                  </a:txBody>
                  <a:tcPr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18%</a:t>
                      </a:r>
                    </a:p>
                  </a:txBody>
                  <a:tcPr anchor="ctr">
                    <a:lnL w="12700" cap="flat" cmpd="sng">
                      <a:noFill/>
                      <a:prstDash val="solid"/>
                      <a:round/>
                      <a:headEnd type="none" w="sm" len="sm"/>
                      <a:tailEnd type="none" w="sm" len="sm"/>
                    </a:lnL>
                    <a:lnR w="6350" cap="flat" cmpd="sng" algn="ctr">
                      <a:solidFill>
                        <a:srgbClr val="4EA72E"/>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3894732"/>
                  </a:ext>
                </a:extLst>
              </a:tr>
              <a:tr h="45720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Director-level or equivalent</a:t>
                      </a:r>
                    </a:p>
                  </a:txBody>
                  <a:tcPr anchor="ctr">
                    <a:lnL w="6350" cap="flat" cmpd="sng" algn="ctr">
                      <a:solidFill>
                        <a:srgbClr val="4EA72E"/>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7</a:t>
                      </a:r>
                    </a:p>
                  </a:txBody>
                  <a:tcPr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18%</a:t>
                      </a:r>
                    </a:p>
                  </a:txBody>
                  <a:tcPr anchor="ctr">
                    <a:lnL w="12700" cap="flat" cmpd="sng">
                      <a:noFill/>
                      <a:prstDash val="solid"/>
                      <a:round/>
                      <a:headEnd type="none" w="sm" len="sm"/>
                      <a:tailEnd type="none" w="sm" len="sm"/>
                    </a:lnL>
                    <a:lnR w="6350" cap="flat" cmpd="sng" algn="ctr">
                      <a:solidFill>
                        <a:srgbClr val="4EA72E"/>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0879780"/>
                  </a:ext>
                </a:extLst>
              </a:tr>
              <a:tr h="45720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Senior Manager-level or equivalent</a:t>
                      </a:r>
                    </a:p>
                  </a:txBody>
                  <a:tcPr anchor="ctr">
                    <a:lnL w="6350" cap="flat" cmpd="sng" algn="ctr">
                      <a:solidFill>
                        <a:srgbClr val="4EA72E"/>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4EA72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2</a:t>
                      </a:r>
                    </a:p>
                  </a:txBody>
                  <a:tcPr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4EA72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5%</a:t>
                      </a:r>
                    </a:p>
                  </a:txBody>
                  <a:tcPr anchor="ctr">
                    <a:lnL w="12700" cap="flat" cmpd="sng">
                      <a:noFill/>
                      <a:prstDash val="solid"/>
                      <a:round/>
                      <a:headEnd type="none" w="sm" len="sm"/>
                      <a:tailEnd type="none" w="sm" len="sm"/>
                    </a:lnL>
                    <a:lnR w="6350" cap="flat" cmpd="sng" algn="ctr">
                      <a:solidFill>
                        <a:srgbClr val="4EA72E"/>
                      </a:solidFill>
                      <a:prstDash val="solid"/>
                      <a:round/>
                      <a:headEnd type="none" w="med" len="med"/>
                      <a:tailEnd type="none" w="med" len="med"/>
                    </a:lnR>
                    <a:lnT w="12700" cap="flat" cmpd="sng">
                      <a:noFill/>
                      <a:prstDash val="solid"/>
                      <a:round/>
                      <a:headEnd type="none" w="sm" len="sm"/>
                      <a:tailEnd type="none" w="sm" len="sm"/>
                    </a:lnT>
                    <a:lnB w="6350" cap="flat" cmpd="sng" algn="ctr">
                      <a:solidFill>
                        <a:srgbClr val="4EA72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5362712"/>
                  </a:ext>
                </a:extLst>
              </a:tr>
            </a:tbl>
          </a:graphicData>
        </a:graphic>
      </p:graphicFrame>
      <p:graphicFrame>
        <p:nvGraphicFramePr>
          <p:cNvPr id="4" name="Table 3">
            <a:extLst>
              <a:ext uri="{FF2B5EF4-FFF2-40B4-BE49-F238E27FC236}">
                <a16:creationId xmlns:a16="http://schemas.microsoft.com/office/drawing/2014/main" id="{1CD9AA15-70DC-0E7A-8003-2E9D97E942BB}"/>
              </a:ext>
            </a:extLst>
          </p:cNvPr>
          <p:cNvGraphicFramePr>
            <a:graphicFrameLocks noGrp="1"/>
          </p:cNvGraphicFramePr>
          <p:nvPr/>
        </p:nvGraphicFramePr>
        <p:xfrm>
          <a:off x="8255488" y="1422344"/>
          <a:ext cx="3566160" cy="1719072"/>
        </p:xfrm>
        <a:graphic>
          <a:graphicData uri="http://schemas.openxmlformats.org/drawingml/2006/table">
            <a:tbl>
              <a:tblPr firstRow="1" bandRow="1"/>
              <a:tblGrid>
                <a:gridCol w="2560320">
                  <a:extLst>
                    <a:ext uri="{9D8B030D-6E8A-4147-A177-3AD203B41FA5}">
                      <a16:colId xmlns:a16="http://schemas.microsoft.com/office/drawing/2014/main" val="1645355030"/>
                    </a:ext>
                  </a:extLst>
                </a:gridCol>
                <a:gridCol w="457200">
                  <a:extLst>
                    <a:ext uri="{9D8B030D-6E8A-4147-A177-3AD203B41FA5}">
                      <a16:colId xmlns:a16="http://schemas.microsoft.com/office/drawing/2014/main" val="2986133304"/>
                    </a:ext>
                  </a:extLst>
                </a:gridCol>
                <a:gridCol w="548640">
                  <a:extLst>
                    <a:ext uri="{9D8B030D-6E8A-4147-A177-3AD203B41FA5}">
                      <a16:colId xmlns:a16="http://schemas.microsoft.com/office/drawing/2014/main" val="284133260"/>
                    </a:ext>
                  </a:extLst>
                </a:gridCol>
              </a:tblGrid>
              <a:tr h="347472">
                <a:tc>
                  <a:txBody>
                    <a:bodyPr/>
                    <a:lstStyle/>
                    <a:p>
                      <a:r>
                        <a:rPr lang="en-US" sz="1200">
                          <a:latin typeface="Segoe UI" panose="020B0502040204020203" pitchFamily="34" charset="0"/>
                          <a:cs typeface="Segoe UI" panose="020B0502040204020203" pitchFamily="34" charset="0"/>
                        </a:rPr>
                        <a:t>Merchant Industry Vertical</a:t>
                      </a:r>
                    </a:p>
                  </a:txBody>
                  <a:tcPr anchor="ctr">
                    <a:lnL w="6350" cap="flat" cmpd="sng" algn="ctr">
                      <a:solidFill>
                        <a:srgbClr val="4EA72E"/>
                      </a:solidFill>
                      <a:prstDash val="solid"/>
                      <a:round/>
                      <a:headEnd type="none" w="med" len="med"/>
                      <a:tailEnd type="none" w="med" len="med"/>
                    </a:lnL>
                    <a:lnT w="6350" cap="flat" cmpd="sng" algn="ctr">
                      <a:solidFill>
                        <a:srgbClr val="4EA72E"/>
                      </a:solidFill>
                      <a:prstDash val="solid"/>
                      <a:round/>
                      <a:headEnd type="none" w="med" len="med"/>
                      <a:tailEnd type="none" w="med" len="med"/>
                    </a:lnT>
                    <a:solidFill>
                      <a:srgbClr val="4EA72E"/>
                    </a:solidFill>
                  </a:tcPr>
                </a:tc>
                <a:tc>
                  <a:txBody>
                    <a:bodyPr/>
                    <a:lstStyle/>
                    <a:p>
                      <a:pPr algn="ctr"/>
                      <a:r>
                        <a:rPr lang="en-US" sz="1200">
                          <a:latin typeface="Segoe UI" panose="020B0502040204020203" pitchFamily="34" charset="0"/>
                          <a:cs typeface="Segoe UI" panose="020B0502040204020203" pitchFamily="34" charset="0"/>
                        </a:rPr>
                        <a:t>#</a:t>
                      </a:r>
                    </a:p>
                  </a:txBody>
                  <a:tcPr anchor="ctr">
                    <a:lnT w="6350" cap="flat" cmpd="sng" algn="ctr">
                      <a:solidFill>
                        <a:srgbClr val="4EA72E"/>
                      </a:solidFill>
                      <a:prstDash val="solid"/>
                      <a:round/>
                      <a:headEnd type="none" w="med" len="med"/>
                      <a:tailEnd type="none" w="med" len="med"/>
                    </a:lnT>
                    <a:solidFill>
                      <a:srgbClr val="4EA72E"/>
                    </a:solidFill>
                  </a:tcPr>
                </a:tc>
                <a:tc>
                  <a:txBody>
                    <a:bodyPr/>
                    <a:lstStyle/>
                    <a:p>
                      <a:pPr algn="ctr"/>
                      <a:r>
                        <a:rPr lang="en-US" sz="1200">
                          <a:latin typeface="Segoe UI" panose="020B0502040204020203" pitchFamily="34" charset="0"/>
                          <a:cs typeface="Segoe UI" panose="020B0502040204020203" pitchFamily="34" charset="0"/>
                        </a:rPr>
                        <a:t>%</a:t>
                      </a:r>
                    </a:p>
                  </a:txBody>
                  <a:tcPr anchor="ctr">
                    <a:lnR w="6350" cap="flat" cmpd="sng" algn="ctr">
                      <a:solidFill>
                        <a:srgbClr val="4EA72E"/>
                      </a:solidFill>
                      <a:prstDash val="solid"/>
                      <a:round/>
                      <a:headEnd type="none" w="med" len="med"/>
                      <a:tailEnd type="none" w="med" len="med"/>
                    </a:lnR>
                    <a:lnT w="6350" cap="flat" cmpd="sng" algn="ctr">
                      <a:solidFill>
                        <a:srgbClr val="4EA72E"/>
                      </a:solidFill>
                      <a:prstDash val="solid"/>
                      <a:round/>
                      <a:headEnd type="none" w="med" len="med"/>
                      <a:tailEnd type="none" w="med" len="med"/>
                    </a:lnT>
                    <a:solidFill>
                      <a:srgbClr val="4EA72E"/>
                    </a:solidFill>
                  </a:tcPr>
                </a:tc>
                <a:extLst>
                  <a:ext uri="{0D108BD9-81ED-4DB2-BD59-A6C34878D82A}">
                    <a16:rowId xmlns:a16="http://schemas.microsoft.com/office/drawing/2014/main" val="1389635185"/>
                  </a:ext>
                </a:extLst>
              </a:tr>
              <a:tr h="266962">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E-commerce</a:t>
                      </a:r>
                    </a:p>
                  </a:txBody>
                  <a:tcPr anchor="ctr">
                    <a:lnL w="6350" cap="flat" cmpd="sng" algn="ctr">
                      <a:solidFill>
                        <a:srgbClr val="4EA72E"/>
                      </a:solidFill>
                      <a:prstDash val="solid"/>
                      <a:round/>
                      <a:headEnd type="none" w="med" len="med"/>
                      <a:tailEnd type="none" w="med" len="med"/>
                    </a:lnL>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15</a:t>
                      </a:r>
                    </a:p>
                  </a:txBody>
                  <a:tcPr anchor="c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38%</a:t>
                      </a:r>
                    </a:p>
                  </a:txBody>
                  <a:tcPr anchor="ctr">
                    <a:lnR w="6350" cap="flat" cmpd="sng" algn="ctr">
                      <a:solidFill>
                        <a:srgbClr val="4EA72E"/>
                      </a:solidFill>
                      <a:prstDash val="solid"/>
                      <a:round/>
                      <a:headEnd type="none" w="med" len="med"/>
                      <a:tailEnd type="none" w="med" len="med"/>
                    </a:lnR>
                    <a:solidFill>
                      <a:schemeClr val="bg1"/>
                    </a:solidFill>
                  </a:tcPr>
                </a:tc>
                <a:extLst>
                  <a:ext uri="{0D108BD9-81ED-4DB2-BD59-A6C34878D82A}">
                    <a16:rowId xmlns:a16="http://schemas.microsoft.com/office/drawing/2014/main" val="3108542753"/>
                  </a:ext>
                </a:extLst>
              </a:tr>
              <a:tr h="266962">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Hospitality</a:t>
                      </a:r>
                    </a:p>
                  </a:txBody>
                  <a:tcPr anchor="ctr">
                    <a:lnL w="6350" cap="flat" cmpd="sng" algn="ctr">
                      <a:solidFill>
                        <a:srgbClr val="4EA72E"/>
                      </a:solidFill>
                      <a:prstDash val="solid"/>
                      <a:round/>
                      <a:headEnd type="none" w="med" len="med"/>
                      <a:tailEnd type="none" w="med" len="med"/>
                    </a:lnL>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4</a:t>
                      </a:r>
                    </a:p>
                  </a:txBody>
                  <a:tcPr anchor="c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10%</a:t>
                      </a:r>
                    </a:p>
                  </a:txBody>
                  <a:tcPr anchor="ctr">
                    <a:lnR w="6350" cap="flat" cmpd="sng" algn="ctr">
                      <a:solidFill>
                        <a:srgbClr val="4EA72E"/>
                      </a:solidFill>
                      <a:prstDash val="solid"/>
                      <a:round/>
                      <a:headEnd type="none" w="med" len="med"/>
                      <a:tailEnd type="none" w="med" len="med"/>
                    </a:lnR>
                    <a:solidFill>
                      <a:schemeClr val="bg1"/>
                    </a:solidFill>
                  </a:tcPr>
                </a:tc>
                <a:extLst>
                  <a:ext uri="{0D108BD9-81ED-4DB2-BD59-A6C34878D82A}">
                    <a16:rowId xmlns:a16="http://schemas.microsoft.com/office/drawing/2014/main" val="1932061161"/>
                  </a:ext>
                </a:extLst>
              </a:tr>
              <a:tr h="266962">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Retail</a:t>
                      </a:r>
                    </a:p>
                  </a:txBody>
                  <a:tcPr anchor="ctr">
                    <a:lnL w="6350" cap="flat" cmpd="sng" algn="ctr">
                      <a:solidFill>
                        <a:srgbClr val="4EA72E"/>
                      </a:solidFill>
                      <a:prstDash val="solid"/>
                      <a:round/>
                      <a:headEnd type="none" w="med" len="med"/>
                      <a:tailEnd type="none" w="med" len="med"/>
                    </a:lnL>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16</a:t>
                      </a:r>
                    </a:p>
                  </a:txBody>
                  <a:tcPr anchor="c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41%</a:t>
                      </a:r>
                    </a:p>
                  </a:txBody>
                  <a:tcPr anchor="ctr">
                    <a:lnR w="6350" cap="flat" cmpd="sng" algn="ctr">
                      <a:solidFill>
                        <a:srgbClr val="4EA72E"/>
                      </a:solidFill>
                      <a:prstDash val="solid"/>
                      <a:round/>
                      <a:headEnd type="none" w="med" len="med"/>
                      <a:tailEnd type="none" w="med" len="med"/>
                    </a:lnR>
                    <a:solidFill>
                      <a:schemeClr val="bg1"/>
                    </a:solidFill>
                  </a:tcPr>
                </a:tc>
                <a:extLst>
                  <a:ext uri="{0D108BD9-81ED-4DB2-BD59-A6C34878D82A}">
                    <a16:rowId xmlns:a16="http://schemas.microsoft.com/office/drawing/2014/main" val="1623894732"/>
                  </a:ext>
                </a:extLst>
              </a:tr>
              <a:tr h="266962">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Airlines</a:t>
                      </a:r>
                    </a:p>
                  </a:txBody>
                  <a:tcPr anchor="ctr">
                    <a:lnL w="6350" cap="flat" cmpd="sng" algn="ctr">
                      <a:solidFill>
                        <a:srgbClr val="4EA72E"/>
                      </a:solidFill>
                      <a:prstDash val="solid"/>
                      <a:round/>
                      <a:headEnd type="none" w="med" len="med"/>
                      <a:tailEnd type="none" w="med" len="med"/>
                    </a:lnL>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1</a:t>
                      </a:r>
                    </a:p>
                  </a:txBody>
                  <a:tcPr anchor="c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3%</a:t>
                      </a:r>
                    </a:p>
                  </a:txBody>
                  <a:tcPr anchor="ctr">
                    <a:lnR w="6350" cap="flat" cmpd="sng" algn="ctr">
                      <a:solidFill>
                        <a:srgbClr val="4EA72E"/>
                      </a:solidFill>
                      <a:prstDash val="solid"/>
                      <a:round/>
                      <a:headEnd type="none" w="med" len="med"/>
                      <a:tailEnd type="none" w="med" len="med"/>
                    </a:lnR>
                    <a:solidFill>
                      <a:schemeClr val="bg1"/>
                    </a:solidFill>
                  </a:tcPr>
                </a:tc>
                <a:extLst>
                  <a:ext uri="{0D108BD9-81ED-4DB2-BD59-A6C34878D82A}">
                    <a16:rowId xmlns:a16="http://schemas.microsoft.com/office/drawing/2014/main" val="1706160539"/>
                  </a:ext>
                </a:extLst>
              </a:tr>
              <a:tr h="266962">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Consumer Services</a:t>
                      </a:r>
                    </a:p>
                  </a:txBody>
                  <a:tcPr anchor="ctr">
                    <a:lnL w="6350" cap="flat" cmpd="sng" algn="ctr">
                      <a:solidFill>
                        <a:srgbClr val="4EA72E"/>
                      </a:solidFill>
                      <a:prstDash val="solid"/>
                      <a:round/>
                      <a:headEnd type="none" w="med" len="med"/>
                      <a:tailEnd type="none" w="med" len="med"/>
                    </a:lnL>
                    <a:lnB w="6350" cap="flat" cmpd="sng" algn="ctr">
                      <a:solidFill>
                        <a:srgbClr val="4EA72E"/>
                      </a:solidFill>
                      <a:prstDash val="solid"/>
                      <a:round/>
                      <a:headEnd type="none" w="med" len="med"/>
                      <a:tailEnd type="none" w="med" len="med"/>
                    </a:lnB>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3</a:t>
                      </a:r>
                    </a:p>
                  </a:txBody>
                  <a:tcPr anchor="ctr">
                    <a:lnB w="6350" cap="flat" cmpd="sng" algn="ctr">
                      <a:solidFill>
                        <a:srgbClr val="4EA72E"/>
                      </a:solidFill>
                      <a:prstDash val="solid"/>
                      <a:round/>
                      <a:headEnd type="none" w="med" len="med"/>
                      <a:tailEnd type="none" w="med" len="med"/>
                    </a:lnB>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8%</a:t>
                      </a:r>
                    </a:p>
                  </a:txBody>
                  <a:tcPr anchor="ctr">
                    <a:lnR w="6350" cap="flat" cmpd="sng" algn="ctr">
                      <a:solidFill>
                        <a:srgbClr val="4EA72E"/>
                      </a:solidFill>
                      <a:prstDash val="solid"/>
                      <a:round/>
                      <a:headEnd type="none" w="med" len="med"/>
                      <a:tailEnd type="none" w="med" len="med"/>
                    </a:lnR>
                    <a:lnB w="6350" cap="flat" cmpd="sng" algn="ctr">
                      <a:solidFill>
                        <a:srgbClr val="4EA72E"/>
                      </a:solidFill>
                      <a:prstDash val="solid"/>
                      <a:round/>
                      <a:headEnd type="none" w="med" len="med"/>
                      <a:tailEnd type="none" w="med" len="med"/>
                    </a:lnB>
                    <a:solidFill>
                      <a:schemeClr val="bg1"/>
                    </a:solidFill>
                  </a:tcPr>
                </a:tc>
                <a:extLst>
                  <a:ext uri="{0D108BD9-81ED-4DB2-BD59-A6C34878D82A}">
                    <a16:rowId xmlns:a16="http://schemas.microsoft.com/office/drawing/2014/main" val="1716599354"/>
                  </a:ext>
                </a:extLst>
              </a:tr>
            </a:tbl>
          </a:graphicData>
        </a:graphic>
      </p:graphicFrame>
      <p:graphicFrame>
        <p:nvGraphicFramePr>
          <p:cNvPr id="5" name="Table 4">
            <a:extLst>
              <a:ext uri="{FF2B5EF4-FFF2-40B4-BE49-F238E27FC236}">
                <a16:creationId xmlns:a16="http://schemas.microsoft.com/office/drawing/2014/main" id="{FFE50571-5F59-1E85-C156-6E75539F8845}"/>
              </a:ext>
            </a:extLst>
          </p:cNvPr>
          <p:cNvGraphicFramePr>
            <a:graphicFrameLocks noGrp="1"/>
          </p:cNvGraphicFramePr>
          <p:nvPr/>
        </p:nvGraphicFramePr>
        <p:xfrm>
          <a:off x="4312920" y="1422341"/>
          <a:ext cx="3566160" cy="1715837"/>
        </p:xfrm>
        <a:graphic>
          <a:graphicData uri="http://schemas.openxmlformats.org/drawingml/2006/table">
            <a:tbl>
              <a:tblPr firstRow="1" bandRow="1"/>
              <a:tblGrid>
                <a:gridCol w="2560320">
                  <a:extLst>
                    <a:ext uri="{9D8B030D-6E8A-4147-A177-3AD203B41FA5}">
                      <a16:colId xmlns:a16="http://schemas.microsoft.com/office/drawing/2014/main" val="1645355030"/>
                    </a:ext>
                  </a:extLst>
                </a:gridCol>
                <a:gridCol w="457200">
                  <a:extLst>
                    <a:ext uri="{9D8B030D-6E8A-4147-A177-3AD203B41FA5}">
                      <a16:colId xmlns:a16="http://schemas.microsoft.com/office/drawing/2014/main" val="2986133304"/>
                    </a:ext>
                  </a:extLst>
                </a:gridCol>
                <a:gridCol w="548640">
                  <a:extLst>
                    <a:ext uri="{9D8B030D-6E8A-4147-A177-3AD203B41FA5}">
                      <a16:colId xmlns:a16="http://schemas.microsoft.com/office/drawing/2014/main" val="284133260"/>
                    </a:ext>
                  </a:extLst>
                </a:gridCol>
              </a:tblGrid>
              <a:tr h="344237">
                <a:tc>
                  <a:txBody>
                    <a:bodyPr/>
                    <a:lstStyle/>
                    <a:p>
                      <a:r>
                        <a:rPr lang="en-US" sz="1200">
                          <a:latin typeface="Segoe UI" panose="020B0502040204020203" pitchFamily="34" charset="0"/>
                          <a:cs typeface="Segoe UI" panose="020B0502040204020203" pitchFamily="34" charset="0"/>
                        </a:rPr>
                        <a:t>Merchant Annual Revenue</a:t>
                      </a:r>
                    </a:p>
                  </a:txBody>
                  <a:tcPr anchor="ctr">
                    <a:lnL w="6350" cap="flat" cmpd="sng" algn="ctr">
                      <a:solidFill>
                        <a:srgbClr val="4EA72E"/>
                      </a:solidFill>
                      <a:prstDash val="solid"/>
                      <a:round/>
                      <a:headEnd type="none" w="med" len="med"/>
                      <a:tailEnd type="none" w="med" len="med"/>
                    </a:lnL>
                    <a:lnT w="6350" cap="flat" cmpd="sng" algn="ctr">
                      <a:solidFill>
                        <a:srgbClr val="4EA72E"/>
                      </a:solidFill>
                      <a:prstDash val="solid"/>
                      <a:round/>
                      <a:headEnd type="none" w="med" len="med"/>
                      <a:tailEnd type="none" w="med" len="med"/>
                    </a:lnT>
                    <a:solidFill>
                      <a:srgbClr val="4EA72E"/>
                    </a:solidFill>
                  </a:tcPr>
                </a:tc>
                <a:tc>
                  <a:txBody>
                    <a:bodyPr/>
                    <a:lstStyle/>
                    <a:p>
                      <a:pPr algn="ctr"/>
                      <a:r>
                        <a:rPr lang="en-US" sz="1200">
                          <a:latin typeface="Segoe UI" panose="020B0502040204020203" pitchFamily="34" charset="0"/>
                          <a:cs typeface="Segoe UI" panose="020B0502040204020203" pitchFamily="34" charset="0"/>
                        </a:rPr>
                        <a:t>#</a:t>
                      </a:r>
                    </a:p>
                  </a:txBody>
                  <a:tcPr anchor="ctr">
                    <a:lnT w="6350" cap="flat" cmpd="sng" algn="ctr">
                      <a:solidFill>
                        <a:srgbClr val="4EA72E"/>
                      </a:solidFill>
                      <a:prstDash val="solid"/>
                      <a:round/>
                      <a:headEnd type="none" w="med" len="med"/>
                      <a:tailEnd type="none" w="med" len="med"/>
                    </a:lnT>
                    <a:solidFill>
                      <a:srgbClr val="4EA72E"/>
                    </a:solidFill>
                  </a:tcPr>
                </a:tc>
                <a:tc>
                  <a:txBody>
                    <a:bodyPr/>
                    <a:lstStyle/>
                    <a:p>
                      <a:pPr algn="ctr"/>
                      <a:r>
                        <a:rPr lang="en-US" sz="1200">
                          <a:latin typeface="Segoe UI" panose="020B0502040204020203" pitchFamily="34" charset="0"/>
                          <a:cs typeface="Segoe UI" panose="020B0502040204020203" pitchFamily="34" charset="0"/>
                        </a:rPr>
                        <a:t>%</a:t>
                      </a:r>
                    </a:p>
                  </a:txBody>
                  <a:tcPr anchor="ctr">
                    <a:lnR w="6350" cap="flat" cmpd="sng" algn="ctr">
                      <a:solidFill>
                        <a:srgbClr val="4EA72E"/>
                      </a:solidFill>
                      <a:prstDash val="solid"/>
                      <a:round/>
                      <a:headEnd type="none" w="med" len="med"/>
                      <a:tailEnd type="none" w="med" len="med"/>
                    </a:lnR>
                    <a:lnT w="6350" cap="flat" cmpd="sng" algn="ctr">
                      <a:solidFill>
                        <a:srgbClr val="4EA72E"/>
                      </a:solidFill>
                      <a:prstDash val="solid"/>
                      <a:round/>
                      <a:headEnd type="none" w="med" len="med"/>
                      <a:tailEnd type="none" w="med" len="med"/>
                    </a:lnT>
                    <a:solidFill>
                      <a:srgbClr val="4EA72E"/>
                    </a:solidFill>
                  </a:tcPr>
                </a:tc>
                <a:extLst>
                  <a:ext uri="{0D108BD9-81ED-4DB2-BD59-A6C34878D82A}">
                    <a16:rowId xmlns:a16="http://schemas.microsoft.com/office/drawing/2014/main" val="1389635185"/>
                  </a:ext>
                </a:extLst>
              </a:tr>
              <a:tr h="338328">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Less than $1 Million</a:t>
                      </a:r>
                    </a:p>
                  </a:txBody>
                  <a:tcPr anchor="ctr">
                    <a:lnL w="6350" cap="flat" cmpd="sng" algn="ctr">
                      <a:solidFill>
                        <a:srgbClr val="4EA72E"/>
                      </a:solidFill>
                      <a:prstDash val="solid"/>
                      <a:round/>
                      <a:headEnd type="none" w="med" len="med"/>
                      <a:tailEnd type="none" w="med" len="med"/>
                    </a:lnL>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0</a:t>
                      </a:r>
                    </a:p>
                  </a:txBody>
                  <a:tcPr anchor="c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0%</a:t>
                      </a:r>
                    </a:p>
                  </a:txBody>
                  <a:tcPr anchor="ctr">
                    <a:lnR w="6350" cap="flat" cmpd="sng" algn="ctr">
                      <a:solidFill>
                        <a:srgbClr val="4EA72E"/>
                      </a:solidFill>
                      <a:prstDash val="solid"/>
                      <a:round/>
                      <a:headEnd type="none" w="med" len="med"/>
                      <a:tailEnd type="none" w="med" len="med"/>
                    </a:lnR>
                    <a:solidFill>
                      <a:schemeClr val="bg1"/>
                    </a:solidFill>
                  </a:tcPr>
                </a:tc>
                <a:extLst>
                  <a:ext uri="{0D108BD9-81ED-4DB2-BD59-A6C34878D82A}">
                    <a16:rowId xmlns:a16="http://schemas.microsoft.com/office/drawing/2014/main" val="3108542753"/>
                  </a:ext>
                </a:extLst>
              </a:tr>
              <a:tr h="338328">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$1 Million to $49.9 Million</a:t>
                      </a:r>
                    </a:p>
                  </a:txBody>
                  <a:tcPr anchor="ctr">
                    <a:lnL w="6350" cap="flat" cmpd="sng" algn="ctr">
                      <a:solidFill>
                        <a:srgbClr val="4EA72E"/>
                      </a:solidFill>
                      <a:prstDash val="solid"/>
                      <a:round/>
                      <a:headEnd type="none" w="med" len="med"/>
                      <a:tailEnd type="none" w="med" len="med"/>
                    </a:lnL>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2</a:t>
                      </a:r>
                    </a:p>
                  </a:txBody>
                  <a:tcPr anchor="c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5%</a:t>
                      </a:r>
                    </a:p>
                  </a:txBody>
                  <a:tcPr anchor="ctr">
                    <a:lnR w="6350" cap="flat" cmpd="sng" algn="ctr">
                      <a:solidFill>
                        <a:srgbClr val="4EA72E"/>
                      </a:solidFill>
                      <a:prstDash val="solid"/>
                      <a:round/>
                      <a:headEnd type="none" w="med" len="med"/>
                      <a:tailEnd type="none" w="med" len="med"/>
                    </a:lnR>
                    <a:solidFill>
                      <a:schemeClr val="bg1"/>
                    </a:solidFill>
                  </a:tcPr>
                </a:tc>
                <a:extLst>
                  <a:ext uri="{0D108BD9-81ED-4DB2-BD59-A6C34878D82A}">
                    <a16:rowId xmlns:a16="http://schemas.microsoft.com/office/drawing/2014/main" val="1932061161"/>
                  </a:ext>
                </a:extLst>
              </a:tr>
              <a:tr h="338328">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$50 Million to $99.9 Million</a:t>
                      </a:r>
                    </a:p>
                  </a:txBody>
                  <a:tcPr anchor="ctr">
                    <a:lnL w="6350" cap="flat" cmpd="sng" algn="ctr">
                      <a:solidFill>
                        <a:srgbClr val="4EA72E"/>
                      </a:solidFill>
                      <a:prstDash val="solid"/>
                      <a:round/>
                      <a:headEnd type="none" w="med" len="med"/>
                      <a:tailEnd type="none" w="med" len="med"/>
                    </a:lnL>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5</a:t>
                      </a:r>
                    </a:p>
                  </a:txBody>
                  <a:tcPr anchor="ctr">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13%</a:t>
                      </a:r>
                    </a:p>
                  </a:txBody>
                  <a:tcPr anchor="ctr">
                    <a:lnR w="6350" cap="flat" cmpd="sng" algn="ctr">
                      <a:solidFill>
                        <a:srgbClr val="4EA72E"/>
                      </a:solidFill>
                      <a:prstDash val="solid"/>
                      <a:round/>
                      <a:headEnd type="none" w="med" len="med"/>
                      <a:tailEnd type="none" w="med" len="med"/>
                    </a:lnR>
                    <a:solidFill>
                      <a:schemeClr val="bg1"/>
                    </a:solidFill>
                  </a:tcPr>
                </a:tc>
                <a:extLst>
                  <a:ext uri="{0D108BD9-81ED-4DB2-BD59-A6C34878D82A}">
                    <a16:rowId xmlns:a16="http://schemas.microsoft.com/office/drawing/2014/main" val="1623894732"/>
                  </a:ext>
                </a:extLst>
              </a:tr>
              <a:tr h="356616">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$100 Million or more</a:t>
                      </a:r>
                    </a:p>
                  </a:txBody>
                  <a:tcPr anchor="ctr">
                    <a:lnL w="6350" cap="flat" cmpd="sng" algn="ctr">
                      <a:solidFill>
                        <a:srgbClr val="4EA72E"/>
                      </a:solidFill>
                      <a:prstDash val="solid"/>
                      <a:round/>
                      <a:headEnd type="none" w="med" len="med"/>
                      <a:tailEnd type="none" w="med" len="med"/>
                    </a:lnL>
                    <a:lnB w="6350" cap="flat" cmpd="sng" algn="ctr">
                      <a:solidFill>
                        <a:srgbClr val="4EA72E"/>
                      </a:solidFill>
                      <a:prstDash val="solid"/>
                      <a:round/>
                      <a:headEnd type="none" w="med" len="med"/>
                      <a:tailEnd type="none" w="med" len="med"/>
                    </a:lnB>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32</a:t>
                      </a:r>
                    </a:p>
                  </a:txBody>
                  <a:tcPr anchor="ctr">
                    <a:lnB w="6350" cap="flat" cmpd="sng" algn="ctr">
                      <a:solidFill>
                        <a:srgbClr val="4EA72E"/>
                      </a:solidFill>
                      <a:prstDash val="solid"/>
                      <a:round/>
                      <a:headEnd type="none" w="med" len="med"/>
                      <a:tailEnd type="none" w="med" len="med"/>
                    </a:lnB>
                    <a:solidFill>
                      <a:schemeClr val="bg1"/>
                    </a:solidFill>
                  </a:tcPr>
                </a:tc>
                <a:tc>
                  <a:txBody>
                    <a:bodyPr/>
                    <a:lstStyle/>
                    <a:p>
                      <a:pPr algn="ctr"/>
                      <a:r>
                        <a:rPr lang="en-US" sz="1200">
                          <a:solidFill>
                            <a:schemeClr val="tx1">
                              <a:lumMod val="75000"/>
                              <a:lumOff val="25000"/>
                            </a:schemeClr>
                          </a:solidFill>
                          <a:latin typeface="Segoe UI" panose="020B0502040204020203" pitchFamily="34" charset="0"/>
                          <a:cs typeface="Segoe UI" panose="020B0502040204020203" pitchFamily="34" charset="0"/>
                        </a:rPr>
                        <a:t>82%</a:t>
                      </a:r>
                    </a:p>
                  </a:txBody>
                  <a:tcPr anchor="ctr">
                    <a:lnR w="6350" cap="flat" cmpd="sng" algn="ctr">
                      <a:solidFill>
                        <a:srgbClr val="4EA72E"/>
                      </a:solidFill>
                      <a:prstDash val="solid"/>
                      <a:round/>
                      <a:headEnd type="none" w="med" len="med"/>
                      <a:tailEnd type="none" w="med" len="med"/>
                    </a:lnR>
                    <a:lnB w="6350" cap="flat" cmpd="sng" algn="ctr">
                      <a:solidFill>
                        <a:srgbClr val="4EA72E"/>
                      </a:solidFill>
                      <a:prstDash val="solid"/>
                      <a:round/>
                      <a:headEnd type="none" w="med" len="med"/>
                      <a:tailEnd type="none" w="med" len="med"/>
                    </a:lnB>
                    <a:solidFill>
                      <a:schemeClr val="bg1"/>
                    </a:solidFill>
                  </a:tcPr>
                </a:tc>
                <a:extLst>
                  <a:ext uri="{0D108BD9-81ED-4DB2-BD59-A6C34878D82A}">
                    <a16:rowId xmlns:a16="http://schemas.microsoft.com/office/drawing/2014/main" val="1706160539"/>
                  </a:ext>
                </a:extLst>
              </a:tr>
            </a:tbl>
          </a:graphicData>
        </a:graphic>
      </p:graphicFrame>
      <p:graphicFrame>
        <p:nvGraphicFramePr>
          <p:cNvPr id="7" name="Chart 6">
            <a:extLst>
              <a:ext uri="{FF2B5EF4-FFF2-40B4-BE49-F238E27FC236}">
                <a16:creationId xmlns:a16="http://schemas.microsoft.com/office/drawing/2014/main" id="{90C2EAE6-A17F-411A-ECFD-6C9942715790}"/>
              </a:ext>
            </a:extLst>
          </p:cNvPr>
          <p:cNvGraphicFramePr>
            <a:graphicFrameLocks/>
          </p:cNvGraphicFramePr>
          <p:nvPr/>
        </p:nvGraphicFramePr>
        <p:xfrm>
          <a:off x="4312921" y="3449258"/>
          <a:ext cx="7508730" cy="2937098"/>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CD65814A-A573-8EC3-E09C-71A8B02FF08B}"/>
              </a:ext>
            </a:extLst>
          </p:cNvPr>
          <p:cNvSpPr/>
          <p:nvPr/>
        </p:nvSpPr>
        <p:spPr bwMode="gray">
          <a:xfrm>
            <a:off x="-3" y="355729"/>
            <a:ext cx="12192001" cy="883491"/>
          </a:xfrm>
          <a:prstGeom prst="rect">
            <a:avLst/>
          </a:prstGeom>
          <a:solidFill>
            <a:schemeClr val="bg1">
              <a:lumMod val="95000"/>
            </a:schemeClr>
          </a:solidFill>
          <a:ln w="19050" algn="ctr">
            <a:noFill/>
            <a:miter lim="800000"/>
            <a:headEnd/>
            <a:tailEnd/>
          </a:ln>
        </p:spPr>
        <p:txBody>
          <a:bodyPr wrap="square" lIns="365760" tIns="88900" rIns="365760" bIns="88900" rtlCol="0" anchor="ctr"/>
          <a:lstStyle/>
          <a:p>
            <a:pPr marL="0" marR="0" lvl="0" indent="0" algn="ctr" defTabSz="914400" rtl="0" eaLnBrk="1" fontAlgn="auto" latinLnBrk="0" hangingPunct="1">
              <a:lnSpc>
                <a:spcPct val="106000"/>
              </a:lnSpc>
              <a:spcBef>
                <a:spcPts val="0"/>
              </a:spcBef>
              <a:spcAft>
                <a:spcPts val="0"/>
              </a:spcAft>
              <a:buClr>
                <a:srgbClr val="000000"/>
              </a:buClr>
              <a:buSzTx/>
              <a:buFont typeface="Wingdings 2" pitchFamily="18" charset="2"/>
              <a:buNone/>
              <a:tabLst/>
              <a:defRPr/>
            </a:pPr>
            <a:r>
              <a:rPr kumimoji="0" lang="en-US" sz="14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To better understand industry perspectives and challenges related to agentic AI and AI-enabled fraud in retail, Deloitte surveyed 39 North American merchants across various industry verticals. All participants have relevant understanding and experiences with agentic AI, and their organizations reported annual revenues ranging from $1 million to over $100 million.</a:t>
            </a:r>
          </a:p>
        </p:txBody>
      </p:sp>
      <p:sp>
        <p:nvSpPr>
          <p:cNvPr id="10" name="Rectangle 9">
            <a:extLst>
              <a:ext uri="{FF2B5EF4-FFF2-40B4-BE49-F238E27FC236}">
                <a16:creationId xmlns:a16="http://schemas.microsoft.com/office/drawing/2014/main" id="{62F58CA2-7F97-D042-4B64-1626513F9681}"/>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PROFILE OF RESPONDENTS: 2025 DELOITTE SURVEY ON AI-ENABLED FRAUD IN RETAIL </a:t>
            </a:r>
          </a:p>
        </p:txBody>
      </p:sp>
      <p:sp>
        <p:nvSpPr>
          <p:cNvPr id="6" name="Rectangle 5">
            <a:extLst>
              <a:ext uri="{FF2B5EF4-FFF2-40B4-BE49-F238E27FC236}">
                <a16:creationId xmlns:a16="http://schemas.microsoft.com/office/drawing/2014/main" id="{7D24B981-5632-C386-168A-F6730367368E}"/>
              </a:ext>
            </a:extLst>
          </p:cNvPr>
          <p:cNvSpPr/>
          <p:nvPr/>
        </p:nvSpPr>
        <p:spPr>
          <a:xfrm>
            <a:off x="370350" y="1428750"/>
            <a:ext cx="356616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Respondent Location</a:t>
            </a:r>
          </a:p>
        </p:txBody>
      </p:sp>
      <p:sp>
        <p:nvSpPr>
          <p:cNvPr id="8" name="Rectangle 7">
            <a:extLst>
              <a:ext uri="{FF2B5EF4-FFF2-40B4-BE49-F238E27FC236}">
                <a16:creationId xmlns:a16="http://schemas.microsoft.com/office/drawing/2014/main" id="{C65960EB-6F73-ABDC-7843-8A6995ADC0E7}"/>
              </a:ext>
            </a:extLst>
          </p:cNvPr>
          <p:cNvSpPr/>
          <p:nvPr/>
        </p:nvSpPr>
        <p:spPr>
          <a:xfrm>
            <a:off x="370349" y="2734162"/>
            <a:ext cx="178308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United States</a:t>
            </a:r>
          </a:p>
        </p:txBody>
      </p:sp>
      <p:sp>
        <p:nvSpPr>
          <p:cNvPr id="11" name="Rectangle 10">
            <a:extLst>
              <a:ext uri="{FF2B5EF4-FFF2-40B4-BE49-F238E27FC236}">
                <a16:creationId xmlns:a16="http://schemas.microsoft.com/office/drawing/2014/main" id="{B88C96FF-DC42-F7BD-3EE7-B7E001A439E9}"/>
              </a:ext>
            </a:extLst>
          </p:cNvPr>
          <p:cNvSpPr/>
          <p:nvPr/>
        </p:nvSpPr>
        <p:spPr>
          <a:xfrm>
            <a:off x="2153430" y="2734162"/>
            <a:ext cx="178308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Canada</a:t>
            </a:r>
          </a:p>
        </p:txBody>
      </p:sp>
      <p:sp>
        <p:nvSpPr>
          <p:cNvPr id="12" name="Rectangle 11">
            <a:extLst>
              <a:ext uri="{FF2B5EF4-FFF2-40B4-BE49-F238E27FC236}">
                <a16:creationId xmlns:a16="http://schemas.microsoft.com/office/drawing/2014/main" id="{486B82D6-4B27-05D0-A4ED-5D2BD68CB163}"/>
              </a:ext>
            </a:extLst>
          </p:cNvPr>
          <p:cNvSpPr/>
          <p:nvPr/>
        </p:nvSpPr>
        <p:spPr>
          <a:xfrm>
            <a:off x="370349" y="1788562"/>
            <a:ext cx="1783080" cy="945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1"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92%</a:t>
            </a:r>
          </a:p>
        </p:txBody>
      </p:sp>
      <p:sp>
        <p:nvSpPr>
          <p:cNvPr id="13" name="Rectangle 12">
            <a:extLst>
              <a:ext uri="{FF2B5EF4-FFF2-40B4-BE49-F238E27FC236}">
                <a16:creationId xmlns:a16="http://schemas.microsoft.com/office/drawing/2014/main" id="{FF060EC4-6826-5650-ACBE-382BC0499E81}"/>
              </a:ext>
            </a:extLst>
          </p:cNvPr>
          <p:cNvSpPr/>
          <p:nvPr/>
        </p:nvSpPr>
        <p:spPr>
          <a:xfrm>
            <a:off x="2153430" y="1788562"/>
            <a:ext cx="1783080" cy="945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1" i="0" u="none" strike="noStrike" kern="0" cap="none" spc="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8%</a:t>
            </a:r>
          </a:p>
        </p:txBody>
      </p:sp>
      <p:sp>
        <p:nvSpPr>
          <p:cNvPr id="15" name="Rectangle 14">
            <a:extLst>
              <a:ext uri="{FF2B5EF4-FFF2-40B4-BE49-F238E27FC236}">
                <a16:creationId xmlns:a16="http://schemas.microsoft.com/office/drawing/2014/main" id="{EC06404C-066E-7B96-B784-CE1088CAEF76}"/>
              </a:ext>
            </a:extLst>
          </p:cNvPr>
          <p:cNvSpPr/>
          <p:nvPr/>
        </p:nvSpPr>
        <p:spPr bwMode="gray">
          <a:xfrm>
            <a:off x="-3" y="3283504"/>
            <a:ext cx="12192001" cy="107848"/>
          </a:xfrm>
          <a:prstGeom prst="rect">
            <a:avLst/>
          </a:prstGeom>
          <a:solidFill>
            <a:schemeClr val="bg1">
              <a:lumMod val="95000"/>
            </a:schemeClr>
          </a:solidFill>
          <a:ln w="19050" algn="ctr">
            <a:noFill/>
            <a:miter lim="800000"/>
            <a:headEnd/>
            <a:tailEnd/>
          </a:ln>
        </p:spPr>
        <p:txBody>
          <a:bodyPr wrap="square" lIns="365760" tIns="88900" rIns="365760" bIns="88900" rtlCol="0" anchor="ctr"/>
          <a:lstStyle/>
          <a:p>
            <a:pPr marL="0" marR="0" lvl="0" indent="0" algn="ctr" defTabSz="914400" rtl="0" eaLnBrk="1" fontAlgn="auto" latinLnBrk="0" hangingPunct="1">
              <a:lnSpc>
                <a:spcPct val="106000"/>
              </a:lnSpc>
              <a:spcBef>
                <a:spcPts val="0"/>
              </a:spcBef>
              <a:spcAft>
                <a:spcPts val="0"/>
              </a:spcAft>
              <a:buClr>
                <a:srgbClr val="000000"/>
              </a:buClr>
              <a:buSzTx/>
              <a:buFont typeface="Wingdings 2" pitchFamily="18" charset="2"/>
              <a:buNone/>
              <a:tabLst/>
              <a:defRPr/>
            </a:pPr>
            <a:endParaRPr kumimoji="0" lang="en-US" sz="14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endParaRPr>
          </a:p>
        </p:txBody>
      </p:sp>
      <p:sp>
        <p:nvSpPr>
          <p:cNvPr id="24" name="Freeform: Shape 23">
            <a:extLst>
              <a:ext uri="{FF2B5EF4-FFF2-40B4-BE49-F238E27FC236}">
                <a16:creationId xmlns:a16="http://schemas.microsoft.com/office/drawing/2014/main" id="{86A99798-A4F4-0D54-1AD5-F234188F6A66}"/>
              </a:ext>
            </a:extLst>
          </p:cNvPr>
          <p:cNvSpPr/>
          <p:nvPr/>
        </p:nvSpPr>
        <p:spPr>
          <a:xfrm>
            <a:off x="2153430" y="2659600"/>
            <a:ext cx="197169" cy="109728"/>
          </a:xfrm>
          <a:custGeom>
            <a:avLst/>
            <a:gdLst>
              <a:gd name="connsiteX0" fmla="*/ 0 w 197169"/>
              <a:gd name="connsiteY0" fmla="*/ 0 h 109728"/>
              <a:gd name="connsiteX1" fmla="*/ 142305 w 197169"/>
              <a:gd name="connsiteY1" fmla="*/ 0 h 109728"/>
              <a:gd name="connsiteX2" fmla="*/ 146304 w 197169"/>
              <a:gd name="connsiteY2" fmla="*/ 0 h 109728"/>
              <a:gd name="connsiteX3" fmla="*/ 146304 w 197169"/>
              <a:gd name="connsiteY3" fmla="*/ 807 h 109728"/>
              <a:gd name="connsiteX4" fmla="*/ 163661 w 197169"/>
              <a:gd name="connsiteY4" fmla="*/ 4312 h 109728"/>
              <a:gd name="connsiteX5" fmla="*/ 197169 w 197169"/>
              <a:gd name="connsiteY5" fmla="*/ 54864 h 109728"/>
              <a:gd name="connsiteX6" fmla="*/ 163661 w 197169"/>
              <a:gd name="connsiteY6" fmla="*/ 105417 h 109728"/>
              <a:gd name="connsiteX7" fmla="*/ 146304 w 197169"/>
              <a:gd name="connsiteY7" fmla="*/ 108921 h 109728"/>
              <a:gd name="connsiteX8" fmla="*/ 146304 w 197169"/>
              <a:gd name="connsiteY8" fmla="*/ 109728 h 109728"/>
              <a:gd name="connsiteX9" fmla="*/ 142305 w 197169"/>
              <a:gd name="connsiteY9" fmla="*/ 109728 h 109728"/>
              <a:gd name="connsiteX10" fmla="*/ 0 w 197169"/>
              <a:gd name="connsiteY10" fmla="*/ 109728 h 109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169" h="109728">
                <a:moveTo>
                  <a:pt x="0" y="0"/>
                </a:moveTo>
                <a:lnTo>
                  <a:pt x="142305" y="0"/>
                </a:lnTo>
                <a:lnTo>
                  <a:pt x="146304" y="0"/>
                </a:lnTo>
                <a:lnTo>
                  <a:pt x="146304" y="807"/>
                </a:lnTo>
                <a:lnTo>
                  <a:pt x="163661" y="4312"/>
                </a:lnTo>
                <a:cubicBezTo>
                  <a:pt x="183352" y="12640"/>
                  <a:pt x="197169" y="32138"/>
                  <a:pt x="197169" y="54864"/>
                </a:cubicBezTo>
                <a:cubicBezTo>
                  <a:pt x="197169" y="77590"/>
                  <a:pt x="183352" y="97088"/>
                  <a:pt x="163661" y="105417"/>
                </a:cubicBezTo>
                <a:lnTo>
                  <a:pt x="146304" y="108921"/>
                </a:lnTo>
                <a:lnTo>
                  <a:pt x="146304" y="109728"/>
                </a:lnTo>
                <a:lnTo>
                  <a:pt x="142305" y="109728"/>
                </a:lnTo>
                <a:lnTo>
                  <a:pt x="0" y="109728"/>
                </a:lnTo>
                <a:close/>
              </a:path>
            </a:pathLst>
          </a:cu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 name="Freeform: Shape 22">
            <a:extLst>
              <a:ext uri="{FF2B5EF4-FFF2-40B4-BE49-F238E27FC236}">
                <a16:creationId xmlns:a16="http://schemas.microsoft.com/office/drawing/2014/main" id="{4DAF90F3-1575-8C91-4AB8-5F3A5D44A4BB}"/>
              </a:ext>
            </a:extLst>
          </p:cNvPr>
          <p:cNvSpPr/>
          <p:nvPr/>
        </p:nvSpPr>
        <p:spPr>
          <a:xfrm>
            <a:off x="461789" y="2659130"/>
            <a:ext cx="1691641" cy="109728"/>
          </a:xfrm>
          <a:custGeom>
            <a:avLst/>
            <a:gdLst>
              <a:gd name="connsiteX0" fmla="*/ 54864 w 1691641"/>
              <a:gd name="connsiteY0" fmla="*/ 0 h 109728"/>
              <a:gd name="connsiteX1" fmla="*/ 54865 w 1691641"/>
              <a:gd name="connsiteY1" fmla="*/ 0 h 109728"/>
              <a:gd name="connsiteX2" fmla="*/ 54865 w 1691641"/>
              <a:gd name="connsiteY2" fmla="*/ 0 h 109728"/>
              <a:gd name="connsiteX3" fmla="*/ 1691641 w 1691641"/>
              <a:gd name="connsiteY3" fmla="*/ 0 h 109728"/>
              <a:gd name="connsiteX4" fmla="*/ 1691641 w 1691641"/>
              <a:gd name="connsiteY4" fmla="*/ 109728 h 109728"/>
              <a:gd name="connsiteX5" fmla="*/ 54865 w 1691641"/>
              <a:gd name="connsiteY5" fmla="*/ 109728 h 109728"/>
              <a:gd name="connsiteX6" fmla="*/ 54865 w 1691641"/>
              <a:gd name="connsiteY6" fmla="*/ 109728 h 109728"/>
              <a:gd name="connsiteX7" fmla="*/ 54864 w 1691641"/>
              <a:gd name="connsiteY7" fmla="*/ 109728 h 109728"/>
              <a:gd name="connsiteX8" fmla="*/ 0 w 1691641"/>
              <a:gd name="connsiteY8" fmla="*/ 54864 h 109728"/>
              <a:gd name="connsiteX9" fmla="*/ 54864 w 1691641"/>
              <a:gd name="connsiteY9" fmla="*/ 0 h 109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91641" h="109728">
                <a:moveTo>
                  <a:pt x="54864" y="0"/>
                </a:moveTo>
                <a:lnTo>
                  <a:pt x="54865" y="0"/>
                </a:lnTo>
                <a:lnTo>
                  <a:pt x="54865" y="0"/>
                </a:lnTo>
                <a:lnTo>
                  <a:pt x="1691641" y="0"/>
                </a:lnTo>
                <a:lnTo>
                  <a:pt x="1691641" y="109728"/>
                </a:lnTo>
                <a:lnTo>
                  <a:pt x="54865" y="109728"/>
                </a:lnTo>
                <a:lnTo>
                  <a:pt x="54865" y="109728"/>
                </a:lnTo>
                <a:lnTo>
                  <a:pt x="54864" y="109728"/>
                </a:lnTo>
                <a:cubicBezTo>
                  <a:pt x="24563" y="109728"/>
                  <a:pt x="0" y="85165"/>
                  <a:pt x="0" y="54864"/>
                </a:cubicBezTo>
                <a:cubicBezTo>
                  <a:pt x="0" y="24563"/>
                  <a:pt x="24563" y="0"/>
                  <a:pt x="54864" y="0"/>
                </a:cubicBezTo>
                <a:close/>
              </a:path>
            </a:pathLst>
          </a:cu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cxnSp>
        <p:nvCxnSpPr>
          <p:cNvPr id="26" name="Straight Connector 25">
            <a:extLst>
              <a:ext uri="{FF2B5EF4-FFF2-40B4-BE49-F238E27FC236}">
                <a16:creationId xmlns:a16="http://schemas.microsoft.com/office/drawing/2014/main" id="{CCB8DB16-77EC-5393-A945-29C675ED316F}"/>
              </a:ext>
            </a:extLst>
          </p:cNvPr>
          <p:cNvCxnSpPr>
            <a:cxnSpLocks/>
          </p:cNvCxnSpPr>
          <p:nvPr/>
        </p:nvCxnSpPr>
        <p:spPr>
          <a:xfrm>
            <a:off x="2153430" y="2029479"/>
            <a:ext cx="0" cy="82296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327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5AEAC04-EDF7-16B0-EC64-E97420C9B897}"/>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DB924A2B-9A7D-350B-CAC2-6F4556C296C6}"/>
              </a:ext>
            </a:extLst>
          </p:cNvPr>
          <p:cNvSpPr/>
          <p:nvPr/>
        </p:nvSpPr>
        <p:spPr>
          <a:xfrm>
            <a:off x="9672" y="355729"/>
            <a:ext cx="12191999" cy="62069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9" name="Rectangle 318">
            <a:extLst>
              <a:ext uri="{FF2B5EF4-FFF2-40B4-BE49-F238E27FC236}">
                <a16:creationId xmlns:a16="http://schemas.microsoft.com/office/drawing/2014/main" id="{FEBC48CC-B399-33AA-B5CB-D9E8AC48DF6A}"/>
              </a:ext>
            </a:extLst>
          </p:cNvPr>
          <p:cNvSpPr/>
          <p:nvPr/>
        </p:nvSpPr>
        <p:spPr>
          <a:xfrm>
            <a:off x="9673" y="4030218"/>
            <a:ext cx="12182327" cy="80354"/>
          </a:xfrm>
          <a:prstGeom prst="rect">
            <a:avLst/>
          </a:prstGeom>
          <a:solidFill>
            <a:schemeClr val="bg1">
              <a:lumMod val="95000"/>
            </a:scheme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20" name="Rectangle 319">
            <a:extLst>
              <a:ext uri="{FF2B5EF4-FFF2-40B4-BE49-F238E27FC236}">
                <a16:creationId xmlns:a16="http://schemas.microsoft.com/office/drawing/2014/main" id="{94CFD41B-0FB9-FB81-AD23-8B6D9B748A13}"/>
              </a:ext>
            </a:extLst>
          </p:cNvPr>
          <p:cNvSpPr/>
          <p:nvPr/>
        </p:nvSpPr>
        <p:spPr>
          <a:xfrm>
            <a:off x="3196922" y="355729"/>
            <a:ext cx="9591978" cy="3754843"/>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graphicFrame>
        <p:nvGraphicFramePr>
          <p:cNvPr id="2" name="Chart 1">
            <a:extLst>
              <a:ext uri="{FF2B5EF4-FFF2-40B4-BE49-F238E27FC236}">
                <a16:creationId xmlns:a16="http://schemas.microsoft.com/office/drawing/2014/main" id="{51DE744C-A342-4812-E0D7-48A61052F679}"/>
              </a:ext>
            </a:extLst>
          </p:cNvPr>
          <p:cNvGraphicFramePr>
            <a:graphicFrameLocks/>
          </p:cNvGraphicFramePr>
          <p:nvPr/>
        </p:nvGraphicFramePr>
        <p:xfrm>
          <a:off x="8932809" y="1171762"/>
          <a:ext cx="3095518" cy="2744957"/>
        </p:xfrm>
        <a:graphic>
          <a:graphicData uri="http://schemas.openxmlformats.org/drawingml/2006/chart">
            <c:chart xmlns:c="http://schemas.openxmlformats.org/drawingml/2006/chart" xmlns:r="http://schemas.openxmlformats.org/officeDocument/2006/relationships" r:id="rId4"/>
          </a:graphicData>
        </a:graphic>
      </p:graphicFrame>
      <p:sp>
        <p:nvSpPr>
          <p:cNvPr id="3" name="Rectangle 2">
            <a:extLst>
              <a:ext uri="{FF2B5EF4-FFF2-40B4-BE49-F238E27FC236}">
                <a16:creationId xmlns:a16="http://schemas.microsoft.com/office/drawing/2014/main" id="{13C4F99B-8E0A-63C0-5A6B-1D6E8417D743}"/>
              </a:ext>
            </a:extLst>
          </p:cNvPr>
          <p:cNvSpPr/>
          <p:nvPr/>
        </p:nvSpPr>
        <p:spPr bwMode="gray">
          <a:xfrm>
            <a:off x="3115603" y="490266"/>
            <a:ext cx="2807102" cy="3410933"/>
          </a:xfrm>
          <a:prstGeom prst="rect">
            <a:avLst/>
          </a:prstGeom>
          <a:noFill/>
          <a:ln w="19050" algn="ctr">
            <a:noFill/>
            <a:miter lim="800000"/>
            <a:headEnd/>
            <a:tailEnd/>
          </a:ln>
        </p:spPr>
        <p:txBody>
          <a:bodyPr wrap="square" lIns="0" tIns="0" rIns="0" bIns="88900" rtlCol="0" anchor="t" anchorCtr="0"/>
          <a:lstStyle/>
          <a:p>
            <a:pPr marL="0" marR="0" lvl="0" indent="0" algn="ctr" defTabSz="914400" rtl="0" eaLnBrk="1" fontAlgn="auto" latinLnBrk="0" hangingPunct="1">
              <a:lnSpc>
                <a:spcPct val="100000"/>
              </a:lnSpc>
              <a:spcBef>
                <a:spcPts val="0"/>
              </a:spcBef>
              <a:spcAft>
                <a:spcPts val="90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Types of AI-enabled fraud experienced in the past year</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Fake/synthetic identity</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Document fabrications</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Deepfake impersonations</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Phishing/spear phishing</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Social engineering</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Brute force password attacks</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Account takeovers</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Man-in-the-middle attacks</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Fake websites/storefronts</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Fraudulent transactions/credit cards</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Coupon/promotion abuse</a:t>
            </a:r>
          </a:p>
          <a:p>
            <a:pPr marL="171450" marR="0" lvl="0" indent="-171450" algn="l" defTabSz="914400" rtl="0" eaLnBrk="1" fontAlgn="auto" latinLnBrk="0" hangingPunct="1">
              <a:lnSpc>
                <a:spcPct val="120000"/>
              </a:lnSpc>
              <a:spcBef>
                <a:spcPts val="0"/>
              </a:spcBef>
              <a:spcAft>
                <a:spcPts val="0"/>
              </a:spcAft>
              <a:buClr>
                <a:srgbClr val="000000">
                  <a:lumMod val="75000"/>
                  <a:lumOff val="25000"/>
                </a:srgbClr>
              </a:buClr>
              <a:buSzTx/>
              <a:buFont typeface="Arial" panose="020B0604020202020204" pitchFamily="34" charset="0"/>
              <a:buChar char="•"/>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Returns/damage fraud</a:t>
            </a:r>
          </a:p>
        </p:txBody>
      </p:sp>
      <p:sp>
        <p:nvSpPr>
          <p:cNvPr id="4" name="Rectangle 3">
            <a:extLst>
              <a:ext uri="{FF2B5EF4-FFF2-40B4-BE49-F238E27FC236}">
                <a16:creationId xmlns:a16="http://schemas.microsoft.com/office/drawing/2014/main" id="{38AE0179-37FA-E2CA-931D-A057FE5DE1AF}"/>
              </a:ext>
            </a:extLst>
          </p:cNvPr>
          <p:cNvSpPr/>
          <p:nvPr/>
        </p:nvSpPr>
        <p:spPr bwMode="gray">
          <a:xfrm>
            <a:off x="6126329" y="490266"/>
            <a:ext cx="2654711" cy="603272"/>
          </a:xfrm>
          <a:prstGeom prst="rect">
            <a:avLst/>
          </a:prstGeom>
          <a:noFill/>
          <a:ln w="19050" algn="ctr">
            <a:noFill/>
            <a:miter lim="800000"/>
            <a:headEnd/>
            <a:tailEnd/>
          </a:ln>
        </p:spPr>
        <p:txBody>
          <a:bodyPr wrap="square" lIns="182880" tIns="0" rIns="182880" bIns="889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Areas seen as particularly vulnerable to AI-enabled fraud</a:t>
            </a:r>
          </a:p>
        </p:txBody>
      </p:sp>
      <p:sp>
        <p:nvSpPr>
          <p:cNvPr id="5" name="Rectangle 4">
            <a:extLst>
              <a:ext uri="{FF2B5EF4-FFF2-40B4-BE49-F238E27FC236}">
                <a16:creationId xmlns:a16="http://schemas.microsoft.com/office/drawing/2014/main" id="{907B0E68-B977-F8EB-9BBC-14A120A05DEE}"/>
              </a:ext>
            </a:extLst>
          </p:cNvPr>
          <p:cNvSpPr/>
          <p:nvPr/>
        </p:nvSpPr>
        <p:spPr bwMode="gray">
          <a:xfrm>
            <a:off x="9152577" y="490266"/>
            <a:ext cx="2654710" cy="603272"/>
          </a:xfrm>
          <a:prstGeom prst="rect">
            <a:avLst/>
          </a:prstGeom>
          <a:noFill/>
          <a:ln w="19050" algn="ctr">
            <a:noFill/>
            <a:miter lim="800000"/>
            <a:headEnd/>
            <a:tailEnd/>
          </a:ln>
        </p:spPr>
        <p:txBody>
          <a:bodyPr wrap="square" lIns="182880" tIns="0" rIns="182880" bIns="889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Expected increase in volume of agentic AI-enabled attacks in the next 12 months</a:t>
            </a:r>
          </a:p>
        </p:txBody>
      </p:sp>
      <p:graphicFrame>
        <p:nvGraphicFramePr>
          <p:cNvPr id="6" name="Table 5">
            <a:extLst>
              <a:ext uri="{FF2B5EF4-FFF2-40B4-BE49-F238E27FC236}">
                <a16:creationId xmlns:a16="http://schemas.microsoft.com/office/drawing/2014/main" id="{5FD8B766-1443-D99B-3F64-968C379535D0}"/>
              </a:ext>
            </a:extLst>
          </p:cNvPr>
          <p:cNvGraphicFramePr>
            <a:graphicFrameLocks noGrp="1"/>
          </p:cNvGraphicFramePr>
          <p:nvPr/>
        </p:nvGraphicFramePr>
        <p:xfrm>
          <a:off x="6126327" y="975119"/>
          <a:ext cx="2711250" cy="2743200"/>
        </p:xfrm>
        <a:graphic>
          <a:graphicData uri="http://schemas.openxmlformats.org/drawingml/2006/table">
            <a:tbl>
              <a:tblPr/>
              <a:tblGrid>
                <a:gridCol w="2118043">
                  <a:extLst>
                    <a:ext uri="{9D8B030D-6E8A-4147-A177-3AD203B41FA5}">
                      <a16:colId xmlns:a16="http://schemas.microsoft.com/office/drawing/2014/main" val="414418745"/>
                    </a:ext>
                  </a:extLst>
                </a:gridCol>
                <a:gridCol w="593207">
                  <a:extLst>
                    <a:ext uri="{9D8B030D-6E8A-4147-A177-3AD203B41FA5}">
                      <a16:colId xmlns:a16="http://schemas.microsoft.com/office/drawing/2014/main" val="4134972209"/>
                    </a:ext>
                  </a:extLst>
                </a:gridCol>
              </a:tblGrid>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Automated phishing</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82%</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rgbClr val="4EA72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4301569"/>
                  </a:ext>
                </a:extLst>
              </a:tr>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Synthetic Identity Creation</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69%</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65994947"/>
                  </a:ext>
                </a:extLst>
              </a:tr>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Deepfake social engineering</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69%</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622267"/>
                  </a:ext>
                </a:extLst>
              </a:tr>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Payment/card fraud</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62%</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7334507"/>
                  </a:ext>
                </a:extLst>
              </a:tr>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Refund/chargeback abuse</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41%</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18206894"/>
                  </a:ext>
                </a:extLst>
              </a:tr>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Loyalty program/rewards</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36%</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6370770"/>
                  </a:ext>
                </a:extLst>
              </a:tr>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Order manipulation</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23%</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67464276"/>
                  </a:ext>
                </a:extLst>
              </a:tr>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Price manipulation</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15%</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84390837"/>
                  </a:ext>
                </a:extLst>
              </a:tr>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Internal fraud</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15%</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642564"/>
                  </a:ext>
                </a:extLst>
              </a:tr>
              <a:tr h="0">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Other</a:t>
                      </a:r>
                    </a:p>
                  </a:txBody>
                  <a:tcPr>
                    <a:lnL w="6350" cap="flat" cmpd="sng" algn="ctr">
                      <a:solidFill>
                        <a:srgbClr val="4EA72E"/>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tc>
                  <a:txBody>
                    <a:bodyPr/>
                    <a:lstStyle/>
                    <a:p>
                      <a:r>
                        <a:rPr lang="en-US" sz="1200">
                          <a:solidFill>
                            <a:schemeClr val="tx1">
                              <a:lumMod val="75000"/>
                              <a:lumOff val="25000"/>
                            </a:schemeClr>
                          </a:solidFill>
                          <a:latin typeface="Segoe UI" panose="020B0502040204020203" pitchFamily="34" charset="0"/>
                          <a:cs typeface="Segoe UI" panose="020B0502040204020203" pitchFamily="34" charset="0"/>
                        </a:rPr>
                        <a:t>5%</a:t>
                      </a:r>
                    </a:p>
                  </a:txBody>
                  <a:tcPr>
                    <a:lnL w="6350" cap="flat" cmpd="sng" algn="ctr">
                      <a:solidFill>
                        <a:schemeClr val="bg1">
                          <a:lumMod val="75000"/>
                        </a:schemeClr>
                      </a:solidFill>
                      <a:prstDash val="solid"/>
                      <a:round/>
                      <a:headEnd type="none" w="med" len="med"/>
                      <a:tailEnd type="none" w="med" len="med"/>
                    </a:lnL>
                    <a:lnR w="6350" cap="flat" cmpd="sng" algn="ctr">
                      <a:solidFill>
                        <a:srgbClr val="4EA72E"/>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4EA72E"/>
                      </a:solidFill>
                      <a:prstDash val="solid"/>
                      <a:round/>
                      <a:headEnd type="none" w="med" len="med"/>
                      <a:tailEnd type="none" w="med" len="med"/>
                    </a:lnB>
                    <a:noFill/>
                  </a:tcPr>
                </a:tc>
                <a:extLst>
                  <a:ext uri="{0D108BD9-81ED-4DB2-BD59-A6C34878D82A}">
                    <a16:rowId xmlns:a16="http://schemas.microsoft.com/office/drawing/2014/main" val="3337598717"/>
                  </a:ext>
                </a:extLst>
              </a:tr>
            </a:tbl>
          </a:graphicData>
        </a:graphic>
      </p:graphicFrame>
      <p:sp>
        <p:nvSpPr>
          <p:cNvPr id="7" name="Rectangle 6">
            <a:extLst>
              <a:ext uri="{FF2B5EF4-FFF2-40B4-BE49-F238E27FC236}">
                <a16:creationId xmlns:a16="http://schemas.microsoft.com/office/drawing/2014/main" id="{7BA193FC-3AC5-AC8D-DFE9-357C0BF79553}"/>
              </a:ext>
            </a:extLst>
          </p:cNvPr>
          <p:cNvSpPr/>
          <p:nvPr/>
        </p:nvSpPr>
        <p:spPr bwMode="gray">
          <a:xfrm>
            <a:off x="4679710" y="4422471"/>
            <a:ext cx="6527003" cy="777302"/>
          </a:xfrm>
          <a:prstGeom prst="rect">
            <a:avLst/>
          </a:prstGeom>
          <a:noFill/>
          <a:ln w="19050" algn="ctr">
            <a:noFill/>
            <a:miter lim="800000"/>
            <a:headEnd/>
            <a:tailEnd/>
          </a:ln>
        </p:spPr>
        <p:txBody>
          <a:bodyPr wrap="square" lIns="182880" tIns="0" rIns="182880" bIns="889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Top barriers to implementing effective mitigation strategies against AI-enabled fraud</a:t>
            </a:r>
          </a:p>
        </p:txBody>
      </p:sp>
      <p:graphicFrame>
        <p:nvGraphicFramePr>
          <p:cNvPr id="8" name="Chart 7">
            <a:extLst>
              <a:ext uri="{FF2B5EF4-FFF2-40B4-BE49-F238E27FC236}">
                <a16:creationId xmlns:a16="http://schemas.microsoft.com/office/drawing/2014/main" id="{992A732C-9DDE-E23D-5403-B33F0B2D5613}"/>
              </a:ext>
            </a:extLst>
          </p:cNvPr>
          <p:cNvGraphicFramePr>
            <a:graphicFrameLocks/>
          </p:cNvGraphicFramePr>
          <p:nvPr>
            <p:custDataLst>
              <p:tags r:id="rId1"/>
            </p:custDataLst>
          </p:nvPr>
        </p:nvGraphicFramePr>
        <p:xfrm>
          <a:off x="3196922" y="4839523"/>
          <a:ext cx="8610365" cy="2030015"/>
        </p:xfrm>
        <a:graphic>
          <a:graphicData uri="http://schemas.openxmlformats.org/drawingml/2006/chart">
            <c:chart xmlns:c="http://schemas.openxmlformats.org/drawingml/2006/chart" xmlns:r="http://schemas.openxmlformats.org/officeDocument/2006/relationships" r:id="rId5"/>
          </a:graphicData>
        </a:graphic>
      </p:graphicFrame>
      <p:sp>
        <p:nvSpPr>
          <p:cNvPr id="15" name="Rectangle 14">
            <a:extLst>
              <a:ext uri="{FF2B5EF4-FFF2-40B4-BE49-F238E27FC236}">
                <a16:creationId xmlns:a16="http://schemas.microsoft.com/office/drawing/2014/main" id="{5EE11609-A875-4387-33E4-B3B0B56BB27F}"/>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RESULTS OF 2025 DELOITTE SURVEY ON AI-ENABLED FRAUD IN RETAIL </a:t>
            </a:r>
          </a:p>
        </p:txBody>
      </p:sp>
      <p:grpSp>
        <p:nvGrpSpPr>
          <p:cNvPr id="317" name="Group 316">
            <a:extLst>
              <a:ext uri="{FF2B5EF4-FFF2-40B4-BE49-F238E27FC236}">
                <a16:creationId xmlns:a16="http://schemas.microsoft.com/office/drawing/2014/main" id="{792D1146-1BCC-C905-60A8-C3917237617A}"/>
              </a:ext>
            </a:extLst>
          </p:cNvPr>
          <p:cNvGrpSpPr/>
          <p:nvPr/>
        </p:nvGrpSpPr>
        <p:grpSpPr>
          <a:xfrm>
            <a:off x="431288" y="1439854"/>
            <a:ext cx="2517728" cy="1339608"/>
            <a:chOff x="654098" y="597311"/>
            <a:chExt cx="2517728" cy="1339608"/>
          </a:xfrm>
        </p:grpSpPr>
        <p:sp>
          <p:nvSpPr>
            <p:cNvPr id="11" name="Rectangle 10">
              <a:extLst>
                <a:ext uri="{FF2B5EF4-FFF2-40B4-BE49-F238E27FC236}">
                  <a16:creationId xmlns:a16="http://schemas.microsoft.com/office/drawing/2014/main" id="{6C68ED97-A6A3-5A62-131D-DED3A17463F9}"/>
                </a:ext>
              </a:extLst>
            </p:cNvPr>
            <p:cNvSpPr/>
            <p:nvPr/>
          </p:nvSpPr>
          <p:spPr bwMode="gray">
            <a:xfrm>
              <a:off x="654098" y="597311"/>
              <a:ext cx="2517728" cy="1339608"/>
            </a:xfrm>
            <a:prstGeom prst="rect">
              <a:avLst/>
            </a:prstGeom>
            <a:noFill/>
            <a:ln w="19050" algn="ctr">
              <a:noFill/>
              <a:miter lim="800000"/>
              <a:headEnd/>
              <a:tailEnd/>
            </a:ln>
          </p:spPr>
          <p:txBody>
            <a:bodyPr wrap="square" lIns="88900" tIns="91440" rIns="88900" bIns="88900" rtlCol="0" anchor="t" anchorCtr="0"/>
            <a:lstStyle/>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4800" b="1"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69%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of merchants experienced fraud enabled by AI in past year</a:t>
              </a:r>
              <a:endParaRPr kumimoji="0" lang="en-US" sz="1400" b="1" i="0" u="none" strike="noStrike" kern="0" cap="none" spc="0" normalizeH="0" baseline="0" noProof="0">
                <a:ln>
                  <a:noFill/>
                </a:ln>
                <a:solidFill>
                  <a:srgbClr val="000000">
                    <a:lumMod val="75000"/>
                    <a:lumOff val="25000"/>
                  </a:srgbClr>
                </a:solidFill>
                <a:effectLst/>
                <a:uLnTx/>
                <a:uFillTx/>
                <a:latin typeface="Arial"/>
                <a:cs typeface="Arial"/>
                <a:sym typeface="Arial"/>
              </a:endParaRPr>
            </a:p>
          </p:txBody>
        </p:sp>
        <p:sp>
          <p:nvSpPr>
            <p:cNvPr id="17" name="Oval 16">
              <a:extLst>
                <a:ext uri="{FF2B5EF4-FFF2-40B4-BE49-F238E27FC236}">
                  <a16:creationId xmlns:a16="http://schemas.microsoft.com/office/drawing/2014/main" id="{71088AA9-C0B2-5F72-CF9D-0270313E682F}"/>
                </a:ext>
              </a:extLst>
            </p:cNvPr>
            <p:cNvSpPr/>
            <p:nvPr/>
          </p:nvSpPr>
          <p:spPr>
            <a:xfrm>
              <a:off x="2038509"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8" name="Oval 17">
              <a:extLst>
                <a:ext uri="{FF2B5EF4-FFF2-40B4-BE49-F238E27FC236}">
                  <a16:creationId xmlns:a16="http://schemas.microsoft.com/office/drawing/2014/main" id="{4FFB1991-D85F-5FF5-6AAC-5FE6C3DBF222}"/>
                </a:ext>
              </a:extLst>
            </p:cNvPr>
            <p:cNvSpPr/>
            <p:nvPr/>
          </p:nvSpPr>
          <p:spPr>
            <a:xfrm>
              <a:off x="2140097"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9" name="Oval 18">
              <a:extLst>
                <a:ext uri="{FF2B5EF4-FFF2-40B4-BE49-F238E27FC236}">
                  <a16:creationId xmlns:a16="http://schemas.microsoft.com/office/drawing/2014/main" id="{EF5F0078-4AB8-060D-5830-101D3A2C3E58}"/>
                </a:ext>
              </a:extLst>
            </p:cNvPr>
            <p:cNvSpPr/>
            <p:nvPr/>
          </p:nvSpPr>
          <p:spPr>
            <a:xfrm>
              <a:off x="2241685"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0" name="Oval 19">
              <a:extLst>
                <a:ext uri="{FF2B5EF4-FFF2-40B4-BE49-F238E27FC236}">
                  <a16:creationId xmlns:a16="http://schemas.microsoft.com/office/drawing/2014/main" id="{EA0A82F7-6364-1B07-47E8-60CFF0254BFA}"/>
                </a:ext>
              </a:extLst>
            </p:cNvPr>
            <p:cNvSpPr/>
            <p:nvPr/>
          </p:nvSpPr>
          <p:spPr>
            <a:xfrm>
              <a:off x="2343273"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1" name="Oval 20">
              <a:extLst>
                <a:ext uri="{FF2B5EF4-FFF2-40B4-BE49-F238E27FC236}">
                  <a16:creationId xmlns:a16="http://schemas.microsoft.com/office/drawing/2014/main" id="{451CA318-B43B-A32C-7518-A6E9A8A654F7}"/>
                </a:ext>
              </a:extLst>
            </p:cNvPr>
            <p:cNvSpPr/>
            <p:nvPr/>
          </p:nvSpPr>
          <p:spPr>
            <a:xfrm>
              <a:off x="2444861"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 name="Oval 21">
              <a:extLst>
                <a:ext uri="{FF2B5EF4-FFF2-40B4-BE49-F238E27FC236}">
                  <a16:creationId xmlns:a16="http://schemas.microsoft.com/office/drawing/2014/main" id="{1A75A20F-A981-F222-1C45-8BE0C9EF6E9F}"/>
                </a:ext>
              </a:extLst>
            </p:cNvPr>
            <p:cNvSpPr/>
            <p:nvPr/>
          </p:nvSpPr>
          <p:spPr>
            <a:xfrm>
              <a:off x="2546449"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 name="Oval 22">
              <a:extLst>
                <a:ext uri="{FF2B5EF4-FFF2-40B4-BE49-F238E27FC236}">
                  <a16:creationId xmlns:a16="http://schemas.microsoft.com/office/drawing/2014/main" id="{91D43518-FBB6-A949-455B-431E64C9AB85}"/>
                </a:ext>
              </a:extLst>
            </p:cNvPr>
            <p:cNvSpPr/>
            <p:nvPr/>
          </p:nvSpPr>
          <p:spPr>
            <a:xfrm>
              <a:off x="2648037"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 name="Oval 23">
              <a:extLst>
                <a:ext uri="{FF2B5EF4-FFF2-40B4-BE49-F238E27FC236}">
                  <a16:creationId xmlns:a16="http://schemas.microsoft.com/office/drawing/2014/main" id="{0DD16891-BC0F-E7E4-48E3-550308A46DD0}"/>
                </a:ext>
              </a:extLst>
            </p:cNvPr>
            <p:cNvSpPr/>
            <p:nvPr/>
          </p:nvSpPr>
          <p:spPr>
            <a:xfrm>
              <a:off x="2749625"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 name="Oval 24">
              <a:extLst>
                <a:ext uri="{FF2B5EF4-FFF2-40B4-BE49-F238E27FC236}">
                  <a16:creationId xmlns:a16="http://schemas.microsoft.com/office/drawing/2014/main" id="{29A65506-0026-718D-080B-53D373FD6A08}"/>
                </a:ext>
              </a:extLst>
            </p:cNvPr>
            <p:cNvSpPr/>
            <p:nvPr/>
          </p:nvSpPr>
          <p:spPr>
            <a:xfrm>
              <a:off x="2851213"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 name="Oval 25">
              <a:extLst>
                <a:ext uri="{FF2B5EF4-FFF2-40B4-BE49-F238E27FC236}">
                  <a16:creationId xmlns:a16="http://schemas.microsoft.com/office/drawing/2014/main" id="{A3BF2767-6D8A-896F-052E-7DABEA3BBA3A}"/>
                </a:ext>
              </a:extLst>
            </p:cNvPr>
            <p:cNvSpPr/>
            <p:nvPr/>
          </p:nvSpPr>
          <p:spPr>
            <a:xfrm>
              <a:off x="2952797" y="88439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 name="Oval 26">
              <a:extLst>
                <a:ext uri="{FF2B5EF4-FFF2-40B4-BE49-F238E27FC236}">
                  <a16:creationId xmlns:a16="http://schemas.microsoft.com/office/drawing/2014/main" id="{5F8DAA5F-26D3-4BB0-36A7-AF5269298098}"/>
                </a:ext>
              </a:extLst>
            </p:cNvPr>
            <p:cNvSpPr/>
            <p:nvPr/>
          </p:nvSpPr>
          <p:spPr>
            <a:xfrm>
              <a:off x="2038509"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 name="Oval 27">
              <a:extLst>
                <a:ext uri="{FF2B5EF4-FFF2-40B4-BE49-F238E27FC236}">
                  <a16:creationId xmlns:a16="http://schemas.microsoft.com/office/drawing/2014/main" id="{5B5E26D5-6018-193A-0E92-DE200078FCEA}"/>
                </a:ext>
              </a:extLst>
            </p:cNvPr>
            <p:cNvSpPr/>
            <p:nvPr/>
          </p:nvSpPr>
          <p:spPr>
            <a:xfrm>
              <a:off x="2140097"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 name="Oval 28">
              <a:extLst>
                <a:ext uri="{FF2B5EF4-FFF2-40B4-BE49-F238E27FC236}">
                  <a16:creationId xmlns:a16="http://schemas.microsoft.com/office/drawing/2014/main" id="{53AEB030-D730-D1E1-5864-584C9A9A622C}"/>
                </a:ext>
              </a:extLst>
            </p:cNvPr>
            <p:cNvSpPr/>
            <p:nvPr/>
          </p:nvSpPr>
          <p:spPr>
            <a:xfrm>
              <a:off x="2241685"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 name="Oval 29">
              <a:extLst>
                <a:ext uri="{FF2B5EF4-FFF2-40B4-BE49-F238E27FC236}">
                  <a16:creationId xmlns:a16="http://schemas.microsoft.com/office/drawing/2014/main" id="{69537B46-F74B-D23A-1A66-0FC1BDA1AA57}"/>
                </a:ext>
              </a:extLst>
            </p:cNvPr>
            <p:cNvSpPr/>
            <p:nvPr/>
          </p:nvSpPr>
          <p:spPr>
            <a:xfrm>
              <a:off x="2343273"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 name="Oval 30">
              <a:extLst>
                <a:ext uri="{FF2B5EF4-FFF2-40B4-BE49-F238E27FC236}">
                  <a16:creationId xmlns:a16="http://schemas.microsoft.com/office/drawing/2014/main" id="{44224F20-601D-9669-67F3-312B16C9E92C}"/>
                </a:ext>
              </a:extLst>
            </p:cNvPr>
            <p:cNvSpPr/>
            <p:nvPr/>
          </p:nvSpPr>
          <p:spPr>
            <a:xfrm>
              <a:off x="2444861"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2" name="Oval 31">
              <a:extLst>
                <a:ext uri="{FF2B5EF4-FFF2-40B4-BE49-F238E27FC236}">
                  <a16:creationId xmlns:a16="http://schemas.microsoft.com/office/drawing/2014/main" id="{E26007AD-4D7F-9DE5-AE11-7DE2D190645A}"/>
                </a:ext>
              </a:extLst>
            </p:cNvPr>
            <p:cNvSpPr/>
            <p:nvPr/>
          </p:nvSpPr>
          <p:spPr>
            <a:xfrm>
              <a:off x="2546449"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3" name="Oval 32">
              <a:extLst>
                <a:ext uri="{FF2B5EF4-FFF2-40B4-BE49-F238E27FC236}">
                  <a16:creationId xmlns:a16="http://schemas.microsoft.com/office/drawing/2014/main" id="{CBCF0700-14FC-7E98-458A-19407EBF233C}"/>
                </a:ext>
              </a:extLst>
            </p:cNvPr>
            <p:cNvSpPr/>
            <p:nvPr/>
          </p:nvSpPr>
          <p:spPr>
            <a:xfrm>
              <a:off x="2648037"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4" name="Oval 33">
              <a:extLst>
                <a:ext uri="{FF2B5EF4-FFF2-40B4-BE49-F238E27FC236}">
                  <a16:creationId xmlns:a16="http://schemas.microsoft.com/office/drawing/2014/main" id="{3800B8D2-92FC-1630-918B-9A3DAADB5640}"/>
                </a:ext>
              </a:extLst>
            </p:cNvPr>
            <p:cNvSpPr/>
            <p:nvPr/>
          </p:nvSpPr>
          <p:spPr>
            <a:xfrm>
              <a:off x="2749625"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5" name="Oval 34">
              <a:extLst>
                <a:ext uri="{FF2B5EF4-FFF2-40B4-BE49-F238E27FC236}">
                  <a16:creationId xmlns:a16="http://schemas.microsoft.com/office/drawing/2014/main" id="{C1BA38C5-99C1-ACEF-36F5-CCE81E5B1906}"/>
                </a:ext>
              </a:extLst>
            </p:cNvPr>
            <p:cNvSpPr/>
            <p:nvPr/>
          </p:nvSpPr>
          <p:spPr>
            <a:xfrm>
              <a:off x="2851213"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6" name="Oval 35">
              <a:extLst>
                <a:ext uri="{FF2B5EF4-FFF2-40B4-BE49-F238E27FC236}">
                  <a16:creationId xmlns:a16="http://schemas.microsoft.com/office/drawing/2014/main" id="{D98F1A1C-31B4-D2DB-B286-8A5749BD3398}"/>
                </a:ext>
              </a:extLst>
            </p:cNvPr>
            <p:cNvSpPr/>
            <p:nvPr/>
          </p:nvSpPr>
          <p:spPr>
            <a:xfrm>
              <a:off x="2952797" y="95037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7" name="Oval 36">
              <a:extLst>
                <a:ext uri="{FF2B5EF4-FFF2-40B4-BE49-F238E27FC236}">
                  <a16:creationId xmlns:a16="http://schemas.microsoft.com/office/drawing/2014/main" id="{334F4F66-12F9-B8DC-380A-92534FB4D36C}"/>
                </a:ext>
              </a:extLst>
            </p:cNvPr>
            <p:cNvSpPr/>
            <p:nvPr/>
          </p:nvSpPr>
          <p:spPr>
            <a:xfrm>
              <a:off x="2038509"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8" name="Oval 37">
              <a:extLst>
                <a:ext uri="{FF2B5EF4-FFF2-40B4-BE49-F238E27FC236}">
                  <a16:creationId xmlns:a16="http://schemas.microsoft.com/office/drawing/2014/main" id="{C2ED84ED-B9B5-E24B-C611-F071FA756A54}"/>
                </a:ext>
              </a:extLst>
            </p:cNvPr>
            <p:cNvSpPr/>
            <p:nvPr/>
          </p:nvSpPr>
          <p:spPr>
            <a:xfrm>
              <a:off x="2140097"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9" name="Oval 38">
              <a:extLst>
                <a:ext uri="{FF2B5EF4-FFF2-40B4-BE49-F238E27FC236}">
                  <a16:creationId xmlns:a16="http://schemas.microsoft.com/office/drawing/2014/main" id="{BD9A0F1B-01B8-0696-55FF-1EF0F61D4D14}"/>
                </a:ext>
              </a:extLst>
            </p:cNvPr>
            <p:cNvSpPr/>
            <p:nvPr/>
          </p:nvSpPr>
          <p:spPr>
            <a:xfrm>
              <a:off x="2241685"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0" name="Oval 39">
              <a:extLst>
                <a:ext uri="{FF2B5EF4-FFF2-40B4-BE49-F238E27FC236}">
                  <a16:creationId xmlns:a16="http://schemas.microsoft.com/office/drawing/2014/main" id="{83B246EE-4EBD-C85B-C0B6-9A8F64CBC786}"/>
                </a:ext>
              </a:extLst>
            </p:cNvPr>
            <p:cNvSpPr/>
            <p:nvPr/>
          </p:nvSpPr>
          <p:spPr>
            <a:xfrm>
              <a:off x="2343273"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1" name="Oval 40">
              <a:extLst>
                <a:ext uri="{FF2B5EF4-FFF2-40B4-BE49-F238E27FC236}">
                  <a16:creationId xmlns:a16="http://schemas.microsoft.com/office/drawing/2014/main" id="{D78AB353-B617-A708-C984-9D4ACB0EC5CA}"/>
                </a:ext>
              </a:extLst>
            </p:cNvPr>
            <p:cNvSpPr/>
            <p:nvPr/>
          </p:nvSpPr>
          <p:spPr>
            <a:xfrm>
              <a:off x="2444861"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2" name="Oval 41">
              <a:extLst>
                <a:ext uri="{FF2B5EF4-FFF2-40B4-BE49-F238E27FC236}">
                  <a16:creationId xmlns:a16="http://schemas.microsoft.com/office/drawing/2014/main" id="{85CBDE2D-6188-4431-A18E-CAD3837C2677}"/>
                </a:ext>
              </a:extLst>
            </p:cNvPr>
            <p:cNvSpPr/>
            <p:nvPr/>
          </p:nvSpPr>
          <p:spPr>
            <a:xfrm>
              <a:off x="2546449"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3" name="Oval 42">
              <a:extLst>
                <a:ext uri="{FF2B5EF4-FFF2-40B4-BE49-F238E27FC236}">
                  <a16:creationId xmlns:a16="http://schemas.microsoft.com/office/drawing/2014/main" id="{43D3F633-A688-F191-04C6-76B1CB7E3F02}"/>
                </a:ext>
              </a:extLst>
            </p:cNvPr>
            <p:cNvSpPr/>
            <p:nvPr/>
          </p:nvSpPr>
          <p:spPr>
            <a:xfrm>
              <a:off x="2648037"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4" name="Oval 43">
              <a:extLst>
                <a:ext uri="{FF2B5EF4-FFF2-40B4-BE49-F238E27FC236}">
                  <a16:creationId xmlns:a16="http://schemas.microsoft.com/office/drawing/2014/main" id="{AD04B05A-633F-8725-6E58-EF969A20621C}"/>
                </a:ext>
              </a:extLst>
            </p:cNvPr>
            <p:cNvSpPr/>
            <p:nvPr/>
          </p:nvSpPr>
          <p:spPr>
            <a:xfrm>
              <a:off x="2749625"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5" name="Oval 44">
              <a:extLst>
                <a:ext uri="{FF2B5EF4-FFF2-40B4-BE49-F238E27FC236}">
                  <a16:creationId xmlns:a16="http://schemas.microsoft.com/office/drawing/2014/main" id="{80BD8E08-96B9-D026-B852-3D89DCA44863}"/>
                </a:ext>
              </a:extLst>
            </p:cNvPr>
            <p:cNvSpPr/>
            <p:nvPr/>
          </p:nvSpPr>
          <p:spPr>
            <a:xfrm>
              <a:off x="2851213"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6" name="Oval 45">
              <a:extLst>
                <a:ext uri="{FF2B5EF4-FFF2-40B4-BE49-F238E27FC236}">
                  <a16:creationId xmlns:a16="http://schemas.microsoft.com/office/drawing/2014/main" id="{E7CED9EB-13B2-1BA7-D663-5B2BE018772A}"/>
                </a:ext>
              </a:extLst>
            </p:cNvPr>
            <p:cNvSpPr/>
            <p:nvPr/>
          </p:nvSpPr>
          <p:spPr>
            <a:xfrm>
              <a:off x="2952797" y="101634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7" name="Oval 46">
              <a:extLst>
                <a:ext uri="{FF2B5EF4-FFF2-40B4-BE49-F238E27FC236}">
                  <a16:creationId xmlns:a16="http://schemas.microsoft.com/office/drawing/2014/main" id="{088E3460-A8F2-40BE-17C5-3123F2AF4920}"/>
                </a:ext>
              </a:extLst>
            </p:cNvPr>
            <p:cNvSpPr/>
            <p:nvPr/>
          </p:nvSpPr>
          <p:spPr>
            <a:xfrm>
              <a:off x="2038509"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8" name="Oval 47">
              <a:extLst>
                <a:ext uri="{FF2B5EF4-FFF2-40B4-BE49-F238E27FC236}">
                  <a16:creationId xmlns:a16="http://schemas.microsoft.com/office/drawing/2014/main" id="{1D5018EC-712F-5E65-B355-8C683D47802D}"/>
                </a:ext>
              </a:extLst>
            </p:cNvPr>
            <p:cNvSpPr/>
            <p:nvPr/>
          </p:nvSpPr>
          <p:spPr>
            <a:xfrm>
              <a:off x="2140097"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9" name="Oval 48">
              <a:extLst>
                <a:ext uri="{FF2B5EF4-FFF2-40B4-BE49-F238E27FC236}">
                  <a16:creationId xmlns:a16="http://schemas.microsoft.com/office/drawing/2014/main" id="{28BEA1E7-E5A4-6527-D5DD-21C7105C780A}"/>
                </a:ext>
              </a:extLst>
            </p:cNvPr>
            <p:cNvSpPr/>
            <p:nvPr/>
          </p:nvSpPr>
          <p:spPr>
            <a:xfrm>
              <a:off x="2241685"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0" name="Oval 49">
              <a:extLst>
                <a:ext uri="{FF2B5EF4-FFF2-40B4-BE49-F238E27FC236}">
                  <a16:creationId xmlns:a16="http://schemas.microsoft.com/office/drawing/2014/main" id="{FA1CD0F3-2C6D-DAEB-67AF-72CF15417299}"/>
                </a:ext>
              </a:extLst>
            </p:cNvPr>
            <p:cNvSpPr/>
            <p:nvPr/>
          </p:nvSpPr>
          <p:spPr>
            <a:xfrm>
              <a:off x="2343273"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1" name="Oval 50">
              <a:extLst>
                <a:ext uri="{FF2B5EF4-FFF2-40B4-BE49-F238E27FC236}">
                  <a16:creationId xmlns:a16="http://schemas.microsoft.com/office/drawing/2014/main" id="{D99B5AE3-49D8-F0F0-A416-85D130AFE3BB}"/>
                </a:ext>
              </a:extLst>
            </p:cNvPr>
            <p:cNvSpPr/>
            <p:nvPr/>
          </p:nvSpPr>
          <p:spPr>
            <a:xfrm>
              <a:off x="2444861"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2" name="Oval 51">
              <a:extLst>
                <a:ext uri="{FF2B5EF4-FFF2-40B4-BE49-F238E27FC236}">
                  <a16:creationId xmlns:a16="http://schemas.microsoft.com/office/drawing/2014/main" id="{D5920E33-3D2B-645C-DB87-C4FEF6E30C23}"/>
                </a:ext>
              </a:extLst>
            </p:cNvPr>
            <p:cNvSpPr/>
            <p:nvPr/>
          </p:nvSpPr>
          <p:spPr>
            <a:xfrm>
              <a:off x="2546449"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3" name="Oval 52">
              <a:extLst>
                <a:ext uri="{FF2B5EF4-FFF2-40B4-BE49-F238E27FC236}">
                  <a16:creationId xmlns:a16="http://schemas.microsoft.com/office/drawing/2014/main" id="{46ADCEA7-B085-A7F4-5640-DFD869928E28}"/>
                </a:ext>
              </a:extLst>
            </p:cNvPr>
            <p:cNvSpPr/>
            <p:nvPr/>
          </p:nvSpPr>
          <p:spPr>
            <a:xfrm>
              <a:off x="2648037"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4" name="Oval 53">
              <a:extLst>
                <a:ext uri="{FF2B5EF4-FFF2-40B4-BE49-F238E27FC236}">
                  <a16:creationId xmlns:a16="http://schemas.microsoft.com/office/drawing/2014/main" id="{EA5A3DB6-FA2A-4AA8-21E1-42920842E934}"/>
                </a:ext>
              </a:extLst>
            </p:cNvPr>
            <p:cNvSpPr/>
            <p:nvPr/>
          </p:nvSpPr>
          <p:spPr>
            <a:xfrm>
              <a:off x="2749625"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5" name="Oval 54">
              <a:extLst>
                <a:ext uri="{FF2B5EF4-FFF2-40B4-BE49-F238E27FC236}">
                  <a16:creationId xmlns:a16="http://schemas.microsoft.com/office/drawing/2014/main" id="{A71C09CE-36E1-302F-7EE2-BD817EB4DFA7}"/>
                </a:ext>
              </a:extLst>
            </p:cNvPr>
            <p:cNvSpPr/>
            <p:nvPr/>
          </p:nvSpPr>
          <p:spPr>
            <a:xfrm>
              <a:off x="2851213"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6" name="Oval 55">
              <a:extLst>
                <a:ext uri="{FF2B5EF4-FFF2-40B4-BE49-F238E27FC236}">
                  <a16:creationId xmlns:a16="http://schemas.microsoft.com/office/drawing/2014/main" id="{8AFDC2D5-20B2-0B6A-FD75-F642AD39162F}"/>
                </a:ext>
              </a:extLst>
            </p:cNvPr>
            <p:cNvSpPr/>
            <p:nvPr/>
          </p:nvSpPr>
          <p:spPr>
            <a:xfrm>
              <a:off x="2952797" y="108232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7" name="Oval 56">
              <a:extLst>
                <a:ext uri="{FF2B5EF4-FFF2-40B4-BE49-F238E27FC236}">
                  <a16:creationId xmlns:a16="http://schemas.microsoft.com/office/drawing/2014/main" id="{305DF597-0872-7F67-74B2-F711B4EDC154}"/>
                </a:ext>
              </a:extLst>
            </p:cNvPr>
            <p:cNvSpPr/>
            <p:nvPr/>
          </p:nvSpPr>
          <p:spPr>
            <a:xfrm>
              <a:off x="2038509"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8" name="Oval 57">
              <a:extLst>
                <a:ext uri="{FF2B5EF4-FFF2-40B4-BE49-F238E27FC236}">
                  <a16:creationId xmlns:a16="http://schemas.microsoft.com/office/drawing/2014/main" id="{527006D3-2E6F-EDCC-1459-3B0F0883D608}"/>
                </a:ext>
              </a:extLst>
            </p:cNvPr>
            <p:cNvSpPr/>
            <p:nvPr/>
          </p:nvSpPr>
          <p:spPr>
            <a:xfrm>
              <a:off x="2140097"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9" name="Oval 58">
              <a:extLst>
                <a:ext uri="{FF2B5EF4-FFF2-40B4-BE49-F238E27FC236}">
                  <a16:creationId xmlns:a16="http://schemas.microsoft.com/office/drawing/2014/main" id="{DDAECC32-FE95-71E3-81B9-B4642937F062}"/>
                </a:ext>
              </a:extLst>
            </p:cNvPr>
            <p:cNvSpPr/>
            <p:nvPr/>
          </p:nvSpPr>
          <p:spPr>
            <a:xfrm>
              <a:off x="2241685"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0" name="Oval 59">
              <a:extLst>
                <a:ext uri="{FF2B5EF4-FFF2-40B4-BE49-F238E27FC236}">
                  <a16:creationId xmlns:a16="http://schemas.microsoft.com/office/drawing/2014/main" id="{DAF4C3B1-7679-FCA8-890C-A255BBAF5D0C}"/>
                </a:ext>
              </a:extLst>
            </p:cNvPr>
            <p:cNvSpPr/>
            <p:nvPr/>
          </p:nvSpPr>
          <p:spPr>
            <a:xfrm>
              <a:off x="2343273"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1" name="Oval 60">
              <a:extLst>
                <a:ext uri="{FF2B5EF4-FFF2-40B4-BE49-F238E27FC236}">
                  <a16:creationId xmlns:a16="http://schemas.microsoft.com/office/drawing/2014/main" id="{E9BCF3E5-1CAC-34B3-44B2-71E4070FED3B}"/>
                </a:ext>
              </a:extLst>
            </p:cNvPr>
            <p:cNvSpPr/>
            <p:nvPr/>
          </p:nvSpPr>
          <p:spPr>
            <a:xfrm>
              <a:off x="2444861"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2" name="Oval 61">
              <a:extLst>
                <a:ext uri="{FF2B5EF4-FFF2-40B4-BE49-F238E27FC236}">
                  <a16:creationId xmlns:a16="http://schemas.microsoft.com/office/drawing/2014/main" id="{4BA351A5-006E-AFF4-EDF3-CA519473501A}"/>
                </a:ext>
              </a:extLst>
            </p:cNvPr>
            <p:cNvSpPr/>
            <p:nvPr/>
          </p:nvSpPr>
          <p:spPr>
            <a:xfrm>
              <a:off x="2546449"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3" name="Oval 62">
              <a:extLst>
                <a:ext uri="{FF2B5EF4-FFF2-40B4-BE49-F238E27FC236}">
                  <a16:creationId xmlns:a16="http://schemas.microsoft.com/office/drawing/2014/main" id="{ECBB01F6-8F7F-DFAE-41D1-C737876D1773}"/>
                </a:ext>
              </a:extLst>
            </p:cNvPr>
            <p:cNvSpPr/>
            <p:nvPr/>
          </p:nvSpPr>
          <p:spPr>
            <a:xfrm>
              <a:off x="2648037"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4" name="Oval 63">
              <a:extLst>
                <a:ext uri="{FF2B5EF4-FFF2-40B4-BE49-F238E27FC236}">
                  <a16:creationId xmlns:a16="http://schemas.microsoft.com/office/drawing/2014/main" id="{DAB7C544-2184-C76D-ADC6-576D4829FF16}"/>
                </a:ext>
              </a:extLst>
            </p:cNvPr>
            <p:cNvSpPr/>
            <p:nvPr/>
          </p:nvSpPr>
          <p:spPr>
            <a:xfrm>
              <a:off x="2749625"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5" name="Oval 64">
              <a:extLst>
                <a:ext uri="{FF2B5EF4-FFF2-40B4-BE49-F238E27FC236}">
                  <a16:creationId xmlns:a16="http://schemas.microsoft.com/office/drawing/2014/main" id="{94855DF7-1CC2-DBB4-09FB-3AE62686F0DC}"/>
                </a:ext>
              </a:extLst>
            </p:cNvPr>
            <p:cNvSpPr/>
            <p:nvPr/>
          </p:nvSpPr>
          <p:spPr>
            <a:xfrm>
              <a:off x="2851213"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6" name="Oval 65">
              <a:extLst>
                <a:ext uri="{FF2B5EF4-FFF2-40B4-BE49-F238E27FC236}">
                  <a16:creationId xmlns:a16="http://schemas.microsoft.com/office/drawing/2014/main" id="{DB082604-68B7-9F9E-39CC-BA29474C411C}"/>
                </a:ext>
              </a:extLst>
            </p:cNvPr>
            <p:cNvSpPr/>
            <p:nvPr/>
          </p:nvSpPr>
          <p:spPr>
            <a:xfrm>
              <a:off x="2952797" y="114829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7" name="Oval 66">
              <a:extLst>
                <a:ext uri="{FF2B5EF4-FFF2-40B4-BE49-F238E27FC236}">
                  <a16:creationId xmlns:a16="http://schemas.microsoft.com/office/drawing/2014/main" id="{E934E171-FB4D-DCC1-BA68-9E6C789B5E60}"/>
                </a:ext>
              </a:extLst>
            </p:cNvPr>
            <p:cNvSpPr/>
            <p:nvPr/>
          </p:nvSpPr>
          <p:spPr>
            <a:xfrm>
              <a:off x="2038509" y="121427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8" name="Oval 67">
              <a:extLst>
                <a:ext uri="{FF2B5EF4-FFF2-40B4-BE49-F238E27FC236}">
                  <a16:creationId xmlns:a16="http://schemas.microsoft.com/office/drawing/2014/main" id="{537F6EC8-B6E6-AF0B-60BE-353AC305662B}"/>
                </a:ext>
              </a:extLst>
            </p:cNvPr>
            <p:cNvSpPr/>
            <p:nvPr/>
          </p:nvSpPr>
          <p:spPr>
            <a:xfrm>
              <a:off x="2140097" y="121427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9" name="Oval 68">
              <a:extLst>
                <a:ext uri="{FF2B5EF4-FFF2-40B4-BE49-F238E27FC236}">
                  <a16:creationId xmlns:a16="http://schemas.microsoft.com/office/drawing/2014/main" id="{167B8A9A-D056-1A64-EA66-06D426F65467}"/>
                </a:ext>
              </a:extLst>
            </p:cNvPr>
            <p:cNvSpPr/>
            <p:nvPr/>
          </p:nvSpPr>
          <p:spPr>
            <a:xfrm>
              <a:off x="2241685" y="121427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0" name="Oval 69">
              <a:extLst>
                <a:ext uri="{FF2B5EF4-FFF2-40B4-BE49-F238E27FC236}">
                  <a16:creationId xmlns:a16="http://schemas.microsoft.com/office/drawing/2014/main" id="{D95E0B5B-2D39-B569-E24F-12143686A115}"/>
                </a:ext>
              </a:extLst>
            </p:cNvPr>
            <p:cNvSpPr/>
            <p:nvPr/>
          </p:nvSpPr>
          <p:spPr>
            <a:xfrm>
              <a:off x="2343273" y="121427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1" name="Oval 70">
              <a:extLst>
                <a:ext uri="{FF2B5EF4-FFF2-40B4-BE49-F238E27FC236}">
                  <a16:creationId xmlns:a16="http://schemas.microsoft.com/office/drawing/2014/main" id="{3AD057AA-9D6C-2857-622E-AB76A8037383}"/>
                </a:ext>
              </a:extLst>
            </p:cNvPr>
            <p:cNvSpPr/>
            <p:nvPr/>
          </p:nvSpPr>
          <p:spPr>
            <a:xfrm>
              <a:off x="2444861" y="121427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2" name="Oval 71">
              <a:extLst>
                <a:ext uri="{FF2B5EF4-FFF2-40B4-BE49-F238E27FC236}">
                  <a16:creationId xmlns:a16="http://schemas.microsoft.com/office/drawing/2014/main" id="{5538E6DF-9C64-DB05-F39A-5E96EB071033}"/>
                </a:ext>
              </a:extLst>
            </p:cNvPr>
            <p:cNvSpPr/>
            <p:nvPr/>
          </p:nvSpPr>
          <p:spPr>
            <a:xfrm>
              <a:off x="2546449" y="121427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3" name="Oval 72">
              <a:extLst>
                <a:ext uri="{FF2B5EF4-FFF2-40B4-BE49-F238E27FC236}">
                  <a16:creationId xmlns:a16="http://schemas.microsoft.com/office/drawing/2014/main" id="{BBAABBBF-5D72-536A-4BB3-B33867EAD420}"/>
                </a:ext>
              </a:extLst>
            </p:cNvPr>
            <p:cNvSpPr/>
            <p:nvPr/>
          </p:nvSpPr>
          <p:spPr>
            <a:xfrm>
              <a:off x="2648037" y="121427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4" name="Oval 73">
              <a:extLst>
                <a:ext uri="{FF2B5EF4-FFF2-40B4-BE49-F238E27FC236}">
                  <a16:creationId xmlns:a16="http://schemas.microsoft.com/office/drawing/2014/main" id="{4B689B18-70D1-B99A-CB40-052A919EF62A}"/>
                </a:ext>
              </a:extLst>
            </p:cNvPr>
            <p:cNvSpPr/>
            <p:nvPr/>
          </p:nvSpPr>
          <p:spPr>
            <a:xfrm>
              <a:off x="2749625" y="121427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Oval 74">
              <a:extLst>
                <a:ext uri="{FF2B5EF4-FFF2-40B4-BE49-F238E27FC236}">
                  <a16:creationId xmlns:a16="http://schemas.microsoft.com/office/drawing/2014/main" id="{BF1053EE-4389-3940-8FA8-F393B8D14040}"/>
                </a:ext>
              </a:extLst>
            </p:cNvPr>
            <p:cNvSpPr/>
            <p:nvPr/>
          </p:nvSpPr>
          <p:spPr>
            <a:xfrm>
              <a:off x="2851213" y="121427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6" name="Oval 75">
              <a:extLst>
                <a:ext uri="{FF2B5EF4-FFF2-40B4-BE49-F238E27FC236}">
                  <a16:creationId xmlns:a16="http://schemas.microsoft.com/office/drawing/2014/main" id="{0316ED67-B5AA-87CB-83C3-4DF7090376D7}"/>
                </a:ext>
              </a:extLst>
            </p:cNvPr>
            <p:cNvSpPr/>
            <p:nvPr/>
          </p:nvSpPr>
          <p:spPr>
            <a:xfrm>
              <a:off x="2952797" y="1214274"/>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7" name="Oval 76">
              <a:extLst>
                <a:ext uri="{FF2B5EF4-FFF2-40B4-BE49-F238E27FC236}">
                  <a16:creationId xmlns:a16="http://schemas.microsoft.com/office/drawing/2014/main" id="{7F5FEE30-BA8D-23E0-2BFE-413DFE210362}"/>
                </a:ext>
              </a:extLst>
            </p:cNvPr>
            <p:cNvSpPr/>
            <p:nvPr/>
          </p:nvSpPr>
          <p:spPr>
            <a:xfrm>
              <a:off x="2038509"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8" name="Oval 77">
              <a:extLst>
                <a:ext uri="{FF2B5EF4-FFF2-40B4-BE49-F238E27FC236}">
                  <a16:creationId xmlns:a16="http://schemas.microsoft.com/office/drawing/2014/main" id="{E627DAD3-C69D-2B62-5D3A-C388468D9A0E}"/>
                </a:ext>
              </a:extLst>
            </p:cNvPr>
            <p:cNvSpPr/>
            <p:nvPr/>
          </p:nvSpPr>
          <p:spPr>
            <a:xfrm>
              <a:off x="2140097"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9" name="Oval 78">
              <a:extLst>
                <a:ext uri="{FF2B5EF4-FFF2-40B4-BE49-F238E27FC236}">
                  <a16:creationId xmlns:a16="http://schemas.microsoft.com/office/drawing/2014/main" id="{742B54EE-828B-9EBB-A200-CDE04B54E0B9}"/>
                </a:ext>
              </a:extLst>
            </p:cNvPr>
            <p:cNvSpPr/>
            <p:nvPr/>
          </p:nvSpPr>
          <p:spPr>
            <a:xfrm>
              <a:off x="2241685"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0" name="Oval 79">
              <a:extLst>
                <a:ext uri="{FF2B5EF4-FFF2-40B4-BE49-F238E27FC236}">
                  <a16:creationId xmlns:a16="http://schemas.microsoft.com/office/drawing/2014/main" id="{35D824DF-99C3-DD4F-DEA6-DC84DAB0865C}"/>
                </a:ext>
              </a:extLst>
            </p:cNvPr>
            <p:cNvSpPr/>
            <p:nvPr/>
          </p:nvSpPr>
          <p:spPr>
            <a:xfrm>
              <a:off x="2343273"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1" name="Oval 80">
              <a:extLst>
                <a:ext uri="{FF2B5EF4-FFF2-40B4-BE49-F238E27FC236}">
                  <a16:creationId xmlns:a16="http://schemas.microsoft.com/office/drawing/2014/main" id="{6A9DDEE4-E178-2ECD-86F1-30D47BC06AFF}"/>
                </a:ext>
              </a:extLst>
            </p:cNvPr>
            <p:cNvSpPr/>
            <p:nvPr/>
          </p:nvSpPr>
          <p:spPr>
            <a:xfrm>
              <a:off x="2444861"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2" name="Oval 81">
              <a:extLst>
                <a:ext uri="{FF2B5EF4-FFF2-40B4-BE49-F238E27FC236}">
                  <a16:creationId xmlns:a16="http://schemas.microsoft.com/office/drawing/2014/main" id="{0400B801-C2CB-FB76-759D-A0D1AB20996B}"/>
                </a:ext>
              </a:extLst>
            </p:cNvPr>
            <p:cNvSpPr/>
            <p:nvPr/>
          </p:nvSpPr>
          <p:spPr>
            <a:xfrm>
              <a:off x="2546449"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3" name="Oval 82">
              <a:extLst>
                <a:ext uri="{FF2B5EF4-FFF2-40B4-BE49-F238E27FC236}">
                  <a16:creationId xmlns:a16="http://schemas.microsoft.com/office/drawing/2014/main" id="{0B3A6796-3C86-A355-55C1-8948A02EA69E}"/>
                </a:ext>
              </a:extLst>
            </p:cNvPr>
            <p:cNvSpPr/>
            <p:nvPr/>
          </p:nvSpPr>
          <p:spPr>
            <a:xfrm>
              <a:off x="2648037"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4" name="Oval 83">
              <a:extLst>
                <a:ext uri="{FF2B5EF4-FFF2-40B4-BE49-F238E27FC236}">
                  <a16:creationId xmlns:a16="http://schemas.microsoft.com/office/drawing/2014/main" id="{1AD7C11E-1456-C9F9-F6A6-7155F4B9AA3F}"/>
                </a:ext>
              </a:extLst>
            </p:cNvPr>
            <p:cNvSpPr/>
            <p:nvPr/>
          </p:nvSpPr>
          <p:spPr>
            <a:xfrm>
              <a:off x="2749625"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5" name="Oval 84">
              <a:extLst>
                <a:ext uri="{FF2B5EF4-FFF2-40B4-BE49-F238E27FC236}">
                  <a16:creationId xmlns:a16="http://schemas.microsoft.com/office/drawing/2014/main" id="{018C8209-FAE5-17D9-DD5F-77B4B940DE5E}"/>
                </a:ext>
              </a:extLst>
            </p:cNvPr>
            <p:cNvSpPr/>
            <p:nvPr/>
          </p:nvSpPr>
          <p:spPr>
            <a:xfrm>
              <a:off x="2851213"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6" name="Oval 85">
              <a:extLst>
                <a:ext uri="{FF2B5EF4-FFF2-40B4-BE49-F238E27FC236}">
                  <a16:creationId xmlns:a16="http://schemas.microsoft.com/office/drawing/2014/main" id="{571CE9F8-D86D-D6CD-AA0C-2E493FEDA0A3}"/>
                </a:ext>
              </a:extLst>
            </p:cNvPr>
            <p:cNvSpPr/>
            <p:nvPr/>
          </p:nvSpPr>
          <p:spPr>
            <a:xfrm>
              <a:off x="2952797" y="1280250"/>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7" name="Oval 86">
              <a:extLst>
                <a:ext uri="{FF2B5EF4-FFF2-40B4-BE49-F238E27FC236}">
                  <a16:creationId xmlns:a16="http://schemas.microsoft.com/office/drawing/2014/main" id="{265B777C-BC09-A35F-4FC2-EE68E3B5F802}"/>
                </a:ext>
              </a:extLst>
            </p:cNvPr>
            <p:cNvSpPr/>
            <p:nvPr/>
          </p:nvSpPr>
          <p:spPr>
            <a:xfrm>
              <a:off x="2038509"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8" name="Oval 87">
              <a:extLst>
                <a:ext uri="{FF2B5EF4-FFF2-40B4-BE49-F238E27FC236}">
                  <a16:creationId xmlns:a16="http://schemas.microsoft.com/office/drawing/2014/main" id="{B0DD587B-8A4F-CA53-2D0A-7BC931C74C51}"/>
                </a:ext>
              </a:extLst>
            </p:cNvPr>
            <p:cNvSpPr/>
            <p:nvPr/>
          </p:nvSpPr>
          <p:spPr>
            <a:xfrm>
              <a:off x="2140097"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9" name="Oval 88">
              <a:extLst>
                <a:ext uri="{FF2B5EF4-FFF2-40B4-BE49-F238E27FC236}">
                  <a16:creationId xmlns:a16="http://schemas.microsoft.com/office/drawing/2014/main" id="{BED25B53-5652-E3FF-43A6-7AEE6928267D}"/>
                </a:ext>
              </a:extLst>
            </p:cNvPr>
            <p:cNvSpPr/>
            <p:nvPr/>
          </p:nvSpPr>
          <p:spPr>
            <a:xfrm>
              <a:off x="2241685"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0" name="Oval 89">
              <a:extLst>
                <a:ext uri="{FF2B5EF4-FFF2-40B4-BE49-F238E27FC236}">
                  <a16:creationId xmlns:a16="http://schemas.microsoft.com/office/drawing/2014/main" id="{F87D4F5F-4064-E41F-2E25-F8F4D45F80C1}"/>
                </a:ext>
              </a:extLst>
            </p:cNvPr>
            <p:cNvSpPr/>
            <p:nvPr/>
          </p:nvSpPr>
          <p:spPr>
            <a:xfrm>
              <a:off x="2343273"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1" name="Oval 90">
              <a:extLst>
                <a:ext uri="{FF2B5EF4-FFF2-40B4-BE49-F238E27FC236}">
                  <a16:creationId xmlns:a16="http://schemas.microsoft.com/office/drawing/2014/main" id="{1B26778B-689B-37DE-C7BF-1AAE58FA3763}"/>
                </a:ext>
              </a:extLst>
            </p:cNvPr>
            <p:cNvSpPr/>
            <p:nvPr/>
          </p:nvSpPr>
          <p:spPr>
            <a:xfrm>
              <a:off x="2444861"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2" name="Oval 91">
              <a:extLst>
                <a:ext uri="{FF2B5EF4-FFF2-40B4-BE49-F238E27FC236}">
                  <a16:creationId xmlns:a16="http://schemas.microsoft.com/office/drawing/2014/main" id="{A761A6A5-9398-5E20-D2AA-072C259577D1}"/>
                </a:ext>
              </a:extLst>
            </p:cNvPr>
            <p:cNvSpPr/>
            <p:nvPr/>
          </p:nvSpPr>
          <p:spPr>
            <a:xfrm>
              <a:off x="2546449"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3" name="Oval 92">
              <a:extLst>
                <a:ext uri="{FF2B5EF4-FFF2-40B4-BE49-F238E27FC236}">
                  <a16:creationId xmlns:a16="http://schemas.microsoft.com/office/drawing/2014/main" id="{C7324552-66A8-BE16-CB5E-FFFE27D1E347}"/>
                </a:ext>
              </a:extLst>
            </p:cNvPr>
            <p:cNvSpPr/>
            <p:nvPr/>
          </p:nvSpPr>
          <p:spPr>
            <a:xfrm>
              <a:off x="2648037"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4" name="Oval 93">
              <a:extLst>
                <a:ext uri="{FF2B5EF4-FFF2-40B4-BE49-F238E27FC236}">
                  <a16:creationId xmlns:a16="http://schemas.microsoft.com/office/drawing/2014/main" id="{510679BA-CFDD-63F3-C4FC-3A534BBB7AC4}"/>
                </a:ext>
              </a:extLst>
            </p:cNvPr>
            <p:cNvSpPr/>
            <p:nvPr/>
          </p:nvSpPr>
          <p:spPr>
            <a:xfrm>
              <a:off x="2749625"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5" name="Oval 94">
              <a:extLst>
                <a:ext uri="{FF2B5EF4-FFF2-40B4-BE49-F238E27FC236}">
                  <a16:creationId xmlns:a16="http://schemas.microsoft.com/office/drawing/2014/main" id="{6E88A62D-6B31-A32D-F0BD-235AE4EBC502}"/>
                </a:ext>
              </a:extLst>
            </p:cNvPr>
            <p:cNvSpPr/>
            <p:nvPr/>
          </p:nvSpPr>
          <p:spPr>
            <a:xfrm>
              <a:off x="2851213"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6" name="Oval 95">
              <a:extLst>
                <a:ext uri="{FF2B5EF4-FFF2-40B4-BE49-F238E27FC236}">
                  <a16:creationId xmlns:a16="http://schemas.microsoft.com/office/drawing/2014/main" id="{B92B97BF-F570-A0C4-8BC7-97FEB2368731}"/>
                </a:ext>
              </a:extLst>
            </p:cNvPr>
            <p:cNvSpPr/>
            <p:nvPr/>
          </p:nvSpPr>
          <p:spPr>
            <a:xfrm>
              <a:off x="2952797" y="1346226"/>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7" name="Oval 96">
              <a:extLst>
                <a:ext uri="{FF2B5EF4-FFF2-40B4-BE49-F238E27FC236}">
                  <a16:creationId xmlns:a16="http://schemas.microsoft.com/office/drawing/2014/main" id="{D194DC91-DD5F-2009-E58F-EA973D03A764}"/>
                </a:ext>
              </a:extLst>
            </p:cNvPr>
            <p:cNvSpPr/>
            <p:nvPr/>
          </p:nvSpPr>
          <p:spPr>
            <a:xfrm>
              <a:off x="2038509"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8" name="Oval 97">
              <a:extLst>
                <a:ext uri="{FF2B5EF4-FFF2-40B4-BE49-F238E27FC236}">
                  <a16:creationId xmlns:a16="http://schemas.microsoft.com/office/drawing/2014/main" id="{2F26D35C-4DFA-BE0E-4FDA-001F395AD669}"/>
                </a:ext>
              </a:extLst>
            </p:cNvPr>
            <p:cNvSpPr/>
            <p:nvPr/>
          </p:nvSpPr>
          <p:spPr>
            <a:xfrm>
              <a:off x="2140097"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9" name="Oval 98">
              <a:extLst>
                <a:ext uri="{FF2B5EF4-FFF2-40B4-BE49-F238E27FC236}">
                  <a16:creationId xmlns:a16="http://schemas.microsoft.com/office/drawing/2014/main" id="{4671A225-20EB-9094-02D9-BE36718706C0}"/>
                </a:ext>
              </a:extLst>
            </p:cNvPr>
            <p:cNvSpPr/>
            <p:nvPr/>
          </p:nvSpPr>
          <p:spPr>
            <a:xfrm>
              <a:off x="2241685"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0" name="Oval 99">
              <a:extLst>
                <a:ext uri="{FF2B5EF4-FFF2-40B4-BE49-F238E27FC236}">
                  <a16:creationId xmlns:a16="http://schemas.microsoft.com/office/drawing/2014/main" id="{41B7447A-B40A-EA50-B437-1C14037ED9C3}"/>
                </a:ext>
              </a:extLst>
            </p:cNvPr>
            <p:cNvSpPr/>
            <p:nvPr/>
          </p:nvSpPr>
          <p:spPr>
            <a:xfrm>
              <a:off x="2343273"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1" name="Oval 100">
              <a:extLst>
                <a:ext uri="{FF2B5EF4-FFF2-40B4-BE49-F238E27FC236}">
                  <a16:creationId xmlns:a16="http://schemas.microsoft.com/office/drawing/2014/main" id="{809FD0BB-BEFA-582D-5213-BC12F9F62F30}"/>
                </a:ext>
              </a:extLst>
            </p:cNvPr>
            <p:cNvSpPr/>
            <p:nvPr/>
          </p:nvSpPr>
          <p:spPr>
            <a:xfrm>
              <a:off x="2444861"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2" name="Oval 101">
              <a:extLst>
                <a:ext uri="{FF2B5EF4-FFF2-40B4-BE49-F238E27FC236}">
                  <a16:creationId xmlns:a16="http://schemas.microsoft.com/office/drawing/2014/main" id="{09F66896-B85F-42B0-7FA2-922E006DCD79}"/>
                </a:ext>
              </a:extLst>
            </p:cNvPr>
            <p:cNvSpPr/>
            <p:nvPr/>
          </p:nvSpPr>
          <p:spPr>
            <a:xfrm>
              <a:off x="2546449"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3" name="Oval 102">
              <a:extLst>
                <a:ext uri="{FF2B5EF4-FFF2-40B4-BE49-F238E27FC236}">
                  <a16:creationId xmlns:a16="http://schemas.microsoft.com/office/drawing/2014/main" id="{CD452C79-8E15-B685-35D4-73363FD24B05}"/>
                </a:ext>
              </a:extLst>
            </p:cNvPr>
            <p:cNvSpPr/>
            <p:nvPr/>
          </p:nvSpPr>
          <p:spPr>
            <a:xfrm>
              <a:off x="2648037"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4" name="Oval 103">
              <a:extLst>
                <a:ext uri="{FF2B5EF4-FFF2-40B4-BE49-F238E27FC236}">
                  <a16:creationId xmlns:a16="http://schemas.microsoft.com/office/drawing/2014/main" id="{95DD15D9-8FD9-E61A-2C9E-6521E5CBF7F2}"/>
                </a:ext>
              </a:extLst>
            </p:cNvPr>
            <p:cNvSpPr/>
            <p:nvPr/>
          </p:nvSpPr>
          <p:spPr>
            <a:xfrm>
              <a:off x="2749625"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5" name="Oval 104">
              <a:extLst>
                <a:ext uri="{FF2B5EF4-FFF2-40B4-BE49-F238E27FC236}">
                  <a16:creationId xmlns:a16="http://schemas.microsoft.com/office/drawing/2014/main" id="{E18E1B3F-5139-AB83-F687-D73918916C6C}"/>
                </a:ext>
              </a:extLst>
            </p:cNvPr>
            <p:cNvSpPr/>
            <p:nvPr/>
          </p:nvSpPr>
          <p:spPr>
            <a:xfrm>
              <a:off x="2851213"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6" name="Oval 105">
              <a:extLst>
                <a:ext uri="{FF2B5EF4-FFF2-40B4-BE49-F238E27FC236}">
                  <a16:creationId xmlns:a16="http://schemas.microsoft.com/office/drawing/2014/main" id="{8CC68A0D-A4AA-D0DF-51A3-E54906B6D55C}"/>
                </a:ext>
              </a:extLst>
            </p:cNvPr>
            <p:cNvSpPr/>
            <p:nvPr/>
          </p:nvSpPr>
          <p:spPr>
            <a:xfrm>
              <a:off x="2952797" y="1412205"/>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7" name="Oval 106">
              <a:extLst>
                <a:ext uri="{FF2B5EF4-FFF2-40B4-BE49-F238E27FC236}">
                  <a16:creationId xmlns:a16="http://schemas.microsoft.com/office/drawing/2014/main" id="{DD90AC0E-8058-5F70-2B8A-BB8917CC2876}"/>
                </a:ext>
              </a:extLst>
            </p:cNvPr>
            <p:cNvSpPr/>
            <p:nvPr/>
          </p:nvSpPr>
          <p:spPr>
            <a:xfrm>
              <a:off x="2038509"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8" name="Oval 107">
              <a:extLst>
                <a:ext uri="{FF2B5EF4-FFF2-40B4-BE49-F238E27FC236}">
                  <a16:creationId xmlns:a16="http://schemas.microsoft.com/office/drawing/2014/main" id="{9FBAEF25-E915-FCAC-E8C7-5952F4FDFB8F}"/>
                </a:ext>
              </a:extLst>
            </p:cNvPr>
            <p:cNvSpPr/>
            <p:nvPr/>
          </p:nvSpPr>
          <p:spPr>
            <a:xfrm>
              <a:off x="2140097"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9" name="Oval 108">
              <a:extLst>
                <a:ext uri="{FF2B5EF4-FFF2-40B4-BE49-F238E27FC236}">
                  <a16:creationId xmlns:a16="http://schemas.microsoft.com/office/drawing/2014/main" id="{2C24A766-C7D7-7B3D-E802-F7055478EE0C}"/>
                </a:ext>
              </a:extLst>
            </p:cNvPr>
            <p:cNvSpPr/>
            <p:nvPr/>
          </p:nvSpPr>
          <p:spPr>
            <a:xfrm>
              <a:off x="2241685"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10" name="Oval 109">
              <a:extLst>
                <a:ext uri="{FF2B5EF4-FFF2-40B4-BE49-F238E27FC236}">
                  <a16:creationId xmlns:a16="http://schemas.microsoft.com/office/drawing/2014/main" id="{A9CD7589-BA5A-7F14-24B9-8F37A0EE330B}"/>
                </a:ext>
              </a:extLst>
            </p:cNvPr>
            <p:cNvSpPr/>
            <p:nvPr/>
          </p:nvSpPr>
          <p:spPr>
            <a:xfrm>
              <a:off x="2343273"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11" name="Oval 110">
              <a:extLst>
                <a:ext uri="{FF2B5EF4-FFF2-40B4-BE49-F238E27FC236}">
                  <a16:creationId xmlns:a16="http://schemas.microsoft.com/office/drawing/2014/main" id="{65AFB898-D63C-14BC-8282-C85D9C65D2BD}"/>
                </a:ext>
              </a:extLst>
            </p:cNvPr>
            <p:cNvSpPr/>
            <p:nvPr/>
          </p:nvSpPr>
          <p:spPr>
            <a:xfrm>
              <a:off x="2444861"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12" name="Oval 111">
              <a:extLst>
                <a:ext uri="{FF2B5EF4-FFF2-40B4-BE49-F238E27FC236}">
                  <a16:creationId xmlns:a16="http://schemas.microsoft.com/office/drawing/2014/main" id="{934C44DF-F61B-AB0F-E794-76299A81E827}"/>
                </a:ext>
              </a:extLst>
            </p:cNvPr>
            <p:cNvSpPr/>
            <p:nvPr/>
          </p:nvSpPr>
          <p:spPr>
            <a:xfrm>
              <a:off x="2546449"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13" name="Oval 112">
              <a:extLst>
                <a:ext uri="{FF2B5EF4-FFF2-40B4-BE49-F238E27FC236}">
                  <a16:creationId xmlns:a16="http://schemas.microsoft.com/office/drawing/2014/main" id="{CB170454-7F37-7668-9B43-545B1DC70FD2}"/>
                </a:ext>
              </a:extLst>
            </p:cNvPr>
            <p:cNvSpPr/>
            <p:nvPr/>
          </p:nvSpPr>
          <p:spPr>
            <a:xfrm>
              <a:off x="2648037"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14" name="Oval 113">
              <a:extLst>
                <a:ext uri="{FF2B5EF4-FFF2-40B4-BE49-F238E27FC236}">
                  <a16:creationId xmlns:a16="http://schemas.microsoft.com/office/drawing/2014/main" id="{67E8527C-78C7-B8AC-03FC-002636520680}"/>
                </a:ext>
              </a:extLst>
            </p:cNvPr>
            <p:cNvSpPr/>
            <p:nvPr/>
          </p:nvSpPr>
          <p:spPr>
            <a:xfrm>
              <a:off x="2749625"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15" name="Oval 114">
              <a:extLst>
                <a:ext uri="{FF2B5EF4-FFF2-40B4-BE49-F238E27FC236}">
                  <a16:creationId xmlns:a16="http://schemas.microsoft.com/office/drawing/2014/main" id="{79902E70-3D36-2891-C355-2500E977CA8B}"/>
                </a:ext>
              </a:extLst>
            </p:cNvPr>
            <p:cNvSpPr/>
            <p:nvPr/>
          </p:nvSpPr>
          <p:spPr>
            <a:xfrm>
              <a:off x="2851213"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16" name="Oval 115">
              <a:extLst>
                <a:ext uri="{FF2B5EF4-FFF2-40B4-BE49-F238E27FC236}">
                  <a16:creationId xmlns:a16="http://schemas.microsoft.com/office/drawing/2014/main" id="{FE14BC9E-53DF-CC37-DDC0-DB54770B5268}"/>
                </a:ext>
              </a:extLst>
            </p:cNvPr>
            <p:cNvSpPr/>
            <p:nvPr/>
          </p:nvSpPr>
          <p:spPr>
            <a:xfrm>
              <a:off x="2952797" y="81841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318" name="Group 317">
            <a:extLst>
              <a:ext uri="{FF2B5EF4-FFF2-40B4-BE49-F238E27FC236}">
                <a16:creationId xmlns:a16="http://schemas.microsoft.com/office/drawing/2014/main" id="{A59882B0-5009-E5E0-765C-2872E45EC872}"/>
              </a:ext>
            </a:extLst>
          </p:cNvPr>
          <p:cNvGrpSpPr/>
          <p:nvPr/>
        </p:nvGrpSpPr>
        <p:grpSpPr>
          <a:xfrm>
            <a:off x="418272" y="4528464"/>
            <a:ext cx="2514600" cy="1339608"/>
            <a:chOff x="654098" y="4250929"/>
            <a:chExt cx="2514600" cy="1339608"/>
          </a:xfrm>
        </p:grpSpPr>
        <p:sp>
          <p:nvSpPr>
            <p:cNvPr id="14" name="Rectangle 13">
              <a:extLst>
                <a:ext uri="{FF2B5EF4-FFF2-40B4-BE49-F238E27FC236}">
                  <a16:creationId xmlns:a16="http://schemas.microsoft.com/office/drawing/2014/main" id="{A144AB76-00E2-5E49-40B9-DC5E9F6EEBDA}"/>
                </a:ext>
              </a:extLst>
            </p:cNvPr>
            <p:cNvSpPr/>
            <p:nvPr/>
          </p:nvSpPr>
          <p:spPr bwMode="gray">
            <a:xfrm>
              <a:off x="654098" y="4250929"/>
              <a:ext cx="2514600" cy="1339608"/>
            </a:xfrm>
            <a:prstGeom prst="rect">
              <a:avLst/>
            </a:prstGeom>
            <a:noFill/>
            <a:ln w="19050" algn="ctr">
              <a:noFill/>
              <a:miter lim="800000"/>
              <a:headEnd/>
              <a:tailEnd/>
            </a:ln>
          </p:spPr>
          <p:txBody>
            <a:bodyPr wrap="square" lIns="88900" tIns="91440" rIns="88900" bIns="88900" rtlCol="0" anchor="t" anchorCtr="0"/>
            <a:lstStyle/>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4800" b="1"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95%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of merchants are planning to adapt their fraud strategy for agentic AI </a:t>
              </a:r>
              <a:endParaRPr kumimoji="0" lang="en-US" sz="1400" b="1" i="0" u="none" strike="noStrike" kern="0" cap="none" spc="0" normalizeH="0" baseline="0" noProof="0">
                <a:ln>
                  <a:noFill/>
                </a:ln>
                <a:solidFill>
                  <a:srgbClr val="000000">
                    <a:lumMod val="75000"/>
                    <a:lumOff val="25000"/>
                  </a:srgbClr>
                </a:solidFill>
                <a:effectLst/>
                <a:uLnTx/>
                <a:uFillTx/>
                <a:latin typeface="Arial"/>
                <a:cs typeface="Arial"/>
                <a:sym typeface="Arial"/>
              </a:endParaRPr>
            </a:p>
          </p:txBody>
        </p:sp>
        <p:sp>
          <p:nvSpPr>
            <p:cNvPr id="217" name="Oval 216">
              <a:extLst>
                <a:ext uri="{FF2B5EF4-FFF2-40B4-BE49-F238E27FC236}">
                  <a16:creationId xmlns:a16="http://schemas.microsoft.com/office/drawing/2014/main" id="{C12B0667-D581-B6EA-C705-D61B985A9AC2}"/>
                </a:ext>
              </a:extLst>
            </p:cNvPr>
            <p:cNvSpPr/>
            <p:nvPr/>
          </p:nvSpPr>
          <p:spPr>
            <a:xfrm>
              <a:off x="2038843"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18" name="Oval 217">
              <a:extLst>
                <a:ext uri="{FF2B5EF4-FFF2-40B4-BE49-F238E27FC236}">
                  <a16:creationId xmlns:a16="http://schemas.microsoft.com/office/drawing/2014/main" id="{1D67339F-C32B-648C-D193-7CD752917439}"/>
                </a:ext>
              </a:extLst>
            </p:cNvPr>
            <p:cNvSpPr/>
            <p:nvPr/>
          </p:nvSpPr>
          <p:spPr>
            <a:xfrm>
              <a:off x="2140431"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19" name="Oval 218">
              <a:extLst>
                <a:ext uri="{FF2B5EF4-FFF2-40B4-BE49-F238E27FC236}">
                  <a16:creationId xmlns:a16="http://schemas.microsoft.com/office/drawing/2014/main" id="{FFAF0E86-A92F-BD33-BDC3-EE02D656C207}"/>
                </a:ext>
              </a:extLst>
            </p:cNvPr>
            <p:cNvSpPr/>
            <p:nvPr/>
          </p:nvSpPr>
          <p:spPr>
            <a:xfrm>
              <a:off x="2242019"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0" name="Oval 219">
              <a:extLst>
                <a:ext uri="{FF2B5EF4-FFF2-40B4-BE49-F238E27FC236}">
                  <a16:creationId xmlns:a16="http://schemas.microsoft.com/office/drawing/2014/main" id="{C9CD0138-4C8D-F476-5689-BEEB9AF096E0}"/>
                </a:ext>
              </a:extLst>
            </p:cNvPr>
            <p:cNvSpPr/>
            <p:nvPr/>
          </p:nvSpPr>
          <p:spPr>
            <a:xfrm>
              <a:off x="2343607"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1" name="Oval 220">
              <a:extLst>
                <a:ext uri="{FF2B5EF4-FFF2-40B4-BE49-F238E27FC236}">
                  <a16:creationId xmlns:a16="http://schemas.microsoft.com/office/drawing/2014/main" id="{B77F6ACA-1C01-9B41-E6A1-9F2F7CE0FE51}"/>
                </a:ext>
              </a:extLst>
            </p:cNvPr>
            <p:cNvSpPr/>
            <p:nvPr/>
          </p:nvSpPr>
          <p:spPr>
            <a:xfrm>
              <a:off x="2445195"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2" name="Oval 221">
              <a:extLst>
                <a:ext uri="{FF2B5EF4-FFF2-40B4-BE49-F238E27FC236}">
                  <a16:creationId xmlns:a16="http://schemas.microsoft.com/office/drawing/2014/main" id="{A9A1E274-6BF5-8872-DE61-11344A09D2A2}"/>
                </a:ext>
              </a:extLst>
            </p:cNvPr>
            <p:cNvSpPr/>
            <p:nvPr/>
          </p:nvSpPr>
          <p:spPr>
            <a:xfrm>
              <a:off x="2546783"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3" name="Oval 222">
              <a:extLst>
                <a:ext uri="{FF2B5EF4-FFF2-40B4-BE49-F238E27FC236}">
                  <a16:creationId xmlns:a16="http://schemas.microsoft.com/office/drawing/2014/main" id="{18FBEDCE-4F95-85D0-687C-67644CEE30EB}"/>
                </a:ext>
              </a:extLst>
            </p:cNvPr>
            <p:cNvSpPr/>
            <p:nvPr/>
          </p:nvSpPr>
          <p:spPr>
            <a:xfrm>
              <a:off x="2648371"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4" name="Oval 223">
              <a:extLst>
                <a:ext uri="{FF2B5EF4-FFF2-40B4-BE49-F238E27FC236}">
                  <a16:creationId xmlns:a16="http://schemas.microsoft.com/office/drawing/2014/main" id="{38ADC2F9-8735-E7EB-5088-7704F79A2CDA}"/>
                </a:ext>
              </a:extLst>
            </p:cNvPr>
            <p:cNvSpPr/>
            <p:nvPr/>
          </p:nvSpPr>
          <p:spPr>
            <a:xfrm>
              <a:off x="2749959"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5" name="Oval 224">
              <a:extLst>
                <a:ext uri="{FF2B5EF4-FFF2-40B4-BE49-F238E27FC236}">
                  <a16:creationId xmlns:a16="http://schemas.microsoft.com/office/drawing/2014/main" id="{FA510957-8C1B-6A67-AEBF-3FAD36698E10}"/>
                </a:ext>
              </a:extLst>
            </p:cNvPr>
            <p:cNvSpPr/>
            <p:nvPr/>
          </p:nvSpPr>
          <p:spPr>
            <a:xfrm>
              <a:off x="2851547"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6" name="Oval 225">
              <a:extLst>
                <a:ext uri="{FF2B5EF4-FFF2-40B4-BE49-F238E27FC236}">
                  <a16:creationId xmlns:a16="http://schemas.microsoft.com/office/drawing/2014/main" id="{06775295-8D32-DDEB-9AFC-35896B5AFAFB}"/>
                </a:ext>
              </a:extLst>
            </p:cNvPr>
            <p:cNvSpPr/>
            <p:nvPr/>
          </p:nvSpPr>
          <p:spPr>
            <a:xfrm>
              <a:off x="2953131" y="453801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7" name="Oval 226">
              <a:extLst>
                <a:ext uri="{FF2B5EF4-FFF2-40B4-BE49-F238E27FC236}">
                  <a16:creationId xmlns:a16="http://schemas.microsoft.com/office/drawing/2014/main" id="{C1E99476-EE23-9B05-CA7D-C69F53775FD3}"/>
                </a:ext>
              </a:extLst>
            </p:cNvPr>
            <p:cNvSpPr/>
            <p:nvPr/>
          </p:nvSpPr>
          <p:spPr>
            <a:xfrm>
              <a:off x="2038843"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8" name="Oval 227">
              <a:extLst>
                <a:ext uri="{FF2B5EF4-FFF2-40B4-BE49-F238E27FC236}">
                  <a16:creationId xmlns:a16="http://schemas.microsoft.com/office/drawing/2014/main" id="{063DDEB8-7B7A-6528-54C2-895ADDDA4291}"/>
                </a:ext>
              </a:extLst>
            </p:cNvPr>
            <p:cNvSpPr/>
            <p:nvPr/>
          </p:nvSpPr>
          <p:spPr>
            <a:xfrm>
              <a:off x="2140431"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29" name="Oval 228">
              <a:extLst>
                <a:ext uri="{FF2B5EF4-FFF2-40B4-BE49-F238E27FC236}">
                  <a16:creationId xmlns:a16="http://schemas.microsoft.com/office/drawing/2014/main" id="{9CF63D97-7233-2A80-FA55-5E8F16918EBE}"/>
                </a:ext>
              </a:extLst>
            </p:cNvPr>
            <p:cNvSpPr/>
            <p:nvPr/>
          </p:nvSpPr>
          <p:spPr>
            <a:xfrm>
              <a:off x="2242019"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0" name="Oval 229">
              <a:extLst>
                <a:ext uri="{FF2B5EF4-FFF2-40B4-BE49-F238E27FC236}">
                  <a16:creationId xmlns:a16="http://schemas.microsoft.com/office/drawing/2014/main" id="{BFC5C7FA-1A6D-E2F2-86BC-FFE006D91160}"/>
                </a:ext>
              </a:extLst>
            </p:cNvPr>
            <p:cNvSpPr/>
            <p:nvPr/>
          </p:nvSpPr>
          <p:spPr>
            <a:xfrm>
              <a:off x="2343607"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1" name="Oval 230">
              <a:extLst>
                <a:ext uri="{FF2B5EF4-FFF2-40B4-BE49-F238E27FC236}">
                  <a16:creationId xmlns:a16="http://schemas.microsoft.com/office/drawing/2014/main" id="{D6CF2DCC-73B3-9F58-F30D-B6D013CADD3E}"/>
                </a:ext>
              </a:extLst>
            </p:cNvPr>
            <p:cNvSpPr/>
            <p:nvPr/>
          </p:nvSpPr>
          <p:spPr>
            <a:xfrm>
              <a:off x="2445195"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2" name="Oval 231">
              <a:extLst>
                <a:ext uri="{FF2B5EF4-FFF2-40B4-BE49-F238E27FC236}">
                  <a16:creationId xmlns:a16="http://schemas.microsoft.com/office/drawing/2014/main" id="{94DC163B-A522-310D-ACA2-C47E6E67F335}"/>
                </a:ext>
              </a:extLst>
            </p:cNvPr>
            <p:cNvSpPr/>
            <p:nvPr/>
          </p:nvSpPr>
          <p:spPr>
            <a:xfrm>
              <a:off x="2546783"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3" name="Oval 232">
              <a:extLst>
                <a:ext uri="{FF2B5EF4-FFF2-40B4-BE49-F238E27FC236}">
                  <a16:creationId xmlns:a16="http://schemas.microsoft.com/office/drawing/2014/main" id="{5A707BD2-9065-E1C4-A88A-B3BF296814D9}"/>
                </a:ext>
              </a:extLst>
            </p:cNvPr>
            <p:cNvSpPr/>
            <p:nvPr/>
          </p:nvSpPr>
          <p:spPr>
            <a:xfrm>
              <a:off x="2648371"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4" name="Oval 233">
              <a:extLst>
                <a:ext uri="{FF2B5EF4-FFF2-40B4-BE49-F238E27FC236}">
                  <a16:creationId xmlns:a16="http://schemas.microsoft.com/office/drawing/2014/main" id="{8807EF8A-D100-1FB4-CFE1-7C43B50B5565}"/>
                </a:ext>
              </a:extLst>
            </p:cNvPr>
            <p:cNvSpPr/>
            <p:nvPr/>
          </p:nvSpPr>
          <p:spPr>
            <a:xfrm>
              <a:off x="2749959"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5" name="Oval 234">
              <a:extLst>
                <a:ext uri="{FF2B5EF4-FFF2-40B4-BE49-F238E27FC236}">
                  <a16:creationId xmlns:a16="http://schemas.microsoft.com/office/drawing/2014/main" id="{EE60E96F-53EB-F827-9044-864B36429011}"/>
                </a:ext>
              </a:extLst>
            </p:cNvPr>
            <p:cNvSpPr/>
            <p:nvPr/>
          </p:nvSpPr>
          <p:spPr>
            <a:xfrm>
              <a:off x="2851547"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6" name="Oval 235">
              <a:extLst>
                <a:ext uri="{FF2B5EF4-FFF2-40B4-BE49-F238E27FC236}">
                  <a16:creationId xmlns:a16="http://schemas.microsoft.com/office/drawing/2014/main" id="{9D4B22F2-1E45-C53C-60F2-272EEB891756}"/>
                </a:ext>
              </a:extLst>
            </p:cNvPr>
            <p:cNvSpPr/>
            <p:nvPr/>
          </p:nvSpPr>
          <p:spPr>
            <a:xfrm>
              <a:off x="2953131" y="460398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7" name="Oval 236">
              <a:extLst>
                <a:ext uri="{FF2B5EF4-FFF2-40B4-BE49-F238E27FC236}">
                  <a16:creationId xmlns:a16="http://schemas.microsoft.com/office/drawing/2014/main" id="{7D9247F1-4092-B599-2A03-D39CEF3C1B0B}"/>
                </a:ext>
              </a:extLst>
            </p:cNvPr>
            <p:cNvSpPr/>
            <p:nvPr/>
          </p:nvSpPr>
          <p:spPr>
            <a:xfrm>
              <a:off x="2038843"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8" name="Oval 237">
              <a:extLst>
                <a:ext uri="{FF2B5EF4-FFF2-40B4-BE49-F238E27FC236}">
                  <a16:creationId xmlns:a16="http://schemas.microsoft.com/office/drawing/2014/main" id="{037C586E-F03B-874E-549E-8623303A96CB}"/>
                </a:ext>
              </a:extLst>
            </p:cNvPr>
            <p:cNvSpPr/>
            <p:nvPr/>
          </p:nvSpPr>
          <p:spPr>
            <a:xfrm>
              <a:off x="2140431"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39" name="Oval 238">
              <a:extLst>
                <a:ext uri="{FF2B5EF4-FFF2-40B4-BE49-F238E27FC236}">
                  <a16:creationId xmlns:a16="http://schemas.microsoft.com/office/drawing/2014/main" id="{5F2DE1FA-E4AB-DAE5-46AA-C88A9D995172}"/>
                </a:ext>
              </a:extLst>
            </p:cNvPr>
            <p:cNvSpPr/>
            <p:nvPr/>
          </p:nvSpPr>
          <p:spPr>
            <a:xfrm>
              <a:off x="2242019"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0" name="Oval 239">
              <a:extLst>
                <a:ext uri="{FF2B5EF4-FFF2-40B4-BE49-F238E27FC236}">
                  <a16:creationId xmlns:a16="http://schemas.microsoft.com/office/drawing/2014/main" id="{559DD6DE-CFEF-12E7-8252-7E421433D256}"/>
                </a:ext>
              </a:extLst>
            </p:cNvPr>
            <p:cNvSpPr/>
            <p:nvPr/>
          </p:nvSpPr>
          <p:spPr>
            <a:xfrm>
              <a:off x="2343607"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1" name="Oval 240">
              <a:extLst>
                <a:ext uri="{FF2B5EF4-FFF2-40B4-BE49-F238E27FC236}">
                  <a16:creationId xmlns:a16="http://schemas.microsoft.com/office/drawing/2014/main" id="{71B4DB93-BD5B-223E-50B5-361DC087FA62}"/>
                </a:ext>
              </a:extLst>
            </p:cNvPr>
            <p:cNvSpPr/>
            <p:nvPr/>
          </p:nvSpPr>
          <p:spPr>
            <a:xfrm>
              <a:off x="2445195"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2" name="Oval 241">
              <a:extLst>
                <a:ext uri="{FF2B5EF4-FFF2-40B4-BE49-F238E27FC236}">
                  <a16:creationId xmlns:a16="http://schemas.microsoft.com/office/drawing/2014/main" id="{BB0C10F7-864E-56F6-5116-06105337079C}"/>
                </a:ext>
              </a:extLst>
            </p:cNvPr>
            <p:cNvSpPr/>
            <p:nvPr/>
          </p:nvSpPr>
          <p:spPr>
            <a:xfrm>
              <a:off x="2546783"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3" name="Oval 242">
              <a:extLst>
                <a:ext uri="{FF2B5EF4-FFF2-40B4-BE49-F238E27FC236}">
                  <a16:creationId xmlns:a16="http://schemas.microsoft.com/office/drawing/2014/main" id="{FF5E5E0E-0126-04A1-2B49-98D1BD0C02F4}"/>
                </a:ext>
              </a:extLst>
            </p:cNvPr>
            <p:cNvSpPr/>
            <p:nvPr/>
          </p:nvSpPr>
          <p:spPr>
            <a:xfrm>
              <a:off x="2648371"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4" name="Oval 243">
              <a:extLst>
                <a:ext uri="{FF2B5EF4-FFF2-40B4-BE49-F238E27FC236}">
                  <a16:creationId xmlns:a16="http://schemas.microsoft.com/office/drawing/2014/main" id="{A5576392-AD35-9008-708E-FDFC7A32E25A}"/>
                </a:ext>
              </a:extLst>
            </p:cNvPr>
            <p:cNvSpPr/>
            <p:nvPr/>
          </p:nvSpPr>
          <p:spPr>
            <a:xfrm>
              <a:off x="2749959"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5" name="Oval 244">
              <a:extLst>
                <a:ext uri="{FF2B5EF4-FFF2-40B4-BE49-F238E27FC236}">
                  <a16:creationId xmlns:a16="http://schemas.microsoft.com/office/drawing/2014/main" id="{AC2DB70C-8935-9B68-6627-C96C5EC65CF0}"/>
                </a:ext>
              </a:extLst>
            </p:cNvPr>
            <p:cNvSpPr/>
            <p:nvPr/>
          </p:nvSpPr>
          <p:spPr>
            <a:xfrm>
              <a:off x="2851547"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6" name="Oval 245">
              <a:extLst>
                <a:ext uri="{FF2B5EF4-FFF2-40B4-BE49-F238E27FC236}">
                  <a16:creationId xmlns:a16="http://schemas.microsoft.com/office/drawing/2014/main" id="{D7D2C8A0-AE77-8BE3-99B9-DE143853D4C3}"/>
                </a:ext>
              </a:extLst>
            </p:cNvPr>
            <p:cNvSpPr/>
            <p:nvPr/>
          </p:nvSpPr>
          <p:spPr>
            <a:xfrm>
              <a:off x="2953131" y="466996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7" name="Oval 246">
              <a:extLst>
                <a:ext uri="{FF2B5EF4-FFF2-40B4-BE49-F238E27FC236}">
                  <a16:creationId xmlns:a16="http://schemas.microsoft.com/office/drawing/2014/main" id="{516F4878-7AB0-9DC5-209D-AC53D3498DCB}"/>
                </a:ext>
              </a:extLst>
            </p:cNvPr>
            <p:cNvSpPr/>
            <p:nvPr/>
          </p:nvSpPr>
          <p:spPr>
            <a:xfrm>
              <a:off x="2038843"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8" name="Oval 247">
              <a:extLst>
                <a:ext uri="{FF2B5EF4-FFF2-40B4-BE49-F238E27FC236}">
                  <a16:creationId xmlns:a16="http://schemas.microsoft.com/office/drawing/2014/main" id="{5E4E012B-C027-C6C9-6F74-D224E338A40F}"/>
                </a:ext>
              </a:extLst>
            </p:cNvPr>
            <p:cNvSpPr/>
            <p:nvPr/>
          </p:nvSpPr>
          <p:spPr>
            <a:xfrm>
              <a:off x="2140431"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49" name="Oval 248">
              <a:extLst>
                <a:ext uri="{FF2B5EF4-FFF2-40B4-BE49-F238E27FC236}">
                  <a16:creationId xmlns:a16="http://schemas.microsoft.com/office/drawing/2014/main" id="{D57A672C-636C-1596-072D-3C05E29203A4}"/>
                </a:ext>
              </a:extLst>
            </p:cNvPr>
            <p:cNvSpPr/>
            <p:nvPr/>
          </p:nvSpPr>
          <p:spPr>
            <a:xfrm>
              <a:off x="2242019"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0" name="Oval 249">
              <a:extLst>
                <a:ext uri="{FF2B5EF4-FFF2-40B4-BE49-F238E27FC236}">
                  <a16:creationId xmlns:a16="http://schemas.microsoft.com/office/drawing/2014/main" id="{4FE997AA-E24C-89D0-3142-2576D973C903}"/>
                </a:ext>
              </a:extLst>
            </p:cNvPr>
            <p:cNvSpPr/>
            <p:nvPr/>
          </p:nvSpPr>
          <p:spPr>
            <a:xfrm>
              <a:off x="2343607"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1" name="Oval 250">
              <a:extLst>
                <a:ext uri="{FF2B5EF4-FFF2-40B4-BE49-F238E27FC236}">
                  <a16:creationId xmlns:a16="http://schemas.microsoft.com/office/drawing/2014/main" id="{E8CC4F03-DC41-DFA9-101F-F4D86FF97003}"/>
                </a:ext>
              </a:extLst>
            </p:cNvPr>
            <p:cNvSpPr/>
            <p:nvPr/>
          </p:nvSpPr>
          <p:spPr>
            <a:xfrm>
              <a:off x="2445195"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2" name="Oval 251">
              <a:extLst>
                <a:ext uri="{FF2B5EF4-FFF2-40B4-BE49-F238E27FC236}">
                  <a16:creationId xmlns:a16="http://schemas.microsoft.com/office/drawing/2014/main" id="{7C912CF4-FF6F-AF16-DC03-B3930D252D76}"/>
                </a:ext>
              </a:extLst>
            </p:cNvPr>
            <p:cNvSpPr/>
            <p:nvPr/>
          </p:nvSpPr>
          <p:spPr>
            <a:xfrm>
              <a:off x="2546783"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3" name="Oval 252">
              <a:extLst>
                <a:ext uri="{FF2B5EF4-FFF2-40B4-BE49-F238E27FC236}">
                  <a16:creationId xmlns:a16="http://schemas.microsoft.com/office/drawing/2014/main" id="{9F89B22E-956A-414A-BC7A-1F7380C1C008}"/>
                </a:ext>
              </a:extLst>
            </p:cNvPr>
            <p:cNvSpPr/>
            <p:nvPr/>
          </p:nvSpPr>
          <p:spPr>
            <a:xfrm>
              <a:off x="2648371"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4" name="Oval 253">
              <a:extLst>
                <a:ext uri="{FF2B5EF4-FFF2-40B4-BE49-F238E27FC236}">
                  <a16:creationId xmlns:a16="http://schemas.microsoft.com/office/drawing/2014/main" id="{41F8A358-3718-282B-EDC2-1EF31029E587}"/>
                </a:ext>
              </a:extLst>
            </p:cNvPr>
            <p:cNvSpPr/>
            <p:nvPr/>
          </p:nvSpPr>
          <p:spPr>
            <a:xfrm>
              <a:off x="2749959"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5" name="Oval 254">
              <a:extLst>
                <a:ext uri="{FF2B5EF4-FFF2-40B4-BE49-F238E27FC236}">
                  <a16:creationId xmlns:a16="http://schemas.microsoft.com/office/drawing/2014/main" id="{F0CE126D-890B-635D-1A48-2B3B56C99891}"/>
                </a:ext>
              </a:extLst>
            </p:cNvPr>
            <p:cNvSpPr/>
            <p:nvPr/>
          </p:nvSpPr>
          <p:spPr>
            <a:xfrm>
              <a:off x="2851547"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6" name="Oval 255">
              <a:extLst>
                <a:ext uri="{FF2B5EF4-FFF2-40B4-BE49-F238E27FC236}">
                  <a16:creationId xmlns:a16="http://schemas.microsoft.com/office/drawing/2014/main" id="{1FE19A1A-F81F-3B5E-D077-165C4A4B3636}"/>
                </a:ext>
              </a:extLst>
            </p:cNvPr>
            <p:cNvSpPr/>
            <p:nvPr/>
          </p:nvSpPr>
          <p:spPr>
            <a:xfrm>
              <a:off x="2953131" y="4735940"/>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7" name="Oval 256">
              <a:extLst>
                <a:ext uri="{FF2B5EF4-FFF2-40B4-BE49-F238E27FC236}">
                  <a16:creationId xmlns:a16="http://schemas.microsoft.com/office/drawing/2014/main" id="{3296E177-B3F1-8D6F-5B16-C269C173AF06}"/>
                </a:ext>
              </a:extLst>
            </p:cNvPr>
            <p:cNvSpPr/>
            <p:nvPr/>
          </p:nvSpPr>
          <p:spPr>
            <a:xfrm>
              <a:off x="2038843"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8" name="Oval 257">
              <a:extLst>
                <a:ext uri="{FF2B5EF4-FFF2-40B4-BE49-F238E27FC236}">
                  <a16:creationId xmlns:a16="http://schemas.microsoft.com/office/drawing/2014/main" id="{6215BA59-DF9B-811B-7F9F-5F8A31297AA6}"/>
                </a:ext>
              </a:extLst>
            </p:cNvPr>
            <p:cNvSpPr/>
            <p:nvPr/>
          </p:nvSpPr>
          <p:spPr>
            <a:xfrm>
              <a:off x="2140431"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59" name="Oval 258">
              <a:extLst>
                <a:ext uri="{FF2B5EF4-FFF2-40B4-BE49-F238E27FC236}">
                  <a16:creationId xmlns:a16="http://schemas.microsoft.com/office/drawing/2014/main" id="{55F5584B-18C4-5CC4-8A28-793AA2D74CF1}"/>
                </a:ext>
              </a:extLst>
            </p:cNvPr>
            <p:cNvSpPr/>
            <p:nvPr/>
          </p:nvSpPr>
          <p:spPr>
            <a:xfrm>
              <a:off x="2242019"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0" name="Oval 259">
              <a:extLst>
                <a:ext uri="{FF2B5EF4-FFF2-40B4-BE49-F238E27FC236}">
                  <a16:creationId xmlns:a16="http://schemas.microsoft.com/office/drawing/2014/main" id="{7DCF10AE-F965-BF84-0314-4D9B4D4676A9}"/>
                </a:ext>
              </a:extLst>
            </p:cNvPr>
            <p:cNvSpPr/>
            <p:nvPr/>
          </p:nvSpPr>
          <p:spPr>
            <a:xfrm>
              <a:off x="2343607"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1" name="Oval 260">
              <a:extLst>
                <a:ext uri="{FF2B5EF4-FFF2-40B4-BE49-F238E27FC236}">
                  <a16:creationId xmlns:a16="http://schemas.microsoft.com/office/drawing/2014/main" id="{BFE0FE47-9B62-B9ED-E59E-12AD2163AABE}"/>
                </a:ext>
              </a:extLst>
            </p:cNvPr>
            <p:cNvSpPr/>
            <p:nvPr/>
          </p:nvSpPr>
          <p:spPr>
            <a:xfrm>
              <a:off x="2445195"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2" name="Oval 261">
              <a:extLst>
                <a:ext uri="{FF2B5EF4-FFF2-40B4-BE49-F238E27FC236}">
                  <a16:creationId xmlns:a16="http://schemas.microsoft.com/office/drawing/2014/main" id="{168B5766-9957-B977-3929-9F7CE33EB2EB}"/>
                </a:ext>
              </a:extLst>
            </p:cNvPr>
            <p:cNvSpPr/>
            <p:nvPr/>
          </p:nvSpPr>
          <p:spPr>
            <a:xfrm>
              <a:off x="2546783"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3" name="Oval 262">
              <a:extLst>
                <a:ext uri="{FF2B5EF4-FFF2-40B4-BE49-F238E27FC236}">
                  <a16:creationId xmlns:a16="http://schemas.microsoft.com/office/drawing/2014/main" id="{B581FC6D-4EA8-E648-C75E-BC579BF47B59}"/>
                </a:ext>
              </a:extLst>
            </p:cNvPr>
            <p:cNvSpPr/>
            <p:nvPr/>
          </p:nvSpPr>
          <p:spPr>
            <a:xfrm>
              <a:off x="2648371"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4" name="Oval 263">
              <a:extLst>
                <a:ext uri="{FF2B5EF4-FFF2-40B4-BE49-F238E27FC236}">
                  <a16:creationId xmlns:a16="http://schemas.microsoft.com/office/drawing/2014/main" id="{491DF057-26C3-3BE7-F332-08CAB9F3B4D6}"/>
                </a:ext>
              </a:extLst>
            </p:cNvPr>
            <p:cNvSpPr/>
            <p:nvPr/>
          </p:nvSpPr>
          <p:spPr>
            <a:xfrm>
              <a:off x="2749959"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5" name="Oval 264">
              <a:extLst>
                <a:ext uri="{FF2B5EF4-FFF2-40B4-BE49-F238E27FC236}">
                  <a16:creationId xmlns:a16="http://schemas.microsoft.com/office/drawing/2014/main" id="{78AC1325-5C7C-5E55-30DD-7449075A09E5}"/>
                </a:ext>
              </a:extLst>
            </p:cNvPr>
            <p:cNvSpPr/>
            <p:nvPr/>
          </p:nvSpPr>
          <p:spPr>
            <a:xfrm>
              <a:off x="2851547"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6" name="Oval 265">
              <a:extLst>
                <a:ext uri="{FF2B5EF4-FFF2-40B4-BE49-F238E27FC236}">
                  <a16:creationId xmlns:a16="http://schemas.microsoft.com/office/drawing/2014/main" id="{C871FE6B-6470-151F-12DD-AAA3BEFA1A75}"/>
                </a:ext>
              </a:extLst>
            </p:cNvPr>
            <p:cNvSpPr/>
            <p:nvPr/>
          </p:nvSpPr>
          <p:spPr>
            <a:xfrm>
              <a:off x="2953131" y="480191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7" name="Oval 266">
              <a:extLst>
                <a:ext uri="{FF2B5EF4-FFF2-40B4-BE49-F238E27FC236}">
                  <a16:creationId xmlns:a16="http://schemas.microsoft.com/office/drawing/2014/main" id="{D31EC5AA-1D97-F44C-9F5C-952947C74713}"/>
                </a:ext>
              </a:extLst>
            </p:cNvPr>
            <p:cNvSpPr/>
            <p:nvPr/>
          </p:nvSpPr>
          <p:spPr>
            <a:xfrm>
              <a:off x="2038843"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8" name="Oval 267">
              <a:extLst>
                <a:ext uri="{FF2B5EF4-FFF2-40B4-BE49-F238E27FC236}">
                  <a16:creationId xmlns:a16="http://schemas.microsoft.com/office/drawing/2014/main" id="{3E6EAAAF-8D07-D186-FA03-8BBA2E7519B9}"/>
                </a:ext>
              </a:extLst>
            </p:cNvPr>
            <p:cNvSpPr/>
            <p:nvPr/>
          </p:nvSpPr>
          <p:spPr>
            <a:xfrm>
              <a:off x="2140431"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69" name="Oval 268">
              <a:extLst>
                <a:ext uri="{FF2B5EF4-FFF2-40B4-BE49-F238E27FC236}">
                  <a16:creationId xmlns:a16="http://schemas.microsoft.com/office/drawing/2014/main" id="{8C2BAB72-E8BB-5E28-7EF0-72A1B7C34F6D}"/>
                </a:ext>
              </a:extLst>
            </p:cNvPr>
            <p:cNvSpPr/>
            <p:nvPr/>
          </p:nvSpPr>
          <p:spPr>
            <a:xfrm>
              <a:off x="2242019"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0" name="Oval 269">
              <a:extLst>
                <a:ext uri="{FF2B5EF4-FFF2-40B4-BE49-F238E27FC236}">
                  <a16:creationId xmlns:a16="http://schemas.microsoft.com/office/drawing/2014/main" id="{28716277-6BE2-F188-3E73-C5F99B151720}"/>
                </a:ext>
              </a:extLst>
            </p:cNvPr>
            <p:cNvSpPr/>
            <p:nvPr/>
          </p:nvSpPr>
          <p:spPr>
            <a:xfrm>
              <a:off x="2343607"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1" name="Oval 270">
              <a:extLst>
                <a:ext uri="{FF2B5EF4-FFF2-40B4-BE49-F238E27FC236}">
                  <a16:creationId xmlns:a16="http://schemas.microsoft.com/office/drawing/2014/main" id="{7CC3D171-C59F-5844-9B64-FA1937177A39}"/>
                </a:ext>
              </a:extLst>
            </p:cNvPr>
            <p:cNvSpPr/>
            <p:nvPr/>
          </p:nvSpPr>
          <p:spPr>
            <a:xfrm>
              <a:off x="2445195"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2" name="Oval 271">
              <a:extLst>
                <a:ext uri="{FF2B5EF4-FFF2-40B4-BE49-F238E27FC236}">
                  <a16:creationId xmlns:a16="http://schemas.microsoft.com/office/drawing/2014/main" id="{CF415B1F-FBDA-183A-ABCE-EE30CB53672E}"/>
                </a:ext>
              </a:extLst>
            </p:cNvPr>
            <p:cNvSpPr/>
            <p:nvPr/>
          </p:nvSpPr>
          <p:spPr>
            <a:xfrm>
              <a:off x="2546783"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3" name="Oval 272">
              <a:extLst>
                <a:ext uri="{FF2B5EF4-FFF2-40B4-BE49-F238E27FC236}">
                  <a16:creationId xmlns:a16="http://schemas.microsoft.com/office/drawing/2014/main" id="{63682506-2CAA-C471-97BE-C9C20DD6E8AC}"/>
                </a:ext>
              </a:extLst>
            </p:cNvPr>
            <p:cNvSpPr/>
            <p:nvPr/>
          </p:nvSpPr>
          <p:spPr>
            <a:xfrm>
              <a:off x="2648371"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4" name="Oval 273">
              <a:extLst>
                <a:ext uri="{FF2B5EF4-FFF2-40B4-BE49-F238E27FC236}">
                  <a16:creationId xmlns:a16="http://schemas.microsoft.com/office/drawing/2014/main" id="{D5D11756-10EF-641B-8814-81E1F02BD2FC}"/>
                </a:ext>
              </a:extLst>
            </p:cNvPr>
            <p:cNvSpPr/>
            <p:nvPr/>
          </p:nvSpPr>
          <p:spPr>
            <a:xfrm>
              <a:off x="2749959"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5" name="Oval 274">
              <a:extLst>
                <a:ext uri="{FF2B5EF4-FFF2-40B4-BE49-F238E27FC236}">
                  <a16:creationId xmlns:a16="http://schemas.microsoft.com/office/drawing/2014/main" id="{0C0BE76F-43EA-A8A0-CE2C-55765830834B}"/>
                </a:ext>
              </a:extLst>
            </p:cNvPr>
            <p:cNvSpPr/>
            <p:nvPr/>
          </p:nvSpPr>
          <p:spPr>
            <a:xfrm>
              <a:off x="2851547"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6" name="Oval 275">
              <a:extLst>
                <a:ext uri="{FF2B5EF4-FFF2-40B4-BE49-F238E27FC236}">
                  <a16:creationId xmlns:a16="http://schemas.microsoft.com/office/drawing/2014/main" id="{7CB3B8B6-389D-E2D7-6CE9-01C0ED4DA8BA}"/>
                </a:ext>
              </a:extLst>
            </p:cNvPr>
            <p:cNvSpPr/>
            <p:nvPr/>
          </p:nvSpPr>
          <p:spPr>
            <a:xfrm>
              <a:off x="2953131" y="4867892"/>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7" name="Oval 276">
              <a:extLst>
                <a:ext uri="{FF2B5EF4-FFF2-40B4-BE49-F238E27FC236}">
                  <a16:creationId xmlns:a16="http://schemas.microsoft.com/office/drawing/2014/main" id="{DABB666D-0D9C-CE83-31A9-904809C5CBEC}"/>
                </a:ext>
              </a:extLst>
            </p:cNvPr>
            <p:cNvSpPr/>
            <p:nvPr/>
          </p:nvSpPr>
          <p:spPr>
            <a:xfrm>
              <a:off x="2038843"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8" name="Oval 277">
              <a:extLst>
                <a:ext uri="{FF2B5EF4-FFF2-40B4-BE49-F238E27FC236}">
                  <a16:creationId xmlns:a16="http://schemas.microsoft.com/office/drawing/2014/main" id="{9772A689-A6BC-FCB4-64D4-A3F3DA62AEA4}"/>
                </a:ext>
              </a:extLst>
            </p:cNvPr>
            <p:cNvSpPr/>
            <p:nvPr/>
          </p:nvSpPr>
          <p:spPr>
            <a:xfrm>
              <a:off x="2140431"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79" name="Oval 278">
              <a:extLst>
                <a:ext uri="{FF2B5EF4-FFF2-40B4-BE49-F238E27FC236}">
                  <a16:creationId xmlns:a16="http://schemas.microsoft.com/office/drawing/2014/main" id="{F9D5D218-6D51-89D0-EB1A-E7A8A208AF0C}"/>
                </a:ext>
              </a:extLst>
            </p:cNvPr>
            <p:cNvSpPr/>
            <p:nvPr/>
          </p:nvSpPr>
          <p:spPr>
            <a:xfrm>
              <a:off x="2242019"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0" name="Oval 279">
              <a:extLst>
                <a:ext uri="{FF2B5EF4-FFF2-40B4-BE49-F238E27FC236}">
                  <a16:creationId xmlns:a16="http://schemas.microsoft.com/office/drawing/2014/main" id="{182FB6DA-F415-4A42-0A0C-F3A04CB41F06}"/>
                </a:ext>
              </a:extLst>
            </p:cNvPr>
            <p:cNvSpPr/>
            <p:nvPr/>
          </p:nvSpPr>
          <p:spPr>
            <a:xfrm>
              <a:off x="2343607"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1" name="Oval 280">
              <a:extLst>
                <a:ext uri="{FF2B5EF4-FFF2-40B4-BE49-F238E27FC236}">
                  <a16:creationId xmlns:a16="http://schemas.microsoft.com/office/drawing/2014/main" id="{1EF77FF6-DB40-E246-BF2C-6E5EF2B9087B}"/>
                </a:ext>
              </a:extLst>
            </p:cNvPr>
            <p:cNvSpPr/>
            <p:nvPr/>
          </p:nvSpPr>
          <p:spPr>
            <a:xfrm>
              <a:off x="2445195"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2" name="Oval 281">
              <a:extLst>
                <a:ext uri="{FF2B5EF4-FFF2-40B4-BE49-F238E27FC236}">
                  <a16:creationId xmlns:a16="http://schemas.microsoft.com/office/drawing/2014/main" id="{8CBC8835-F30F-6F28-2011-1DD81F7D392C}"/>
                </a:ext>
              </a:extLst>
            </p:cNvPr>
            <p:cNvSpPr/>
            <p:nvPr/>
          </p:nvSpPr>
          <p:spPr>
            <a:xfrm>
              <a:off x="2546783"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3" name="Oval 282">
              <a:extLst>
                <a:ext uri="{FF2B5EF4-FFF2-40B4-BE49-F238E27FC236}">
                  <a16:creationId xmlns:a16="http://schemas.microsoft.com/office/drawing/2014/main" id="{4FDEC24B-55AE-23FA-3C41-DC66905E7D7F}"/>
                </a:ext>
              </a:extLst>
            </p:cNvPr>
            <p:cNvSpPr/>
            <p:nvPr/>
          </p:nvSpPr>
          <p:spPr>
            <a:xfrm>
              <a:off x="2648371"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4" name="Oval 283">
              <a:extLst>
                <a:ext uri="{FF2B5EF4-FFF2-40B4-BE49-F238E27FC236}">
                  <a16:creationId xmlns:a16="http://schemas.microsoft.com/office/drawing/2014/main" id="{EDD9B851-3B9C-2DB8-E3DB-53755974F30B}"/>
                </a:ext>
              </a:extLst>
            </p:cNvPr>
            <p:cNvSpPr/>
            <p:nvPr/>
          </p:nvSpPr>
          <p:spPr>
            <a:xfrm>
              <a:off x="2749959"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5" name="Oval 284">
              <a:extLst>
                <a:ext uri="{FF2B5EF4-FFF2-40B4-BE49-F238E27FC236}">
                  <a16:creationId xmlns:a16="http://schemas.microsoft.com/office/drawing/2014/main" id="{35016A30-B9A9-F237-6CD3-9272AC8D2050}"/>
                </a:ext>
              </a:extLst>
            </p:cNvPr>
            <p:cNvSpPr/>
            <p:nvPr/>
          </p:nvSpPr>
          <p:spPr>
            <a:xfrm>
              <a:off x="2851547"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6" name="Oval 285">
              <a:extLst>
                <a:ext uri="{FF2B5EF4-FFF2-40B4-BE49-F238E27FC236}">
                  <a16:creationId xmlns:a16="http://schemas.microsoft.com/office/drawing/2014/main" id="{8ECFD13E-DFC8-5280-C002-EADFA36B4435}"/>
                </a:ext>
              </a:extLst>
            </p:cNvPr>
            <p:cNvSpPr/>
            <p:nvPr/>
          </p:nvSpPr>
          <p:spPr>
            <a:xfrm>
              <a:off x="2953131" y="4933868"/>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7" name="Oval 286">
              <a:extLst>
                <a:ext uri="{FF2B5EF4-FFF2-40B4-BE49-F238E27FC236}">
                  <a16:creationId xmlns:a16="http://schemas.microsoft.com/office/drawing/2014/main" id="{C8268E05-9BE2-57B1-ADF3-AE07FD1B82A1}"/>
                </a:ext>
              </a:extLst>
            </p:cNvPr>
            <p:cNvSpPr/>
            <p:nvPr/>
          </p:nvSpPr>
          <p:spPr>
            <a:xfrm>
              <a:off x="2038843"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8" name="Oval 287">
              <a:extLst>
                <a:ext uri="{FF2B5EF4-FFF2-40B4-BE49-F238E27FC236}">
                  <a16:creationId xmlns:a16="http://schemas.microsoft.com/office/drawing/2014/main" id="{35E8AE32-46DD-6CB6-AB60-30CEF1CA5292}"/>
                </a:ext>
              </a:extLst>
            </p:cNvPr>
            <p:cNvSpPr/>
            <p:nvPr/>
          </p:nvSpPr>
          <p:spPr>
            <a:xfrm>
              <a:off x="2140431"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89" name="Oval 288">
              <a:extLst>
                <a:ext uri="{FF2B5EF4-FFF2-40B4-BE49-F238E27FC236}">
                  <a16:creationId xmlns:a16="http://schemas.microsoft.com/office/drawing/2014/main" id="{25980498-43EE-1378-DC07-7FF9063B4C30}"/>
                </a:ext>
              </a:extLst>
            </p:cNvPr>
            <p:cNvSpPr/>
            <p:nvPr/>
          </p:nvSpPr>
          <p:spPr>
            <a:xfrm>
              <a:off x="2242019"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0" name="Oval 289">
              <a:extLst>
                <a:ext uri="{FF2B5EF4-FFF2-40B4-BE49-F238E27FC236}">
                  <a16:creationId xmlns:a16="http://schemas.microsoft.com/office/drawing/2014/main" id="{00703F4F-A23B-E16F-A52A-DD9CE8533642}"/>
                </a:ext>
              </a:extLst>
            </p:cNvPr>
            <p:cNvSpPr/>
            <p:nvPr/>
          </p:nvSpPr>
          <p:spPr>
            <a:xfrm>
              <a:off x="2343607"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1" name="Oval 290">
              <a:extLst>
                <a:ext uri="{FF2B5EF4-FFF2-40B4-BE49-F238E27FC236}">
                  <a16:creationId xmlns:a16="http://schemas.microsoft.com/office/drawing/2014/main" id="{34A6FD62-6514-38C8-2BCE-E28B8C58DF1A}"/>
                </a:ext>
              </a:extLst>
            </p:cNvPr>
            <p:cNvSpPr/>
            <p:nvPr/>
          </p:nvSpPr>
          <p:spPr>
            <a:xfrm>
              <a:off x="2445195"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2" name="Oval 291">
              <a:extLst>
                <a:ext uri="{FF2B5EF4-FFF2-40B4-BE49-F238E27FC236}">
                  <a16:creationId xmlns:a16="http://schemas.microsoft.com/office/drawing/2014/main" id="{577684DA-FC5B-4D4A-0D07-496A4ECD9323}"/>
                </a:ext>
              </a:extLst>
            </p:cNvPr>
            <p:cNvSpPr/>
            <p:nvPr/>
          </p:nvSpPr>
          <p:spPr>
            <a:xfrm>
              <a:off x="2546783"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3" name="Oval 292">
              <a:extLst>
                <a:ext uri="{FF2B5EF4-FFF2-40B4-BE49-F238E27FC236}">
                  <a16:creationId xmlns:a16="http://schemas.microsoft.com/office/drawing/2014/main" id="{6E674EC2-4C9F-EE6C-070B-2B5114B4E56D}"/>
                </a:ext>
              </a:extLst>
            </p:cNvPr>
            <p:cNvSpPr/>
            <p:nvPr/>
          </p:nvSpPr>
          <p:spPr>
            <a:xfrm>
              <a:off x="2648371"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4" name="Oval 293">
              <a:extLst>
                <a:ext uri="{FF2B5EF4-FFF2-40B4-BE49-F238E27FC236}">
                  <a16:creationId xmlns:a16="http://schemas.microsoft.com/office/drawing/2014/main" id="{39A5E929-D6CD-3CBE-28E6-1CD0C54B28DA}"/>
                </a:ext>
              </a:extLst>
            </p:cNvPr>
            <p:cNvSpPr/>
            <p:nvPr/>
          </p:nvSpPr>
          <p:spPr>
            <a:xfrm>
              <a:off x="2749959"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5" name="Oval 294">
              <a:extLst>
                <a:ext uri="{FF2B5EF4-FFF2-40B4-BE49-F238E27FC236}">
                  <a16:creationId xmlns:a16="http://schemas.microsoft.com/office/drawing/2014/main" id="{0D2A9208-674A-9DB0-5366-71E428A11EE9}"/>
                </a:ext>
              </a:extLst>
            </p:cNvPr>
            <p:cNvSpPr/>
            <p:nvPr/>
          </p:nvSpPr>
          <p:spPr>
            <a:xfrm>
              <a:off x="2851547"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6" name="Oval 295">
              <a:extLst>
                <a:ext uri="{FF2B5EF4-FFF2-40B4-BE49-F238E27FC236}">
                  <a16:creationId xmlns:a16="http://schemas.microsoft.com/office/drawing/2014/main" id="{ECEB43EB-5520-4D68-95FF-E306B9107ACD}"/>
                </a:ext>
              </a:extLst>
            </p:cNvPr>
            <p:cNvSpPr/>
            <p:nvPr/>
          </p:nvSpPr>
          <p:spPr>
            <a:xfrm>
              <a:off x="2953131" y="4999844"/>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7" name="Oval 296">
              <a:extLst>
                <a:ext uri="{FF2B5EF4-FFF2-40B4-BE49-F238E27FC236}">
                  <a16:creationId xmlns:a16="http://schemas.microsoft.com/office/drawing/2014/main" id="{AF6AB9BF-440A-12AB-8B41-C6704261F431}"/>
                </a:ext>
              </a:extLst>
            </p:cNvPr>
            <p:cNvSpPr/>
            <p:nvPr/>
          </p:nvSpPr>
          <p:spPr>
            <a:xfrm>
              <a:off x="2038843" y="5065823"/>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8" name="Oval 297">
              <a:extLst>
                <a:ext uri="{FF2B5EF4-FFF2-40B4-BE49-F238E27FC236}">
                  <a16:creationId xmlns:a16="http://schemas.microsoft.com/office/drawing/2014/main" id="{788EE87C-F439-88AE-AC18-3C7F06992EA7}"/>
                </a:ext>
              </a:extLst>
            </p:cNvPr>
            <p:cNvSpPr/>
            <p:nvPr/>
          </p:nvSpPr>
          <p:spPr>
            <a:xfrm>
              <a:off x="2140431" y="5065823"/>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299" name="Oval 298">
              <a:extLst>
                <a:ext uri="{FF2B5EF4-FFF2-40B4-BE49-F238E27FC236}">
                  <a16:creationId xmlns:a16="http://schemas.microsoft.com/office/drawing/2014/main" id="{195C7160-93D9-E0F4-37E3-CD163B78767E}"/>
                </a:ext>
              </a:extLst>
            </p:cNvPr>
            <p:cNvSpPr/>
            <p:nvPr/>
          </p:nvSpPr>
          <p:spPr>
            <a:xfrm>
              <a:off x="2242019" y="5065823"/>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0" name="Oval 299">
              <a:extLst>
                <a:ext uri="{FF2B5EF4-FFF2-40B4-BE49-F238E27FC236}">
                  <a16:creationId xmlns:a16="http://schemas.microsoft.com/office/drawing/2014/main" id="{DA9A3846-7D59-748A-6F69-3E04B67DFB62}"/>
                </a:ext>
              </a:extLst>
            </p:cNvPr>
            <p:cNvSpPr/>
            <p:nvPr/>
          </p:nvSpPr>
          <p:spPr>
            <a:xfrm>
              <a:off x="2343607" y="5065823"/>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1" name="Oval 300">
              <a:extLst>
                <a:ext uri="{FF2B5EF4-FFF2-40B4-BE49-F238E27FC236}">
                  <a16:creationId xmlns:a16="http://schemas.microsoft.com/office/drawing/2014/main" id="{AFA87404-A799-6A56-D48A-AC3719AA6DA8}"/>
                </a:ext>
              </a:extLst>
            </p:cNvPr>
            <p:cNvSpPr/>
            <p:nvPr/>
          </p:nvSpPr>
          <p:spPr>
            <a:xfrm>
              <a:off x="2445195" y="5065823"/>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2" name="Oval 301">
              <a:extLst>
                <a:ext uri="{FF2B5EF4-FFF2-40B4-BE49-F238E27FC236}">
                  <a16:creationId xmlns:a16="http://schemas.microsoft.com/office/drawing/2014/main" id="{8888594E-F617-11C1-F6A1-9BD13C05406C}"/>
                </a:ext>
              </a:extLst>
            </p:cNvPr>
            <p:cNvSpPr/>
            <p:nvPr/>
          </p:nvSpPr>
          <p:spPr>
            <a:xfrm>
              <a:off x="2546783" y="5065823"/>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3" name="Oval 302">
              <a:extLst>
                <a:ext uri="{FF2B5EF4-FFF2-40B4-BE49-F238E27FC236}">
                  <a16:creationId xmlns:a16="http://schemas.microsoft.com/office/drawing/2014/main" id="{56A665DC-07F0-4C65-4C2E-339D73BE24D8}"/>
                </a:ext>
              </a:extLst>
            </p:cNvPr>
            <p:cNvSpPr/>
            <p:nvPr/>
          </p:nvSpPr>
          <p:spPr>
            <a:xfrm>
              <a:off x="2648371" y="5065823"/>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4" name="Oval 303">
              <a:extLst>
                <a:ext uri="{FF2B5EF4-FFF2-40B4-BE49-F238E27FC236}">
                  <a16:creationId xmlns:a16="http://schemas.microsoft.com/office/drawing/2014/main" id="{83F34431-F6A9-E5ED-4438-B7EE5D3FF27F}"/>
                </a:ext>
              </a:extLst>
            </p:cNvPr>
            <p:cNvSpPr/>
            <p:nvPr/>
          </p:nvSpPr>
          <p:spPr>
            <a:xfrm>
              <a:off x="2749959" y="5065823"/>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5" name="Oval 304">
              <a:extLst>
                <a:ext uri="{FF2B5EF4-FFF2-40B4-BE49-F238E27FC236}">
                  <a16:creationId xmlns:a16="http://schemas.microsoft.com/office/drawing/2014/main" id="{2B6B7191-46C8-E460-84EC-32D8CDC75AB5}"/>
                </a:ext>
              </a:extLst>
            </p:cNvPr>
            <p:cNvSpPr/>
            <p:nvPr/>
          </p:nvSpPr>
          <p:spPr>
            <a:xfrm>
              <a:off x="2851547" y="5065823"/>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6" name="Oval 305">
              <a:extLst>
                <a:ext uri="{FF2B5EF4-FFF2-40B4-BE49-F238E27FC236}">
                  <a16:creationId xmlns:a16="http://schemas.microsoft.com/office/drawing/2014/main" id="{D8F58FF7-6E66-B09B-393E-8C951D610755}"/>
                </a:ext>
              </a:extLst>
            </p:cNvPr>
            <p:cNvSpPr/>
            <p:nvPr/>
          </p:nvSpPr>
          <p:spPr>
            <a:xfrm>
              <a:off x="2953131" y="5065823"/>
              <a:ext cx="54864" cy="54864"/>
            </a:xfrm>
            <a:prstGeom prst="ellipse">
              <a:avLst/>
            </a:prstGeom>
            <a:solidFill>
              <a:srgbClr val="D1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7" name="Oval 306">
              <a:extLst>
                <a:ext uri="{FF2B5EF4-FFF2-40B4-BE49-F238E27FC236}">
                  <a16:creationId xmlns:a16="http://schemas.microsoft.com/office/drawing/2014/main" id="{DBC923EB-3FD9-D325-2C48-82C92E27ECFA}"/>
                </a:ext>
              </a:extLst>
            </p:cNvPr>
            <p:cNvSpPr/>
            <p:nvPr/>
          </p:nvSpPr>
          <p:spPr>
            <a:xfrm>
              <a:off x="2038843"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8" name="Oval 307">
              <a:extLst>
                <a:ext uri="{FF2B5EF4-FFF2-40B4-BE49-F238E27FC236}">
                  <a16:creationId xmlns:a16="http://schemas.microsoft.com/office/drawing/2014/main" id="{F9DAA018-FE0F-2D09-3BDE-CD898FF7957F}"/>
                </a:ext>
              </a:extLst>
            </p:cNvPr>
            <p:cNvSpPr/>
            <p:nvPr/>
          </p:nvSpPr>
          <p:spPr>
            <a:xfrm>
              <a:off x="2140431"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09" name="Oval 308">
              <a:extLst>
                <a:ext uri="{FF2B5EF4-FFF2-40B4-BE49-F238E27FC236}">
                  <a16:creationId xmlns:a16="http://schemas.microsoft.com/office/drawing/2014/main" id="{6FE31035-15D7-DFB0-140C-36A7E8D3ACA8}"/>
                </a:ext>
              </a:extLst>
            </p:cNvPr>
            <p:cNvSpPr/>
            <p:nvPr/>
          </p:nvSpPr>
          <p:spPr>
            <a:xfrm>
              <a:off x="2242019"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0" name="Oval 309">
              <a:extLst>
                <a:ext uri="{FF2B5EF4-FFF2-40B4-BE49-F238E27FC236}">
                  <a16:creationId xmlns:a16="http://schemas.microsoft.com/office/drawing/2014/main" id="{B860D85D-6754-B8AD-703D-25BDB6AA7D21}"/>
                </a:ext>
              </a:extLst>
            </p:cNvPr>
            <p:cNvSpPr/>
            <p:nvPr/>
          </p:nvSpPr>
          <p:spPr>
            <a:xfrm>
              <a:off x="2343607"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1" name="Oval 310">
              <a:extLst>
                <a:ext uri="{FF2B5EF4-FFF2-40B4-BE49-F238E27FC236}">
                  <a16:creationId xmlns:a16="http://schemas.microsoft.com/office/drawing/2014/main" id="{93311052-4562-DFF6-58E6-3AD92593E65D}"/>
                </a:ext>
              </a:extLst>
            </p:cNvPr>
            <p:cNvSpPr/>
            <p:nvPr/>
          </p:nvSpPr>
          <p:spPr>
            <a:xfrm>
              <a:off x="2445195"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2" name="Oval 311">
              <a:extLst>
                <a:ext uri="{FF2B5EF4-FFF2-40B4-BE49-F238E27FC236}">
                  <a16:creationId xmlns:a16="http://schemas.microsoft.com/office/drawing/2014/main" id="{613C1478-7270-6D7E-0044-171274631210}"/>
                </a:ext>
              </a:extLst>
            </p:cNvPr>
            <p:cNvSpPr/>
            <p:nvPr/>
          </p:nvSpPr>
          <p:spPr>
            <a:xfrm>
              <a:off x="2546783"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3" name="Oval 312">
              <a:extLst>
                <a:ext uri="{FF2B5EF4-FFF2-40B4-BE49-F238E27FC236}">
                  <a16:creationId xmlns:a16="http://schemas.microsoft.com/office/drawing/2014/main" id="{58A67CCF-63C3-C07E-0E85-6D26DD6E58BF}"/>
                </a:ext>
              </a:extLst>
            </p:cNvPr>
            <p:cNvSpPr/>
            <p:nvPr/>
          </p:nvSpPr>
          <p:spPr>
            <a:xfrm>
              <a:off x="2648371"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4" name="Oval 313">
              <a:extLst>
                <a:ext uri="{FF2B5EF4-FFF2-40B4-BE49-F238E27FC236}">
                  <a16:creationId xmlns:a16="http://schemas.microsoft.com/office/drawing/2014/main" id="{F3A9474C-E8BD-1C60-4D9E-0F424081787E}"/>
                </a:ext>
              </a:extLst>
            </p:cNvPr>
            <p:cNvSpPr/>
            <p:nvPr/>
          </p:nvSpPr>
          <p:spPr>
            <a:xfrm>
              <a:off x="2749959"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5" name="Oval 314">
              <a:extLst>
                <a:ext uri="{FF2B5EF4-FFF2-40B4-BE49-F238E27FC236}">
                  <a16:creationId xmlns:a16="http://schemas.microsoft.com/office/drawing/2014/main" id="{BFB540B3-579E-802A-0DDE-7FEB780521BB}"/>
                </a:ext>
              </a:extLst>
            </p:cNvPr>
            <p:cNvSpPr/>
            <p:nvPr/>
          </p:nvSpPr>
          <p:spPr>
            <a:xfrm>
              <a:off x="2851547"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316" name="Oval 315">
              <a:extLst>
                <a:ext uri="{FF2B5EF4-FFF2-40B4-BE49-F238E27FC236}">
                  <a16:creationId xmlns:a16="http://schemas.microsoft.com/office/drawing/2014/main" id="{173EF4C2-183E-8DF0-80C4-38C9BCCB9A9F}"/>
                </a:ext>
              </a:extLst>
            </p:cNvPr>
            <p:cNvSpPr/>
            <p:nvPr/>
          </p:nvSpPr>
          <p:spPr>
            <a:xfrm>
              <a:off x="2953131" y="4472036"/>
              <a:ext cx="54864" cy="54864"/>
            </a:xfrm>
            <a:prstGeom prst="ellipse">
              <a:avLst/>
            </a:prstGeom>
            <a:solidFill>
              <a:srgbClr val="4EA7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grpSp>
    </p:spTree>
    <p:extLst>
      <p:ext uri="{BB962C8B-B14F-4D97-AF65-F5344CB8AC3E}">
        <p14:creationId xmlns:p14="http://schemas.microsoft.com/office/powerpoint/2010/main" val="3871980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20D972E-E73B-B7BA-819A-33B3A9AE425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633AADD-8824-2A3F-1854-0E4FA6485918}"/>
              </a:ext>
            </a:extLst>
          </p:cNvPr>
          <p:cNvSpPr/>
          <p:nvPr/>
        </p:nvSpPr>
        <p:spPr>
          <a:xfrm>
            <a:off x="-904" y="353224"/>
            <a:ext cx="12192000" cy="492221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5760" tIns="320040" rIns="457200" rtlCol="0" anchor="t" anchorCtr="0"/>
          <a:lstStyle/>
          <a:p>
            <a:pPr marL="0" marR="0" lvl="0" indent="0" algn="ctr" defTabSz="914400" rtl="0" eaLnBrk="1" fontAlgn="auto" latinLnBrk="0" hangingPunct="1">
              <a:lnSpc>
                <a:spcPct val="100000"/>
              </a:lnSpc>
              <a:spcBef>
                <a:spcPts val="0"/>
              </a:spcBef>
              <a:spcAft>
                <a:spcPts val="60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endParaRPr kumimoji="0" lang="en-US" sz="14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endParaRPr>
          </a:p>
        </p:txBody>
      </p:sp>
      <p:sp>
        <p:nvSpPr>
          <p:cNvPr id="15" name="Rectangle 14">
            <a:extLst>
              <a:ext uri="{FF2B5EF4-FFF2-40B4-BE49-F238E27FC236}">
                <a16:creationId xmlns:a16="http://schemas.microsoft.com/office/drawing/2014/main" id="{68E7E960-8B4B-AD66-CE21-21D714C109AF}"/>
              </a:ext>
            </a:extLst>
          </p:cNvPr>
          <p:cNvSpPr/>
          <p:nvPr/>
        </p:nvSpPr>
        <p:spPr>
          <a:xfrm>
            <a:off x="0" y="358886"/>
            <a:ext cx="3510052" cy="48853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74320" tIns="1097280" rIns="0" rtlCol="0" anchor="t" anchorCtr="0"/>
          <a:lstStyle/>
          <a:p>
            <a:pPr marL="0" marR="0" lvl="0" indent="0" algn="just" defTabSz="914400" rtl="0" eaLnBrk="1" fontAlgn="auto" latinLnBrk="0" hangingPunct="1">
              <a:lnSpc>
                <a:spcPct val="100000"/>
              </a:lnSpc>
              <a:spcBef>
                <a:spcPts val="0"/>
              </a:spcBef>
              <a:spcAft>
                <a:spcPts val="60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4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Respondents consistently emphasized keywords such as AI, fraud, automation, and agentic capabilities – signaling the areas expected to define the retail fraud landscape over the next 2-3 years.</a:t>
            </a:r>
          </a:p>
        </p:txBody>
      </p:sp>
      <p:sp>
        <p:nvSpPr>
          <p:cNvPr id="2" name="Rectangle 1">
            <a:extLst>
              <a:ext uri="{FF2B5EF4-FFF2-40B4-BE49-F238E27FC236}">
                <a16:creationId xmlns:a16="http://schemas.microsoft.com/office/drawing/2014/main" id="{B11817D8-90F9-0182-ACC2-F6C7B159C60C}"/>
              </a:ext>
            </a:extLst>
          </p:cNvPr>
          <p:cNvSpPr/>
          <p:nvPr/>
        </p:nvSpPr>
        <p:spPr>
          <a:xfrm>
            <a:off x="12421" y="4684225"/>
            <a:ext cx="12178675" cy="17765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74320" tIns="182880" rIns="0" rtlCol="0" anchor="t" anchorCtr="0"/>
          <a:lstStyle/>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4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sym typeface="Arial"/>
              </a:rPr>
              <a:t>The top emerging themes included:</a:t>
            </a:r>
          </a:p>
        </p:txBody>
      </p:sp>
      <p:sp>
        <p:nvSpPr>
          <p:cNvPr id="4" name="Rectangle 3">
            <a:extLst>
              <a:ext uri="{FF2B5EF4-FFF2-40B4-BE49-F238E27FC236}">
                <a16:creationId xmlns:a16="http://schemas.microsoft.com/office/drawing/2014/main" id="{B021A3B8-F604-50CB-DC47-E31235472F74}"/>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RESULTS OF 2025 DELOITTE SURVEY ON AI-ENABLED FRAUD IN RETAIL (CONT’D.) </a:t>
            </a:r>
          </a:p>
        </p:txBody>
      </p:sp>
      <p:pic>
        <p:nvPicPr>
          <p:cNvPr id="1026" name="Picture 2">
            <a:extLst>
              <a:ext uri="{FF2B5EF4-FFF2-40B4-BE49-F238E27FC236}">
                <a16:creationId xmlns:a16="http://schemas.microsoft.com/office/drawing/2014/main" id="{0E12C5AB-3C33-1227-2FEB-5B6387F3E7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29" t="-2371" r="-1714" b="-2653"/>
          <a:stretch>
            <a:fillRect/>
          </a:stretch>
        </p:blipFill>
        <p:spPr bwMode="auto">
          <a:xfrm>
            <a:off x="3844802" y="368722"/>
            <a:ext cx="8336440" cy="4472217"/>
          </a:xfrm>
          <a:prstGeom prst="rect">
            <a:avLst/>
          </a:prstGeom>
          <a:solidFill>
            <a:schemeClr val="bg1"/>
          </a:solidFill>
          <a:ln w="88900" cap="sq">
            <a:noFill/>
            <a:miter lim="800000"/>
          </a:ln>
          <a:effectLst/>
          <a:scene3d>
            <a:camera prst="orthographicFront"/>
            <a:lightRig rig="twoPt" dir="t">
              <a:rot lat="0" lon="0" rev="7200000"/>
            </a:lightRig>
          </a:scene3d>
          <a:sp3d>
            <a:contourClr>
              <a:srgbClr val="FFFFFF"/>
            </a:contourClr>
          </a:sp3d>
        </p:spPr>
      </p:pic>
      <p:sp>
        <p:nvSpPr>
          <p:cNvPr id="17" name="Freeform: Shape 16">
            <a:extLst>
              <a:ext uri="{FF2B5EF4-FFF2-40B4-BE49-F238E27FC236}">
                <a16:creationId xmlns:a16="http://schemas.microsoft.com/office/drawing/2014/main" id="{E06B6220-1F31-C66A-0D7B-E2AE4AE32704}"/>
              </a:ext>
            </a:extLst>
          </p:cNvPr>
          <p:cNvSpPr/>
          <p:nvPr/>
        </p:nvSpPr>
        <p:spPr>
          <a:xfrm>
            <a:off x="8914685" y="5176836"/>
            <a:ext cx="3038307" cy="1322277"/>
          </a:xfrm>
          <a:custGeom>
            <a:avLst/>
            <a:gdLst>
              <a:gd name="connsiteX0" fmla="*/ 163633 w 3383280"/>
              <a:gd name="connsiteY0" fmla="*/ 0 h 1309934"/>
              <a:gd name="connsiteX1" fmla="*/ 3219647 w 3383280"/>
              <a:gd name="connsiteY1" fmla="*/ 0 h 1309934"/>
              <a:gd name="connsiteX2" fmla="*/ 3383280 w 3383280"/>
              <a:gd name="connsiteY2" fmla="*/ 163633 h 1309934"/>
              <a:gd name="connsiteX3" fmla="*/ 3383280 w 3383280"/>
              <a:gd name="connsiteY3" fmla="*/ 818144 h 1309934"/>
              <a:gd name="connsiteX4" fmla="*/ 3219647 w 3383280"/>
              <a:gd name="connsiteY4" fmla="*/ 981777 h 1309934"/>
              <a:gd name="connsiteX5" fmla="*/ 1661900 w 3383280"/>
              <a:gd name="connsiteY5" fmla="*/ 981777 h 1309934"/>
              <a:gd name="connsiteX6" fmla="*/ 1359900 w 3383280"/>
              <a:gd name="connsiteY6" fmla="*/ 1309934 h 1309934"/>
              <a:gd name="connsiteX7" fmla="*/ 1447941 w 3383280"/>
              <a:gd name="connsiteY7" fmla="*/ 981777 h 1309934"/>
              <a:gd name="connsiteX8" fmla="*/ 163633 w 3383280"/>
              <a:gd name="connsiteY8" fmla="*/ 981777 h 1309934"/>
              <a:gd name="connsiteX9" fmla="*/ 0 w 3383280"/>
              <a:gd name="connsiteY9" fmla="*/ 818144 h 1309934"/>
              <a:gd name="connsiteX10" fmla="*/ 0 w 3383280"/>
              <a:gd name="connsiteY10" fmla="*/ 163633 h 1309934"/>
              <a:gd name="connsiteX11" fmla="*/ 163633 w 3383280"/>
              <a:gd name="connsiteY11" fmla="*/ 0 h 130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83280" h="1309934">
                <a:moveTo>
                  <a:pt x="163633" y="0"/>
                </a:moveTo>
                <a:lnTo>
                  <a:pt x="3219647" y="0"/>
                </a:lnTo>
                <a:cubicBezTo>
                  <a:pt x="3310019" y="0"/>
                  <a:pt x="3383280" y="73261"/>
                  <a:pt x="3383280" y="163633"/>
                </a:cubicBezTo>
                <a:lnTo>
                  <a:pt x="3383280" y="818144"/>
                </a:lnTo>
                <a:cubicBezTo>
                  <a:pt x="3383280" y="908516"/>
                  <a:pt x="3310019" y="981777"/>
                  <a:pt x="3219647" y="981777"/>
                </a:cubicBezTo>
                <a:lnTo>
                  <a:pt x="1661900" y="981777"/>
                </a:lnTo>
                <a:lnTo>
                  <a:pt x="1359900" y="1309934"/>
                </a:lnTo>
                <a:lnTo>
                  <a:pt x="1447941" y="981777"/>
                </a:lnTo>
                <a:lnTo>
                  <a:pt x="163633" y="981777"/>
                </a:lnTo>
                <a:cubicBezTo>
                  <a:pt x="73261" y="981777"/>
                  <a:pt x="0" y="908516"/>
                  <a:pt x="0" y="818144"/>
                </a:cubicBezTo>
                <a:lnTo>
                  <a:pt x="0" y="163633"/>
                </a:lnTo>
                <a:cubicBezTo>
                  <a:pt x="0" y="73261"/>
                  <a:pt x="73261" y="0"/>
                  <a:pt x="163633" y="0"/>
                </a:cubicBezTo>
                <a:close/>
              </a:path>
            </a:pathLst>
          </a:custGeom>
          <a:solidFill>
            <a:srgbClr val="43B02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2880" tIns="274320" rIns="182880" rtlCol="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1"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“Rapid evolution of fraud tactics through agentic AI and automation”</a:t>
            </a:r>
          </a:p>
        </p:txBody>
      </p:sp>
      <p:sp>
        <p:nvSpPr>
          <p:cNvPr id="27" name="Freeform: Shape 26">
            <a:extLst>
              <a:ext uri="{FF2B5EF4-FFF2-40B4-BE49-F238E27FC236}">
                <a16:creationId xmlns:a16="http://schemas.microsoft.com/office/drawing/2014/main" id="{FBAB86B4-E6F7-7E6A-7EB3-1A3001727B22}"/>
              </a:ext>
            </a:extLst>
          </p:cNvPr>
          <p:cNvSpPr/>
          <p:nvPr/>
        </p:nvSpPr>
        <p:spPr>
          <a:xfrm>
            <a:off x="239008" y="5176836"/>
            <a:ext cx="3009017" cy="1327940"/>
          </a:xfrm>
          <a:custGeom>
            <a:avLst/>
            <a:gdLst>
              <a:gd name="connsiteX0" fmla="*/ 161999 w 3460281"/>
              <a:gd name="connsiteY0" fmla="*/ 0 h 1315544"/>
              <a:gd name="connsiteX1" fmla="*/ 3298282 w 3460281"/>
              <a:gd name="connsiteY1" fmla="*/ 0 h 1315544"/>
              <a:gd name="connsiteX2" fmla="*/ 3460281 w 3460281"/>
              <a:gd name="connsiteY2" fmla="*/ 161999 h 1315544"/>
              <a:gd name="connsiteX3" fmla="*/ 3460281 w 3460281"/>
              <a:gd name="connsiteY3" fmla="*/ 809975 h 1315544"/>
              <a:gd name="connsiteX4" fmla="*/ 3298282 w 3460281"/>
              <a:gd name="connsiteY4" fmla="*/ 971974 h 1315544"/>
              <a:gd name="connsiteX5" fmla="*/ 2677284 w 3460281"/>
              <a:gd name="connsiteY5" fmla="*/ 971974 h 1315544"/>
              <a:gd name="connsiteX6" fmla="*/ 2829352 w 3460281"/>
              <a:gd name="connsiteY6" fmla="*/ 1315544 h 1315544"/>
              <a:gd name="connsiteX7" fmla="*/ 2492990 w 3460281"/>
              <a:gd name="connsiteY7" fmla="*/ 971974 h 1315544"/>
              <a:gd name="connsiteX8" fmla="*/ 161999 w 3460281"/>
              <a:gd name="connsiteY8" fmla="*/ 971974 h 1315544"/>
              <a:gd name="connsiteX9" fmla="*/ 0 w 3460281"/>
              <a:gd name="connsiteY9" fmla="*/ 809975 h 1315544"/>
              <a:gd name="connsiteX10" fmla="*/ 0 w 3460281"/>
              <a:gd name="connsiteY10" fmla="*/ 161999 h 1315544"/>
              <a:gd name="connsiteX11" fmla="*/ 161999 w 3460281"/>
              <a:gd name="connsiteY11" fmla="*/ 0 h 1315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60281" h="1315544">
                <a:moveTo>
                  <a:pt x="161999" y="0"/>
                </a:moveTo>
                <a:lnTo>
                  <a:pt x="3298282" y="0"/>
                </a:lnTo>
                <a:cubicBezTo>
                  <a:pt x="3387752" y="0"/>
                  <a:pt x="3460281" y="72529"/>
                  <a:pt x="3460281" y="161999"/>
                </a:cubicBezTo>
                <a:lnTo>
                  <a:pt x="3460281" y="809975"/>
                </a:lnTo>
                <a:cubicBezTo>
                  <a:pt x="3460281" y="899445"/>
                  <a:pt x="3387752" y="971974"/>
                  <a:pt x="3298282" y="971974"/>
                </a:cubicBezTo>
                <a:lnTo>
                  <a:pt x="2677284" y="971974"/>
                </a:lnTo>
                <a:lnTo>
                  <a:pt x="2829352" y="1315544"/>
                </a:lnTo>
                <a:lnTo>
                  <a:pt x="2492990" y="971974"/>
                </a:lnTo>
                <a:lnTo>
                  <a:pt x="161999" y="971974"/>
                </a:lnTo>
                <a:cubicBezTo>
                  <a:pt x="72529" y="971974"/>
                  <a:pt x="0" y="899445"/>
                  <a:pt x="0" y="809975"/>
                </a:cubicBezTo>
                <a:lnTo>
                  <a:pt x="0" y="161999"/>
                </a:lnTo>
                <a:cubicBezTo>
                  <a:pt x="0" y="72529"/>
                  <a:pt x="72529" y="0"/>
                  <a:pt x="161999" y="0"/>
                </a:cubicBezTo>
                <a:close/>
              </a:path>
            </a:pathLst>
          </a:custGeom>
          <a:solidFill>
            <a:srgbClr val="43B02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2880" tIns="274320" rIns="182880" rtlCol="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1"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“Greater difficulty distinguishing fraud from legitimate retail activity”</a:t>
            </a:r>
          </a:p>
        </p:txBody>
      </p:sp>
      <p:sp>
        <p:nvSpPr>
          <p:cNvPr id="28" name="Freeform: Shape 27">
            <a:extLst>
              <a:ext uri="{FF2B5EF4-FFF2-40B4-BE49-F238E27FC236}">
                <a16:creationId xmlns:a16="http://schemas.microsoft.com/office/drawing/2014/main" id="{D4B71FD6-AA04-F104-5CFD-95F1FB987C97}"/>
              </a:ext>
            </a:extLst>
          </p:cNvPr>
          <p:cNvSpPr/>
          <p:nvPr/>
        </p:nvSpPr>
        <p:spPr>
          <a:xfrm>
            <a:off x="3370826" y="5176836"/>
            <a:ext cx="2651189" cy="1414725"/>
          </a:xfrm>
          <a:custGeom>
            <a:avLst/>
            <a:gdLst>
              <a:gd name="connsiteX0" fmla="*/ 161999 w 3460281"/>
              <a:gd name="connsiteY0" fmla="*/ 0 h 1401519"/>
              <a:gd name="connsiteX1" fmla="*/ 3298282 w 3460281"/>
              <a:gd name="connsiteY1" fmla="*/ 0 h 1401519"/>
              <a:gd name="connsiteX2" fmla="*/ 3460281 w 3460281"/>
              <a:gd name="connsiteY2" fmla="*/ 161999 h 1401519"/>
              <a:gd name="connsiteX3" fmla="*/ 3460281 w 3460281"/>
              <a:gd name="connsiteY3" fmla="*/ 809975 h 1401519"/>
              <a:gd name="connsiteX4" fmla="*/ 3298282 w 3460281"/>
              <a:gd name="connsiteY4" fmla="*/ 971974 h 1401519"/>
              <a:gd name="connsiteX5" fmla="*/ 1218479 w 3460281"/>
              <a:gd name="connsiteY5" fmla="*/ 971974 h 1401519"/>
              <a:gd name="connsiteX6" fmla="*/ 942058 w 3460281"/>
              <a:gd name="connsiteY6" fmla="*/ 1401519 h 1401519"/>
              <a:gd name="connsiteX7" fmla="*/ 1035275 w 3460281"/>
              <a:gd name="connsiteY7" fmla="*/ 971974 h 1401519"/>
              <a:gd name="connsiteX8" fmla="*/ 161999 w 3460281"/>
              <a:gd name="connsiteY8" fmla="*/ 971974 h 1401519"/>
              <a:gd name="connsiteX9" fmla="*/ 0 w 3460281"/>
              <a:gd name="connsiteY9" fmla="*/ 809975 h 1401519"/>
              <a:gd name="connsiteX10" fmla="*/ 0 w 3460281"/>
              <a:gd name="connsiteY10" fmla="*/ 161999 h 1401519"/>
              <a:gd name="connsiteX11" fmla="*/ 161999 w 3460281"/>
              <a:gd name="connsiteY11" fmla="*/ 0 h 140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60281" h="1401519">
                <a:moveTo>
                  <a:pt x="161999" y="0"/>
                </a:moveTo>
                <a:lnTo>
                  <a:pt x="3298282" y="0"/>
                </a:lnTo>
                <a:cubicBezTo>
                  <a:pt x="3387752" y="0"/>
                  <a:pt x="3460281" y="72529"/>
                  <a:pt x="3460281" y="161999"/>
                </a:cubicBezTo>
                <a:lnTo>
                  <a:pt x="3460281" y="809975"/>
                </a:lnTo>
                <a:cubicBezTo>
                  <a:pt x="3460281" y="899445"/>
                  <a:pt x="3387752" y="971974"/>
                  <a:pt x="3298282" y="971974"/>
                </a:cubicBezTo>
                <a:lnTo>
                  <a:pt x="1218479" y="971974"/>
                </a:lnTo>
                <a:lnTo>
                  <a:pt x="942058" y="1401519"/>
                </a:lnTo>
                <a:lnTo>
                  <a:pt x="1035275" y="971974"/>
                </a:lnTo>
                <a:lnTo>
                  <a:pt x="161999" y="971974"/>
                </a:lnTo>
                <a:cubicBezTo>
                  <a:pt x="72529" y="971974"/>
                  <a:pt x="0" y="899445"/>
                  <a:pt x="0" y="809975"/>
                </a:cubicBezTo>
                <a:lnTo>
                  <a:pt x="0" y="161999"/>
                </a:lnTo>
                <a:cubicBezTo>
                  <a:pt x="0" y="72529"/>
                  <a:pt x="72529" y="0"/>
                  <a:pt x="161999" y="0"/>
                </a:cubicBezTo>
                <a:close/>
              </a:path>
            </a:pathLst>
          </a:custGeom>
          <a:solidFill>
            <a:srgbClr val="92D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lIns="182880" tIns="274320" rIns="182880" rtlCol="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1"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“Escalating sophistication and volume of retail fraud attacks”</a:t>
            </a:r>
          </a:p>
        </p:txBody>
      </p:sp>
      <p:sp>
        <p:nvSpPr>
          <p:cNvPr id="29" name="Freeform: Shape 28">
            <a:extLst>
              <a:ext uri="{FF2B5EF4-FFF2-40B4-BE49-F238E27FC236}">
                <a16:creationId xmlns:a16="http://schemas.microsoft.com/office/drawing/2014/main" id="{1311A458-90F4-09E9-50ED-67175F2A676A}"/>
              </a:ext>
            </a:extLst>
          </p:cNvPr>
          <p:cNvSpPr/>
          <p:nvPr/>
        </p:nvSpPr>
        <p:spPr>
          <a:xfrm>
            <a:off x="6140695" y="5176836"/>
            <a:ext cx="2647067" cy="1221854"/>
          </a:xfrm>
          <a:custGeom>
            <a:avLst/>
            <a:gdLst>
              <a:gd name="connsiteX0" fmla="*/ 161999 w 3460281"/>
              <a:gd name="connsiteY0" fmla="*/ 0 h 1210448"/>
              <a:gd name="connsiteX1" fmla="*/ 3298282 w 3460281"/>
              <a:gd name="connsiteY1" fmla="*/ 0 h 1210448"/>
              <a:gd name="connsiteX2" fmla="*/ 3460281 w 3460281"/>
              <a:gd name="connsiteY2" fmla="*/ 161999 h 1210448"/>
              <a:gd name="connsiteX3" fmla="*/ 3460281 w 3460281"/>
              <a:gd name="connsiteY3" fmla="*/ 809975 h 1210448"/>
              <a:gd name="connsiteX4" fmla="*/ 3298282 w 3460281"/>
              <a:gd name="connsiteY4" fmla="*/ 971974 h 1210448"/>
              <a:gd name="connsiteX5" fmla="*/ 2596277 w 3460281"/>
              <a:gd name="connsiteY5" fmla="*/ 971974 h 1210448"/>
              <a:gd name="connsiteX6" fmla="*/ 2761088 w 3460281"/>
              <a:gd name="connsiteY6" fmla="*/ 1210448 h 1210448"/>
              <a:gd name="connsiteX7" fmla="*/ 2418396 w 3460281"/>
              <a:gd name="connsiteY7" fmla="*/ 971974 h 1210448"/>
              <a:gd name="connsiteX8" fmla="*/ 161999 w 3460281"/>
              <a:gd name="connsiteY8" fmla="*/ 971974 h 1210448"/>
              <a:gd name="connsiteX9" fmla="*/ 0 w 3460281"/>
              <a:gd name="connsiteY9" fmla="*/ 809975 h 1210448"/>
              <a:gd name="connsiteX10" fmla="*/ 0 w 3460281"/>
              <a:gd name="connsiteY10" fmla="*/ 161999 h 1210448"/>
              <a:gd name="connsiteX11" fmla="*/ 161999 w 3460281"/>
              <a:gd name="connsiteY11" fmla="*/ 0 h 1210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60281" h="1210448">
                <a:moveTo>
                  <a:pt x="161999" y="0"/>
                </a:moveTo>
                <a:lnTo>
                  <a:pt x="3298282" y="0"/>
                </a:lnTo>
                <a:cubicBezTo>
                  <a:pt x="3387752" y="0"/>
                  <a:pt x="3460281" y="72529"/>
                  <a:pt x="3460281" y="161999"/>
                </a:cubicBezTo>
                <a:lnTo>
                  <a:pt x="3460281" y="809975"/>
                </a:lnTo>
                <a:cubicBezTo>
                  <a:pt x="3460281" y="899445"/>
                  <a:pt x="3387752" y="971974"/>
                  <a:pt x="3298282" y="971974"/>
                </a:cubicBezTo>
                <a:lnTo>
                  <a:pt x="2596277" y="971974"/>
                </a:lnTo>
                <a:lnTo>
                  <a:pt x="2761088" y="1210448"/>
                </a:lnTo>
                <a:lnTo>
                  <a:pt x="2418396" y="971974"/>
                </a:lnTo>
                <a:lnTo>
                  <a:pt x="161999" y="971974"/>
                </a:lnTo>
                <a:cubicBezTo>
                  <a:pt x="72529" y="971974"/>
                  <a:pt x="0" y="899445"/>
                  <a:pt x="0" y="809975"/>
                </a:cubicBezTo>
                <a:lnTo>
                  <a:pt x="0" y="161999"/>
                </a:lnTo>
                <a:cubicBezTo>
                  <a:pt x="0" y="72529"/>
                  <a:pt x="72529" y="0"/>
                  <a:pt x="161999" y="0"/>
                </a:cubicBezTo>
                <a:close/>
              </a:path>
            </a:pathLst>
          </a:custGeom>
          <a:solidFill>
            <a:schemeClr val="accent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lIns="182880" tIns="274320" rIns="182880" rtlCol="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1"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sym typeface="Arial"/>
              </a:rPr>
              <a:t>“Expansion of scalable, low-cost AI-enabled fraud schemes”</a:t>
            </a:r>
          </a:p>
        </p:txBody>
      </p:sp>
    </p:spTree>
    <p:extLst>
      <p:ext uri="{BB962C8B-B14F-4D97-AF65-F5344CB8AC3E}">
        <p14:creationId xmlns:p14="http://schemas.microsoft.com/office/powerpoint/2010/main" val="3494942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5D5917-CDDD-4692-220A-B9009D7E54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37E83F-435A-8033-94B9-C894A8439EE7}"/>
              </a:ext>
            </a:extLst>
          </p:cNvPr>
          <p:cNvSpPr/>
          <p:nvPr/>
        </p:nvSpPr>
        <p:spPr bwMode="gray">
          <a:xfrm>
            <a:off x="0" y="3289210"/>
            <a:ext cx="12192000" cy="3217469"/>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
                <a:srgbClr val="000000"/>
              </a:buClr>
              <a:buSzTx/>
              <a:buFont typeface="Wingdings 2" pitchFamily="18" charset="2"/>
              <a:buNone/>
              <a:tabLst/>
              <a:defRPr/>
            </a:pPr>
            <a:endParaRPr kumimoji="0" lang="en-US" sz="1600" b="1" i="0" u="none" strike="noStrike" kern="0" cap="none" spc="0" normalizeH="0" baseline="0" noProof="0">
              <a:ln>
                <a:noFill/>
              </a:ln>
              <a:solidFill>
                <a:srgbClr val="FFFFFF"/>
              </a:solidFill>
              <a:effectLst/>
              <a:uLnTx/>
              <a:uFillTx/>
              <a:latin typeface="Arial"/>
              <a:cs typeface="Arial"/>
              <a:sym typeface="Arial"/>
            </a:endParaRPr>
          </a:p>
        </p:txBody>
      </p:sp>
      <p:sp>
        <p:nvSpPr>
          <p:cNvPr id="3" name="Rectangle 2">
            <a:extLst>
              <a:ext uri="{FF2B5EF4-FFF2-40B4-BE49-F238E27FC236}">
                <a16:creationId xmlns:a16="http://schemas.microsoft.com/office/drawing/2014/main" id="{077F86EC-4F9B-3775-5A02-E05E82130147}"/>
              </a:ext>
            </a:extLst>
          </p:cNvPr>
          <p:cNvSpPr/>
          <p:nvPr/>
        </p:nvSpPr>
        <p:spPr bwMode="gray">
          <a:xfrm>
            <a:off x="412954" y="3391723"/>
            <a:ext cx="3655960" cy="603272"/>
          </a:xfrm>
          <a:prstGeom prst="rect">
            <a:avLst/>
          </a:prstGeom>
          <a:noFill/>
          <a:ln w="19050" algn="ctr">
            <a:noFill/>
            <a:miter lim="800000"/>
            <a:headEnd/>
            <a:tailEnd/>
          </a:ln>
        </p:spPr>
        <p:txBody>
          <a:bodyPr wrap="square" lIns="182880" tIns="0" rIns="182880" bIns="889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Mitigation strategies expected to be most effective against AI-enabled fraud</a:t>
            </a:r>
          </a:p>
        </p:txBody>
      </p:sp>
      <p:sp>
        <p:nvSpPr>
          <p:cNvPr id="4" name="Rectangle 3">
            <a:extLst>
              <a:ext uri="{FF2B5EF4-FFF2-40B4-BE49-F238E27FC236}">
                <a16:creationId xmlns:a16="http://schemas.microsoft.com/office/drawing/2014/main" id="{1E3FDDB8-1D96-99F0-8204-B264CEA077E3}"/>
              </a:ext>
            </a:extLst>
          </p:cNvPr>
          <p:cNvSpPr/>
          <p:nvPr/>
        </p:nvSpPr>
        <p:spPr bwMode="gray">
          <a:xfrm>
            <a:off x="4312229" y="3391723"/>
            <a:ext cx="3747731" cy="603272"/>
          </a:xfrm>
          <a:prstGeom prst="rect">
            <a:avLst/>
          </a:prstGeom>
          <a:noFill/>
          <a:ln w="19050" algn="ctr">
            <a:noFill/>
            <a:miter lim="800000"/>
            <a:headEnd/>
            <a:tailEnd/>
          </a:ln>
        </p:spPr>
        <p:txBody>
          <a:bodyPr wrap="square" lIns="182880" tIns="0" rIns="182880" bIns="889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Industry-wide measures seen as most-needed to address AI-enabled fraud</a:t>
            </a:r>
          </a:p>
        </p:txBody>
      </p:sp>
      <p:sp>
        <p:nvSpPr>
          <p:cNvPr id="5" name="Rectangle 4">
            <a:extLst>
              <a:ext uri="{FF2B5EF4-FFF2-40B4-BE49-F238E27FC236}">
                <a16:creationId xmlns:a16="http://schemas.microsoft.com/office/drawing/2014/main" id="{F8A789C6-C032-29D1-E292-007CAE31444E}"/>
              </a:ext>
            </a:extLst>
          </p:cNvPr>
          <p:cNvSpPr/>
          <p:nvPr/>
        </p:nvSpPr>
        <p:spPr bwMode="gray">
          <a:xfrm>
            <a:off x="1" y="725438"/>
            <a:ext cx="2585883" cy="2347374"/>
          </a:xfrm>
          <a:prstGeom prst="rect">
            <a:avLst/>
          </a:prstGeom>
          <a:noFill/>
          <a:ln w="19050" algn="ctr">
            <a:noFill/>
            <a:miter lim="800000"/>
            <a:headEnd/>
            <a:tailEnd/>
          </a:ln>
        </p:spPr>
        <p:txBody>
          <a:bodyPr wrap="square" lIns="365760" tIns="0" rIns="182880" bIns="889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Organizations that have updated their fraud strategy or implemented new controls to manage fraud enabled by AI</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endParaRPr kumimoji="0" lang="en-US" sz="1200" b="1"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3200" b="1" i="0" u="none" strike="noStrike" kern="1200" cap="none" spc="0" normalizeH="0" baseline="0" noProof="0">
                <a:ln>
                  <a:noFill/>
                </a:ln>
                <a:solidFill>
                  <a:srgbClr val="4EA72E"/>
                </a:solidFill>
                <a:effectLst/>
                <a:uLnTx/>
                <a:uFillTx/>
                <a:latin typeface="Segoe UI" panose="020B0502040204020203" pitchFamily="34" charset="0"/>
                <a:cs typeface="Segoe UI" panose="020B0502040204020203" pitchFamily="34" charset="0"/>
                <a:sym typeface="Arial"/>
              </a:rPr>
              <a:t>67% Yes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3200" b="1"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33% No</a:t>
            </a:r>
          </a:p>
        </p:txBody>
      </p:sp>
      <p:graphicFrame>
        <p:nvGraphicFramePr>
          <p:cNvPr id="6" name="Chart 5">
            <a:extLst>
              <a:ext uri="{FF2B5EF4-FFF2-40B4-BE49-F238E27FC236}">
                <a16:creationId xmlns:a16="http://schemas.microsoft.com/office/drawing/2014/main" id="{01AD10CE-A3A9-7B46-728B-A9A14FCE478D}"/>
              </a:ext>
            </a:extLst>
          </p:cNvPr>
          <p:cNvGraphicFramePr>
            <a:graphicFrameLocks/>
          </p:cNvGraphicFramePr>
          <p:nvPr/>
        </p:nvGraphicFramePr>
        <p:xfrm>
          <a:off x="8121445" y="351322"/>
          <a:ext cx="4070553" cy="293789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5D1299AC-EFDD-EBE7-463B-343C5838C583}"/>
              </a:ext>
            </a:extLst>
          </p:cNvPr>
          <p:cNvSpPr/>
          <p:nvPr/>
        </p:nvSpPr>
        <p:spPr bwMode="gray">
          <a:xfrm>
            <a:off x="8121443" y="576580"/>
            <a:ext cx="3824751" cy="603272"/>
          </a:xfrm>
          <a:prstGeom prst="rect">
            <a:avLst/>
          </a:prstGeom>
          <a:noFill/>
          <a:ln w="19050" algn="ctr">
            <a:noFill/>
            <a:miter lim="800000"/>
            <a:headEnd/>
            <a:tailEnd/>
          </a:ln>
        </p:spPr>
        <p:txBody>
          <a:bodyPr wrap="square" lIns="182880" tIns="0" rIns="182880" bIns="889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Merchant preparedness to handle AI-enabled fraud for the future</a:t>
            </a:r>
          </a:p>
        </p:txBody>
      </p:sp>
      <p:graphicFrame>
        <p:nvGraphicFramePr>
          <p:cNvPr id="8" name="Chart 7">
            <a:extLst>
              <a:ext uri="{FF2B5EF4-FFF2-40B4-BE49-F238E27FC236}">
                <a16:creationId xmlns:a16="http://schemas.microsoft.com/office/drawing/2014/main" id="{89306EFC-34BC-59AA-A843-E360C1D4C215}"/>
              </a:ext>
            </a:extLst>
          </p:cNvPr>
          <p:cNvGraphicFramePr>
            <a:graphicFrameLocks/>
          </p:cNvGraphicFramePr>
          <p:nvPr>
            <p:custDataLst>
              <p:tags r:id="rId1"/>
            </p:custDataLst>
          </p:nvPr>
        </p:nvGraphicFramePr>
        <p:xfrm>
          <a:off x="235972" y="3995005"/>
          <a:ext cx="3832939" cy="2560839"/>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cx1="http://schemas.microsoft.com/office/drawing/2015/9/8/chartex">
        <mc:Choice Requires="cx1">
          <p:graphicFrame>
            <p:nvGraphicFramePr>
              <p:cNvPr id="9" name="Chart 8">
                <a:extLst>
                  <a:ext uri="{FF2B5EF4-FFF2-40B4-BE49-F238E27FC236}">
                    <a16:creationId xmlns:a16="http://schemas.microsoft.com/office/drawing/2014/main" id="{FB46DB7F-3465-88DE-D479-9244B5ADB40C}"/>
                  </a:ext>
                </a:extLst>
              </p:cNvPr>
              <p:cNvGraphicFramePr/>
              <p:nvPr/>
            </p:nvGraphicFramePr>
            <p:xfrm>
              <a:off x="4312227" y="3805498"/>
              <a:ext cx="3747734" cy="2731091"/>
            </p:xfrm>
            <a:graphic>
              <a:graphicData uri="http://schemas.microsoft.com/office/drawing/2014/chartex">
                <cx:chart xmlns:cx="http://schemas.microsoft.com/office/drawing/2014/chartex" xmlns:r="http://schemas.openxmlformats.org/officeDocument/2006/relationships" r:id="rId6"/>
              </a:graphicData>
            </a:graphic>
          </p:graphicFrame>
        </mc:Choice>
        <mc:Fallback xmlns="">
          <p:pic>
            <p:nvPicPr>
              <p:cNvPr id="9" name="Chart 8">
                <a:extLst>
                  <a:ext uri="{FF2B5EF4-FFF2-40B4-BE49-F238E27FC236}">
                    <a16:creationId xmlns:a16="http://schemas.microsoft.com/office/drawing/2014/main" id="{FB46DB7F-3465-88DE-D479-9244B5ADB40C}"/>
                  </a:ext>
                </a:extLst>
              </p:cNvPr>
              <p:cNvPicPr>
                <a:picLocks noGrp="1" noRot="1" noChangeAspect="1" noMove="1" noResize="1" noEditPoints="1" noAdjustHandles="1" noChangeArrowheads="1" noChangeShapeType="1"/>
              </p:cNvPicPr>
              <p:nvPr/>
            </p:nvPicPr>
            <p:blipFill>
              <a:blip r:embed="rId7"/>
              <a:stretch>
                <a:fillRect/>
              </a:stretch>
            </p:blipFill>
            <p:spPr>
              <a:xfrm>
                <a:off x="4312227" y="3805498"/>
                <a:ext cx="3747734" cy="2731091"/>
              </a:xfrm>
              <a:prstGeom prst="rect">
                <a:avLst/>
              </a:prstGeom>
            </p:spPr>
          </p:pic>
        </mc:Fallback>
      </mc:AlternateContent>
      <p:sp>
        <p:nvSpPr>
          <p:cNvPr id="10" name="Rectangle 9">
            <a:extLst>
              <a:ext uri="{FF2B5EF4-FFF2-40B4-BE49-F238E27FC236}">
                <a16:creationId xmlns:a16="http://schemas.microsoft.com/office/drawing/2014/main" id="{FC2EA71A-A1D3-2100-8E2C-A2BDB851F748}"/>
              </a:ext>
            </a:extLst>
          </p:cNvPr>
          <p:cNvSpPr/>
          <p:nvPr/>
        </p:nvSpPr>
        <p:spPr bwMode="gray">
          <a:xfrm>
            <a:off x="2585884" y="436727"/>
            <a:ext cx="5447070" cy="2852473"/>
          </a:xfrm>
          <a:prstGeom prst="rect">
            <a:avLst/>
          </a:prstGeom>
          <a:solidFill>
            <a:schemeClr val="bg1"/>
          </a:solidFill>
          <a:ln w="19050" algn="ctr">
            <a:noFill/>
            <a:miter lim="800000"/>
            <a:headEnd/>
            <a:tailEnd/>
          </a:ln>
        </p:spPr>
        <p:txBody>
          <a:bodyPr wrap="square" lIns="0" tIns="0" rIns="0" bIns="88900" rtlCol="0" anchor="t" anchorCtr="0"/>
          <a:lstStyle/>
          <a:p>
            <a:pPr marL="0" marR="0" lvl="0" indent="0" algn="ctr" defTabSz="914400" rtl="0" eaLnBrk="1" fontAlgn="auto" latinLnBrk="0" hangingPunct="1">
              <a:lnSpc>
                <a:spcPct val="100000"/>
              </a:lnSpc>
              <a:spcBef>
                <a:spcPts val="0"/>
              </a:spcBef>
              <a:spcAft>
                <a:spcPts val="60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If replied ‘Yes’ to updating fraud strategy or implementing new controls, what have they worked on?</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Know Your Agent and risk models</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Penetration testing </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Multilevel authentication </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Adoption of industry best-practices</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Development of internal tool/procedures</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Controls focusing on AI for internal audit programs</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AI detection tools (e.g., adaptive AI, behavioral analytics, real-time threat orchestration)</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Inclusion of data use for AI in contracting language</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Reduction of human involvement for making fraud decisions</a:t>
            </a:r>
          </a:p>
          <a:p>
            <a:pPr marL="171450" marR="0" lvl="0" indent="-171450" algn="l" defTabSz="914400" rtl="0" eaLnBrk="1" fontAlgn="auto" latinLnBrk="0" hangingPunct="1">
              <a:lnSpc>
                <a:spcPct val="110000"/>
              </a:lnSpc>
              <a:spcBef>
                <a:spcPts val="0"/>
              </a:spcBef>
              <a:spcAft>
                <a:spcPts val="0"/>
              </a:spcAft>
              <a:buClr>
                <a:srgbClr val="000000">
                  <a:lumMod val="75000"/>
                  <a:lumOff val="25000"/>
                </a:srgbClr>
              </a:buClr>
              <a:buSzTx/>
              <a:buFont typeface="Wingdings" panose="05000000000000000000" pitchFamily="2" charset="2"/>
              <a:buChar char="Ø"/>
              <a:tabLst/>
              <a:defRPr sz="1400" b="0" i="0" u="none" strike="noStrike" kern="1200" spc="0" baseline="0">
                <a:solidFill>
                  <a:prstClr val="black">
                    <a:lumMod val="65000"/>
                    <a:lumOff val="35000"/>
                  </a:prstClr>
                </a:solidFill>
                <a:latin typeface="+mn-lt"/>
                <a:ea typeface="+mn-ea"/>
                <a:cs typeface="+mn-cs"/>
              </a:defRPr>
            </a:pPr>
            <a:r>
              <a:rPr kumimoji="0" lang="en-US" sz="1200" b="0" i="0" u="none" strike="noStrike" kern="1200" cap="none" spc="0" normalizeH="0" baseline="0" noProof="0">
                <a:ln>
                  <a:noFill/>
                </a:ln>
                <a:solidFill>
                  <a:prstClr val="black">
                    <a:lumMod val="65000"/>
                    <a:lumOff val="35000"/>
                  </a:prstClr>
                </a:solidFill>
                <a:effectLst/>
                <a:uLnTx/>
                <a:uFillTx/>
                <a:latin typeface="Segoe UI" panose="020B0502040204020203" pitchFamily="34" charset="0"/>
                <a:cs typeface="Segoe UI" panose="020B0502040204020203" pitchFamily="34" charset="0"/>
                <a:sym typeface="Arial"/>
              </a:rPr>
              <a:t>Fortification of email and mobile security</a:t>
            </a:r>
          </a:p>
        </p:txBody>
      </p:sp>
      <p:graphicFrame>
        <p:nvGraphicFramePr>
          <p:cNvPr id="11" name="Chart 10">
            <a:extLst>
              <a:ext uri="{FF2B5EF4-FFF2-40B4-BE49-F238E27FC236}">
                <a16:creationId xmlns:a16="http://schemas.microsoft.com/office/drawing/2014/main" id="{01651C14-C7D4-C0F8-7395-8AF2B1036A81}"/>
              </a:ext>
            </a:extLst>
          </p:cNvPr>
          <p:cNvGraphicFramePr>
            <a:graphicFrameLocks/>
          </p:cNvGraphicFramePr>
          <p:nvPr/>
        </p:nvGraphicFramePr>
        <p:xfrm>
          <a:off x="8236942" y="3744601"/>
          <a:ext cx="3655960" cy="2811238"/>
        </p:xfrm>
        <a:graphic>
          <a:graphicData uri="http://schemas.openxmlformats.org/drawingml/2006/chart">
            <c:chart xmlns:c="http://schemas.openxmlformats.org/drawingml/2006/chart" xmlns:r="http://schemas.openxmlformats.org/officeDocument/2006/relationships" r:id="rId8"/>
          </a:graphicData>
        </a:graphic>
      </p:graphicFrame>
      <p:sp>
        <p:nvSpPr>
          <p:cNvPr id="12" name="Rectangle 11">
            <a:extLst>
              <a:ext uri="{FF2B5EF4-FFF2-40B4-BE49-F238E27FC236}">
                <a16:creationId xmlns:a16="http://schemas.microsoft.com/office/drawing/2014/main" id="{0F0ECDC1-F770-6BD3-D79F-259DC4C05D33}"/>
              </a:ext>
            </a:extLst>
          </p:cNvPr>
          <p:cNvSpPr/>
          <p:nvPr/>
        </p:nvSpPr>
        <p:spPr bwMode="gray">
          <a:xfrm>
            <a:off x="8236942" y="3391723"/>
            <a:ext cx="3655959" cy="592837"/>
          </a:xfrm>
          <a:prstGeom prst="rect">
            <a:avLst/>
          </a:prstGeom>
          <a:noFill/>
          <a:ln w="19050" algn="ctr">
            <a:noFill/>
            <a:miter lim="800000"/>
            <a:headEnd/>
            <a:tailEnd/>
          </a:ln>
        </p:spPr>
        <p:txBody>
          <a:bodyPr wrap="square" lIns="182880" tIns="0" rIns="182880" bIns="88900" rtlCol="0" anchor="t"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sz="1400" b="0" i="0" u="none" strike="noStrike" kern="1200" spc="0" baseline="0">
                <a:solidFill>
                  <a:prstClr val="black">
                    <a:lumMod val="65000"/>
                    <a:lumOff val="35000"/>
                  </a:prstClr>
                </a:solidFill>
                <a:latin typeface="+mn-lt"/>
                <a:ea typeface="+mn-ea"/>
                <a:cs typeface="+mn-cs"/>
              </a:defRPr>
            </a:pPr>
            <a:r>
              <a:rPr kumimoji="0" lang="en-US" sz="1200" b="1" i="0" u="none" strike="noStrike" kern="1200" cap="none" spc="0" normalizeH="0" baseline="0" noProof="0">
                <a:ln>
                  <a:noFill/>
                </a:ln>
                <a:solidFill>
                  <a:srgbClr val="000000">
                    <a:lumMod val="75000"/>
                    <a:lumOff val="25000"/>
                  </a:srgbClr>
                </a:solidFill>
                <a:effectLst/>
                <a:uLnTx/>
                <a:uFillTx/>
                <a:latin typeface="Segoe UI" panose="020B0502040204020203" pitchFamily="34" charset="0"/>
                <a:cs typeface="Segoe UI" panose="020B0502040204020203" pitchFamily="34" charset="0"/>
                <a:sym typeface="Arial"/>
              </a:rPr>
              <a:t>Merchants currently using or considering using agentic AI in customer-facing channels</a:t>
            </a:r>
          </a:p>
        </p:txBody>
      </p:sp>
      <p:sp>
        <p:nvSpPr>
          <p:cNvPr id="13" name="Rectangle 12">
            <a:extLst>
              <a:ext uri="{FF2B5EF4-FFF2-40B4-BE49-F238E27FC236}">
                <a16:creationId xmlns:a16="http://schemas.microsoft.com/office/drawing/2014/main" id="{B45B810D-6719-1EC3-D5AC-74633D9D2F6C}"/>
              </a:ext>
            </a:extLst>
          </p:cNvPr>
          <p:cNvSpPr/>
          <p:nvPr/>
        </p:nvSpPr>
        <p:spPr>
          <a:xfrm>
            <a:off x="-904" y="2472"/>
            <a:ext cx="12192000" cy="35325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r>
              <a:rPr kumimoji="0" lang="en-US" sz="1200" b="1" i="0" u="none" strike="noStrike" kern="1200" cap="none" spc="0" normalizeH="0" baseline="0" noProof="0">
                <a:ln>
                  <a:noFill/>
                </a:ln>
                <a:solidFill>
                  <a:srgbClr val="FFFFFF"/>
                </a:solidFill>
                <a:effectLst/>
                <a:uLnTx/>
                <a:uFillTx/>
                <a:latin typeface="Segoe UI" panose="020B0502040204020203" pitchFamily="34" charset="0"/>
                <a:ea typeface="Open Sans" panose="020B0606030504020204" pitchFamily="34" charset="0"/>
                <a:cs typeface="Segoe UI" panose="020B0502040204020203" pitchFamily="34" charset="0"/>
                <a:sym typeface="Arial"/>
              </a:rPr>
              <a:t>RESULTS OF 2025 DELOITTE SURVEY ON AI-ENABLED FRAUD IN RETAIL (CONT’D.)</a:t>
            </a:r>
          </a:p>
        </p:txBody>
      </p:sp>
    </p:spTree>
    <p:extLst>
      <p:ext uri="{BB962C8B-B14F-4D97-AF65-F5344CB8AC3E}">
        <p14:creationId xmlns:p14="http://schemas.microsoft.com/office/powerpoint/2010/main" val="14054674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3"/>
</p:tagLst>
</file>

<file path=ppt/tags/tag2.xml><?xml version="1.0" encoding="utf-8"?>
<p:tagLst xmlns:a="http://schemas.openxmlformats.org/drawingml/2006/main" xmlns:r="http://schemas.openxmlformats.org/officeDocument/2006/relationships" xmlns:p="http://schemas.openxmlformats.org/presentationml/2006/main">
  <p:tag name="NUM" val="4"/>
</p:tagLst>
</file>

<file path=ppt/tags/tag3.xml><?xml version="1.0" encoding="utf-8"?>
<p:tagLst xmlns:a="http://schemas.openxmlformats.org/drawingml/2006/main" xmlns:r="http://schemas.openxmlformats.org/officeDocument/2006/relationships" xmlns:p="http://schemas.openxmlformats.org/presentationml/2006/main">
  <p:tag name="NUM" val="6"/>
</p:tagLst>
</file>

<file path=ppt/tags/tag4.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979C92F4_DF95_4635_82E3_79B000E44A6F&quot;,&quot;SourceFullName&quot;:&quot;https://candeloitte.sharepoint.com/sites/FraudPursuitsResearch/Shared Documents/General/Riskified x Deloitte Partnership/Deloitte x Riskified - Agentic AI POV/GLG Survey/Survey Raw Data _ Use for long form text answers.&quot;,&quot;LastUpdate&quot;:&quot;2025-11-26 4:56 PM&quot;,&quot;UpdatedBy&quot;:&quot;dpai&quot;,&quot;IsLinked&quot;:false,&quot;IsBrokenLink&quot;:false,&quot;Type&quot;:1,&quot;ShapeId&quot;:0,&quot;WorksheetName&quot;:null}"/>
</p:tagLst>
</file>

<file path=ppt/tags/tag5.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A5F465AE_20AC_4DCE_8A0B_C5675F6B4AC6&quot;,&quot;SourceFullName&quot;:&quot;https://candeloitte.sharepoint.com/sites/FraudPursuitsResearch/Shared Documents/General/Riskified x Deloitte Partnership/Deloitte x Riskified - Agentic AI POV/GLG Survey/Crosstab export.xlsx&quot;,&quot;LastUpdate&quot;:&quot;2025-11-26 12:32 PM&quot;,&quot;UpdatedBy&quot;:&quot;dpai&quot;,&quot;IsLinked&quot;:false,&quot;IsBrokenLink&quot;:false,&quot;Type&quot;:1,&quot;ShapeId&quot;:0,&quot;WorksheetName&quot;:null}"/>
</p:tagLst>
</file>

<file path=ppt/theme/theme1.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Custom 2">
      <a:dk1>
        <a:srgbClr val="000000"/>
      </a:dk1>
      <a:lt1>
        <a:srgbClr val="FFFFFF"/>
      </a:lt1>
      <a:dk2>
        <a:srgbClr val="000000"/>
      </a:dk2>
      <a:lt2>
        <a:srgbClr val="FFFFFF"/>
      </a:lt2>
      <a:accent1>
        <a:srgbClr val="86BC25"/>
      </a:accent1>
      <a:accent2>
        <a:srgbClr val="046A38"/>
      </a:accent2>
      <a:accent3>
        <a:srgbClr val="134406"/>
      </a:accent3>
      <a:accent4>
        <a:srgbClr val="43B02A"/>
      </a:accent4>
      <a:accent5>
        <a:srgbClr val="0D8390"/>
      </a:accent5>
      <a:accent6>
        <a:srgbClr val="007CB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otalTime>5429</TotalTime>
  <Words>3398</Words>
  <Application>Microsoft Office PowerPoint</Application>
  <PresentationFormat>Widescreen</PresentationFormat>
  <Paragraphs>464</Paragraphs>
  <Slides>18</Slides>
  <Notes>14</Notes>
  <HiddenSlides>5</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18</vt:i4>
      </vt:variant>
    </vt:vector>
  </HeadingPairs>
  <TitlesOfParts>
    <vt:vector size="28" baseType="lpstr">
      <vt:lpstr>Aptos</vt:lpstr>
      <vt:lpstr>Arial</vt:lpstr>
      <vt:lpstr>Calibri</vt:lpstr>
      <vt:lpstr>Open Sans</vt:lpstr>
      <vt:lpstr>Segoe UI</vt:lpstr>
      <vt:lpstr>Wingdings</vt:lpstr>
      <vt:lpstr>Wingdings 2</vt:lpstr>
      <vt:lpstr>3_Office Theme</vt:lpstr>
      <vt:lpstr>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 David</dc:creator>
  <cp:lastModifiedBy>Lin, David</cp:lastModifiedBy>
  <cp:revision>23</cp:revision>
  <dcterms:created xsi:type="dcterms:W3CDTF">2026-10-14T23:00:31Z</dcterms:created>
  <dcterms:modified xsi:type="dcterms:W3CDTF">2026-10-18T02:39:27Z</dcterms:modified>
</cp:coreProperties>
</file>