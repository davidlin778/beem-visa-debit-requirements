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4.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notesSlides/notesSlide1.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5.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notesSlides/notesSlide6.xml" ContentType="application/vnd.openxmlformats-officedocument.presentationml.notesSlide+xml"/>
  <Override PartName="/ppt/tags/tag22.xml" ContentType="application/vnd.openxmlformats-officedocument.presentationml.tags+xml"/>
  <Override PartName="/ppt/tags/tag23.xml" ContentType="application/vnd.openxmlformats-officedocument.presentationml.tags+xml"/>
  <Override PartName="/ppt/notesSlides/notesSlide7.xml" ContentType="application/vnd.openxmlformats-officedocument.presentationml.notesSlide+xml"/>
  <Override PartName="/ppt/tags/tag24.xml" ContentType="application/vnd.openxmlformats-officedocument.presentationml.tags+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6" r:id="rId2"/>
    <p:sldMasterId id="2147483673" r:id="rId3"/>
  </p:sldMasterIdLst>
  <p:notesMasterIdLst>
    <p:notesMasterId r:id="rId13"/>
  </p:notesMasterIdLst>
  <p:sldIdLst>
    <p:sldId id="2147483547" r:id="rId4"/>
    <p:sldId id="2147483613" r:id="rId5"/>
    <p:sldId id="2147483625" r:id="rId6"/>
    <p:sldId id="2147483639" r:id="rId7"/>
    <p:sldId id="2147483616" r:id="rId8"/>
    <p:sldId id="2147483568" r:id="rId9"/>
    <p:sldId id="2147483581" r:id="rId10"/>
    <p:sldId id="2147483566" r:id="rId11"/>
    <p:sldId id="214748358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239FBB-7C6A-8AFA-2D62-F020A8490F80}" name="Lin, David" initials="DL" userId="S::davlin@deloitte.ca::ce1f04b3-c96a-433f-995d-d2a58be28702" providerId="AD"/>
  <p188:author id="{FF62DCC5-3512-C4CA-E469-15311E6D8F24}" name="Danylenko, Victoria" initials="VD" userId="S::vdanylenko@deloitte.ca::a17cf9ef-a2dd-43d2-956f-4d9b3fc5720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B050"/>
    <a:srgbClr val="86BC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0" d="100"/>
          <a:sy n="90" d="100"/>
        </p:scale>
        <p:origin x="39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viewProps" Target="viewProp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B65E5E-6608-4F68-A5FB-71705892F393}" type="datetimeFigureOut">
              <a:rPr lang="en-CA" smtClean="0"/>
              <a:t>2026-10-13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3A4908-48FB-47C5-AF38-E720178138E3}" type="slidenum">
              <a:rPr lang="en-CA" smtClean="0"/>
              <a:t>‹#›</a:t>
            </a:fld>
            <a:endParaRPr lang="en-CA"/>
          </a:p>
        </p:txBody>
      </p:sp>
    </p:spTree>
    <p:extLst>
      <p:ext uri="{BB962C8B-B14F-4D97-AF65-F5344CB8AC3E}">
        <p14:creationId xmlns:p14="http://schemas.microsoft.com/office/powerpoint/2010/main" val="1901350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A268C-AB9B-20E3-1F2F-3C61E3408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52C149-2424-8FD6-0BF5-92A8E2C29A50}"/>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2179860-AC2D-0A02-5A42-B901C00C881F}"/>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39F57FD3-0F84-8C98-7F15-0CF00F662D24}"/>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95275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EF568-CBB2-4743-C4EF-8F9489716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DADFA7-61BC-76FE-E49B-2F5C0A08F463}"/>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BBBEB18-F9F7-C080-81E1-3C486AF28A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698349F-B82D-6A22-75B7-3F758EB93264}"/>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242984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E664C-8804-6A89-27BA-DD1264AFBB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458C5-025E-4555-C398-893B2752A0C9}"/>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6F8A4912-3FFB-100F-49C0-518FA391D96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0FA39F9-D60E-792A-E86D-6BF83327B6D7}"/>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42388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C1944-0BE6-225C-AB89-FA8C13139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E3096-63DD-36F9-632E-6663532B0EA9}"/>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FE9F67E1-503C-BD09-A7BB-B25B99E0E8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A622CCB-CB50-F895-B4BF-415C9F2BD77A}"/>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94612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E305A-A1E1-C863-F2E2-44D91521F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3FAF8-9C09-F605-5552-659C8E9F5AA9}"/>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A43A754E-FB32-C343-03F3-A50B9ED5261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AC1CB7-E1D2-A32F-F138-EF7ED35A3CF7}"/>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70322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E4DD5-DA4D-A954-1B8C-2D453F80A9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0D7BB-1C76-2A1F-AC6F-DFA0F0A7C771}"/>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06D6CD4F-213E-900C-7AD6-C1BD77D441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5DDB0F-5EED-F590-F569-D7F4154EDF8C}"/>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1914976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CB974-F166-0AC6-006E-10E163FFB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8E3D6-EDE8-0076-620A-EFA428D99A3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EBEEE5C7-6700-B87B-F83A-44A70758ED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84B7B3-E528-6E0B-9ABB-EFEE720A4FA4}"/>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71555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4E152-5D76-16F0-F9AF-22B9B9AF41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884B2-FC6E-A746-AB5A-A67877685A38}"/>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42B42C23-1677-9979-1204-3398CF87FE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27779FF-E1DF-CCAC-FAAC-84E515388143}"/>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695716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8.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9.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One line head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9900" y="325437"/>
            <a:ext cx="11232573" cy="291783"/>
          </a:xfrm>
          <a:prstGeom prst="rect">
            <a:avLst/>
          </a:prstGeom>
        </p:spPr>
        <p:txBody>
          <a:bodyPr lIns="0" tIns="0" rIns="0" bIns="0"/>
          <a:lstStyle>
            <a:lvl1pPr>
              <a:defRPr b="1">
                <a:latin typeface="Calibri" panose="020F0502020204030204" pitchFamily="34" charset="0"/>
                <a:cs typeface="Calibri" panose="020F0502020204030204" pitchFamily="34" charset="0"/>
              </a:defRPr>
            </a:lvl1pPr>
          </a:lstStyle>
          <a:p>
            <a:r>
              <a:rPr lang="en-US"/>
              <a:t>One line headline</a:t>
            </a:r>
          </a:p>
        </p:txBody>
      </p:sp>
    </p:spTree>
    <p:extLst>
      <p:ext uri="{BB962C8B-B14F-4D97-AF65-F5344CB8AC3E}">
        <p14:creationId xmlns:p14="http://schemas.microsoft.com/office/powerpoint/2010/main" val="260844347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4128">
          <p15:clr>
            <a:srgbClr val="FBAE40"/>
          </p15:clr>
        </p15:guide>
        <p15:guide id="3" pos="6912">
          <p15:clr>
            <a:srgbClr val="FBAE40"/>
          </p15:clr>
        </p15:guide>
        <p15:guide id="4" orient="horz" pos="57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eloitte END">
    <p:bg>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467545" y="2609008"/>
            <a:ext cx="3256910" cy="1323750"/>
          </a:xfrm>
          <a:prstGeom prst="rect">
            <a:avLst/>
          </a:prstGeom>
        </p:spPr>
      </p:pic>
    </p:spTree>
    <p:extLst>
      <p:ext uri="{BB962C8B-B14F-4D97-AF65-F5344CB8AC3E}">
        <p14:creationId xmlns:p14="http://schemas.microsoft.com/office/powerpoint/2010/main" val="20387325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ubhea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4116B46-241F-6F52-CF2A-F9000A02B5D9}"/>
              </a:ext>
            </a:extLst>
          </p:cNvPr>
          <p:cNvSpPr>
            <a:spLocks noGrp="1"/>
          </p:cNvSpPr>
          <p:nvPr>
            <p:ph type="body" sz="quarter" idx="10" hasCustomPrompt="1"/>
          </p:nvPr>
        </p:nvSpPr>
        <p:spPr>
          <a:xfrm>
            <a:off x="491672" y="139110"/>
            <a:ext cx="11264900" cy="306467"/>
          </a:xfrm>
          <a:prstGeom prst="rect">
            <a:avLst/>
          </a:prstGeom>
        </p:spPr>
        <p:txBody>
          <a:bodyPr anchor="b"/>
          <a:lstStyle>
            <a:lvl1pPr>
              <a:defRPr sz="900" b="1" spc="300">
                <a:solidFill>
                  <a:schemeClr val="accent4"/>
                </a:solidFill>
              </a:defRPr>
            </a:lvl1pPr>
          </a:lstStyle>
          <a:p>
            <a:pPr lvl="0"/>
            <a:r>
              <a:rPr lang="en-US"/>
              <a:t>CLICK TO EDIT MASTER TEXT STYLES</a:t>
            </a:r>
          </a:p>
        </p:txBody>
      </p:sp>
      <p:sp>
        <p:nvSpPr>
          <p:cNvPr id="15" name="Text Placeholder 14">
            <a:extLst>
              <a:ext uri="{FF2B5EF4-FFF2-40B4-BE49-F238E27FC236}">
                <a16:creationId xmlns:a16="http://schemas.microsoft.com/office/drawing/2014/main" id="{0839B397-DAFA-629B-8CE7-15176B00E796}"/>
              </a:ext>
            </a:extLst>
          </p:cNvPr>
          <p:cNvSpPr>
            <a:spLocks noGrp="1"/>
          </p:cNvSpPr>
          <p:nvPr>
            <p:ph type="body" sz="quarter" idx="11"/>
          </p:nvPr>
        </p:nvSpPr>
        <p:spPr>
          <a:xfrm>
            <a:off x="491672" y="460861"/>
            <a:ext cx="11264900" cy="453540"/>
          </a:xfrm>
          <a:prstGeom prst="rect">
            <a:avLst/>
          </a:prstGeom>
        </p:spPr>
        <p:txBody>
          <a:bodyPr tIns="0"/>
          <a:lstStyle>
            <a:lvl1pPr>
              <a:defRPr sz="3200">
                <a:latin typeface="+mj-lt"/>
              </a:defRPr>
            </a:lvl1pPr>
          </a:lstStyle>
          <a:p>
            <a:pPr lvl="0"/>
            <a:r>
              <a:rPr lang="en-US"/>
              <a:t>Click to edit Master text styles</a:t>
            </a:r>
          </a:p>
        </p:txBody>
      </p:sp>
      <p:sp>
        <p:nvSpPr>
          <p:cNvPr id="17" name="Text Placeholder 16">
            <a:extLst>
              <a:ext uri="{FF2B5EF4-FFF2-40B4-BE49-F238E27FC236}">
                <a16:creationId xmlns:a16="http://schemas.microsoft.com/office/drawing/2014/main" id="{1A9F47B5-07D2-D9D0-5FF8-FC0A3760C2EE}"/>
              </a:ext>
            </a:extLst>
          </p:cNvPr>
          <p:cNvSpPr>
            <a:spLocks noGrp="1"/>
          </p:cNvSpPr>
          <p:nvPr>
            <p:ph type="body" sz="quarter" idx="12"/>
          </p:nvPr>
        </p:nvSpPr>
        <p:spPr>
          <a:xfrm>
            <a:off x="491672" y="931970"/>
            <a:ext cx="11264900" cy="339103"/>
          </a:xfrm>
          <a:prstGeom prst="rect">
            <a:avLst/>
          </a:prstGeom>
        </p:spPr>
        <p:txBody>
          <a:bodyPr tIns="0"/>
          <a:lstStyle/>
          <a:p>
            <a:pPr lvl="0"/>
            <a:r>
              <a:rPr lang="en-US"/>
              <a:t>Click to edit Master text styles</a:t>
            </a:r>
          </a:p>
        </p:txBody>
      </p:sp>
      <p:cxnSp>
        <p:nvCxnSpPr>
          <p:cNvPr id="6" name="Straight Connector 45">
            <a:extLst>
              <a:ext uri="{FF2B5EF4-FFF2-40B4-BE49-F238E27FC236}">
                <a16:creationId xmlns:a16="http://schemas.microsoft.com/office/drawing/2014/main" id="{B30088F9-A0E1-EF0F-BF57-7DC0CAF51D8F}"/>
              </a:ext>
            </a:extLst>
          </p:cNvPr>
          <p:cNvCxnSpPr>
            <a:cxnSpLocks/>
          </p:cNvCxnSpPr>
          <p:nvPr userDrawn="1">
            <p:custDataLst>
              <p:tags r:id="rId1"/>
            </p:custDataLst>
          </p:nvPr>
        </p:nvCxnSpPr>
        <p:spPr>
          <a:xfrm>
            <a:off x="10637919" y="139477"/>
            <a:ext cx="0" cy="365760"/>
          </a:xfrm>
          <a:prstGeom prst="line">
            <a:avLst/>
          </a:prstGeom>
          <a:ln w="12700">
            <a:solidFill>
              <a:srgbClr val="0D2233"/>
            </a:solidFill>
            <a:miter lim="800000"/>
          </a:ln>
        </p:spPr>
        <p:style>
          <a:lnRef idx="1">
            <a:schemeClr val="accent1"/>
          </a:lnRef>
          <a:fillRef idx="0">
            <a:schemeClr val="accent1"/>
          </a:fillRef>
          <a:effectRef idx="0">
            <a:schemeClr val="accent1"/>
          </a:effectRef>
          <a:fontRef idx="minor">
            <a:schemeClr val="tx1"/>
          </a:fontRef>
        </p:style>
      </p:cxnSp>
      <p:sp>
        <p:nvSpPr>
          <p:cNvPr id="9" name="Copyright">
            <a:extLst>
              <a:ext uri="{FF2B5EF4-FFF2-40B4-BE49-F238E27FC236}">
                <a16:creationId xmlns:a16="http://schemas.microsoft.com/office/drawing/2014/main" id="{261876DE-0840-B0D5-ED62-9770B5E5BF88}"/>
              </a:ext>
            </a:extLst>
          </p:cNvPr>
          <p:cNvSpPr txBox="1"/>
          <p:nvPr userDrawn="1"/>
        </p:nvSpPr>
        <p:spPr>
          <a:xfrm>
            <a:off x="4587240" y="58215"/>
            <a:ext cx="3017520" cy="138499"/>
          </a:xfrm>
          <a:prstGeom prst="rect">
            <a:avLst/>
          </a:prstGeom>
          <a:noFill/>
        </p:spPr>
        <p:txBody>
          <a:bodyPr wrap="square" lIns="0" tIns="0" rIns="0" bIns="0" rtlCol="0">
            <a:spAutoFit/>
          </a:bodyPr>
          <a:lstStyle/>
          <a:p>
            <a:pPr marL="0" indent="0" algn="ctr">
              <a:spcBef>
                <a:spcPts val="450"/>
              </a:spcBef>
              <a:buSzPct val="100000"/>
              <a:buFont typeface="Arial"/>
              <a:buNone/>
            </a:pPr>
            <a:r>
              <a:rPr lang="en-US" sz="900" b="1" i="1" baseline="0" noProof="0">
                <a:solidFill>
                  <a:sysClr val="windowText" lastClr="000000"/>
                </a:solidFill>
                <a:latin typeface="Calibri" panose="020F0502020204030204" pitchFamily="34" charset="0"/>
                <a:cs typeface="Calibri" panose="020F0502020204030204" pitchFamily="34" charset="0"/>
              </a:rPr>
              <a:t>PRIVILEGED AND CONFIDENTIAL</a:t>
            </a:r>
          </a:p>
        </p:txBody>
      </p:sp>
      <p:sp>
        <p:nvSpPr>
          <p:cNvPr id="10" name="object 11">
            <a:extLst>
              <a:ext uri="{FF2B5EF4-FFF2-40B4-BE49-F238E27FC236}">
                <a16:creationId xmlns:a16="http://schemas.microsoft.com/office/drawing/2014/main" id="{BFE2188C-836C-25D8-E6C3-4C29508DAAAF}"/>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spTree>
    <p:extLst>
      <p:ext uri="{BB962C8B-B14F-4D97-AF65-F5344CB8AC3E}">
        <p14:creationId xmlns:p14="http://schemas.microsoft.com/office/powerpoint/2010/main" val="55919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_Title &amp; breadcrumb">
    <p:spTree>
      <p:nvGrpSpPr>
        <p:cNvPr id="1" name=""/>
        <p:cNvGrpSpPr/>
        <p:nvPr/>
      </p:nvGrpSpPr>
      <p:grpSpPr>
        <a:xfrm>
          <a:off x="0" y="0"/>
          <a:ext cx="0" cy="0"/>
          <a:chOff x="0" y="0"/>
          <a:chExt cx="0" cy="0"/>
        </a:xfrm>
      </p:grpSpPr>
      <p:sp>
        <p:nvSpPr>
          <p:cNvPr id="3" name="Slide Number Placeholder 19">
            <a:extLst>
              <a:ext uri="{FF2B5EF4-FFF2-40B4-BE49-F238E27FC236}">
                <a16:creationId xmlns:a16="http://schemas.microsoft.com/office/drawing/2014/main" id="{CD1E293E-901D-1105-833F-6937A0C97A36}"/>
              </a:ext>
            </a:extLst>
          </p:cNvPr>
          <p:cNvSpPr>
            <a:spLocks noGrp="1"/>
          </p:cNvSpPr>
          <p:nvPr>
            <p:ph type="sldNum" sz="quarter" idx="4"/>
            <p:custDataLst>
              <p:tags r:id="rId1"/>
            </p:custDataLst>
          </p:nvPr>
        </p:nvSpPr>
        <p:spPr>
          <a:xfrm>
            <a:off x="11346395" y="6519672"/>
            <a:ext cx="343955" cy="138499"/>
          </a:xfrm>
          <a:prstGeom prst="rect">
            <a:avLst/>
          </a:prstGeom>
        </p:spPr>
        <p:txBody>
          <a:bodyPr lIns="0" tIns="0" rIns="0" bIns="0"/>
          <a:lstStyle>
            <a:lvl1pPr>
              <a:defRPr sz="900"/>
            </a:lvl1p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a:t>
            </a:fld>
            <a:endParaRPr lang="en-US"/>
          </a:p>
        </p:txBody>
      </p:sp>
    </p:spTree>
    <p:extLst>
      <p:ext uri="{BB962C8B-B14F-4D97-AF65-F5344CB8AC3E}">
        <p14:creationId xmlns:p14="http://schemas.microsoft.com/office/powerpoint/2010/main" val="332958585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CA" noProof="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Footer Placeholder 2"/>
          <p:cNvSpPr>
            <a:spLocks noGrp="1"/>
          </p:cNvSpPr>
          <p:nvPr>
            <p:ph type="ftr" sz="quarter" idx="3"/>
          </p:nvPr>
        </p:nvSpPr>
        <p:spPr>
          <a:xfrm>
            <a:off x="10043660" y="6474295"/>
            <a:ext cx="1195840" cy="100027"/>
          </a:xfrm>
          <a:prstGeom prst="rect">
            <a:avLst/>
          </a:prstGeom>
        </p:spPr>
        <p:txBody>
          <a:bodyPr vert="horz" wrap="none" lIns="0" tIns="0" rIns="0" bIns="0" rtlCol="0" anchor="ctr">
            <a:spAutoFit/>
          </a:bodyPr>
          <a:lstStyle>
            <a:lvl1pPr algn="r">
              <a:defRPr sz="650">
                <a:solidFill>
                  <a:schemeClr val="bg1"/>
                </a:solidFill>
              </a:defRPr>
            </a:lvl1pPr>
          </a:lstStyle>
          <a:p>
            <a:r>
              <a:rPr lang="en-US"/>
              <a:t>EQ Bank - Prepaid Card Program</a:t>
            </a:r>
            <a:endParaRPr lang="en-CA"/>
          </a:p>
        </p:txBody>
      </p:sp>
      <p:sp>
        <p:nvSpPr>
          <p:cNvPr id="8" name="Slide Number Placeholder 4"/>
          <p:cNvSpPr>
            <a:spLocks noGrp="1"/>
          </p:cNvSpPr>
          <p:nvPr>
            <p:ph type="sldNum" sz="quarter" idx="4"/>
          </p:nvPr>
        </p:nvSpPr>
        <p:spPr>
          <a:xfrm>
            <a:off x="11576226" y="6474295"/>
            <a:ext cx="145874" cy="100027"/>
          </a:xfrm>
          <a:prstGeom prst="rect">
            <a:avLst/>
          </a:prstGeom>
        </p:spPr>
        <p:txBody>
          <a:bodyPr vert="horz" wrap="none" lIns="0" tIns="0" rIns="0" bIns="0" rtlCol="0" anchor="ctr">
            <a:spAutoFit/>
          </a:bodyPr>
          <a:lstStyle>
            <a:lvl1pPr algn="r">
              <a:defRPr sz="650">
                <a:solidFill>
                  <a:schemeClr val="bg1"/>
                </a:solidFill>
              </a:defRPr>
            </a:lvl1pPr>
          </a:lstStyle>
          <a:p>
            <a:fld id="{1D70FF2A-E074-4D3B-BB94-FFBB4B519E26}" type="slidenum">
              <a:rPr lang="en-CA" smtClean="0"/>
              <a:pPr/>
              <a:t>‹#›</a:t>
            </a:fld>
            <a:endParaRPr lang="en-CA"/>
          </a:p>
        </p:txBody>
      </p:sp>
      <p:sp>
        <p:nvSpPr>
          <p:cNvPr id="9" name="TextBox 8"/>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CA" sz="650" noProof="0">
                <a:solidFill>
                  <a:schemeClr val="bg1"/>
                </a:solidFill>
              </a:rPr>
              <a:t>© Deloitte LLP and affiliated entities.</a:t>
            </a:r>
          </a:p>
        </p:txBody>
      </p:sp>
    </p:spTree>
    <p:extLst>
      <p:ext uri="{BB962C8B-B14F-4D97-AF65-F5344CB8AC3E}">
        <p14:creationId xmlns:p14="http://schemas.microsoft.com/office/powerpoint/2010/main" val="240130389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One line head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9900" y="325437"/>
            <a:ext cx="11232573" cy="291783"/>
          </a:xfrm>
          <a:prstGeom prst="rect">
            <a:avLst/>
          </a:prstGeom>
        </p:spPr>
        <p:txBody>
          <a:bodyPr lIns="0" tIns="0" rIns="0" bIns="0"/>
          <a:lstStyle>
            <a:lvl1pPr>
              <a:defRPr b="1">
                <a:latin typeface="Calibri" panose="020F0502020204030204" pitchFamily="34" charset="0"/>
                <a:cs typeface="Calibri" panose="020F0502020204030204" pitchFamily="34" charset="0"/>
              </a:defRPr>
            </a:lvl1pPr>
          </a:lstStyle>
          <a:p>
            <a:r>
              <a:rPr lang="en-US"/>
              <a:t>One line headline</a:t>
            </a:r>
          </a:p>
        </p:txBody>
      </p:sp>
    </p:spTree>
    <p:extLst>
      <p:ext uri="{BB962C8B-B14F-4D97-AF65-F5344CB8AC3E}">
        <p14:creationId xmlns:p14="http://schemas.microsoft.com/office/powerpoint/2010/main" val="251159970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4128">
          <p15:clr>
            <a:srgbClr val="FBAE40"/>
          </p15:clr>
        </p15:guide>
        <p15:guide id="3" pos="6912">
          <p15:clr>
            <a:srgbClr val="FBAE40"/>
          </p15:clr>
        </p15:guide>
        <p15:guide id="4" orient="horz" pos="57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eloitte END">
    <p:bg>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467545" y="2609008"/>
            <a:ext cx="3256910" cy="1323750"/>
          </a:xfrm>
          <a:prstGeom prst="rect">
            <a:avLst/>
          </a:prstGeom>
        </p:spPr>
      </p:pic>
    </p:spTree>
    <p:extLst>
      <p:ext uri="{BB962C8B-B14F-4D97-AF65-F5344CB8AC3E}">
        <p14:creationId xmlns:p14="http://schemas.microsoft.com/office/powerpoint/2010/main" val="252194580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Title, Subhea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4116B46-241F-6F52-CF2A-F9000A02B5D9}"/>
              </a:ext>
            </a:extLst>
          </p:cNvPr>
          <p:cNvSpPr>
            <a:spLocks noGrp="1"/>
          </p:cNvSpPr>
          <p:nvPr>
            <p:ph type="body" sz="quarter" idx="10" hasCustomPrompt="1"/>
          </p:nvPr>
        </p:nvSpPr>
        <p:spPr>
          <a:xfrm>
            <a:off x="491672" y="139110"/>
            <a:ext cx="11264900" cy="306467"/>
          </a:xfrm>
          <a:prstGeom prst="rect">
            <a:avLst/>
          </a:prstGeom>
        </p:spPr>
        <p:txBody>
          <a:bodyPr anchor="b"/>
          <a:lstStyle>
            <a:lvl1pPr>
              <a:defRPr sz="900" b="1" spc="300">
                <a:solidFill>
                  <a:schemeClr val="accent4"/>
                </a:solidFill>
              </a:defRPr>
            </a:lvl1pPr>
          </a:lstStyle>
          <a:p>
            <a:pPr lvl="0"/>
            <a:r>
              <a:rPr lang="en-US"/>
              <a:t>CLICK TO EDIT MASTER TEXT STYLES</a:t>
            </a:r>
          </a:p>
        </p:txBody>
      </p:sp>
      <p:sp>
        <p:nvSpPr>
          <p:cNvPr id="15" name="Text Placeholder 14">
            <a:extLst>
              <a:ext uri="{FF2B5EF4-FFF2-40B4-BE49-F238E27FC236}">
                <a16:creationId xmlns:a16="http://schemas.microsoft.com/office/drawing/2014/main" id="{0839B397-DAFA-629B-8CE7-15176B00E796}"/>
              </a:ext>
            </a:extLst>
          </p:cNvPr>
          <p:cNvSpPr>
            <a:spLocks noGrp="1"/>
          </p:cNvSpPr>
          <p:nvPr>
            <p:ph type="body" sz="quarter" idx="11"/>
          </p:nvPr>
        </p:nvSpPr>
        <p:spPr>
          <a:xfrm>
            <a:off x="491672" y="460861"/>
            <a:ext cx="11264900" cy="453540"/>
          </a:xfrm>
          <a:prstGeom prst="rect">
            <a:avLst/>
          </a:prstGeom>
        </p:spPr>
        <p:txBody>
          <a:bodyPr tIns="0"/>
          <a:lstStyle>
            <a:lvl1pPr>
              <a:defRPr sz="3200">
                <a:latin typeface="+mj-lt"/>
              </a:defRPr>
            </a:lvl1pPr>
          </a:lstStyle>
          <a:p>
            <a:pPr lvl="0"/>
            <a:r>
              <a:rPr lang="en-US"/>
              <a:t>Click to edit Master text styles</a:t>
            </a:r>
          </a:p>
        </p:txBody>
      </p:sp>
      <p:sp>
        <p:nvSpPr>
          <p:cNvPr id="17" name="Text Placeholder 16">
            <a:extLst>
              <a:ext uri="{FF2B5EF4-FFF2-40B4-BE49-F238E27FC236}">
                <a16:creationId xmlns:a16="http://schemas.microsoft.com/office/drawing/2014/main" id="{1A9F47B5-07D2-D9D0-5FF8-FC0A3760C2EE}"/>
              </a:ext>
            </a:extLst>
          </p:cNvPr>
          <p:cNvSpPr>
            <a:spLocks noGrp="1"/>
          </p:cNvSpPr>
          <p:nvPr>
            <p:ph type="body" sz="quarter" idx="12"/>
          </p:nvPr>
        </p:nvSpPr>
        <p:spPr>
          <a:xfrm>
            <a:off x="491672" y="931970"/>
            <a:ext cx="11264900" cy="339103"/>
          </a:xfrm>
          <a:prstGeom prst="rect">
            <a:avLst/>
          </a:prstGeom>
        </p:spPr>
        <p:txBody>
          <a:bodyPr tIns="0"/>
          <a:lstStyle/>
          <a:p>
            <a:pPr lvl="0"/>
            <a:r>
              <a:rPr lang="en-US"/>
              <a:t>Click to edit Master text styles</a:t>
            </a:r>
          </a:p>
        </p:txBody>
      </p:sp>
      <p:cxnSp>
        <p:nvCxnSpPr>
          <p:cNvPr id="6" name="Straight Connector 45">
            <a:extLst>
              <a:ext uri="{FF2B5EF4-FFF2-40B4-BE49-F238E27FC236}">
                <a16:creationId xmlns:a16="http://schemas.microsoft.com/office/drawing/2014/main" id="{B30088F9-A0E1-EF0F-BF57-7DC0CAF51D8F}"/>
              </a:ext>
            </a:extLst>
          </p:cNvPr>
          <p:cNvCxnSpPr>
            <a:cxnSpLocks/>
          </p:cNvCxnSpPr>
          <p:nvPr userDrawn="1">
            <p:custDataLst>
              <p:tags r:id="rId1"/>
            </p:custDataLst>
          </p:nvPr>
        </p:nvCxnSpPr>
        <p:spPr>
          <a:xfrm>
            <a:off x="10637919" y="139477"/>
            <a:ext cx="0" cy="365760"/>
          </a:xfrm>
          <a:prstGeom prst="line">
            <a:avLst/>
          </a:prstGeom>
          <a:ln w="12700">
            <a:solidFill>
              <a:srgbClr val="0D2233"/>
            </a:solidFill>
            <a:miter lim="800000"/>
          </a:ln>
        </p:spPr>
        <p:style>
          <a:lnRef idx="1">
            <a:schemeClr val="accent1"/>
          </a:lnRef>
          <a:fillRef idx="0">
            <a:schemeClr val="accent1"/>
          </a:fillRef>
          <a:effectRef idx="0">
            <a:schemeClr val="accent1"/>
          </a:effectRef>
          <a:fontRef idx="minor">
            <a:schemeClr val="tx1"/>
          </a:fontRef>
        </p:style>
      </p:cxnSp>
      <p:sp>
        <p:nvSpPr>
          <p:cNvPr id="9" name="Copyright">
            <a:extLst>
              <a:ext uri="{FF2B5EF4-FFF2-40B4-BE49-F238E27FC236}">
                <a16:creationId xmlns:a16="http://schemas.microsoft.com/office/drawing/2014/main" id="{261876DE-0840-B0D5-ED62-9770B5E5BF88}"/>
              </a:ext>
            </a:extLst>
          </p:cNvPr>
          <p:cNvSpPr txBox="1"/>
          <p:nvPr userDrawn="1"/>
        </p:nvSpPr>
        <p:spPr>
          <a:xfrm>
            <a:off x="4587240" y="58215"/>
            <a:ext cx="3017520" cy="138499"/>
          </a:xfrm>
          <a:prstGeom prst="rect">
            <a:avLst/>
          </a:prstGeom>
          <a:noFill/>
        </p:spPr>
        <p:txBody>
          <a:bodyPr wrap="square" lIns="0" tIns="0" rIns="0" bIns="0" rtlCol="0">
            <a:spAutoFit/>
          </a:bodyPr>
          <a:lstStyle/>
          <a:p>
            <a:pPr marL="0" indent="0" algn="ctr">
              <a:spcBef>
                <a:spcPts val="450"/>
              </a:spcBef>
              <a:buSzPct val="100000"/>
              <a:buFont typeface="Arial"/>
              <a:buNone/>
            </a:pPr>
            <a:r>
              <a:rPr lang="en-US" sz="900" b="1" i="1" baseline="0" noProof="0">
                <a:solidFill>
                  <a:sysClr val="windowText" lastClr="000000"/>
                </a:solidFill>
                <a:latin typeface="Calibri" panose="020F0502020204030204" pitchFamily="34" charset="0"/>
                <a:cs typeface="Calibri" panose="020F0502020204030204" pitchFamily="34" charset="0"/>
              </a:rPr>
              <a:t>PRIVILEGED AND CONFIDENTIAL</a:t>
            </a:r>
          </a:p>
        </p:txBody>
      </p:sp>
      <p:sp>
        <p:nvSpPr>
          <p:cNvPr id="10" name="object 11">
            <a:extLst>
              <a:ext uri="{FF2B5EF4-FFF2-40B4-BE49-F238E27FC236}">
                <a16:creationId xmlns:a16="http://schemas.microsoft.com/office/drawing/2014/main" id="{BFE2188C-836C-25D8-E6C3-4C29508DAAAF}"/>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spTree>
    <p:extLst>
      <p:ext uri="{BB962C8B-B14F-4D97-AF65-F5344CB8AC3E}">
        <p14:creationId xmlns:p14="http://schemas.microsoft.com/office/powerpoint/2010/main" val="1155018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_Title &amp; breadcrumb">
    <p:spTree>
      <p:nvGrpSpPr>
        <p:cNvPr id="1" name=""/>
        <p:cNvGrpSpPr/>
        <p:nvPr/>
      </p:nvGrpSpPr>
      <p:grpSpPr>
        <a:xfrm>
          <a:off x="0" y="0"/>
          <a:ext cx="0" cy="0"/>
          <a:chOff x="0" y="0"/>
          <a:chExt cx="0" cy="0"/>
        </a:xfrm>
      </p:grpSpPr>
      <p:sp>
        <p:nvSpPr>
          <p:cNvPr id="3" name="Slide Number Placeholder 19">
            <a:extLst>
              <a:ext uri="{FF2B5EF4-FFF2-40B4-BE49-F238E27FC236}">
                <a16:creationId xmlns:a16="http://schemas.microsoft.com/office/drawing/2014/main" id="{CD1E293E-901D-1105-833F-6937A0C97A36}"/>
              </a:ext>
            </a:extLst>
          </p:cNvPr>
          <p:cNvSpPr>
            <a:spLocks noGrp="1"/>
          </p:cNvSpPr>
          <p:nvPr>
            <p:ph type="sldNum" sz="quarter" idx="4"/>
            <p:custDataLst>
              <p:tags r:id="rId1"/>
            </p:custDataLst>
          </p:nvPr>
        </p:nvSpPr>
        <p:spPr>
          <a:xfrm>
            <a:off x="11346395" y="6519672"/>
            <a:ext cx="343955" cy="138499"/>
          </a:xfrm>
          <a:prstGeom prst="rect">
            <a:avLst/>
          </a:prstGeom>
        </p:spPr>
        <p:txBody>
          <a:bodyPr lIns="0" tIns="0" rIns="0" bIns="0"/>
          <a:lstStyle>
            <a:lvl1pPr>
              <a:defRPr sz="900"/>
            </a:lvl1p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a:t>
            </a:fld>
            <a:endParaRPr lang="en-US"/>
          </a:p>
        </p:txBody>
      </p:sp>
    </p:spTree>
    <p:extLst>
      <p:ext uri="{BB962C8B-B14F-4D97-AF65-F5344CB8AC3E}">
        <p14:creationId xmlns:p14="http://schemas.microsoft.com/office/powerpoint/2010/main" val="161993351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CA" noProof="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Footer Placeholder 2"/>
          <p:cNvSpPr>
            <a:spLocks noGrp="1"/>
          </p:cNvSpPr>
          <p:nvPr>
            <p:ph type="ftr" sz="quarter" idx="3"/>
          </p:nvPr>
        </p:nvSpPr>
        <p:spPr>
          <a:xfrm>
            <a:off x="10043660" y="6474295"/>
            <a:ext cx="1195840" cy="100027"/>
          </a:xfrm>
          <a:prstGeom prst="rect">
            <a:avLst/>
          </a:prstGeom>
        </p:spPr>
        <p:txBody>
          <a:bodyPr vert="horz" wrap="none" lIns="0" tIns="0" rIns="0" bIns="0" rtlCol="0" anchor="ctr">
            <a:spAutoFit/>
          </a:bodyPr>
          <a:lstStyle>
            <a:lvl1pPr algn="r">
              <a:defRPr sz="650">
                <a:solidFill>
                  <a:schemeClr val="bg1"/>
                </a:solidFill>
              </a:defRPr>
            </a:lvl1pPr>
          </a:lstStyle>
          <a:p>
            <a:r>
              <a:rPr lang="en-US"/>
              <a:t>EQ Bank - Prepaid Card Program</a:t>
            </a:r>
            <a:endParaRPr lang="en-CA"/>
          </a:p>
        </p:txBody>
      </p:sp>
      <p:sp>
        <p:nvSpPr>
          <p:cNvPr id="8" name="Slide Number Placeholder 4"/>
          <p:cNvSpPr>
            <a:spLocks noGrp="1"/>
          </p:cNvSpPr>
          <p:nvPr>
            <p:ph type="sldNum" sz="quarter" idx="4"/>
          </p:nvPr>
        </p:nvSpPr>
        <p:spPr>
          <a:xfrm>
            <a:off x="11576226" y="6474295"/>
            <a:ext cx="145874" cy="100027"/>
          </a:xfrm>
          <a:prstGeom prst="rect">
            <a:avLst/>
          </a:prstGeom>
        </p:spPr>
        <p:txBody>
          <a:bodyPr vert="horz" wrap="none" lIns="0" tIns="0" rIns="0" bIns="0" rtlCol="0" anchor="ctr">
            <a:spAutoFit/>
          </a:bodyPr>
          <a:lstStyle>
            <a:lvl1pPr algn="r">
              <a:defRPr sz="650">
                <a:solidFill>
                  <a:schemeClr val="bg1"/>
                </a:solidFill>
              </a:defRPr>
            </a:lvl1pPr>
          </a:lstStyle>
          <a:p>
            <a:fld id="{1D70FF2A-E074-4D3B-BB94-FFBB4B519E26}" type="slidenum">
              <a:rPr lang="en-CA" smtClean="0"/>
              <a:pPr/>
              <a:t>‹#›</a:t>
            </a:fld>
            <a:endParaRPr lang="en-CA"/>
          </a:p>
        </p:txBody>
      </p:sp>
      <p:sp>
        <p:nvSpPr>
          <p:cNvPr id="9" name="TextBox 8"/>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CA" sz="650" noProof="0">
                <a:solidFill>
                  <a:schemeClr val="bg1"/>
                </a:solidFill>
              </a:rPr>
              <a:t>© Deloitte LLP and affiliated entities.</a:t>
            </a:r>
          </a:p>
        </p:txBody>
      </p:sp>
    </p:spTree>
    <p:extLst>
      <p:ext uri="{BB962C8B-B14F-4D97-AF65-F5344CB8AC3E}">
        <p14:creationId xmlns:p14="http://schemas.microsoft.com/office/powerpoint/2010/main" val="310604659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11667" y="2646105"/>
            <a:ext cx="11768667" cy="553998"/>
          </a:xfrm>
        </p:spPr>
        <p:txBody>
          <a:bodyPr lIns="0" tIns="0" rIns="0" bIns="0"/>
          <a:lstStyle>
            <a:lvl1pPr>
              <a:defRPr sz="3600" b="1" i="0">
                <a:solidFill>
                  <a:srgbClr val="C41F3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383A3D"/>
                </a:solidFill>
                <a:latin typeface="Arial"/>
                <a:cs typeface="Arial"/>
              </a:defRPr>
            </a:lvl1pPr>
          </a:lstStyle>
          <a:p>
            <a:pPr marL="16933">
              <a:spcBef>
                <a:spcPts val="20"/>
              </a:spcBef>
            </a:pPr>
            <a:endParaRPr lang="en-US" spc="-7"/>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597120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One line head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9900" y="325437"/>
            <a:ext cx="11232573" cy="291783"/>
          </a:xfrm>
          <a:prstGeom prst="rect">
            <a:avLst/>
          </a:prstGeom>
        </p:spPr>
        <p:txBody>
          <a:bodyPr lIns="0" tIns="0" rIns="0" bIns="0"/>
          <a:lstStyle>
            <a:lvl1pPr>
              <a:defRPr b="1">
                <a:latin typeface="Calibri" panose="020F0502020204030204" pitchFamily="34" charset="0"/>
                <a:cs typeface="Calibri" panose="020F0502020204030204" pitchFamily="34" charset="0"/>
              </a:defRPr>
            </a:lvl1pPr>
          </a:lstStyle>
          <a:p>
            <a:r>
              <a:rPr lang="en-US"/>
              <a:t>One line headline</a:t>
            </a:r>
          </a:p>
        </p:txBody>
      </p:sp>
    </p:spTree>
    <p:extLst>
      <p:ext uri="{BB962C8B-B14F-4D97-AF65-F5344CB8AC3E}">
        <p14:creationId xmlns:p14="http://schemas.microsoft.com/office/powerpoint/2010/main" val="209879137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4128">
          <p15:clr>
            <a:srgbClr val="FBAE40"/>
          </p15:clr>
        </p15:guide>
        <p15:guide id="3" pos="6912">
          <p15:clr>
            <a:srgbClr val="FBAE40"/>
          </p15:clr>
        </p15:guide>
        <p15:guide id="4" orient="horz" pos="57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eloitte END">
    <p:bg>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467545" y="2609008"/>
            <a:ext cx="3256910" cy="1323750"/>
          </a:xfrm>
          <a:prstGeom prst="rect">
            <a:avLst/>
          </a:prstGeom>
        </p:spPr>
      </p:pic>
    </p:spTree>
    <p:extLst>
      <p:ext uri="{BB962C8B-B14F-4D97-AF65-F5344CB8AC3E}">
        <p14:creationId xmlns:p14="http://schemas.microsoft.com/office/powerpoint/2010/main" val="351042890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Title, Subhea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4116B46-241F-6F52-CF2A-F9000A02B5D9}"/>
              </a:ext>
            </a:extLst>
          </p:cNvPr>
          <p:cNvSpPr>
            <a:spLocks noGrp="1"/>
          </p:cNvSpPr>
          <p:nvPr>
            <p:ph type="body" sz="quarter" idx="10" hasCustomPrompt="1"/>
          </p:nvPr>
        </p:nvSpPr>
        <p:spPr>
          <a:xfrm>
            <a:off x="491672" y="139110"/>
            <a:ext cx="11264900" cy="306467"/>
          </a:xfrm>
          <a:prstGeom prst="rect">
            <a:avLst/>
          </a:prstGeom>
        </p:spPr>
        <p:txBody>
          <a:bodyPr anchor="b"/>
          <a:lstStyle>
            <a:lvl1pPr>
              <a:defRPr sz="900" b="1" spc="300">
                <a:solidFill>
                  <a:schemeClr val="accent4"/>
                </a:solidFill>
              </a:defRPr>
            </a:lvl1pPr>
          </a:lstStyle>
          <a:p>
            <a:pPr lvl="0"/>
            <a:r>
              <a:rPr lang="en-US"/>
              <a:t>CLICK TO EDIT MASTER TEXT STYLES</a:t>
            </a:r>
          </a:p>
        </p:txBody>
      </p:sp>
      <p:sp>
        <p:nvSpPr>
          <p:cNvPr id="15" name="Text Placeholder 14">
            <a:extLst>
              <a:ext uri="{FF2B5EF4-FFF2-40B4-BE49-F238E27FC236}">
                <a16:creationId xmlns:a16="http://schemas.microsoft.com/office/drawing/2014/main" id="{0839B397-DAFA-629B-8CE7-15176B00E796}"/>
              </a:ext>
            </a:extLst>
          </p:cNvPr>
          <p:cNvSpPr>
            <a:spLocks noGrp="1"/>
          </p:cNvSpPr>
          <p:nvPr>
            <p:ph type="body" sz="quarter" idx="11"/>
          </p:nvPr>
        </p:nvSpPr>
        <p:spPr>
          <a:xfrm>
            <a:off x="491672" y="460861"/>
            <a:ext cx="11264900" cy="453540"/>
          </a:xfrm>
          <a:prstGeom prst="rect">
            <a:avLst/>
          </a:prstGeom>
        </p:spPr>
        <p:txBody>
          <a:bodyPr tIns="0"/>
          <a:lstStyle>
            <a:lvl1pPr>
              <a:defRPr sz="3200">
                <a:latin typeface="+mj-lt"/>
              </a:defRPr>
            </a:lvl1pPr>
          </a:lstStyle>
          <a:p>
            <a:pPr lvl="0"/>
            <a:r>
              <a:rPr lang="en-US"/>
              <a:t>Click to edit Master text styles</a:t>
            </a:r>
          </a:p>
        </p:txBody>
      </p:sp>
      <p:sp>
        <p:nvSpPr>
          <p:cNvPr id="17" name="Text Placeholder 16">
            <a:extLst>
              <a:ext uri="{FF2B5EF4-FFF2-40B4-BE49-F238E27FC236}">
                <a16:creationId xmlns:a16="http://schemas.microsoft.com/office/drawing/2014/main" id="{1A9F47B5-07D2-D9D0-5FF8-FC0A3760C2EE}"/>
              </a:ext>
            </a:extLst>
          </p:cNvPr>
          <p:cNvSpPr>
            <a:spLocks noGrp="1"/>
          </p:cNvSpPr>
          <p:nvPr>
            <p:ph type="body" sz="quarter" idx="12"/>
          </p:nvPr>
        </p:nvSpPr>
        <p:spPr>
          <a:xfrm>
            <a:off x="491672" y="931970"/>
            <a:ext cx="11264900" cy="339103"/>
          </a:xfrm>
          <a:prstGeom prst="rect">
            <a:avLst/>
          </a:prstGeom>
        </p:spPr>
        <p:txBody>
          <a:bodyPr tIns="0"/>
          <a:lstStyle/>
          <a:p>
            <a:pPr lvl="0"/>
            <a:r>
              <a:rPr lang="en-US"/>
              <a:t>Click to edit Master text styles</a:t>
            </a:r>
          </a:p>
        </p:txBody>
      </p:sp>
      <p:cxnSp>
        <p:nvCxnSpPr>
          <p:cNvPr id="6" name="Straight Connector 45">
            <a:extLst>
              <a:ext uri="{FF2B5EF4-FFF2-40B4-BE49-F238E27FC236}">
                <a16:creationId xmlns:a16="http://schemas.microsoft.com/office/drawing/2014/main" id="{B30088F9-A0E1-EF0F-BF57-7DC0CAF51D8F}"/>
              </a:ext>
            </a:extLst>
          </p:cNvPr>
          <p:cNvCxnSpPr>
            <a:cxnSpLocks/>
          </p:cNvCxnSpPr>
          <p:nvPr userDrawn="1">
            <p:custDataLst>
              <p:tags r:id="rId1"/>
            </p:custDataLst>
          </p:nvPr>
        </p:nvCxnSpPr>
        <p:spPr>
          <a:xfrm>
            <a:off x="10637919" y="139477"/>
            <a:ext cx="0" cy="365760"/>
          </a:xfrm>
          <a:prstGeom prst="line">
            <a:avLst/>
          </a:prstGeom>
          <a:ln w="12700">
            <a:solidFill>
              <a:srgbClr val="0D2233"/>
            </a:solidFill>
            <a:miter lim="800000"/>
          </a:ln>
        </p:spPr>
        <p:style>
          <a:lnRef idx="1">
            <a:schemeClr val="accent1"/>
          </a:lnRef>
          <a:fillRef idx="0">
            <a:schemeClr val="accent1"/>
          </a:fillRef>
          <a:effectRef idx="0">
            <a:schemeClr val="accent1"/>
          </a:effectRef>
          <a:fontRef idx="minor">
            <a:schemeClr val="tx1"/>
          </a:fontRef>
        </p:style>
      </p:cxnSp>
      <p:sp>
        <p:nvSpPr>
          <p:cNvPr id="9" name="Copyright">
            <a:extLst>
              <a:ext uri="{FF2B5EF4-FFF2-40B4-BE49-F238E27FC236}">
                <a16:creationId xmlns:a16="http://schemas.microsoft.com/office/drawing/2014/main" id="{261876DE-0840-B0D5-ED62-9770B5E5BF88}"/>
              </a:ext>
            </a:extLst>
          </p:cNvPr>
          <p:cNvSpPr txBox="1"/>
          <p:nvPr userDrawn="1"/>
        </p:nvSpPr>
        <p:spPr>
          <a:xfrm>
            <a:off x="4587240" y="58215"/>
            <a:ext cx="3017520" cy="138499"/>
          </a:xfrm>
          <a:prstGeom prst="rect">
            <a:avLst/>
          </a:prstGeom>
          <a:noFill/>
        </p:spPr>
        <p:txBody>
          <a:bodyPr wrap="square" lIns="0" tIns="0" rIns="0" bIns="0" rtlCol="0">
            <a:spAutoFit/>
          </a:bodyPr>
          <a:lstStyle/>
          <a:p>
            <a:pPr marL="0" indent="0" algn="ctr">
              <a:spcBef>
                <a:spcPts val="450"/>
              </a:spcBef>
              <a:buSzPct val="100000"/>
              <a:buFont typeface="Arial"/>
              <a:buNone/>
            </a:pPr>
            <a:r>
              <a:rPr lang="en-US" sz="900" b="1" i="1" baseline="0" noProof="0">
                <a:solidFill>
                  <a:sysClr val="windowText" lastClr="000000"/>
                </a:solidFill>
                <a:latin typeface="Calibri" panose="020F0502020204030204" pitchFamily="34" charset="0"/>
                <a:cs typeface="Calibri" panose="020F0502020204030204" pitchFamily="34" charset="0"/>
              </a:rPr>
              <a:t>PRIVILEGED AND CONFIDENTIAL</a:t>
            </a:r>
          </a:p>
        </p:txBody>
      </p:sp>
      <p:sp>
        <p:nvSpPr>
          <p:cNvPr id="10" name="object 11">
            <a:extLst>
              <a:ext uri="{FF2B5EF4-FFF2-40B4-BE49-F238E27FC236}">
                <a16:creationId xmlns:a16="http://schemas.microsoft.com/office/drawing/2014/main" id="{BFE2188C-836C-25D8-E6C3-4C29508DAAAF}"/>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spTree>
    <p:extLst>
      <p:ext uri="{BB962C8B-B14F-4D97-AF65-F5344CB8AC3E}">
        <p14:creationId xmlns:p14="http://schemas.microsoft.com/office/powerpoint/2010/main" val="5749560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_Title &amp; breadcrumb">
    <p:spTree>
      <p:nvGrpSpPr>
        <p:cNvPr id="1" name=""/>
        <p:cNvGrpSpPr/>
        <p:nvPr/>
      </p:nvGrpSpPr>
      <p:grpSpPr>
        <a:xfrm>
          <a:off x="0" y="0"/>
          <a:ext cx="0" cy="0"/>
          <a:chOff x="0" y="0"/>
          <a:chExt cx="0" cy="0"/>
        </a:xfrm>
      </p:grpSpPr>
      <p:sp>
        <p:nvSpPr>
          <p:cNvPr id="3" name="Slide Number Placeholder 19">
            <a:extLst>
              <a:ext uri="{FF2B5EF4-FFF2-40B4-BE49-F238E27FC236}">
                <a16:creationId xmlns:a16="http://schemas.microsoft.com/office/drawing/2014/main" id="{CD1E293E-901D-1105-833F-6937A0C97A36}"/>
              </a:ext>
            </a:extLst>
          </p:cNvPr>
          <p:cNvSpPr>
            <a:spLocks noGrp="1"/>
          </p:cNvSpPr>
          <p:nvPr>
            <p:ph type="sldNum" sz="quarter" idx="4"/>
            <p:custDataLst>
              <p:tags r:id="rId1"/>
            </p:custDataLst>
          </p:nvPr>
        </p:nvSpPr>
        <p:spPr>
          <a:xfrm>
            <a:off x="11346395" y="6519672"/>
            <a:ext cx="343955" cy="138499"/>
          </a:xfrm>
          <a:prstGeom prst="rect">
            <a:avLst/>
          </a:prstGeom>
        </p:spPr>
        <p:txBody>
          <a:bodyPr lIns="0" tIns="0" rIns="0" bIns="0"/>
          <a:lstStyle>
            <a:lvl1pPr>
              <a:defRPr sz="900"/>
            </a:lvl1p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a:t>
            </a:fld>
            <a:endParaRPr lang="en-US"/>
          </a:p>
        </p:txBody>
      </p:sp>
    </p:spTree>
    <p:extLst>
      <p:ext uri="{BB962C8B-B14F-4D97-AF65-F5344CB8AC3E}">
        <p14:creationId xmlns:p14="http://schemas.microsoft.com/office/powerpoint/2010/main" val="177905056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CA" noProof="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Footer Placeholder 2"/>
          <p:cNvSpPr>
            <a:spLocks noGrp="1"/>
          </p:cNvSpPr>
          <p:nvPr>
            <p:ph type="ftr" sz="quarter" idx="3"/>
          </p:nvPr>
        </p:nvSpPr>
        <p:spPr>
          <a:xfrm>
            <a:off x="10043660" y="6474295"/>
            <a:ext cx="1195840" cy="100027"/>
          </a:xfrm>
          <a:prstGeom prst="rect">
            <a:avLst/>
          </a:prstGeom>
        </p:spPr>
        <p:txBody>
          <a:bodyPr vert="horz" wrap="none" lIns="0" tIns="0" rIns="0" bIns="0" rtlCol="0" anchor="ctr">
            <a:spAutoFit/>
          </a:bodyPr>
          <a:lstStyle>
            <a:lvl1pPr algn="r">
              <a:defRPr sz="650">
                <a:solidFill>
                  <a:schemeClr val="bg1"/>
                </a:solidFill>
              </a:defRPr>
            </a:lvl1pPr>
          </a:lstStyle>
          <a:p>
            <a:r>
              <a:rPr lang="en-US"/>
              <a:t>EQ Bank - Prepaid Card Program</a:t>
            </a:r>
            <a:endParaRPr lang="en-CA"/>
          </a:p>
        </p:txBody>
      </p:sp>
      <p:sp>
        <p:nvSpPr>
          <p:cNvPr id="8" name="Slide Number Placeholder 4"/>
          <p:cNvSpPr>
            <a:spLocks noGrp="1"/>
          </p:cNvSpPr>
          <p:nvPr>
            <p:ph type="sldNum" sz="quarter" idx="4"/>
          </p:nvPr>
        </p:nvSpPr>
        <p:spPr>
          <a:xfrm>
            <a:off x="11576226" y="6474295"/>
            <a:ext cx="145874" cy="100027"/>
          </a:xfrm>
          <a:prstGeom prst="rect">
            <a:avLst/>
          </a:prstGeom>
        </p:spPr>
        <p:txBody>
          <a:bodyPr vert="horz" wrap="none" lIns="0" tIns="0" rIns="0" bIns="0" rtlCol="0" anchor="ctr">
            <a:spAutoFit/>
          </a:bodyPr>
          <a:lstStyle>
            <a:lvl1pPr algn="r">
              <a:defRPr sz="650">
                <a:solidFill>
                  <a:schemeClr val="bg1"/>
                </a:solidFill>
              </a:defRPr>
            </a:lvl1pPr>
          </a:lstStyle>
          <a:p>
            <a:fld id="{1D70FF2A-E074-4D3B-BB94-FFBB4B519E26}" type="slidenum">
              <a:rPr lang="en-CA" smtClean="0"/>
              <a:pPr/>
              <a:t>‹#›</a:t>
            </a:fld>
            <a:endParaRPr lang="en-CA"/>
          </a:p>
        </p:txBody>
      </p:sp>
      <p:sp>
        <p:nvSpPr>
          <p:cNvPr id="9" name="TextBox 8"/>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CA" sz="650" noProof="0">
                <a:solidFill>
                  <a:schemeClr val="bg1"/>
                </a:solidFill>
              </a:rPr>
              <a:t>© Deloitte LLP and affiliated entities.</a:t>
            </a:r>
          </a:p>
        </p:txBody>
      </p:sp>
    </p:spTree>
    <p:extLst>
      <p:ext uri="{BB962C8B-B14F-4D97-AF65-F5344CB8AC3E}">
        <p14:creationId xmlns:p14="http://schemas.microsoft.com/office/powerpoint/2010/main" val="1959510151"/>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11667" y="2646105"/>
            <a:ext cx="11768667" cy="553998"/>
          </a:xfrm>
        </p:spPr>
        <p:txBody>
          <a:bodyPr lIns="0" tIns="0" rIns="0" bIns="0"/>
          <a:lstStyle>
            <a:lvl1pPr>
              <a:defRPr sz="3600" b="1" i="0">
                <a:solidFill>
                  <a:srgbClr val="C41F3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383A3D"/>
                </a:solidFill>
                <a:latin typeface="Arial"/>
                <a:cs typeface="Arial"/>
              </a:defRPr>
            </a:lvl1pPr>
          </a:lstStyle>
          <a:p>
            <a:pPr marL="16933">
              <a:spcBef>
                <a:spcPts val="20"/>
              </a:spcBef>
            </a:pPr>
            <a:endParaRPr lang="en-US" spc="-7"/>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542805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4.xml"/><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image" Target="../media/image2.png"/><Relationship Id="rId5" Type="http://schemas.openxmlformats.org/officeDocument/2006/relationships/slideLayout" Target="../slideLayouts/slideLayout10.xml"/><Relationship Id="rId10" Type="http://schemas.openxmlformats.org/officeDocument/2006/relationships/image" Target="../media/image1.emf"/><Relationship Id="rId4" Type="http://schemas.openxmlformats.org/officeDocument/2006/relationships/slideLayout" Target="../slideLayouts/slideLayout9.xml"/><Relationship Id="rId9"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7.xml"/><Relationship Id="rId3" Type="http://schemas.openxmlformats.org/officeDocument/2006/relationships/slideLayout" Target="../slideLayouts/slideLayout14.xml"/><Relationship Id="rId7" Type="http://schemas.openxmlformats.org/officeDocument/2006/relationships/theme" Target="../theme/theme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5.png"/><Relationship Id="rId5" Type="http://schemas.openxmlformats.org/officeDocument/2006/relationships/slideLayout" Target="../slideLayouts/slideLayout16.xml"/><Relationship Id="rId10" Type="http://schemas.openxmlformats.org/officeDocument/2006/relationships/image" Target="../media/image4.emf"/><Relationship Id="rId4" Type="http://schemas.openxmlformats.org/officeDocument/2006/relationships/slideLayout" Target="../slideLayouts/slideLayout15.xml"/><Relationship Id="rId9" Type="http://schemas.openxmlformats.org/officeDocument/2006/relationships/oleObject" Target="../embeddings/oleObject2.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
            </p:custDataLst>
            <p:extLst>
              <p:ext uri="{D42A27DB-BD31-4B8C-83A1-F6EECF244321}">
                <p14:modId xmlns:p14="http://schemas.microsoft.com/office/powerpoint/2010/main" val="16689181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4" name="Object 3" hidden="1"/>
                      <p:cNvPicPr/>
                      <p:nvPr/>
                    </p:nvPicPr>
                    <p:blipFill>
                      <a:blip r:embed="rId9"/>
                      <a:stretch>
                        <a:fillRect/>
                      </a:stretch>
                    </p:blipFill>
                    <p:spPr>
                      <a:xfrm>
                        <a:off x="2119" y="1589"/>
                        <a:ext cx="2116" cy="1587"/>
                      </a:xfrm>
                      <a:prstGeom prst="rect">
                        <a:avLst/>
                      </a:prstGeom>
                    </p:spPr>
                  </p:pic>
                </p:oleObj>
              </mc:Fallback>
            </mc:AlternateContent>
          </a:graphicData>
        </a:graphic>
      </p:graphicFrame>
      <p:sp>
        <p:nvSpPr>
          <p:cNvPr id="5" name="object 11">
            <a:extLst>
              <a:ext uri="{FF2B5EF4-FFF2-40B4-BE49-F238E27FC236}">
                <a16:creationId xmlns:a16="http://schemas.microsoft.com/office/drawing/2014/main" id="{6D94D76C-319F-36BF-93BC-9D4A893B8EE1}"/>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pic>
        <p:nvPicPr>
          <p:cNvPr id="4098" name="Picture 2" descr="Fort Nelson | Beem Credit Union">
            <a:extLst>
              <a:ext uri="{FF2B5EF4-FFF2-40B4-BE49-F238E27FC236}">
                <a16:creationId xmlns:a16="http://schemas.microsoft.com/office/drawing/2014/main" id="{07ED500F-5BEB-7258-0699-67830452B90D}"/>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0741464" y="138878"/>
            <a:ext cx="1373616" cy="408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1763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ransition>
    <p:fade/>
  </p:transition>
  <p:hf hdr="0" ftr="0" dt="0"/>
  <p:txStyles>
    <p:title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86BC25"/>
          </p15:clr>
        </p15:guide>
        <p15:guide id="2" orient="horz" pos="4032">
          <p15:clr>
            <a:srgbClr val="86BC25"/>
          </p15:clr>
        </p15:guide>
        <p15:guide id="3" orient="horz" pos="518">
          <p15:clr>
            <a:srgbClr val="86BC25"/>
          </p15:clr>
        </p15:guide>
        <p15:guide id="4" orient="horz" pos="748">
          <p15:clr>
            <a:srgbClr val="86BC25"/>
          </p15:clr>
        </p15:guide>
        <p15:guide id="5" orient="horz" pos="1152">
          <p15:clr>
            <a:srgbClr val="046A38"/>
          </p15:clr>
        </p15:guide>
        <p15:guide id="6" orient="horz" pos="2592">
          <p15:clr>
            <a:srgbClr val="62B5E5"/>
          </p15:clr>
        </p15:guide>
        <p15:guide id="7" orient="horz" pos="2112">
          <p15:clr>
            <a:srgbClr val="012169"/>
          </p15:clr>
        </p15:guide>
        <p15:guide id="8" orient="horz" pos="3072">
          <p15:clr>
            <a:srgbClr val="012169"/>
          </p15:clr>
        </p15:guide>
        <p15:guide id="9" pos="288">
          <p15:clr>
            <a:srgbClr val="86BC25"/>
          </p15:clr>
        </p15:guide>
        <p15:guide id="10" pos="6048">
          <p15:clr>
            <a:srgbClr val="86BC25"/>
          </p15:clr>
        </p15:guide>
        <p15:guide id="11" pos="3024">
          <p15:clr>
            <a:srgbClr val="62B5E5"/>
          </p15:clr>
        </p15:guide>
        <p15:guide id="12" pos="3312">
          <p15:clr>
            <a:srgbClr val="62B5E5"/>
          </p15:clr>
        </p15:guide>
        <p15:guide id="13" pos="2016">
          <p15:clr>
            <a:srgbClr val="012169"/>
          </p15:clr>
        </p15:guide>
        <p15:guide id="14" pos="2448">
          <p15:clr>
            <a:srgbClr val="012169"/>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8"/>
            </p:custDataLst>
            <p:extLst>
              <p:ext uri="{D42A27DB-BD31-4B8C-83A1-F6EECF244321}">
                <p14:modId xmlns:p14="http://schemas.microsoft.com/office/powerpoint/2010/main" val="16689181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9" imgW="270" imgH="270" progId="TCLayout.ActiveDocument.1">
                  <p:embed/>
                </p:oleObj>
              </mc:Choice>
              <mc:Fallback>
                <p:oleObj name="think-cell Slide" r:id="rId9" imgW="270" imgH="270" progId="TCLayout.ActiveDocument.1">
                  <p:embed/>
                  <p:pic>
                    <p:nvPicPr>
                      <p:cNvPr id="4" name="Object 3" hidden="1"/>
                      <p:cNvPicPr/>
                      <p:nvPr/>
                    </p:nvPicPr>
                    <p:blipFill>
                      <a:blip r:embed="rId10"/>
                      <a:stretch>
                        <a:fillRect/>
                      </a:stretch>
                    </p:blipFill>
                    <p:spPr>
                      <a:xfrm>
                        <a:off x="2119" y="1589"/>
                        <a:ext cx="2116" cy="1587"/>
                      </a:xfrm>
                      <a:prstGeom prst="rect">
                        <a:avLst/>
                      </a:prstGeom>
                    </p:spPr>
                  </p:pic>
                </p:oleObj>
              </mc:Fallback>
            </mc:AlternateContent>
          </a:graphicData>
        </a:graphic>
      </p:graphicFrame>
      <p:sp>
        <p:nvSpPr>
          <p:cNvPr id="5" name="object 11">
            <a:extLst>
              <a:ext uri="{FF2B5EF4-FFF2-40B4-BE49-F238E27FC236}">
                <a16:creationId xmlns:a16="http://schemas.microsoft.com/office/drawing/2014/main" id="{6D94D76C-319F-36BF-93BC-9D4A893B8EE1}"/>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pic>
        <p:nvPicPr>
          <p:cNvPr id="4098" name="Picture 2" descr="Fort Nelson | Beem Credit Union">
            <a:extLst>
              <a:ext uri="{FF2B5EF4-FFF2-40B4-BE49-F238E27FC236}">
                <a16:creationId xmlns:a16="http://schemas.microsoft.com/office/drawing/2014/main" id="{07ED500F-5BEB-7258-0699-67830452B90D}"/>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10741464" y="138878"/>
            <a:ext cx="1373616" cy="408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910213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Lst>
  <p:transition>
    <p:fade/>
  </p:transition>
  <p:hf hdr="0" ftr="0" dt="0"/>
  <p:txStyles>
    <p:title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86BC25"/>
          </p15:clr>
        </p15:guide>
        <p15:guide id="2" orient="horz" pos="4032">
          <p15:clr>
            <a:srgbClr val="86BC25"/>
          </p15:clr>
        </p15:guide>
        <p15:guide id="3" orient="horz" pos="518">
          <p15:clr>
            <a:srgbClr val="86BC25"/>
          </p15:clr>
        </p15:guide>
        <p15:guide id="4" orient="horz" pos="748">
          <p15:clr>
            <a:srgbClr val="86BC25"/>
          </p15:clr>
        </p15:guide>
        <p15:guide id="5" orient="horz" pos="1152">
          <p15:clr>
            <a:srgbClr val="046A38"/>
          </p15:clr>
        </p15:guide>
        <p15:guide id="6" orient="horz" pos="2592">
          <p15:clr>
            <a:srgbClr val="62B5E5"/>
          </p15:clr>
        </p15:guide>
        <p15:guide id="7" orient="horz" pos="2112">
          <p15:clr>
            <a:srgbClr val="012169"/>
          </p15:clr>
        </p15:guide>
        <p15:guide id="8" orient="horz" pos="3072">
          <p15:clr>
            <a:srgbClr val="012169"/>
          </p15:clr>
        </p15:guide>
        <p15:guide id="9" pos="288">
          <p15:clr>
            <a:srgbClr val="86BC25"/>
          </p15:clr>
        </p15:guide>
        <p15:guide id="10" pos="6048">
          <p15:clr>
            <a:srgbClr val="86BC25"/>
          </p15:clr>
        </p15:guide>
        <p15:guide id="11" pos="3024">
          <p15:clr>
            <a:srgbClr val="62B5E5"/>
          </p15:clr>
        </p15:guide>
        <p15:guide id="12" pos="3312">
          <p15:clr>
            <a:srgbClr val="62B5E5"/>
          </p15:clr>
        </p15:guide>
        <p15:guide id="13" pos="2016">
          <p15:clr>
            <a:srgbClr val="012169"/>
          </p15:clr>
        </p15:guide>
        <p15:guide id="14" pos="2448">
          <p15:clr>
            <a:srgbClr val="012169"/>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8"/>
            </p:custDataLst>
            <p:extLst>
              <p:ext uri="{D42A27DB-BD31-4B8C-83A1-F6EECF244321}">
                <p14:modId xmlns:p14="http://schemas.microsoft.com/office/powerpoint/2010/main" val="16689181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9" imgW="270" imgH="270" progId="TCLayout.ActiveDocument.1">
                  <p:embed/>
                </p:oleObj>
              </mc:Choice>
              <mc:Fallback>
                <p:oleObj name="think-cell Slide" r:id="rId9" imgW="270" imgH="270" progId="TCLayout.ActiveDocument.1">
                  <p:embed/>
                  <p:pic>
                    <p:nvPicPr>
                      <p:cNvPr id="4" name="Object 3" hidden="1"/>
                      <p:cNvPicPr/>
                      <p:nvPr/>
                    </p:nvPicPr>
                    <p:blipFill>
                      <a:blip r:embed="rId10"/>
                      <a:stretch>
                        <a:fillRect/>
                      </a:stretch>
                    </p:blipFill>
                    <p:spPr>
                      <a:xfrm>
                        <a:off x="2119" y="1589"/>
                        <a:ext cx="2116" cy="1587"/>
                      </a:xfrm>
                      <a:prstGeom prst="rect">
                        <a:avLst/>
                      </a:prstGeom>
                    </p:spPr>
                  </p:pic>
                </p:oleObj>
              </mc:Fallback>
            </mc:AlternateContent>
          </a:graphicData>
        </a:graphic>
      </p:graphicFrame>
      <p:sp>
        <p:nvSpPr>
          <p:cNvPr id="5" name="object 11">
            <a:extLst>
              <a:ext uri="{FF2B5EF4-FFF2-40B4-BE49-F238E27FC236}">
                <a16:creationId xmlns:a16="http://schemas.microsoft.com/office/drawing/2014/main" id="{6D94D76C-319F-36BF-93BC-9D4A893B8EE1}"/>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pic>
        <p:nvPicPr>
          <p:cNvPr id="4098" name="Picture 2" descr="Fort Nelson | Beem Credit Union">
            <a:extLst>
              <a:ext uri="{FF2B5EF4-FFF2-40B4-BE49-F238E27FC236}">
                <a16:creationId xmlns:a16="http://schemas.microsoft.com/office/drawing/2014/main" id="{07ED500F-5BEB-7258-0699-67830452B90D}"/>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10741464" y="138878"/>
            <a:ext cx="1373616" cy="408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4901286"/>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Lst>
  <p:transition>
    <p:fade/>
  </p:transition>
  <p:hf hdr="0" ftr="0" dt="0"/>
  <p:txStyles>
    <p:title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86BC25"/>
          </p15:clr>
        </p15:guide>
        <p15:guide id="2" orient="horz" pos="4032">
          <p15:clr>
            <a:srgbClr val="86BC25"/>
          </p15:clr>
        </p15:guide>
        <p15:guide id="3" orient="horz" pos="518">
          <p15:clr>
            <a:srgbClr val="86BC25"/>
          </p15:clr>
        </p15:guide>
        <p15:guide id="4" orient="horz" pos="748">
          <p15:clr>
            <a:srgbClr val="86BC25"/>
          </p15:clr>
        </p15:guide>
        <p15:guide id="5" orient="horz" pos="1152">
          <p15:clr>
            <a:srgbClr val="046A38"/>
          </p15:clr>
        </p15:guide>
        <p15:guide id="6" orient="horz" pos="2592">
          <p15:clr>
            <a:srgbClr val="62B5E5"/>
          </p15:clr>
        </p15:guide>
        <p15:guide id="7" orient="horz" pos="2112">
          <p15:clr>
            <a:srgbClr val="012169"/>
          </p15:clr>
        </p15:guide>
        <p15:guide id="8" orient="horz" pos="3072">
          <p15:clr>
            <a:srgbClr val="012169"/>
          </p15:clr>
        </p15:guide>
        <p15:guide id="9" pos="288">
          <p15:clr>
            <a:srgbClr val="86BC25"/>
          </p15:clr>
        </p15:guide>
        <p15:guide id="10" pos="6048">
          <p15:clr>
            <a:srgbClr val="86BC25"/>
          </p15:clr>
        </p15:guide>
        <p15:guide id="11" pos="3024">
          <p15:clr>
            <a:srgbClr val="62B5E5"/>
          </p15:clr>
        </p15:guide>
        <p15:guide id="12" pos="3312">
          <p15:clr>
            <a:srgbClr val="62B5E5"/>
          </p15:clr>
        </p15:guide>
        <p15:guide id="13" pos="2016">
          <p15:clr>
            <a:srgbClr val="012169"/>
          </p15:clr>
        </p15:guide>
        <p15:guide id="14" pos="2448">
          <p15:clr>
            <a:srgbClr val="012169"/>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1.xml"/><Relationship Id="rId1" Type="http://schemas.openxmlformats.org/officeDocument/2006/relationships/tags" Target="../tags/tag10.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5.xml"/><Relationship Id="rId1" Type="http://schemas.openxmlformats.org/officeDocument/2006/relationships/tags" Target="../tags/tag14.xml"/><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9.sv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9.xml"/><Relationship Id="rId1" Type="http://schemas.openxmlformats.org/officeDocument/2006/relationships/tags" Target="../tags/tag18.xml"/><Relationship Id="rId5" Type="http://schemas.openxmlformats.org/officeDocument/2006/relationships/image" Target="../media/image9.sv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23.xml"/><Relationship Id="rId1" Type="http://schemas.openxmlformats.org/officeDocument/2006/relationships/tags" Target="../tags/tag22.xml"/><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ags" Target="../tags/tag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3C7C1-35F1-EA23-5901-DE6B97D05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A9E222-7EE9-FBD1-FC9C-0039DC8D6315}"/>
              </a:ext>
            </a:extLst>
          </p:cNvPr>
          <p:cNvSpPr>
            <a:spLocks noGrp="1"/>
          </p:cNvSpPr>
          <p:nvPr>
            <p:ph type="title"/>
          </p:nvPr>
        </p:nvSpPr>
        <p:spPr>
          <a:xfrm>
            <a:off x="507607" y="2632799"/>
            <a:ext cx="10418233" cy="1592403"/>
          </a:xfrm>
        </p:spPr>
        <p:txBody>
          <a:bodyPr anchor="t"/>
          <a:lstStyle/>
          <a:p>
            <a:r>
              <a:rPr lang="en-US" dirty="0"/>
              <a:t>Dispute Resolution Process Flows</a:t>
            </a:r>
          </a:p>
        </p:txBody>
      </p:sp>
      <p:sp>
        <p:nvSpPr>
          <p:cNvPr id="3" name="Slide Number Placeholder 4">
            <a:extLst>
              <a:ext uri="{FF2B5EF4-FFF2-40B4-BE49-F238E27FC236}">
                <a16:creationId xmlns:a16="http://schemas.microsoft.com/office/drawing/2014/main" id="{B213B69B-38C1-005D-D942-7BE094E28EE1}"/>
              </a:ext>
            </a:extLst>
          </p:cNvPr>
          <p:cNvSpPr txBox="1">
            <a:spLocks/>
          </p:cNvSpPr>
          <p:nvPr/>
        </p:nvSpPr>
        <p:spPr>
          <a:xfrm>
            <a:off x="11677216" y="6644119"/>
            <a:ext cx="44884" cy="100027"/>
          </a:xfrm>
          <a:prstGeom prst="rect">
            <a:avLst/>
          </a:prstGeom>
        </p:spPr>
        <p:txBody>
          <a:bodyPr vert="horz" wrap="none" lIns="0" tIns="0" rIns="0" bIns="0" rtlCol="0" anchor="ctr">
            <a:spAutoFit/>
          </a:bodyPr>
          <a:lstStyle>
            <a:defPPr>
              <a:defRPr lang="en-US"/>
            </a:defPPr>
            <a:lvl1pPr marL="0" algn="r" defTabSz="914400" rtl="0" eaLnBrk="1" latinLnBrk="0" hangingPunct="1">
              <a:defRPr sz="650" kern="1200">
                <a:solidFill>
                  <a:schemeClr val="tx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D70FF2A-E074-4D3B-BB94-FFBB4B519E26}" type="slidenum">
              <a:rPr kumimoji="0" lang="en-CA" sz="650" b="0" i="0" u="none" strike="noStrike" kern="1200" cap="none" spc="0" normalizeH="0" baseline="0" noProof="0" smtClean="0">
                <a:ln>
                  <a:noFill/>
                </a:ln>
                <a:solidFill>
                  <a:prstClr val="white"/>
                </a:solidFill>
                <a:effectLst/>
                <a:uLnTx/>
                <a:uFillTx/>
                <a:latin typeface="Segoe UI" panose="020B0502040204020203" pitchFamily="34" charset="0"/>
                <a:ea typeface="+mn-ea"/>
                <a:cs typeface="Segoe UI" panose="020B0502040204020203"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CA" sz="6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25913566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E37C8-2FAE-837C-C696-EC90BB078DC3}"/>
            </a:ext>
          </a:extLst>
        </p:cNvPr>
        <p:cNvGrpSpPr/>
        <p:nvPr/>
      </p:nvGrpSpPr>
      <p:grpSpPr>
        <a:xfrm>
          <a:off x="0" y="0"/>
          <a:ext cx="0" cy="0"/>
          <a:chOff x="0" y="0"/>
          <a:chExt cx="0" cy="0"/>
        </a:xfrm>
      </p:grpSpPr>
      <p:sp>
        <p:nvSpPr>
          <p:cNvPr id="179" name="Text Placeholder 3">
            <a:extLst>
              <a:ext uri="{FF2B5EF4-FFF2-40B4-BE49-F238E27FC236}">
                <a16:creationId xmlns:a16="http://schemas.microsoft.com/office/drawing/2014/main" id="{ECDED96A-DED0-3375-815E-64E05C5495CF}"/>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75FAB837-65D9-B0C7-6AFD-25F49D8D33C6}"/>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High-level Process Flow</a:t>
            </a:r>
          </a:p>
        </p:txBody>
      </p:sp>
      <p:sp>
        <p:nvSpPr>
          <p:cNvPr id="7" name="Shape 2">
            <a:extLst>
              <a:ext uri="{FF2B5EF4-FFF2-40B4-BE49-F238E27FC236}">
                <a16:creationId xmlns:a16="http://schemas.microsoft.com/office/drawing/2014/main" id="{4BD23A0E-719D-2A89-327D-73A87FE93B3A}"/>
              </a:ext>
            </a:extLst>
          </p:cNvPr>
          <p:cNvSpPr/>
          <p:nvPr/>
        </p:nvSpPr>
        <p:spPr>
          <a:xfrm>
            <a:off x="170411" y="2934935"/>
            <a:ext cx="1786313" cy="694033"/>
          </a:xfrm>
          <a:prstGeom prst="roundRect">
            <a:avLst>
              <a:gd name="adj" fmla="val 16667"/>
            </a:avLst>
          </a:prstGeom>
          <a:solidFill>
            <a:schemeClr val="accent1">
              <a:lumMod val="20000"/>
              <a:lumOff val="8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DISPUTE INTAKE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1F1F1F"/>
                </a:solidFill>
                <a:effectLst/>
                <a:uLnTx/>
                <a:uFillTx/>
                <a:latin typeface="Segoe UI"/>
                <a:ea typeface="+mn-ea"/>
                <a:cs typeface="+mn-cs"/>
              </a:rPr>
              <a:t>Growth</a:t>
            </a:r>
          </a:p>
        </p:txBody>
      </p:sp>
      <p:sp>
        <p:nvSpPr>
          <p:cNvPr id="39" name="Shape 34">
            <a:extLst>
              <a:ext uri="{FF2B5EF4-FFF2-40B4-BE49-F238E27FC236}">
                <a16:creationId xmlns:a16="http://schemas.microsoft.com/office/drawing/2014/main" id="{884E95C9-EEFD-7E80-0691-54FE1118215D}"/>
              </a:ext>
            </a:extLst>
          </p:cNvPr>
          <p:cNvSpPr/>
          <p:nvPr/>
        </p:nvSpPr>
        <p:spPr>
          <a:xfrm>
            <a:off x="170411" y="3682353"/>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14300" marR="0" lvl="0" indent="-114300" algn="l" defTabSz="121917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Receive claim: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contact </a:t>
            </a:r>
            <a:r>
              <a:rPr kumimoji="0" lang="en-US" sz="1000" b="0" i="0" u="none" strike="noStrike" kern="1200" cap="none" spc="0" normalizeH="0" baseline="0" noProof="0" err="1">
                <a:ln>
                  <a:noFill/>
                </a:ln>
                <a:solidFill>
                  <a:srgbClr val="53565A">
                    <a:lumMod val="75000"/>
                  </a:srgbClr>
                </a:solidFill>
                <a:effectLst/>
                <a:uLnTx/>
                <a:uFillTx/>
                <a:latin typeface="Segoe UI"/>
                <a:ea typeface="+mn-ea"/>
                <a:cs typeface="+mn-cs"/>
              </a:rPr>
              <a:t>centre</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branch</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Verify</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cardholder and impacted transaction(s)</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Record</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reason (fraud or non-fraud), dates, amount, etc.</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Block / reissue i</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f account security is at risk</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Create a case</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add required notices, and assign owner</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endPar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endParaRPr>
          </a:p>
        </p:txBody>
      </p:sp>
      <p:sp>
        <p:nvSpPr>
          <p:cNvPr id="80" name="Oval 79">
            <a:extLst>
              <a:ext uri="{FF2B5EF4-FFF2-40B4-BE49-F238E27FC236}">
                <a16:creationId xmlns:a16="http://schemas.microsoft.com/office/drawing/2014/main" id="{99D76CE2-F4F1-7ADA-3916-4FB20615A359}"/>
              </a:ext>
            </a:extLst>
          </p:cNvPr>
          <p:cNvSpPr/>
          <p:nvPr/>
        </p:nvSpPr>
        <p:spPr bwMode="gray">
          <a:xfrm>
            <a:off x="74190" y="2841108"/>
            <a:ext cx="216000" cy="216000"/>
          </a:xfrm>
          <a:prstGeom prst="ellipse">
            <a:avLst/>
          </a:prstGeom>
          <a:solidFill>
            <a:schemeClr val="bg1"/>
          </a:solidFill>
          <a:ln w="19050" algn="ctr">
            <a:solidFill>
              <a:schemeClr val="accent1">
                <a:lumMod val="20000"/>
                <a:lumOff val="80000"/>
              </a:schemeClr>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1</a:t>
            </a:r>
          </a:p>
        </p:txBody>
      </p:sp>
      <p:sp>
        <p:nvSpPr>
          <p:cNvPr id="11" name="Shape 6">
            <a:extLst>
              <a:ext uri="{FF2B5EF4-FFF2-40B4-BE49-F238E27FC236}">
                <a16:creationId xmlns:a16="http://schemas.microsoft.com/office/drawing/2014/main" id="{BFC0C1D9-44C1-D965-8286-8FEB9AE83286}"/>
              </a:ext>
            </a:extLst>
          </p:cNvPr>
          <p:cNvSpPr/>
          <p:nvPr/>
        </p:nvSpPr>
        <p:spPr>
          <a:xfrm>
            <a:off x="4115428" y="2934933"/>
            <a:ext cx="1786313" cy="694033"/>
          </a:xfrm>
          <a:prstGeom prst="roundRect">
            <a:avLst>
              <a:gd name="adj" fmla="val 16667"/>
            </a:avLst>
          </a:prstGeom>
          <a:solidFill>
            <a:schemeClr val="accent1">
              <a:lumMod val="40000"/>
              <a:lumOff val="6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CASE PREPARATION &amp; DOCUMENT ASSESSMENT</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1F1F1F"/>
                </a:solidFill>
                <a:effectLst/>
                <a:uLnTx/>
                <a:uFillTx/>
                <a:latin typeface="Segoe UI"/>
                <a:ea typeface="+mn-ea"/>
                <a:cs typeface="+mn-cs"/>
              </a:rPr>
              <a:t>Payment Services / Fraud</a:t>
            </a:r>
          </a:p>
        </p:txBody>
      </p:sp>
      <p:sp>
        <p:nvSpPr>
          <p:cNvPr id="45" name="Shape 40">
            <a:extLst>
              <a:ext uri="{FF2B5EF4-FFF2-40B4-BE49-F238E27FC236}">
                <a16:creationId xmlns:a16="http://schemas.microsoft.com/office/drawing/2014/main" id="{98C28D37-4D0B-21F4-3AE3-C7E3903C33F6}"/>
              </a:ext>
            </a:extLst>
          </p:cNvPr>
          <p:cNvSpPr/>
          <p:nvPr/>
        </p:nvSpPr>
        <p:spPr>
          <a:xfrm>
            <a:off x="4115428" y="3682351"/>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Review the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case</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and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supporting</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information / documents (e.g., cardholder statement, transaction data, etc.)</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Gather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missing information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and supportive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evidence</a:t>
            </a:r>
          </a:p>
        </p:txBody>
      </p:sp>
      <p:sp>
        <p:nvSpPr>
          <p:cNvPr id="81" name="Oval 80">
            <a:extLst>
              <a:ext uri="{FF2B5EF4-FFF2-40B4-BE49-F238E27FC236}">
                <a16:creationId xmlns:a16="http://schemas.microsoft.com/office/drawing/2014/main" id="{46075453-EEFF-0237-0F17-C4652FDB3EAF}"/>
              </a:ext>
            </a:extLst>
          </p:cNvPr>
          <p:cNvSpPr/>
          <p:nvPr/>
        </p:nvSpPr>
        <p:spPr bwMode="gray">
          <a:xfrm>
            <a:off x="4018191" y="2841108"/>
            <a:ext cx="216000" cy="216000"/>
          </a:xfrm>
          <a:prstGeom prst="ellipse">
            <a:avLst/>
          </a:prstGeom>
          <a:solidFill>
            <a:schemeClr val="bg1"/>
          </a:solidFill>
          <a:ln w="19050" algn="ctr">
            <a:solidFill>
              <a:schemeClr val="accent1">
                <a:lumMod val="40000"/>
                <a:lumOff val="60000"/>
              </a:schemeClr>
            </a:solidFill>
            <a:miter lim="800000"/>
            <a:headEnd/>
            <a:tailEnd/>
          </a:ln>
        </p:spPr>
        <p:txBody>
          <a:bodyPr wrap="square" lIns="0" tIns="0" rIns="0" bIns="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3a</a:t>
            </a:r>
          </a:p>
        </p:txBody>
      </p:sp>
      <p:sp>
        <p:nvSpPr>
          <p:cNvPr id="15" name="Shape 10">
            <a:extLst>
              <a:ext uri="{FF2B5EF4-FFF2-40B4-BE49-F238E27FC236}">
                <a16:creationId xmlns:a16="http://schemas.microsoft.com/office/drawing/2014/main" id="{4370E86F-933E-2048-A6DA-F6CBFFD22A60}"/>
              </a:ext>
            </a:extLst>
          </p:cNvPr>
          <p:cNvSpPr/>
          <p:nvPr/>
        </p:nvSpPr>
        <p:spPr>
          <a:xfrm>
            <a:off x="6118805" y="2934934"/>
            <a:ext cx="1786313" cy="694034"/>
          </a:xfrm>
          <a:prstGeom prst="roundRect">
            <a:avLst>
              <a:gd name="adj" fmla="val 16667"/>
            </a:avLst>
          </a:prstGeom>
          <a:solidFill>
            <a:schemeClr val="accent1">
              <a:lumMod val="60000"/>
              <a:lumOff val="4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Segoe UI"/>
                <a:ea typeface="+mn-ea"/>
                <a:cs typeface="+mn-cs"/>
              </a:rPr>
              <a:t>PROVISIONAL CREDIT ISSUANCE</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FFFFFF"/>
                </a:solidFill>
                <a:effectLst/>
                <a:uLnTx/>
                <a:uFillTx/>
                <a:latin typeface="Segoe UI"/>
                <a:ea typeface="+mn-ea"/>
                <a:cs typeface="+mn-cs"/>
              </a:rPr>
              <a:t>Finance</a:t>
            </a:r>
          </a:p>
        </p:txBody>
      </p:sp>
      <p:sp>
        <p:nvSpPr>
          <p:cNvPr id="56" name="Shape 51">
            <a:extLst>
              <a:ext uri="{FF2B5EF4-FFF2-40B4-BE49-F238E27FC236}">
                <a16:creationId xmlns:a16="http://schemas.microsoft.com/office/drawing/2014/main" id="{DB6ACFA9-661A-0EEE-270A-689E72E18296}"/>
              </a:ext>
            </a:extLst>
          </p:cNvPr>
          <p:cNvSpPr/>
          <p:nvPr/>
        </p:nvSpPr>
        <p:spPr>
          <a:xfrm>
            <a:off x="6118805" y="3682353"/>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Confirm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amount</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and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customer account</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Post provisional credit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within Visa SLAs</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Track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provisional credit aging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and reversal</a:t>
            </a:r>
          </a:p>
        </p:txBody>
      </p:sp>
      <p:sp>
        <p:nvSpPr>
          <p:cNvPr id="82" name="Oval 81">
            <a:extLst>
              <a:ext uri="{FF2B5EF4-FFF2-40B4-BE49-F238E27FC236}">
                <a16:creationId xmlns:a16="http://schemas.microsoft.com/office/drawing/2014/main" id="{8A153F28-701B-6E98-6FAB-F91CFF8EB748}"/>
              </a:ext>
            </a:extLst>
          </p:cNvPr>
          <p:cNvSpPr/>
          <p:nvPr/>
        </p:nvSpPr>
        <p:spPr bwMode="gray">
          <a:xfrm>
            <a:off x="6029696" y="2841108"/>
            <a:ext cx="216000" cy="216000"/>
          </a:xfrm>
          <a:prstGeom prst="ellipse">
            <a:avLst/>
          </a:prstGeom>
          <a:solidFill>
            <a:schemeClr val="bg1"/>
          </a:solidFill>
          <a:ln w="19050" algn="ctr">
            <a:solidFill>
              <a:schemeClr val="accent1">
                <a:lumMod val="60000"/>
                <a:lumOff val="40000"/>
              </a:schemeClr>
            </a:solidFill>
            <a:miter lim="800000"/>
            <a:headEnd/>
            <a:tailEnd/>
          </a:ln>
        </p:spPr>
        <p:txBody>
          <a:bodyPr wrap="square" lIns="0" tIns="0" rIns="0" bIns="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3b</a:t>
            </a:r>
          </a:p>
        </p:txBody>
      </p:sp>
      <p:sp>
        <p:nvSpPr>
          <p:cNvPr id="19" name="Shape 14">
            <a:extLst>
              <a:ext uri="{FF2B5EF4-FFF2-40B4-BE49-F238E27FC236}">
                <a16:creationId xmlns:a16="http://schemas.microsoft.com/office/drawing/2014/main" id="{76C92B8D-95B5-9727-3C85-7E66DF1B7759}"/>
              </a:ext>
            </a:extLst>
          </p:cNvPr>
          <p:cNvSpPr/>
          <p:nvPr/>
        </p:nvSpPr>
        <p:spPr>
          <a:xfrm>
            <a:off x="8114054" y="2934934"/>
            <a:ext cx="1786313" cy="694034"/>
          </a:xfrm>
          <a:prstGeom prst="roundRect">
            <a:avLst>
              <a:gd name="adj" fmla="val 16667"/>
            </a:avLst>
          </a:prstGeom>
          <a:solidFill>
            <a:srgbClr val="991BFF"/>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Segoe UI"/>
                <a:ea typeface="+mn-ea"/>
                <a:cs typeface="+mn-cs"/>
              </a:rPr>
              <a:t>NETWORK SUBMISSION &amp; RESPONSE</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FFFFFF"/>
                </a:solidFill>
                <a:effectLst/>
                <a:uLnTx/>
                <a:uFillTx/>
                <a:latin typeface="Segoe UI"/>
                <a:ea typeface="+mn-ea"/>
                <a:cs typeface="+mn-cs"/>
              </a:rPr>
              <a:t>Payment Services / Fraud &amp; Central 1</a:t>
            </a:r>
          </a:p>
        </p:txBody>
      </p:sp>
      <p:sp>
        <p:nvSpPr>
          <p:cNvPr id="68" name="Shape 62">
            <a:extLst>
              <a:ext uri="{FF2B5EF4-FFF2-40B4-BE49-F238E27FC236}">
                <a16:creationId xmlns:a16="http://schemas.microsoft.com/office/drawing/2014/main" id="{51F3ED72-758B-5995-B1C5-AF7FB2DF95FF}"/>
              </a:ext>
            </a:extLst>
          </p:cNvPr>
          <p:cNvSpPr/>
          <p:nvPr/>
        </p:nvSpPr>
        <p:spPr>
          <a:xfrm>
            <a:off x="8114054" y="3682353"/>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Submit the dispute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to C1</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Monitor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acceptance, response, and representment</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Respond to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requests</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and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escalate</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when appropriate</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Maintain a complete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case audit trail</a:t>
            </a:r>
          </a:p>
        </p:txBody>
      </p:sp>
      <p:sp>
        <p:nvSpPr>
          <p:cNvPr id="83" name="Oval 82">
            <a:extLst>
              <a:ext uri="{FF2B5EF4-FFF2-40B4-BE49-F238E27FC236}">
                <a16:creationId xmlns:a16="http://schemas.microsoft.com/office/drawing/2014/main" id="{C0F21673-2458-C381-D63F-D1FC48A1E20A}"/>
              </a:ext>
            </a:extLst>
          </p:cNvPr>
          <p:cNvSpPr/>
          <p:nvPr/>
        </p:nvSpPr>
        <p:spPr bwMode="gray">
          <a:xfrm>
            <a:off x="8033073" y="2841108"/>
            <a:ext cx="216000" cy="216000"/>
          </a:xfrm>
          <a:prstGeom prst="ellipse">
            <a:avLst/>
          </a:prstGeom>
          <a:solidFill>
            <a:schemeClr val="bg1"/>
          </a:solidFill>
          <a:ln w="19050" algn="ctr">
            <a:solidFill>
              <a:srgbClr val="991BFF"/>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4</a:t>
            </a:r>
          </a:p>
        </p:txBody>
      </p:sp>
      <p:sp>
        <p:nvSpPr>
          <p:cNvPr id="23" name="Shape 18">
            <a:extLst>
              <a:ext uri="{FF2B5EF4-FFF2-40B4-BE49-F238E27FC236}">
                <a16:creationId xmlns:a16="http://schemas.microsoft.com/office/drawing/2014/main" id="{C7761345-5DA6-D7E7-7B65-F069F257DC5F}"/>
              </a:ext>
            </a:extLst>
          </p:cNvPr>
          <p:cNvSpPr/>
          <p:nvPr/>
        </p:nvSpPr>
        <p:spPr>
          <a:xfrm>
            <a:off x="10101176" y="2934935"/>
            <a:ext cx="1786313" cy="694034"/>
          </a:xfrm>
          <a:prstGeom prst="roundRect">
            <a:avLst>
              <a:gd name="adj" fmla="val 16667"/>
            </a:avLst>
          </a:prstGeom>
          <a:solidFill>
            <a:schemeClr val="accent1">
              <a:lumMod val="75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Segoe UI"/>
                <a:ea typeface="+mn-ea"/>
                <a:cs typeface="+mn-cs"/>
              </a:rPr>
              <a:t>RESOLUTION &amp; RECOVERY</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FFFFFF"/>
                </a:solidFill>
                <a:effectLst/>
                <a:uLnTx/>
                <a:uFillTx/>
                <a:latin typeface="Segoe UI"/>
                <a:ea typeface="+mn-ea"/>
                <a:cs typeface="+mn-cs"/>
              </a:rPr>
              <a:t>Payment Services / Fraud &amp; Finance</a:t>
            </a:r>
          </a:p>
        </p:txBody>
      </p:sp>
      <p:sp>
        <p:nvSpPr>
          <p:cNvPr id="74" name="Shape 68">
            <a:extLst>
              <a:ext uri="{FF2B5EF4-FFF2-40B4-BE49-F238E27FC236}">
                <a16:creationId xmlns:a16="http://schemas.microsoft.com/office/drawing/2014/main" id="{521C29DF-0884-87BC-DF4F-4C0F60C46EB3}"/>
              </a:ext>
            </a:extLst>
          </p:cNvPr>
          <p:cNvSpPr/>
          <p:nvPr/>
        </p:nvSpPr>
        <p:spPr>
          <a:xfrm>
            <a:off x="10101176" y="3682355"/>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Finalize or reverse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the provisional credit, as applicable</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Notify the cardholder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of the decision </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Record</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recoveries, losses, fees, and required general ledger entries</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Archive supporting evidence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and close the case</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Prepare</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 reporting</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and trend analysis</a:t>
            </a:r>
          </a:p>
        </p:txBody>
      </p:sp>
      <p:sp>
        <p:nvSpPr>
          <p:cNvPr id="84" name="Oval 83">
            <a:extLst>
              <a:ext uri="{FF2B5EF4-FFF2-40B4-BE49-F238E27FC236}">
                <a16:creationId xmlns:a16="http://schemas.microsoft.com/office/drawing/2014/main" id="{6D77A118-1A15-7BA8-B3BC-202B04105D52}"/>
              </a:ext>
            </a:extLst>
          </p:cNvPr>
          <p:cNvSpPr/>
          <p:nvPr/>
        </p:nvSpPr>
        <p:spPr bwMode="gray">
          <a:xfrm>
            <a:off x="10028323" y="2841108"/>
            <a:ext cx="216000" cy="216000"/>
          </a:xfrm>
          <a:prstGeom prst="ellipse">
            <a:avLst/>
          </a:prstGeom>
          <a:solidFill>
            <a:schemeClr val="bg1"/>
          </a:solidFill>
          <a:ln w="19050" algn="ctr">
            <a:solidFill>
              <a:schemeClr val="accent1">
                <a:lumMod val="75000"/>
              </a:schemeClr>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5</a:t>
            </a:r>
          </a:p>
        </p:txBody>
      </p:sp>
      <p:cxnSp>
        <p:nvCxnSpPr>
          <p:cNvPr id="118" name="Straight Connector 117">
            <a:extLst>
              <a:ext uri="{FF2B5EF4-FFF2-40B4-BE49-F238E27FC236}">
                <a16:creationId xmlns:a16="http://schemas.microsoft.com/office/drawing/2014/main" id="{10640867-547C-FC52-58F2-3C3702459EEF}"/>
              </a:ext>
            </a:extLst>
          </p:cNvPr>
          <p:cNvCxnSpPr>
            <a:cxnSpLocks/>
          </p:cNvCxnSpPr>
          <p:nvPr/>
        </p:nvCxnSpPr>
        <p:spPr>
          <a:xfrm>
            <a:off x="406699" y="1324415"/>
            <a:ext cx="11376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A185FCFF-177B-ECE2-12E2-BB3205B345E5}"/>
              </a:ext>
            </a:extLst>
          </p:cNvPr>
          <p:cNvSpPr txBox="1"/>
          <p:nvPr/>
        </p:nvSpPr>
        <p:spPr>
          <a:xfrm>
            <a:off x="4399851" y="1180910"/>
            <a:ext cx="3392298" cy="276999"/>
          </a:xfrm>
          <a:prstGeom prst="rect">
            <a:avLst/>
          </a:prstGeom>
          <a:solidFill>
            <a:schemeClr val="bg1"/>
          </a:solid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3565A">
                    <a:lumMod val="75000"/>
                  </a:srgbClr>
                </a:solidFill>
                <a:effectLst/>
                <a:uLnTx/>
                <a:uFillTx/>
                <a:latin typeface="Segoe UI"/>
                <a:ea typeface="+mn-ea"/>
                <a:cs typeface="+mn-cs"/>
              </a:rPr>
              <a:t>ECOSYSTEM OVERVIEW</a:t>
            </a:r>
            <a:endParaRPr kumimoji="0" lang="en-US" sz="3600" b="0" i="0" u="none" strike="noStrike" kern="1200" cap="none" spc="0" normalizeH="0" baseline="0" noProof="0">
              <a:ln>
                <a:noFill/>
              </a:ln>
              <a:solidFill>
                <a:srgbClr val="53565A"/>
              </a:solidFill>
              <a:effectLst/>
              <a:uLnTx/>
              <a:uFillTx/>
              <a:latin typeface="Segoe UI"/>
              <a:ea typeface="+mn-ea"/>
              <a:cs typeface="+mn-cs"/>
            </a:endParaRPr>
          </a:p>
        </p:txBody>
      </p:sp>
      <p:sp>
        <p:nvSpPr>
          <p:cNvPr id="148" name="Shape 6">
            <a:extLst>
              <a:ext uri="{FF2B5EF4-FFF2-40B4-BE49-F238E27FC236}">
                <a16:creationId xmlns:a16="http://schemas.microsoft.com/office/drawing/2014/main" id="{0765413C-B8F0-D86F-7030-330E6F2B0B35}"/>
              </a:ext>
            </a:extLst>
          </p:cNvPr>
          <p:cNvSpPr/>
          <p:nvPr/>
        </p:nvSpPr>
        <p:spPr>
          <a:xfrm>
            <a:off x="477927" y="1463377"/>
            <a:ext cx="2016000" cy="684000"/>
          </a:xfrm>
          <a:prstGeom prst="roundRect">
            <a:avLst>
              <a:gd name="adj" fmla="val 4706"/>
            </a:avLst>
          </a:prstGeom>
          <a:solidFill>
            <a:srgbClr val="FFFFFF"/>
          </a:solidFill>
          <a:ln w="12700">
            <a:solidFill>
              <a:srgbClr val="D9E2EC"/>
            </a:solidFill>
            <a:prstDash val="solid"/>
          </a:ln>
          <a:effectLst>
            <a:outerShdw blurRad="19050" dist="7620" dir="2700000" algn="bl" rotWithShape="0">
              <a:srgbClr val="000000">
                <a:alpha val="12000"/>
              </a:srgbClr>
            </a:outerShdw>
          </a:effectLst>
        </p:spPr>
        <p:txBody>
          <a:bodyPr lIns="393700" tIns="45720" rIns="45720" bIns="4572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Cardholder</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3565A">
                    <a:lumMod val="75000"/>
                  </a:srgbClr>
                </a:solidFill>
                <a:effectLst/>
                <a:uLnTx/>
                <a:uFillTx/>
                <a:latin typeface="Segoe UI"/>
                <a:ea typeface="+mn-ea"/>
                <a:cs typeface="+mn-cs"/>
              </a:rPr>
              <a:t>Raises the dispute and provides supporting information</a:t>
            </a: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149" name="Shape 6">
            <a:extLst>
              <a:ext uri="{FF2B5EF4-FFF2-40B4-BE49-F238E27FC236}">
                <a16:creationId xmlns:a16="http://schemas.microsoft.com/office/drawing/2014/main" id="{D067A7D1-4607-3C20-96FC-5DE054802939}"/>
              </a:ext>
            </a:extLst>
          </p:cNvPr>
          <p:cNvSpPr/>
          <p:nvPr/>
        </p:nvSpPr>
        <p:spPr>
          <a:xfrm>
            <a:off x="2793321" y="1473098"/>
            <a:ext cx="2016000" cy="684000"/>
          </a:xfrm>
          <a:prstGeom prst="roundRect">
            <a:avLst>
              <a:gd name="adj" fmla="val 4706"/>
            </a:avLst>
          </a:prstGeom>
          <a:solidFill>
            <a:srgbClr val="FFFFFF"/>
          </a:solidFill>
          <a:ln w="12700">
            <a:solidFill>
              <a:srgbClr val="D9E2EC"/>
            </a:solidFill>
            <a:prstDash val="solid"/>
          </a:ln>
          <a:effectLst>
            <a:outerShdw blurRad="19050" dist="7620" dir="2700000" algn="bl" rotWithShape="0">
              <a:srgbClr val="000000">
                <a:alpha val="12000"/>
              </a:srgbClr>
            </a:outerShdw>
          </a:effectLst>
        </p:spPr>
        <p:txBody>
          <a:bodyPr lIns="393700" tIns="45720" rIns="45720" bIns="4572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Issuer</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3565A">
                    <a:lumMod val="75000"/>
                  </a:srgbClr>
                </a:solidFill>
                <a:effectLst/>
                <a:uLnTx/>
                <a:uFillTx/>
                <a:latin typeface="Segoe UI"/>
                <a:ea typeface="+mn-ea"/>
                <a:cs typeface="+mn-cs"/>
              </a:rPr>
              <a:t>Receives the claim, assesses eligibility and submits the dispute</a:t>
            </a: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150" name="Shape 6">
            <a:extLst>
              <a:ext uri="{FF2B5EF4-FFF2-40B4-BE49-F238E27FC236}">
                <a16:creationId xmlns:a16="http://schemas.microsoft.com/office/drawing/2014/main" id="{2126A0A0-94CF-0BD0-A971-9A15337CB7AD}"/>
              </a:ext>
            </a:extLst>
          </p:cNvPr>
          <p:cNvSpPr/>
          <p:nvPr/>
        </p:nvSpPr>
        <p:spPr>
          <a:xfrm>
            <a:off x="5108715" y="1473098"/>
            <a:ext cx="2016000" cy="684000"/>
          </a:xfrm>
          <a:prstGeom prst="roundRect">
            <a:avLst>
              <a:gd name="adj" fmla="val 4706"/>
            </a:avLst>
          </a:prstGeom>
          <a:solidFill>
            <a:srgbClr val="FFFFFF"/>
          </a:solidFill>
          <a:ln w="12700">
            <a:solidFill>
              <a:srgbClr val="D9E2EC"/>
            </a:solidFill>
            <a:prstDash val="solid"/>
          </a:ln>
          <a:effectLst>
            <a:outerShdw blurRad="19050" dist="7620" dir="2700000" algn="bl" rotWithShape="0">
              <a:srgbClr val="000000">
                <a:alpha val="12000"/>
              </a:srgbClr>
            </a:outerShdw>
          </a:effectLst>
        </p:spPr>
        <p:txBody>
          <a:bodyPr lIns="393700" tIns="45720" rIns="45720" bIns="4572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Network</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3565A">
                    <a:lumMod val="75000"/>
                  </a:srgbClr>
                </a:solidFill>
                <a:effectLst/>
                <a:uLnTx/>
                <a:uFillTx/>
                <a:latin typeface="Segoe UI"/>
                <a:ea typeface="+mn-ea"/>
                <a:cs typeface="+mn-cs"/>
              </a:rPr>
              <a:t>Sets dispute rules, timeframes and reason; routes messages and funds</a:t>
            </a:r>
          </a:p>
        </p:txBody>
      </p:sp>
      <p:sp>
        <p:nvSpPr>
          <p:cNvPr id="151" name="Shape 6">
            <a:extLst>
              <a:ext uri="{FF2B5EF4-FFF2-40B4-BE49-F238E27FC236}">
                <a16:creationId xmlns:a16="http://schemas.microsoft.com/office/drawing/2014/main" id="{1415C111-DBEC-701C-125A-97CC8F61B244}"/>
              </a:ext>
            </a:extLst>
          </p:cNvPr>
          <p:cNvSpPr/>
          <p:nvPr/>
        </p:nvSpPr>
        <p:spPr>
          <a:xfrm>
            <a:off x="7424109" y="1473098"/>
            <a:ext cx="2016000" cy="684000"/>
          </a:xfrm>
          <a:prstGeom prst="roundRect">
            <a:avLst>
              <a:gd name="adj" fmla="val 4706"/>
            </a:avLst>
          </a:prstGeom>
          <a:solidFill>
            <a:srgbClr val="FFFFFF"/>
          </a:solidFill>
          <a:ln w="12700">
            <a:solidFill>
              <a:srgbClr val="D9E2EC"/>
            </a:solidFill>
            <a:prstDash val="solid"/>
          </a:ln>
          <a:effectLst>
            <a:outerShdw blurRad="19050" dist="7620" dir="2700000" algn="bl" rotWithShape="0">
              <a:srgbClr val="000000">
                <a:alpha val="12000"/>
              </a:srgbClr>
            </a:outerShdw>
          </a:effectLst>
        </p:spPr>
        <p:txBody>
          <a:bodyPr lIns="393700" tIns="45720" rIns="45720" bIns="4572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Acquirer</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3565A">
                    <a:lumMod val="75000"/>
                  </a:srgbClr>
                </a:solidFill>
                <a:effectLst/>
                <a:uLnTx/>
                <a:uFillTx/>
                <a:latin typeface="Segoe UI"/>
                <a:ea typeface="+mn-ea"/>
                <a:cs typeface="+mn-cs"/>
              </a:rPr>
              <a:t>Receives the dispute for the merchant and coordinates the merchant response</a:t>
            </a:r>
          </a:p>
        </p:txBody>
      </p:sp>
      <p:sp>
        <p:nvSpPr>
          <p:cNvPr id="152" name="Shape 6">
            <a:extLst>
              <a:ext uri="{FF2B5EF4-FFF2-40B4-BE49-F238E27FC236}">
                <a16:creationId xmlns:a16="http://schemas.microsoft.com/office/drawing/2014/main" id="{BF26C098-CE49-2FE4-0A7F-0883D9A1977E}"/>
              </a:ext>
            </a:extLst>
          </p:cNvPr>
          <p:cNvSpPr/>
          <p:nvPr/>
        </p:nvSpPr>
        <p:spPr>
          <a:xfrm>
            <a:off x="9739503" y="1473098"/>
            <a:ext cx="2016000" cy="684000"/>
          </a:xfrm>
          <a:prstGeom prst="roundRect">
            <a:avLst>
              <a:gd name="adj" fmla="val 4706"/>
            </a:avLst>
          </a:prstGeom>
          <a:solidFill>
            <a:srgbClr val="FFFFFF"/>
          </a:solidFill>
          <a:ln w="12700">
            <a:solidFill>
              <a:srgbClr val="D9E2EC"/>
            </a:solidFill>
            <a:prstDash val="solid"/>
          </a:ln>
          <a:effectLst>
            <a:outerShdw blurRad="19050" dist="7620" dir="2700000" algn="bl" rotWithShape="0">
              <a:srgbClr val="000000">
                <a:alpha val="12000"/>
              </a:srgbClr>
            </a:outerShdw>
          </a:effectLst>
        </p:spPr>
        <p:txBody>
          <a:bodyPr lIns="393700" tIns="45720" rIns="45720" bIns="4572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Merchant</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3565A">
                    <a:lumMod val="75000"/>
                  </a:srgbClr>
                </a:solidFill>
                <a:effectLst/>
                <a:uLnTx/>
                <a:uFillTx/>
                <a:latin typeface="Segoe UI"/>
                <a:ea typeface="+mn-ea"/>
                <a:cs typeface="+mn-cs"/>
              </a:rPr>
              <a:t>Reviews the claim and either accepts it or provides evidence to challenge it</a:t>
            </a:r>
          </a:p>
        </p:txBody>
      </p:sp>
      <p:cxnSp>
        <p:nvCxnSpPr>
          <p:cNvPr id="155" name="Straight Connector 154">
            <a:extLst>
              <a:ext uri="{FF2B5EF4-FFF2-40B4-BE49-F238E27FC236}">
                <a16:creationId xmlns:a16="http://schemas.microsoft.com/office/drawing/2014/main" id="{A6D97BD1-B9BC-0425-2526-C2FD0D41FF22}"/>
              </a:ext>
            </a:extLst>
          </p:cNvPr>
          <p:cNvCxnSpPr>
            <a:cxnSpLocks/>
          </p:cNvCxnSpPr>
          <p:nvPr/>
        </p:nvCxnSpPr>
        <p:spPr>
          <a:xfrm>
            <a:off x="502920" y="2542710"/>
            <a:ext cx="11376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90072C1F-C62D-9D72-1988-813AE15DDAA8}"/>
              </a:ext>
            </a:extLst>
          </p:cNvPr>
          <p:cNvSpPr txBox="1"/>
          <p:nvPr/>
        </p:nvSpPr>
        <p:spPr>
          <a:xfrm>
            <a:off x="4496072" y="2399205"/>
            <a:ext cx="3392298" cy="276999"/>
          </a:xfrm>
          <a:prstGeom prst="rect">
            <a:avLst/>
          </a:prstGeom>
          <a:solidFill>
            <a:schemeClr val="bg1"/>
          </a:solid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3565A">
                    <a:lumMod val="75000"/>
                  </a:srgbClr>
                </a:solidFill>
                <a:effectLst/>
                <a:uLnTx/>
                <a:uFillTx/>
                <a:latin typeface="Segoe UI"/>
                <a:ea typeface="+mn-ea"/>
                <a:cs typeface="+mn-cs"/>
              </a:rPr>
              <a:t>DISPUTE MANAGEMENT LIFECYCLE</a:t>
            </a:r>
            <a:endParaRPr kumimoji="0" lang="en-US" sz="3600" b="0" i="0" u="none" strike="noStrike" kern="1200" cap="none" spc="0" normalizeH="0" baseline="0" noProof="0">
              <a:ln>
                <a:noFill/>
              </a:ln>
              <a:solidFill>
                <a:srgbClr val="53565A"/>
              </a:solidFill>
              <a:effectLst/>
              <a:uLnTx/>
              <a:uFillTx/>
              <a:latin typeface="Segoe UI"/>
              <a:ea typeface="+mn-ea"/>
              <a:cs typeface="+mn-cs"/>
            </a:endParaRPr>
          </a:p>
        </p:txBody>
      </p:sp>
      <p:sp>
        <p:nvSpPr>
          <p:cNvPr id="980" name="IconBg0">
            <a:extLst>
              <a:ext uri="{FF2B5EF4-FFF2-40B4-BE49-F238E27FC236}">
                <a16:creationId xmlns:a16="http://schemas.microsoft.com/office/drawing/2014/main" id="{DD5994A8-1503-C891-814A-517A1512967A}"/>
              </a:ext>
            </a:extLst>
          </p:cNvPr>
          <p:cNvSpPr/>
          <p:nvPr/>
        </p:nvSpPr>
        <p:spPr>
          <a:xfrm>
            <a:off x="528219" y="1659073"/>
            <a:ext cx="292608" cy="29260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1" name="Ico0A">
            <a:extLst>
              <a:ext uri="{FF2B5EF4-FFF2-40B4-BE49-F238E27FC236}">
                <a16:creationId xmlns:a16="http://schemas.microsoft.com/office/drawing/2014/main" id="{DA0A5697-E5CB-94BB-6F97-3ADC6B9A92A6}"/>
              </a:ext>
            </a:extLst>
          </p:cNvPr>
          <p:cNvSpPr/>
          <p:nvPr/>
        </p:nvSpPr>
        <p:spPr>
          <a:xfrm>
            <a:off x="633375" y="1718509"/>
            <a:ext cx="82296" cy="82296"/>
          </a:xfrm>
          <a:prstGeom prst="ellipse">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2" name="Ico0B">
            <a:extLst>
              <a:ext uri="{FF2B5EF4-FFF2-40B4-BE49-F238E27FC236}">
                <a16:creationId xmlns:a16="http://schemas.microsoft.com/office/drawing/2014/main" id="{EE9369FE-0973-6CC3-6022-A9DD19223B54}"/>
              </a:ext>
            </a:extLst>
          </p:cNvPr>
          <p:cNvSpPr/>
          <p:nvPr/>
        </p:nvSpPr>
        <p:spPr>
          <a:xfrm>
            <a:off x="605943" y="1814521"/>
            <a:ext cx="137160" cy="82296"/>
          </a:xfrm>
          <a:prstGeom prst="roundRect">
            <a:avLst>
              <a:gd name="adj"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3" name="IconBg1">
            <a:extLst>
              <a:ext uri="{FF2B5EF4-FFF2-40B4-BE49-F238E27FC236}">
                <a16:creationId xmlns:a16="http://schemas.microsoft.com/office/drawing/2014/main" id="{8A2CB498-A78B-4C5D-77D0-587F3C238D76}"/>
              </a:ext>
            </a:extLst>
          </p:cNvPr>
          <p:cNvSpPr/>
          <p:nvPr/>
        </p:nvSpPr>
        <p:spPr>
          <a:xfrm>
            <a:off x="2843613" y="1668794"/>
            <a:ext cx="292608" cy="29260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4" name="Ico1A">
            <a:extLst>
              <a:ext uri="{FF2B5EF4-FFF2-40B4-BE49-F238E27FC236}">
                <a16:creationId xmlns:a16="http://schemas.microsoft.com/office/drawing/2014/main" id="{5BAD6567-4D06-49A6-B3D8-AB78CBB59AB8}"/>
              </a:ext>
            </a:extLst>
          </p:cNvPr>
          <p:cNvSpPr/>
          <p:nvPr/>
        </p:nvSpPr>
        <p:spPr>
          <a:xfrm>
            <a:off x="2903049" y="1728230"/>
            <a:ext cx="173736" cy="68580"/>
          </a:xfrm>
          <a:prstGeom prst="triangle">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5" name="Ico1B">
            <a:extLst>
              <a:ext uri="{FF2B5EF4-FFF2-40B4-BE49-F238E27FC236}">
                <a16:creationId xmlns:a16="http://schemas.microsoft.com/office/drawing/2014/main" id="{7CB4C377-5172-FFD1-17E1-89E609C26217}"/>
              </a:ext>
            </a:extLst>
          </p:cNvPr>
          <p:cNvSpPr/>
          <p:nvPr/>
        </p:nvSpPr>
        <p:spPr>
          <a:xfrm>
            <a:off x="2925909" y="1810526"/>
            <a:ext cx="128016" cy="91440"/>
          </a:xfrm>
          <a:prstGeom prst="rect">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6" name="IconBg2">
            <a:extLst>
              <a:ext uri="{FF2B5EF4-FFF2-40B4-BE49-F238E27FC236}">
                <a16:creationId xmlns:a16="http://schemas.microsoft.com/office/drawing/2014/main" id="{3E784CAB-C399-C6A0-CE29-60C1BDAA1C4F}"/>
              </a:ext>
            </a:extLst>
          </p:cNvPr>
          <p:cNvSpPr/>
          <p:nvPr/>
        </p:nvSpPr>
        <p:spPr>
          <a:xfrm>
            <a:off x="5159007" y="1668794"/>
            <a:ext cx="292608" cy="29260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7" name="Ico2A">
            <a:extLst>
              <a:ext uri="{FF2B5EF4-FFF2-40B4-BE49-F238E27FC236}">
                <a16:creationId xmlns:a16="http://schemas.microsoft.com/office/drawing/2014/main" id="{1A5C7719-D510-59B4-A6ED-D9D394CBFB1F}"/>
              </a:ext>
            </a:extLst>
          </p:cNvPr>
          <p:cNvSpPr/>
          <p:nvPr/>
        </p:nvSpPr>
        <p:spPr>
          <a:xfrm>
            <a:off x="5204727" y="1755662"/>
            <a:ext cx="201168" cy="118872"/>
          </a:xfrm>
          <a:prstGeom prst="leftRightArrow">
            <a:avLst>
              <a:gd name="adj1" fmla="val 32000"/>
              <a:gd name="adj2" fmla="val 45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8" name="IconBg3">
            <a:extLst>
              <a:ext uri="{FF2B5EF4-FFF2-40B4-BE49-F238E27FC236}">
                <a16:creationId xmlns:a16="http://schemas.microsoft.com/office/drawing/2014/main" id="{5603CE46-AD24-6DB3-1277-0A90A6484049}"/>
              </a:ext>
            </a:extLst>
          </p:cNvPr>
          <p:cNvSpPr/>
          <p:nvPr/>
        </p:nvSpPr>
        <p:spPr>
          <a:xfrm>
            <a:off x="7474401" y="1668794"/>
            <a:ext cx="292608" cy="29260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9" name="Ico3A">
            <a:extLst>
              <a:ext uri="{FF2B5EF4-FFF2-40B4-BE49-F238E27FC236}">
                <a16:creationId xmlns:a16="http://schemas.microsoft.com/office/drawing/2014/main" id="{70CF9F73-436E-454F-B280-6695A3D29DAB}"/>
              </a:ext>
            </a:extLst>
          </p:cNvPr>
          <p:cNvSpPr/>
          <p:nvPr/>
        </p:nvSpPr>
        <p:spPr>
          <a:xfrm>
            <a:off x="7529265" y="1746518"/>
            <a:ext cx="182880" cy="137160"/>
          </a:xfrm>
          <a:prstGeom prst="roundRect">
            <a:avLst>
              <a:gd name="adj" fmla="val 14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90" name="Ico3B">
            <a:extLst>
              <a:ext uri="{FF2B5EF4-FFF2-40B4-BE49-F238E27FC236}">
                <a16:creationId xmlns:a16="http://schemas.microsoft.com/office/drawing/2014/main" id="{724309D1-2597-7AAB-E55B-4F9013DDFA3D}"/>
              </a:ext>
            </a:extLst>
          </p:cNvPr>
          <p:cNvSpPr/>
          <p:nvPr/>
        </p:nvSpPr>
        <p:spPr>
          <a:xfrm>
            <a:off x="7529265" y="1764758"/>
            <a:ext cx="182880" cy="32004"/>
          </a:xfrm>
          <a:prstGeom prst="rect">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91" name="IconBg4">
            <a:extLst>
              <a:ext uri="{FF2B5EF4-FFF2-40B4-BE49-F238E27FC236}">
                <a16:creationId xmlns:a16="http://schemas.microsoft.com/office/drawing/2014/main" id="{A92E3AA2-7296-2F14-2756-42C681430E07}"/>
              </a:ext>
            </a:extLst>
          </p:cNvPr>
          <p:cNvSpPr/>
          <p:nvPr/>
        </p:nvSpPr>
        <p:spPr>
          <a:xfrm>
            <a:off x="9789795" y="1668794"/>
            <a:ext cx="292608" cy="29260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92" name="Ico4A">
            <a:extLst>
              <a:ext uri="{FF2B5EF4-FFF2-40B4-BE49-F238E27FC236}">
                <a16:creationId xmlns:a16="http://schemas.microsoft.com/office/drawing/2014/main" id="{2B16CDDE-1651-F000-4542-54C212F4DD9B}"/>
              </a:ext>
            </a:extLst>
          </p:cNvPr>
          <p:cNvSpPr/>
          <p:nvPr/>
        </p:nvSpPr>
        <p:spPr>
          <a:xfrm>
            <a:off x="9835515" y="1730564"/>
            <a:ext cx="201168" cy="54864"/>
          </a:xfrm>
          <a:prstGeom prst="trapezoid">
            <a:avLst>
              <a:gd name="adj" fmla="val 3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93" name="Ico4B">
            <a:extLst>
              <a:ext uri="{FF2B5EF4-FFF2-40B4-BE49-F238E27FC236}">
                <a16:creationId xmlns:a16="http://schemas.microsoft.com/office/drawing/2014/main" id="{60B412FB-FE48-083C-02EC-E917B94082CD}"/>
              </a:ext>
            </a:extLst>
          </p:cNvPr>
          <p:cNvSpPr/>
          <p:nvPr/>
        </p:nvSpPr>
        <p:spPr>
          <a:xfrm>
            <a:off x="9858375" y="1811086"/>
            <a:ext cx="155448" cy="100584"/>
          </a:xfrm>
          <a:prstGeom prst="rect">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20" name="Shape 2">
            <a:extLst>
              <a:ext uri="{FF2B5EF4-FFF2-40B4-BE49-F238E27FC236}">
                <a16:creationId xmlns:a16="http://schemas.microsoft.com/office/drawing/2014/main" id="{6DBEA44F-16B7-4769-D9D8-4DDC9B80D822}"/>
              </a:ext>
            </a:extLst>
          </p:cNvPr>
          <p:cNvSpPr/>
          <p:nvPr/>
        </p:nvSpPr>
        <p:spPr>
          <a:xfrm>
            <a:off x="2103923" y="2934935"/>
            <a:ext cx="1786313" cy="694033"/>
          </a:xfrm>
          <a:prstGeom prst="roundRect">
            <a:avLst>
              <a:gd name="adj" fmla="val 16667"/>
            </a:avLst>
          </a:prstGeom>
          <a:solidFill>
            <a:srgbClr val="DDC0F8"/>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DISPUTE TRIAGE</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1F1F1F"/>
                </a:solidFill>
                <a:effectLst/>
                <a:uLnTx/>
                <a:uFillTx/>
                <a:latin typeface="Segoe UI"/>
                <a:ea typeface="+mn-ea"/>
                <a:cs typeface="+mn-cs"/>
              </a:rPr>
              <a:t>Payment Services / Fraud</a:t>
            </a:r>
          </a:p>
        </p:txBody>
      </p:sp>
      <p:sp>
        <p:nvSpPr>
          <p:cNvPr id="21" name="Shape 34">
            <a:extLst>
              <a:ext uri="{FF2B5EF4-FFF2-40B4-BE49-F238E27FC236}">
                <a16:creationId xmlns:a16="http://schemas.microsoft.com/office/drawing/2014/main" id="{B6026130-6C4D-B498-5220-A033C5E78B87}"/>
              </a:ext>
            </a:extLst>
          </p:cNvPr>
          <p:cNvSpPr/>
          <p:nvPr/>
        </p:nvSpPr>
        <p:spPr>
          <a:xfrm>
            <a:off x="2103923" y="3682353"/>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71450" marR="0" lvl="0" indent="-171450" algn="l" defTabSz="1219170"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CA" sz="1000" b="0" i="0" u="none" strike="noStrike" kern="1200" cap="none" spc="0" normalizeH="0" baseline="0" noProof="0">
                <a:ln>
                  <a:noFill/>
                </a:ln>
                <a:solidFill>
                  <a:srgbClr val="53565A"/>
                </a:solidFill>
                <a:effectLst/>
                <a:uLnTx/>
                <a:uFillTx/>
                <a:latin typeface="Segoe UI"/>
                <a:ea typeface="+mn-ea"/>
                <a:cs typeface="+mn-cs"/>
              </a:rPr>
              <a:t>Assess whether </a:t>
            </a:r>
            <a:r>
              <a:rPr kumimoji="0" lang="en-CA" sz="1000" b="1" i="0" u="none" strike="noStrike" kern="1200" cap="none" spc="0" normalizeH="0" baseline="0" noProof="0">
                <a:ln>
                  <a:noFill/>
                </a:ln>
                <a:solidFill>
                  <a:srgbClr val="53565A"/>
                </a:solidFill>
                <a:effectLst/>
                <a:uLnTx/>
                <a:uFillTx/>
                <a:latin typeface="Segoe UI"/>
                <a:ea typeface="+mn-ea"/>
                <a:cs typeface="+mn-cs"/>
              </a:rPr>
              <a:t>dispute rights exist</a:t>
            </a:r>
            <a:r>
              <a:rPr kumimoji="0" lang="en-CA" sz="1000" b="0" i="0" u="none" strike="noStrike" kern="1200" cap="none" spc="0" normalizeH="0" baseline="0" noProof="0">
                <a:ln>
                  <a:noFill/>
                </a:ln>
                <a:solidFill>
                  <a:srgbClr val="53565A"/>
                </a:solidFill>
                <a:effectLst/>
                <a:uLnTx/>
                <a:uFillTx/>
                <a:latin typeface="Segoe UI"/>
                <a:ea typeface="+mn-ea"/>
                <a:cs typeface="+mn-cs"/>
              </a:rPr>
              <a:t> (e.g., filing window, dispute condition eligibility)</a:t>
            </a:r>
          </a:p>
          <a:p>
            <a:pPr marL="171450" marR="0" lvl="0" indent="-171450" algn="l" defTabSz="1219170"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53565A"/>
                </a:solidFill>
                <a:effectLst/>
                <a:uLnTx/>
                <a:uFillTx/>
                <a:latin typeface="Segoe UI"/>
                <a:ea typeface="+mn-ea"/>
                <a:cs typeface="+mn-cs"/>
              </a:rPr>
              <a:t>Assess potential </a:t>
            </a:r>
            <a:r>
              <a:rPr kumimoji="0" lang="en-US" sz="1000" b="1" i="0" u="none" strike="noStrike" kern="1200" cap="none" spc="0" normalizeH="0" baseline="0" noProof="0">
                <a:ln>
                  <a:noFill/>
                </a:ln>
                <a:solidFill>
                  <a:srgbClr val="53565A"/>
                </a:solidFill>
                <a:effectLst/>
                <a:uLnTx/>
                <a:uFillTx/>
                <a:latin typeface="Segoe UI"/>
                <a:ea typeface="+mn-ea"/>
                <a:cs typeface="+mn-cs"/>
              </a:rPr>
              <a:t>write off </a:t>
            </a:r>
            <a:r>
              <a:rPr kumimoji="0" lang="en-US" sz="1000" b="0" i="0" u="none" strike="noStrike" kern="1200" cap="none" spc="0" normalizeH="0" baseline="0" noProof="0">
                <a:ln>
                  <a:noFill/>
                </a:ln>
                <a:solidFill>
                  <a:srgbClr val="53565A"/>
                </a:solidFill>
                <a:effectLst/>
                <a:uLnTx/>
                <a:uFillTx/>
                <a:latin typeface="Segoe UI"/>
                <a:ea typeface="+mn-ea"/>
                <a:cs typeface="+mn-cs"/>
              </a:rPr>
              <a:t>and </a:t>
            </a:r>
            <a:r>
              <a:rPr kumimoji="0" lang="en-US" sz="1000" b="1" i="0" u="none" strike="noStrike" kern="1200" cap="none" spc="0" normalizeH="0" baseline="0" noProof="0">
                <a:ln>
                  <a:noFill/>
                </a:ln>
                <a:solidFill>
                  <a:srgbClr val="53565A"/>
                </a:solidFill>
                <a:effectLst/>
                <a:uLnTx/>
                <a:uFillTx/>
                <a:latin typeface="Segoe UI"/>
                <a:ea typeface="+mn-ea"/>
                <a:cs typeface="+mn-cs"/>
              </a:rPr>
              <a:t>recovery options</a:t>
            </a:r>
          </a:p>
        </p:txBody>
      </p:sp>
      <p:sp>
        <p:nvSpPr>
          <p:cNvPr id="18" name="Oval 17">
            <a:extLst>
              <a:ext uri="{FF2B5EF4-FFF2-40B4-BE49-F238E27FC236}">
                <a16:creationId xmlns:a16="http://schemas.microsoft.com/office/drawing/2014/main" id="{ACD5955C-00B7-D7E9-195D-8C9880F23363}"/>
              </a:ext>
            </a:extLst>
          </p:cNvPr>
          <p:cNvSpPr/>
          <p:nvPr/>
        </p:nvSpPr>
        <p:spPr bwMode="gray">
          <a:xfrm>
            <a:off x="2084679" y="2841108"/>
            <a:ext cx="216000" cy="216000"/>
          </a:xfrm>
          <a:prstGeom prst="ellipse">
            <a:avLst/>
          </a:prstGeom>
          <a:solidFill>
            <a:schemeClr val="bg1"/>
          </a:solidFill>
          <a:ln w="19050" algn="ctr">
            <a:solidFill>
              <a:schemeClr val="accent1">
                <a:lumMod val="20000"/>
                <a:lumOff val="80000"/>
              </a:schemeClr>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2</a:t>
            </a:r>
          </a:p>
        </p:txBody>
      </p:sp>
      <p:sp>
        <p:nvSpPr>
          <p:cNvPr id="2" name="Rectangle 1">
            <a:extLst>
              <a:ext uri="{FF2B5EF4-FFF2-40B4-BE49-F238E27FC236}">
                <a16:creationId xmlns:a16="http://schemas.microsoft.com/office/drawing/2014/main" id="{9E664B12-9366-B5CD-CEAE-E8DEBD2DF6AD}"/>
              </a:ext>
            </a:extLst>
          </p:cNvPr>
          <p:cNvSpPr/>
          <p:nvPr/>
        </p:nvSpPr>
        <p:spPr bwMode="gray">
          <a:xfrm>
            <a:off x="3963088" y="2754527"/>
            <a:ext cx="4023009" cy="3330390"/>
          </a:xfrm>
          <a:prstGeom prst="rect">
            <a:avLst/>
          </a:prstGeom>
          <a:noFill/>
          <a:ln w="19050" algn="ctr">
            <a:solidFill>
              <a:schemeClr val="bg1">
                <a:lumMod val="85000"/>
              </a:schemeClr>
            </a:solidFill>
            <a:prstDash val="sysDash"/>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4" name="TextBox 3">
            <a:extLst>
              <a:ext uri="{FF2B5EF4-FFF2-40B4-BE49-F238E27FC236}">
                <a16:creationId xmlns:a16="http://schemas.microsoft.com/office/drawing/2014/main" id="{0DFC9A25-BC48-DC27-0204-2A2164E4CC08}"/>
              </a:ext>
            </a:extLst>
          </p:cNvPr>
          <p:cNvSpPr txBox="1"/>
          <p:nvPr/>
        </p:nvSpPr>
        <p:spPr>
          <a:xfrm>
            <a:off x="5322878" y="6040129"/>
            <a:ext cx="1303428" cy="246221"/>
          </a:xfrm>
          <a:prstGeom prst="rect">
            <a:avLst/>
          </a:prstGeom>
          <a:solidFill>
            <a:schemeClr val="bg1"/>
          </a:solid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1" u="none" strike="noStrike" kern="1200" cap="none" spc="0" normalizeH="0" baseline="0" noProof="0">
                <a:ln>
                  <a:noFill/>
                </a:ln>
                <a:solidFill>
                  <a:srgbClr val="53565A"/>
                </a:solidFill>
                <a:effectLst/>
                <a:uLnTx/>
                <a:uFillTx/>
                <a:latin typeface="Segoe UI"/>
                <a:ea typeface="+mn-ea"/>
                <a:cs typeface="+mn-cs"/>
              </a:rPr>
              <a:t>Run in parallel</a:t>
            </a:r>
            <a:endParaRPr kumimoji="0" lang="en-US" sz="2400" b="1" i="1" u="none" strike="noStrike" kern="1200" cap="none" spc="0" normalizeH="0" baseline="0" noProof="0">
              <a:ln>
                <a:noFill/>
              </a:ln>
              <a:solidFill>
                <a:srgbClr val="53565A"/>
              </a:solidFill>
              <a:effectLst/>
              <a:uLnTx/>
              <a:uFillTx/>
              <a:latin typeface="Segoe UI"/>
              <a:ea typeface="+mn-ea"/>
              <a:cs typeface="+mn-cs"/>
            </a:endParaRPr>
          </a:p>
        </p:txBody>
      </p:sp>
    </p:spTree>
    <p:extLst>
      <p:ext uri="{BB962C8B-B14F-4D97-AF65-F5344CB8AC3E}">
        <p14:creationId xmlns:p14="http://schemas.microsoft.com/office/powerpoint/2010/main" val="3651385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393D8-6731-F155-E877-436ADFDD14F8}"/>
            </a:ext>
          </a:extLst>
        </p:cNvPr>
        <p:cNvGrpSpPr/>
        <p:nvPr/>
      </p:nvGrpSpPr>
      <p:grpSpPr>
        <a:xfrm>
          <a:off x="0" y="0"/>
          <a:ext cx="0" cy="0"/>
          <a:chOff x="0" y="0"/>
          <a:chExt cx="0" cy="0"/>
        </a:xfrm>
      </p:grpSpPr>
      <p:sp>
        <p:nvSpPr>
          <p:cNvPr id="179" name="Text Placeholder 3">
            <a:extLst>
              <a:ext uri="{FF2B5EF4-FFF2-40B4-BE49-F238E27FC236}">
                <a16:creationId xmlns:a16="http://schemas.microsoft.com/office/drawing/2014/main" id="{E8819BCA-0113-17B6-E6CD-B7704D1529E2}"/>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E62CD8FC-DA96-BFBD-72AC-33B98E198A64}"/>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1. Dispute Intake (Branch &amp; Contact Centre)</a:t>
            </a:r>
          </a:p>
        </p:txBody>
      </p:sp>
      <p:sp>
        <p:nvSpPr>
          <p:cNvPr id="406" name="fx407">
            <a:extLst>
              <a:ext uri="{FF2B5EF4-FFF2-40B4-BE49-F238E27FC236}">
                <a16:creationId xmlns:a16="http://schemas.microsoft.com/office/drawing/2014/main" id="{6CD9CB0A-9310-5483-7D9D-64D1C8AD07E7}"/>
              </a:ext>
            </a:extLst>
          </p:cNvPr>
          <p:cNvSpPr/>
          <p:nvPr/>
        </p:nvSpPr>
        <p:spPr>
          <a:xfrm>
            <a:off x="1303915" y="2957786"/>
            <a:ext cx="1260000" cy="720000"/>
          </a:xfrm>
          <a:prstGeom prst="roundRect">
            <a:avLst/>
          </a:prstGeom>
          <a:solidFill>
            <a:srgbClr val="EDDBFB">
              <a:alpha val="56863"/>
            </a:srgbClr>
          </a:solidFill>
          <a:ln w="12700">
            <a:solidFill>
              <a:schemeClr val="accent1"/>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Member reaches contact </a:t>
            </a:r>
            <a:r>
              <a:rPr kumimoji="0" lang="en-US" sz="900" b="1" i="0" u="none" strike="noStrike" kern="1200" cap="none" spc="0" normalizeH="0" baseline="0" noProof="0" err="1">
                <a:ln>
                  <a:noFill/>
                </a:ln>
                <a:solidFill>
                  <a:srgbClr val="404040"/>
                </a:solidFill>
                <a:effectLst/>
                <a:uLnTx/>
                <a:uFillTx/>
                <a:latin typeface="Segoe UI"/>
                <a:ea typeface="+mn-ea"/>
                <a:cs typeface="+mn-cs"/>
              </a:rPr>
              <a:t>centre</a:t>
            </a:r>
            <a:r>
              <a:rPr kumimoji="0" lang="en-US" sz="900" b="1" i="0" u="none" strike="noStrike" kern="1200" cap="none" spc="0" normalizeH="0" baseline="0" noProof="0">
                <a:ln>
                  <a:noFill/>
                </a:ln>
                <a:solidFill>
                  <a:srgbClr val="404040"/>
                </a:solidFill>
                <a:effectLst/>
                <a:uLnTx/>
                <a:uFillTx/>
                <a:latin typeface="Segoe UI"/>
                <a:ea typeface="+mn-ea"/>
                <a:cs typeface="+mn-cs"/>
              </a:rPr>
              <a:t> / branch to initiate the dispute</a:t>
            </a:r>
          </a:p>
        </p:txBody>
      </p:sp>
      <p:grpSp>
        <p:nvGrpSpPr>
          <p:cNvPr id="458" name="Group 457">
            <a:extLst>
              <a:ext uri="{FF2B5EF4-FFF2-40B4-BE49-F238E27FC236}">
                <a16:creationId xmlns:a16="http://schemas.microsoft.com/office/drawing/2014/main" id="{076AAEEF-9372-2F36-5CFE-B9E3F8D69F09}"/>
              </a:ext>
            </a:extLst>
          </p:cNvPr>
          <p:cNvGrpSpPr/>
          <p:nvPr/>
        </p:nvGrpSpPr>
        <p:grpSpPr>
          <a:xfrm>
            <a:off x="1154384" y="2661332"/>
            <a:ext cx="384048" cy="384048"/>
            <a:chOff x="365760" y="1636776"/>
            <a:chExt cx="384048" cy="384048"/>
          </a:xfrm>
        </p:grpSpPr>
        <p:sp>
          <p:nvSpPr>
            <p:cNvPr id="459" name="Person Badge">
              <a:extLst>
                <a:ext uri="{FF2B5EF4-FFF2-40B4-BE49-F238E27FC236}">
                  <a16:creationId xmlns:a16="http://schemas.microsoft.com/office/drawing/2014/main" id="{5E35E9E6-4B8E-4116-FB73-26A024B8AB33}"/>
                </a:ext>
              </a:extLst>
            </p:cNvPr>
            <p:cNvSpPr/>
            <p:nvPr/>
          </p:nvSpPr>
          <p:spPr>
            <a:xfrm>
              <a:off x="365760" y="1636776"/>
              <a:ext cx="384048" cy="38404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460" name="Person Head">
              <a:extLst>
                <a:ext uri="{FF2B5EF4-FFF2-40B4-BE49-F238E27FC236}">
                  <a16:creationId xmlns:a16="http://schemas.microsoft.com/office/drawing/2014/main" id="{8F0F708D-0C43-AD7F-6562-DB2E34C7293D}"/>
                </a:ext>
              </a:extLst>
            </p:cNvPr>
            <p:cNvSpPr/>
            <p:nvPr/>
          </p:nvSpPr>
          <p:spPr>
            <a:xfrm>
              <a:off x="498805" y="1696212"/>
              <a:ext cx="118872" cy="118872"/>
            </a:xfrm>
            <a:prstGeom prst="ellipse">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461" name="Person Body">
              <a:extLst>
                <a:ext uri="{FF2B5EF4-FFF2-40B4-BE49-F238E27FC236}">
                  <a16:creationId xmlns:a16="http://schemas.microsoft.com/office/drawing/2014/main" id="{A8E62B84-A609-C234-EEED-3B3864798667}"/>
                </a:ext>
              </a:extLst>
            </p:cNvPr>
            <p:cNvSpPr/>
            <p:nvPr/>
          </p:nvSpPr>
          <p:spPr>
            <a:xfrm>
              <a:off x="457200" y="1833372"/>
              <a:ext cx="201168" cy="123444"/>
            </a:xfrm>
            <a:prstGeom prst="roundRect">
              <a:avLst>
                <a:gd name="adj"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2" name="lg950">
            <a:extLst>
              <a:ext uri="{FF2B5EF4-FFF2-40B4-BE49-F238E27FC236}">
                <a16:creationId xmlns:a16="http://schemas.microsoft.com/office/drawing/2014/main" id="{3DBBE392-6CBB-5604-5BD0-A130EC578AC2}"/>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3" name="lg951">
            <a:extLst>
              <a:ext uri="{FF2B5EF4-FFF2-40B4-BE49-F238E27FC236}">
                <a16:creationId xmlns:a16="http://schemas.microsoft.com/office/drawing/2014/main" id="{437B7718-1BB9-4E2D-67D6-6045C2C089D7}"/>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4" name="lg952">
            <a:extLst>
              <a:ext uri="{FF2B5EF4-FFF2-40B4-BE49-F238E27FC236}">
                <a16:creationId xmlns:a16="http://schemas.microsoft.com/office/drawing/2014/main" id="{6AA85A92-6BD1-30D9-B464-4F6B9318F9B3}"/>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53" name="lg953">
            <a:extLst>
              <a:ext uri="{FF2B5EF4-FFF2-40B4-BE49-F238E27FC236}">
                <a16:creationId xmlns:a16="http://schemas.microsoft.com/office/drawing/2014/main" id="{33864F23-6180-46C6-9886-67A00D46F327}"/>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760" name="Group 759">
            <a:extLst>
              <a:ext uri="{FF2B5EF4-FFF2-40B4-BE49-F238E27FC236}">
                <a16:creationId xmlns:a16="http://schemas.microsoft.com/office/drawing/2014/main" id="{9E4DBE0F-18EF-1571-71AE-11DE6BB5AC8F}"/>
              </a:ext>
            </a:extLst>
          </p:cNvPr>
          <p:cNvGrpSpPr/>
          <p:nvPr/>
        </p:nvGrpSpPr>
        <p:grpSpPr>
          <a:xfrm>
            <a:off x="10685728" y="1247437"/>
            <a:ext cx="210312" cy="210312"/>
            <a:chOff x="10674331" y="1239428"/>
            <a:chExt cx="210312" cy="210312"/>
          </a:xfrm>
        </p:grpSpPr>
        <p:sp>
          <p:nvSpPr>
            <p:cNvPr id="968" name="hoff968">
              <a:extLst>
                <a:ext uri="{FF2B5EF4-FFF2-40B4-BE49-F238E27FC236}">
                  <a16:creationId xmlns:a16="http://schemas.microsoft.com/office/drawing/2014/main" id="{E55C8EB9-2F9B-430B-B9E5-0778612929EE}"/>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69" name="hoffa969">
              <a:extLst>
                <a:ext uri="{FF2B5EF4-FFF2-40B4-BE49-F238E27FC236}">
                  <a16:creationId xmlns:a16="http://schemas.microsoft.com/office/drawing/2014/main" id="{7B0F0824-478A-866B-50A5-F132506D82B3}"/>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972" name="lg972">
            <a:extLst>
              <a:ext uri="{FF2B5EF4-FFF2-40B4-BE49-F238E27FC236}">
                <a16:creationId xmlns:a16="http://schemas.microsoft.com/office/drawing/2014/main" id="{8FE7B791-9B32-5C60-DD07-11E342710846}"/>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sp>
        <p:nvSpPr>
          <p:cNvPr id="932" name="fx413">
            <a:extLst>
              <a:ext uri="{FF2B5EF4-FFF2-40B4-BE49-F238E27FC236}">
                <a16:creationId xmlns:a16="http://schemas.microsoft.com/office/drawing/2014/main" id="{03890A53-0A6B-0057-D905-DEE467218DB5}"/>
              </a:ext>
            </a:extLst>
          </p:cNvPr>
          <p:cNvSpPr/>
          <p:nvPr/>
        </p:nvSpPr>
        <p:spPr>
          <a:xfrm>
            <a:off x="9309616" y="4368404"/>
            <a:ext cx="1260000" cy="720000"/>
          </a:xfrm>
          <a:prstGeom prst="roundRect">
            <a:avLst/>
          </a:prstGeom>
          <a:solidFill>
            <a:srgbClr val="EDDBFB">
              <a:alpha val="56863"/>
            </a:srgbClr>
          </a:solidFill>
          <a:ln w="12700">
            <a:solidFill>
              <a:schemeClr val="accent1"/>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C</a:t>
            </a:r>
            <a:r>
              <a:rPr kumimoji="0" lang="en-US" sz="900" b="1" i="0" u="none" strike="noStrike" kern="1200" cap="none" spc="0" normalizeH="0" baseline="0" noProof="0" err="1">
                <a:ln>
                  <a:noFill/>
                </a:ln>
                <a:solidFill>
                  <a:srgbClr val="404040"/>
                </a:solidFill>
                <a:effectLst/>
                <a:uLnTx/>
                <a:uFillTx/>
                <a:latin typeface="Segoe UI"/>
                <a:ea typeface="+mn-ea"/>
                <a:cs typeface="+mn-cs"/>
              </a:rPr>
              <a:t>ommunicate</a:t>
            </a:r>
            <a:r>
              <a:rPr kumimoji="0" lang="en-US" sz="900" b="1" i="0" u="none" strike="noStrike" kern="1200" cap="none" spc="0" normalizeH="0" baseline="0" noProof="0">
                <a:ln>
                  <a:noFill/>
                </a:ln>
                <a:solidFill>
                  <a:srgbClr val="404040"/>
                </a:solidFill>
                <a:effectLst/>
                <a:uLnTx/>
                <a:uFillTx/>
                <a:latin typeface="Segoe UI"/>
                <a:ea typeface="+mn-ea"/>
                <a:cs typeface="+mn-cs"/>
              </a:rPr>
              <a:t> the case ID and next steps to the member</a:t>
            </a:r>
          </a:p>
        </p:txBody>
      </p:sp>
      <p:cxnSp>
        <p:nvCxnSpPr>
          <p:cNvPr id="959" name="ar433">
            <a:extLst>
              <a:ext uri="{FF2B5EF4-FFF2-40B4-BE49-F238E27FC236}">
                <a16:creationId xmlns:a16="http://schemas.microsoft.com/office/drawing/2014/main" id="{393E15C5-3B45-15C4-F6E9-A06E0FB9F94C}"/>
              </a:ext>
            </a:extLst>
          </p:cNvPr>
          <p:cNvCxnSpPr>
            <a:cxnSpLocks/>
            <a:stCxn id="406" idx="3"/>
            <a:endCxn id="19" idx="1"/>
          </p:cNvCxnSpPr>
          <p:nvPr/>
        </p:nvCxnSpPr>
        <p:spPr>
          <a:xfrm>
            <a:off x="2563915" y="3317786"/>
            <a:ext cx="246802" cy="677"/>
          </a:xfrm>
          <a:prstGeom prst="straightConnector1">
            <a:avLst/>
          </a:prstGeom>
          <a:ln w="19050">
            <a:solidFill>
              <a:srgbClr val="9B9B9B"/>
            </a:solidFill>
            <a:tailEnd type="triangle" w="med" len="med"/>
          </a:ln>
        </p:spPr>
      </p:cxnSp>
      <p:sp>
        <p:nvSpPr>
          <p:cNvPr id="450" name="fx413">
            <a:extLst>
              <a:ext uri="{FF2B5EF4-FFF2-40B4-BE49-F238E27FC236}">
                <a16:creationId xmlns:a16="http://schemas.microsoft.com/office/drawing/2014/main" id="{D8D3584C-9BD4-1F2A-DE5F-C7196391A784}"/>
              </a:ext>
            </a:extLst>
          </p:cNvPr>
          <p:cNvSpPr/>
          <p:nvPr/>
        </p:nvSpPr>
        <p:spPr>
          <a:xfrm>
            <a:off x="7145584" y="3444839"/>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Fill up the existing POS / ATM trace form and record the narrative</a:t>
            </a:r>
          </a:p>
        </p:txBody>
      </p:sp>
      <p:sp>
        <p:nvSpPr>
          <p:cNvPr id="6" name="Oval 5">
            <a:extLst>
              <a:ext uri="{FF2B5EF4-FFF2-40B4-BE49-F238E27FC236}">
                <a16:creationId xmlns:a16="http://schemas.microsoft.com/office/drawing/2014/main" id="{618DFD13-E521-5B31-4E62-4CCC74A13AF9}"/>
              </a:ext>
            </a:extLst>
          </p:cNvPr>
          <p:cNvSpPr/>
          <p:nvPr/>
        </p:nvSpPr>
        <p:spPr bwMode="gray">
          <a:xfrm>
            <a:off x="10652555" y="1522937"/>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8" name="lg972">
            <a:extLst>
              <a:ext uri="{FF2B5EF4-FFF2-40B4-BE49-F238E27FC236}">
                <a16:creationId xmlns:a16="http://schemas.microsoft.com/office/drawing/2014/main" id="{F72A90C3-1ABF-712E-E2A5-9CB8FA0B110A}"/>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sp>
        <p:nvSpPr>
          <p:cNvPr id="468" name="Shape 43">
            <a:extLst>
              <a:ext uri="{FF2B5EF4-FFF2-40B4-BE49-F238E27FC236}">
                <a16:creationId xmlns:a16="http://schemas.microsoft.com/office/drawing/2014/main" id="{9F9794A8-FDC2-AB23-8BF5-188815FA64DF}"/>
              </a:ext>
            </a:extLst>
          </p:cNvPr>
          <p:cNvSpPr/>
          <p:nvPr/>
        </p:nvSpPr>
        <p:spPr>
          <a:xfrm>
            <a:off x="4665345" y="2884123"/>
            <a:ext cx="1616828" cy="868680"/>
          </a:xfrm>
          <a:prstGeom prst="diamond">
            <a:avLst/>
          </a:prstGeom>
          <a:solidFill>
            <a:srgbClr val="FFFFFF"/>
          </a:solidFill>
          <a:ln w="12700">
            <a:solidFill>
              <a:schemeClr val="bg1">
                <a:lumMod val="85000"/>
              </a:schemeClr>
            </a:solidFill>
          </a:ln>
        </p:spPr>
        <p:txBody>
          <a:bodyPr wrap="square" lIns="0" tIns="0" rIns="0" bIns="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Does member recognize the transaction?</a:t>
            </a:r>
          </a:p>
        </p:txBody>
      </p:sp>
      <p:cxnSp>
        <p:nvCxnSpPr>
          <p:cNvPr id="472" name="Elbow Connector 471">
            <a:extLst>
              <a:ext uri="{FF2B5EF4-FFF2-40B4-BE49-F238E27FC236}">
                <a16:creationId xmlns:a16="http://schemas.microsoft.com/office/drawing/2014/main" id="{ACB5A9FF-452E-8872-D1FC-0A50B1EE1E5D}"/>
              </a:ext>
            </a:extLst>
          </p:cNvPr>
          <p:cNvCxnSpPr>
            <a:cxnSpLocks/>
          </p:cNvCxnSpPr>
          <p:nvPr/>
        </p:nvCxnSpPr>
        <p:spPr>
          <a:xfrm flipV="1">
            <a:off x="6632671" y="2785513"/>
            <a:ext cx="476335" cy="533627"/>
          </a:xfrm>
          <a:prstGeom prst="bentConnector3">
            <a:avLst>
              <a:gd name="adj1" fmla="val 17310"/>
            </a:avLst>
          </a:prstGeom>
          <a:ln w="19050">
            <a:solidFill>
              <a:srgbClr val="9B9B9B"/>
            </a:solidFill>
            <a:tailEnd type="triangle" w="med" len="med"/>
          </a:ln>
        </p:spPr>
      </p:cxnSp>
      <p:sp>
        <p:nvSpPr>
          <p:cNvPr id="475" name="TextBox 474">
            <a:extLst>
              <a:ext uri="{FF2B5EF4-FFF2-40B4-BE49-F238E27FC236}">
                <a16:creationId xmlns:a16="http://schemas.microsoft.com/office/drawing/2014/main" id="{80847CC4-9C3F-F9FD-ADE4-913BD198EBD0}"/>
              </a:ext>
            </a:extLst>
          </p:cNvPr>
          <p:cNvSpPr txBox="1"/>
          <p:nvPr/>
        </p:nvSpPr>
        <p:spPr>
          <a:xfrm>
            <a:off x="6151083" y="3496098"/>
            <a:ext cx="615813"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Yes</a:t>
            </a:r>
            <a:endParaRPr kumimoji="0" lang="en-US" sz="2400" b="0" i="0" u="none" strike="noStrike" kern="1200" cap="none" spc="0" normalizeH="0" baseline="0" noProof="0">
              <a:ln>
                <a:noFill/>
              </a:ln>
              <a:solidFill>
                <a:srgbClr val="0097A9"/>
              </a:solidFill>
              <a:effectLst/>
              <a:uLnTx/>
              <a:uFillTx/>
              <a:latin typeface="Segoe UI"/>
              <a:ea typeface="+mn-ea"/>
              <a:cs typeface="+mn-cs"/>
            </a:endParaRPr>
          </a:p>
        </p:txBody>
      </p:sp>
      <p:cxnSp>
        <p:nvCxnSpPr>
          <p:cNvPr id="480" name="Elbow Connector 479">
            <a:extLst>
              <a:ext uri="{FF2B5EF4-FFF2-40B4-BE49-F238E27FC236}">
                <a16:creationId xmlns:a16="http://schemas.microsoft.com/office/drawing/2014/main" id="{6AF53E58-AA58-6534-09BC-215851CEA13A}"/>
              </a:ext>
            </a:extLst>
          </p:cNvPr>
          <p:cNvCxnSpPr>
            <a:cxnSpLocks/>
            <a:stCxn id="468" idx="3"/>
            <a:endCxn id="450" idx="1"/>
          </p:cNvCxnSpPr>
          <p:nvPr/>
        </p:nvCxnSpPr>
        <p:spPr>
          <a:xfrm>
            <a:off x="6282173" y="3318463"/>
            <a:ext cx="863411" cy="486376"/>
          </a:xfrm>
          <a:prstGeom prst="bentConnector3">
            <a:avLst>
              <a:gd name="adj1" fmla="val 50000"/>
            </a:avLst>
          </a:prstGeom>
          <a:ln w="19050">
            <a:solidFill>
              <a:srgbClr val="9B9B9B"/>
            </a:solidFill>
            <a:tailEnd type="triangle" w="med" len="med"/>
          </a:ln>
        </p:spPr>
      </p:cxnSp>
      <p:sp>
        <p:nvSpPr>
          <p:cNvPr id="488" name="TextBox 487">
            <a:extLst>
              <a:ext uri="{FF2B5EF4-FFF2-40B4-BE49-F238E27FC236}">
                <a16:creationId xmlns:a16="http://schemas.microsoft.com/office/drawing/2014/main" id="{CDFDE059-BF51-2C3E-ACB2-E43335A37E47}"/>
              </a:ext>
            </a:extLst>
          </p:cNvPr>
          <p:cNvSpPr txBox="1"/>
          <p:nvPr/>
        </p:nvSpPr>
        <p:spPr>
          <a:xfrm>
            <a:off x="6144709" y="2888039"/>
            <a:ext cx="615813"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900" b="0" i="0" u="none" strike="noStrike" kern="1200" cap="none" spc="0" normalizeH="0" baseline="0" noProof="0">
              <a:ln>
                <a:noFill/>
              </a:ln>
              <a:solidFill>
                <a:srgbClr val="C00000"/>
              </a:solidFill>
              <a:effectLst/>
              <a:uLnTx/>
              <a:uFillTx/>
              <a:latin typeface="Segoe UI"/>
              <a:ea typeface="+mn-ea"/>
              <a:cs typeface="+mn-cs"/>
            </a:endParaRPr>
          </a:p>
        </p:txBody>
      </p:sp>
      <p:sp>
        <p:nvSpPr>
          <p:cNvPr id="16" name="Shape 14">
            <a:extLst>
              <a:ext uri="{FF2B5EF4-FFF2-40B4-BE49-F238E27FC236}">
                <a16:creationId xmlns:a16="http://schemas.microsoft.com/office/drawing/2014/main" id="{278E083C-9A58-6ABA-B730-21375C99ACE3}"/>
              </a:ext>
            </a:extLst>
          </p:cNvPr>
          <p:cNvSpPr/>
          <p:nvPr/>
        </p:nvSpPr>
        <p:spPr>
          <a:xfrm>
            <a:off x="9559568" y="6087623"/>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Growth</a:t>
            </a:r>
          </a:p>
        </p:txBody>
      </p:sp>
      <p:graphicFrame>
        <p:nvGraphicFramePr>
          <p:cNvPr id="7" name="Table 6">
            <a:extLst>
              <a:ext uri="{FF2B5EF4-FFF2-40B4-BE49-F238E27FC236}">
                <a16:creationId xmlns:a16="http://schemas.microsoft.com/office/drawing/2014/main" id="{6D369A1A-F107-DD30-7DB6-3D8A42698C19}"/>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DISPUTE INTAKE &amp; INITIATION</a:t>
                      </a:r>
                    </a:p>
                  </a:txBody>
                  <a:tcPr anchor="ctr">
                    <a:solidFill>
                      <a:srgbClr val="EBD9FB"/>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a:t>
                      </a:r>
                      <a:r>
                        <a:rPr lang="en-US" sz="800" b="1">
                          <a:solidFill>
                            <a:schemeClr val="tx1"/>
                          </a:solidFill>
                        </a:rPr>
                        <a:t> </a:t>
                      </a:r>
                      <a:r>
                        <a:rPr lang="en-US" sz="800" b="1">
                          <a:solidFill>
                            <a:schemeClr val="bg1">
                              <a:lumMod val="50000"/>
                            </a:schemeClr>
                          </a:solidFill>
                        </a:rPr>
                        <a:t>TRIAGE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CASE PREPARATION &amp; DOCUMENT ASSESSMENT</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PROVISIONAL CREDIT ISSUANCE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NETWORK SUBMISSION &amp; RESPONSE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RESOLUTION &amp; RECOVERY</a:t>
                      </a:r>
                    </a:p>
                  </a:txBody>
                  <a:tcPr anchor="ctr">
                    <a:solidFill>
                      <a:schemeClr val="bg1">
                        <a:lumMod val="75000"/>
                      </a:schemeClr>
                    </a:solidFill>
                  </a:tcPr>
                </a:tc>
                <a:extLst>
                  <a:ext uri="{0D108BD9-81ED-4DB2-BD59-A6C34878D82A}">
                    <a16:rowId xmlns:a16="http://schemas.microsoft.com/office/drawing/2014/main" val="831136574"/>
                  </a:ext>
                </a:extLst>
              </a:tr>
            </a:tbl>
          </a:graphicData>
        </a:graphic>
      </p:graphicFrame>
      <p:sp>
        <p:nvSpPr>
          <p:cNvPr id="11" name="Shape 14">
            <a:extLst>
              <a:ext uri="{FF2B5EF4-FFF2-40B4-BE49-F238E27FC236}">
                <a16:creationId xmlns:a16="http://schemas.microsoft.com/office/drawing/2014/main" id="{EA4BCA6B-4007-AACA-EB9B-95523FBC9375}"/>
              </a:ext>
            </a:extLst>
          </p:cNvPr>
          <p:cNvSpPr/>
          <p:nvPr/>
        </p:nvSpPr>
        <p:spPr>
          <a:xfrm>
            <a:off x="457200" y="4189343"/>
            <a:ext cx="5693883" cy="2517431"/>
          </a:xfrm>
          <a:prstGeom prst="roundRect">
            <a:avLst>
              <a:gd name="adj" fmla="val 16667"/>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9B40EA"/>
                </a:solidFill>
                <a:effectLst/>
                <a:uLnTx/>
                <a:uFillTx/>
                <a:latin typeface="Segoe UI" panose="020B0502040204020203" pitchFamily="34" charset="0"/>
                <a:ea typeface="+mn-ea"/>
                <a:cs typeface="Segoe UI" panose="020B0502040204020203" pitchFamily="34" charset="0"/>
              </a:rPr>
              <a:t>VISA DEBIT DISPUTE QUESTIONS:</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transaction posting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has the transaction posted to your account?</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transaction details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what are the date, amount, and merchant name?</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transaction authorization and merchant recognition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did you authorize this transaction? Do you recognize the merchant name, even if you do not recall the specific purchase?</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9B40EA"/>
                </a:solidFill>
                <a:effectLst/>
                <a:uLnTx/>
                <a:uFillTx/>
                <a:latin typeface="Segoe UI" panose="020B0502040204020203" pitchFamily="34" charset="0"/>
                <a:ea typeface="+mn-ea"/>
                <a:cs typeface="Segoe UI" panose="020B0502040204020203" pitchFamily="34" charset="0"/>
              </a:rPr>
              <a:t>If Recognized (Non-Fraud)</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startAt="4"/>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prior merchant contact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have you contacted the merchant to try to resolve the issue? If so, what was their response?</a:t>
            </a:r>
            <a:endPar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p>
            <a:pPr marL="228600" marR="0" lvl="0" indent="-228600" algn="l" defTabSz="1219170" rtl="0" eaLnBrk="1" fontAlgn="auto" latinLnBrk="0" hangingPunct="1">
              <a:lnSpc>
                <a:spcPct val="100000"/>
              </a:lnSpc>
              <a:spcBef>
                <a:spcPts val="0"/>
              </a:spcBef>
              <a:spcAft>
                <a:spcPts val="0"/>
              </a:spcAft>
              <a:buClrTx/>
              <a:buSzTx/>
              <a:buFont typeface="+mj-lt"/>
              <a:buAutoNum type="arabicPeriod" startAt="4"/>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recurring/subscription billing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could this charge be part of a recurring subscription or membership?</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startAt="4"/>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 </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reason for the dispute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were the goods or services not received or not as described, or were you charged twice or the wrong amount?</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9B40EA"/>
                </a:solidFill>
                <a:effectLst/>
                <a:uLnTx/>
                <a:uFillTx/>
                <a:latin typeface="Segoe UI" panose="020B0502040204020203" pitchFamily="34" charset="0"/>
                <a:ea typeface="+mn-ea"/>
                <a:cs typeface="Segoe UI" panose="020B0502040204020203" pitchFamily="34" charset="0"/>
              </a:rPr>
              <a:t>If Unrecognized (Fraud)</a:t>
            </a:r>
            <a:endPar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p>
            <a:pPr marL="228600" marR="0" lvl="0" indent="-228600" algn="l" defTabSz="1219170" rtl="0" eaLnBrk="1" fontAlgn="auto" latinLnBrk="0" hangingPunct="1">
              <a:lnSpc>
                <a:spcPct val="100000"/>
              </a:lnSpc>
              <a:spcBef>
                <a:spcPts val="0"/>
              </a:spcBef>
              <a:spcAft>
                <a:spcPts val="0"/>
              </a:spcAft>
              <a:buClrTx/>
              <a:buSzTx/>
              <a:buFont typeface="+mj-lt"/>
              <a:buAutoNum type="arabicPeriod" startAt="7"/>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card possession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is the card currently in your possession?</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startAt="7"/>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PIN sharing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have you shared your PIN with anyone?</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startAt="7"/>
              <a:tabLst/>
              <a:defRPr/>
            </a:pP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security information sharing </a:t>
            </a:r>
            <a:r>
              <a:rPr kumimoji="0" lang="en-US" sz="900" b="0" i="0" u="none" strike="noStrike" kern="1200" cap="none" spc="0" normalizeH="0" baseline="0" noProof="0">
                <a:ln>
                  <a:noFill/>
                </a:ln>
                <a:solidFill>
                  <a:sysClr val="windowText" lastClr="000000"/>
                </a:solidFill>
                <a:effectLst/>
                <a:uLnTx/>
                <a:uFillTx/>
                <a:latin typeface="Segoe UI" panose="020B0502040204020203" pitchFamily="34" charset="0"/>
                <a:ea typeface="+mn-ea"/>
                <a:cs typeface="Segoe UI" panose="020B0502040204020203" pitchFamily="34" charset="0"/>
              </a:rPr>
              <a:t>— have you provided a card verification code, one-time passcode (OTP), or other security information to anyone?</a:t>
            </a:r>
          </a:p>
        </p:txBody>
      </p:sp>
      <p:sp>
        <p:nvSpPr>
          <p:cNvPr id="19" name="Shape 43">
            <a:extLst>
              <a:ext uri="{FF2B5EF4-FFF2-40B4-BE49-F238E27FC236}">
                <a16:creationId xmlns:a16="http://schemas.microsoft.com/office/drawing/2014/main" id="{0734FACC-FC4E-E3F7-1BBA-20B99CA38CD1}"/>
              </a:ext>
            </a:extLst>
          </p:cNvPr>
          <p:cNvSpPr/>
          <p:nvPr/>
        </p:nvSpPr>
        <p:spPr>
          <a:xfrm>
            <a:off x="2810717" y="2884123"/>
            <a:ext cx="1620000" cy="868680"/>
          </a:xfrm>
          <a:prstGeom prst="diamond">
            <a:avLst/>
          </a:prstGeom>
          <a:solidFill>
            <a:srgbClr val="FFFFFF"/>
          </a:solidFill>
          <a:ln w="12700">
            <a:solidFill>
              <a:schemeClr val="bg1">
                <a:lumMod val="85000"/>
              </a:schemeClr>
            </a:solidFill>
          </a:ln>
        </p:spPr>
        <p:txBody>
          <a:bodyPr wrap="square" lIns="0" tIns="0" rIns="0" bIns="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Is customer authenticated?</a:t>
            </a:r>
          </a:p>
        </p:txBody>
      </p:sp>
      <p:sp>
        <p:nvSpPr>
          <p:cNvPr id="30" name="TextBox 29">
            <a:extLst>
              <a:ext uri="{FF2B5EF4-FFF2-40B4-BE49-F238E27FC236}">
                <a16:creationId xmlns:a16="http://schemas.microsoft.com/office/drawing/2014/main" id="{987723E0-DF94-839F-4901-E23C82C44F3B}"/>
              </a:ext>
            </a:extLst>
          </p:cNvPr>
          <p:cNvSpPr txBox="1"/>
          <p:nvPr/>
        </p:nvSpPr>
        <p:spPr>
          <a:xfrm>
            <a:off x="4182190" y="3052326"/>
            <a:ext cx="615813"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Yes</a:t>
            </a:r>
            <a:endParaRPr kumimoji="0" lang="en-US" sz="2400" b="0" i="0" u="none" strike="noStrike" kern="1200" cap="none" spc="0" normalizeH="0" baseline="0" noProof="0">
              <a:ln>
                <a:noFill/>
              </a:ln>
              <a:solidFill>
                <a:srgbClr val="0097A9"/>
              </a:solidFill>
              <a:effectLst/>
              <a:uLnTx/>
              <a:uFillTx/>
              <a:latin typeface="Segoe UI"/>
              <a:ea typeface="+mn-ea"/>
              <a:cs typeface="+mn-cs"/>
            </a:endParaRPr>
          </a:p>
        </p:txBody>
      </p:sp>
      <p:cxnSp>
        <p:nvCxnSpPr>
          <p:cNvPr id="32" name="ar433">
            <a:extLst>
              <a:ext uri="{FF2B5EF4-FFF2-40B4-BE49-F238E27FC236}">
                <a16:creationId xmlns:a16="http://schemas.microsoft.com/office/drawing/2014/main" id="{8BBCE089-89D2-9F77-A1D8-BDAF30F8B5F0}"/>
              </a:ext>
            </a:extLst>
          </p:cNvPr>
          <p:cNvCxnSpPr>
            <a:cxnSpLocks/>
            <a:stCxn id="19" idx="0"/>
            <a:endCxn id="34" idx="4"/>
          </p:cNvCxnSpPr>
          <p:nvPr/>
        </p:nvCxnSpPr>
        <p:spPr>
          <a:xfrm flipH="1" flipV="1">
            <a:off x="3619349" y="2544147"/>
            <a:ext cx="1368" cy="339976"/>
          </a:xfrm>
          <a:prstGeom prst="straightConnector1">
            <a:avLst/>
          </a:prstGeom>
          <a:ln w="19050">
            <a:solidFill>
              <a:srgbClr val="9B9B9B"/>
            </a:solidFill>
            <a:tailEnd type="triangle" w="med" len="med"/>
          </a:ln>
        </p:spPr>
      </p:cxnSp>
      <p:sp>
        <p:nvSpPr>
          <p:cNvPr id="34" name="Oval 33">
            <a:extLst>
              <a:ext uri="{FF2B5EF4-FFF2-40B4-BE49-F238E27FC236}">
                <a16:creationId xmlns:a16="http://schemas.microsoft.com/office/drawing/2014/main" id="{FDB31F59-0F20-C795-CCCE-8D586CFA9C9C}"/>
              </a:ext>
            </a:extLst>
          </p:cNvPr>
          <p:cNvSpPr/>
          <p:nvPr/>
        </p:nvSpPr>
        <p:spPr bwMode="gray">
          <a:xfrm>
            <a:off x="3475349" y="2256147"/>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BB9E268B-37BC-ABCF-63D6-13D8FFDFE3CF}"/>
              </a:ext>
            </a:extLst>
          </p:cNvPr>
          <p:cNvSpPr txBox="1"/>
          <p:nvPr/>
        </p:nvSpPr>
        <p:spPr>
          <a:xfrm>
            <a:off x="3436191" y="2700114"/>
            <a:ext cx="615813"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900" b="0" i="0" u="none" strike="noStrike" kern="1200" cap="none" spc="0" normalizeH="0" baseline="0" noProof="0">
              <a:ln>
                <a:noFill/>
              </a:ln>
              <a:solidFill>
                <a:srgbClr val="C00000"/>
              </a:solidFill>
              <a:effectLst/>
              <a:uLnTx/>
              <a:uFillTx/>
              <a:latin typeface="Segoe UI"/>
              <a:ea typeface="+mn-ea"/>
              <a:cs typeface="+mn-cs"/>
            </a:endParaRPr>
          </a:p>
        </p:txBody>
      </p:sp>
      <p:cxnSp>
        <p:nvCxnSpPr>
          <p:cNvPr id="45" name="ar433">
            <a:extLst>
              <a:ext uri="{FF2B5EF4-FFF2-40B4-BE49-F238E27FC236}">
                <a16:creationId xmlns:a16="http://schemas.microsoft.com/office/drawing/2014/main" id="{ACE2D004-6284-67F6-7FD0-B5EEFA0F4A8E}"/>
              </a:ext>
            </a:extLst>
          </p:cNvPr>
          <p:cNvCxnSpPr>
            <a:cxnSpLocks/>
            <a:stCxn id="19" idx="3"/>
            <a:endCxn id="468" idx="1"/>
          </p:cNvCxnSpPr>
          <p:nvPr/>
        </p:nvCxnSpPr>
        <p:spPr>
          <a:xfrm>
            <a:off x="4430717" y="3318463"/>
            <a:ext cx="234628" cy="0"/>
          </a:xfrm>
          <a:prstGeom prst="straightConnector1">
            <a:avLst/>
          </a:prstGeom>
          <a:ln w="19050">
            <a:solidFill>
              <a:srgbClr val="9B9B9B"/>
            </a:solidFill>
            <a:tailEnd type="triangle" w="med" len="med"/>
          </a:ln>
        </p:spPr>
      </p:cxnSp>
      <p:pic>
        <p:nvPicPr>
          <p:cNvPr id="15" name="Graphic 14" descr="Badge Question Mark with solid fill">
            <a:extLst>
              <a:ext uri="{FF2B5EF4-FFF2-40B4-BE49-F238E27FC236}">
                <a16:creationId xmlns:a16="http://schemas.microsoft.com/office/drawing/2014/main" id="{1162BCF2-DA23-B332-23CE-98CC5D2140C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12004" y="2598220"/>
            <a:ext cx="363967" cy="363967"/>
          </a:xfrm>
          <a:prstGeom prst="rect">
            <a:avLst/>
          </a:prstGeom>
        </p:spPr>
      </p:pic>
      <p:pic>
        <p:nvPicPr>
          <p:cNvPr id="18" name="Graphic 17" descr="Badge Question Mark with solid fill">
            <a:extLst>
              <a:ext uri="{FF2B5EF4-FFF2-40B4-BE49-F238E27FC236}">
                <a16:creationId xmlns:a16="http://schemas.microsoft.com/office/drawing/2014/main" id="{AAEACD33-F7A7-69C7-0FAE-FCD4C50B27D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0092" y="3998774"/>
            <a:ext cx="363967" cy="363967"/>
          </a:xfrm>
          <a:prstGeom prst="rect">
            <a:avLst/>
          </a:prstGeom>
        </p:spPr>
      </p:pic>
      <p:cxnSp>
        <p:nvCxnSpPr>
          <p:cNvPr id="23" name="Elbow Connector 471">
            <a:extLst>
              <a:ext uri="{FF2B5EF4-FFF2-40B4-BE49-F238E27FC236}">
                <a16:creationId xmlns:a16="http://schemas.microsoft.com/office/drawing/2014/main" id="{5754650D-AA11-2875-CE44-084C6CCF5456}"/>
              </a:ext>
            </a:extLst>
          </p:cNvPr>
          <p:cNvCxnSpPr>
            <a:cxnSpLocks/>
            <a:stCxn id="450" idx="3"/>
            <a:endCxn id="932" idx="0"/>
          </p:cNvCxnSpPr>
          <p:nvPr/>
        </p:nvCxnSpPr>
        <p:spPr>
          <a:xfrm>
            <a:off x="8405584" y="3804839"/>
            <a:ext cx="1534032" cy="563565"/>
          </a:xfrm>
          <a:prstGeom prst="bentConnector2">
            <a:avLst/>
          </a:prstGeom>
          <a:ln w="19050">
            <a:solidFill>
              <a:srgbClr val="9B9B9B"/>
            </a:solidFill>
            <a:tailEnd type="triangle" w="med" len="med"/>
          </a:ln>
        </p:spPr>
      </p:cxnSp>
      <p:sp>
        <p:nvSpPr>
          <p:cNvPr id="12" name="fx413">
            <a:extLst>
              <a:ext uri="{FF2B5EF4-FFF2-40B4-BE49-F238E27FC236}">
                <a16:creationId xmlns:a16="http://schemas.microsoft.com/office/drawing/2014/main" id="{EE48F0F8-F46D-535E-B154-E05A44D9C62B}"/>
              </a:ext>
            </a:extLst>
          </p:cNvPr>
          <p:cNvSpPr/>
          <p:nvPr/>
        </p:nvSpPr>
        <p:spPr>
          <a:xfrm>
            <a:off x="7145584" y="2438223"/>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Follow existing fraud procedures (e.g., ATO, scams, etc.), incl. FIF</a:t>
            </a:r>
          </a:p>
        </p:txBody>
      </p:sp>
      <p:grpSp>
        <p:nvGrpSpPr>
          <p:cNvPr id="13" name="Group 12">
            <a:extLst>
              <a:ext uri="{FF2B5EF4-FFF2-40B4-BE49-F238E27FC236}">
                <a16:creationId xmlns:a16="http://schemas.microsoft.com/office/drawing/2014/main" id="{4BD9FDE5-EBAB-C9E7-F8ED-66345622BAA3}"/>
              </a:ext>
            </a:extLst>
          </p:cNvPr>
          <p:cNvGrpSpPr/>
          <p:nvPr/>
        </p:nvGrpSpPr>
        <p:grpSpPr>
          <a:xfrm>
            <a:off x="8328960" y="2329134"/>
            <a:ext cx="252000" cy="252000"/>
            <a:chOff x="10225008" y="2189338"/>
            <a:chExt cx="252000" cy="252000"/>
          </a:xfrm>
        </p:grpSpPr>
        <p:sp>
          <p:nvSpPr>
            <p:cNvPr id="14" name="hoff960">
              <a:extLst>
                <a:ext uri="{FF2B5EF4-FFF2-40B4-BE49-F238E27FC236}">
                  <a16:creationId xmlns:a16="http://schemas.microsoft.com/office/drawing/2014/main" id="{EE2C41B1-700E-25B8-AD83-8C0DEC5BB317}"/>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17" name="hoffa961">
              <a:extLst>
                <a:ext uri="{FF2B5EF4-FFF2-40B4-BE49-F238E27FC236}">
                  <a16:creationId xmlns:a16="http://schemas.microsoft.com/office/drawing/2014/main" id="{8353FE86-C2A5-8463-1302-8AB7820EFB3F}"/>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cxnSp>
        <p:nvCxnSpPr>
          <p:cNvPr id="20" name="Elbow Connector 471">
            <a:extLst>
              <a:ext uri="{FF2B5EF4-FFF2-40B4-BE49-F238E27FC236}">
                <a16:creationId xmlns:a16="http://schemas.microsoft.com/office/drawing/2014/main" id="{EC7EEE88-58CB-1C98-0F5D-E3B26ECC05C5}"/>
              </a:ext>
            </a:extLst>
          </p:cNvPr>
          <p:cNvCxnSpPr>
            <a:cxnSpLocks/>
            <a:stCxn id="12" idx="3"/>
            <a:endCxn id="932" idx="0"/>
          </p:cNvCxnSpPr>
          <p:nvPr/>
        </p:nvCxnSpPr>
        <p:spPr>
          <a:xfrm>
            <a:off x="8405584" y="2798223"/>
            <a:ext cx="1534032" cy="1570181"/>
          </a:xfrm>
          <a:prstGeom prst="bentConnector2">
            <a:avLst/>
          </a:prstGeom>
          <a:ln w="19050">
            <a:solidFill>
              <a:srgbClr val="9B9B9B"/>
            </a:solidFill>
            <a:tailEnd type="triangle" w="med" len="med"/>
          </a:ln>
        </p:spPr>
      </p:cxnSp>
      <p:grpSp>
        <p:nvGrpSpPr>
          <p:cNvPr id="934" name="Group 933">
            <a:extLst>
              <a:ext uri="{FF2B5EF4-FFF2-40B4-BE49-F238E27FC236}">
                <a16:creationId xmlns:a16="http://schemas.microsoft.com/office/drawing/2014/main" id="{6255B2A5-D15A-96CD-497A-733A2132BEE9}"/>
              </a:ext>
            </a:extLst>
          </p:cNvPr>
          <p:cNvGrpSpPr/>
          <p:nvPr/>
        </p:nvGrpSpPr>
        <p:grpSpPr>
          <a:xfrm>
            <a:off x="8328960" y="3359514"/>
            <a:ext cx="252000" cy="252000"/>
            <a:chOff x="10225008" y="2189338"/>
            <a:chExt cx="252000" cy="252000"/>
          </a:xfrm>
        </p:grpSpPr>
        <p:sp>
          <p:nvSpPr>
            <p:cNvPr id="935" name="hoff960">
              <a:extLst>
                <a:ext uri="{FF2B5EF4-FFF2-40B4-BE49-F238E27FC236}">
                  <a16:creationId xmlns:a16="http://schemas.microsoft.com/office/drawing/2014/main" id="{9C360F9C-F3F1-8B8C-8303-AD9AB9EBCB00}"/>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36" name="hoffa961">
              <a:extLst>
                <a:ext uri="{FF2B5EF4-FFF2-40B4-BE49-F238E27FC236}">
                  <a16:creationId xmlns:a16="http://schemas.microsoft.com/office/drawing/2014/main" id="{542D1829-A939-9747-E445-D98079B5D7B7}"/>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37" name="TextBox 36">
            <a:extLst>
              <a:ext uri="{FF2B5EF4-FFF2-40B4-BE49-F238E27FC236}">
                <a16:creationId xmlns:a16="http://schemas.microsoft.com/office/drawing/2014/main" id="{C389CC60-A70F-D8BB-8850-C3C67EAB0B1E}"/>
              </a:ext>
            </a:extLst>
          </p:cNvPr>
          <p:cNvSpPr txBox="1"/>
          <p:nvPr/>
        </p:nvSpPr>
        <p:spPr>
          <a:xfrm>
            <a:off x="8566187" y="2270468"/>
            <a:ext cx="819312" cy="369332"/>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404040"/>
                </a:solidFill>
                <a:effectLst/>
                <a:uLnTx/>
                <a:uFillTx/>
                <a:latin typeface="Segoe UI"/>
                <a:ea typeface="+mn-ea"/>
                <a:cs typeface="+mn-cs"/>
              </a:rPr>
              <a:t>Hand off to Fraud team</a:t>
            </a:r>
            <a:endParaRPr kumimoji="0" lang="en-CA" sz="2400" b="0" i="1" u="none" strike="noStrike" kern="1200" cap="none" spc="0" normalizeH="0" baseline="0" noProof="0">
              <a:ln>
                <a:noFill/>
              </a:ln>
              <a:solidFill>
                <a:srgbClr val="53565A"/>
              </a:solidFill>
              <a:effectLst/>
              <a:uLnTx/>
              <a:uFillTx/>
              <a:latin typeface="Segoe UI"/>
              <a:ea typeface="+mn-ea"/>
              <a:cs typeface="+mn-cs"/>
            </a:endParaRPr>
          </a:p>
        </p:txBody>
      </p:sp>
      <p:sp>
        <p:nvSpPr>
          <p:cNvPr id="40" name="TextBox 39">
            <a:extLst>
              <a:ext uri="{FF2B5EF4-FFF2-40B4-BE49-F238E27FC236}">
                <a16:creationId xmlns:a16="http://schemas.microsoft.com/office/drawing/2014/main" id="{86005F42-E5B9-12B9-40BE-CFAEFA5B9046}"/>
              </a:ext>
            </a:extLst>
          </p:cNvPr>
          <p:cNvSpPr txBox="1"/>
          <p:nvPr/>
        </p:nvSpPr>
        <p:spPr>
          <a:xfrm>
            <a:off x="8555714" y="3300848"/>
            <a:ext cx="1230453" cy="369332"/>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404040"/>
                </a:solidFill>
                <a:effectLst/>
                <a:uLnTx/>
                <a:uFillTx/>
                <a:latin typeface="Segoe UI"/>
                <a:ea typeface="+mn-ea"/>
                <a:cs typeface="+mn-cs"/>
              </a:rPr>
              <a:t>Hand off to Payment Services team</a:t>
            </a:r>
            <a:endParaRPr kumimoji="0" lang="en-CA" sz="2400" b="0" i="1" u="none" strike="noStrike" kern="1200" cap="none" spc="0" normalizeH="0" baseline="0" noProof="0">
              <a:ln>
                <a:noFill/>
              </a:ln>
              <a:solidFill>
                <a:srgbClr val="53565A"/>
              </a:solidFill>
              <a:effectLst/>
              <a:uLnTx/>
              <a:uFillTx/>
              <a:latin typeface="Segoe UI"/>
              <a:ea typeface="+mn-ea"/>
              <a:cs typeface="+mn-cs"/>
            </a:endParaRPr>
          </a:p>
        </p:txBody>
      </p:sp>
      <p:sp>
        <p:nvSpPr>
          <p:cNvPr id="35" name="TextBox 34">
            <a:extLst>
              <a:ext uri="{FF2B5EF4-FFF2-40B4-BE49-F238E27FC236}">
                <a16:creationId xmlns:a16="http://schemas.microsoft.com/office/drawing/2014/main" id="{E7F75808-9CDA-3C76-D4DC-A1EF836ECCED}"/>
              </a:ext>
            </a:extLst>
          </p:cNvPr>
          <p:cNvSpPr txBox="1"/>
          <p:nvPr/>
        </p:nvSpPr>
        <p:spPr>
          <a:xfrm>
            <a:off x="4845356" y="3714683"/>
            <a:ext cx="1260000" cy="215444"/>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9B40EA"/>
                </a:solidFill>
                <a:effectLst/>
                <a:uLnTx/>
                <a:uFillTx/>
                <a:latin typeface="Segoe UI"/>
                <a:ea typeface="+mn-ea"/>
                <a:cs typeface="+mn-cs"/>
              </a:rPr>
              <a:t>Ask Questions 1-3</a:t>
            </a:r>
            <a:endParaRPr kumimoji="0" lang="en-US" sz="2000" b="0" i="1" u="none" strike="noStrike" kern="1200" cap="none" spc="0" normalizeH="0" baseline="0" noProof="0">
              <a:ln>
                <a:noFill/>
              </a:ln>
              <a:solidFill>
                <a:srgbClr val="9B40EA"/>
              </a:solidFill>
              <a:effectLst/>
              <a:uLnTx/>
              <a:uFillTx/>
              <a:latin typeface="Segoe UI"/>
              <a:ea typeface="+mn-ea"/>
              <a:cs typeface="+mn-cs"/>
            </a:endParaRPr>
          </a:p>
        </p:txBody>
      </p:sp>
      <p:sp>
        <p:nvSpPr>
          <p:cNvPr id="42" name="TextBox 41">
            <a:extLst>
              <a:ext uri="{FF2B5EF4-FFF2-40B4-BE49-F238E27FC236}">
                <a16:creationId xmlns:a16="http://schemas.microsoft.com/office/drawing/2014/main" id="{C23C310C-53F0-ACC8-B9FE-226B3CAA87D8}"/>
              </a:ext>
            </a:extLst>
          </p:cNvPr>
          <p:cNvSpPr txBox="1"/>
          <p:nvPr/>
        </p:nvSpPr>
        <p:spPr>
          <a:xfrm>
            <a:off x="7145584" y="4147297"/>
            <a:ext cx="1260000" cy="215444"/>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9B40EA"/>
                </a:solidFill>
                <a:effectLst/>
                <a:uLnTx/>
                <a:uFillTx/>
                <a:latin typeface="Segoe UI"/>
                <a:ea typeface="+mn-ea"/>
                <a:cs typeface="+mn-cs"/>
              </a:rPr>
              <a:t>Ask Questions 4-6</a:t>
            </a:r>
            <a:endParaRPr kumimoji="0" lang="en-US" sz="2000" b="0" i="1" u="none" strike="noStrike" kern="1200" cap="none" spc="0" normalizeH="0" baseline="0" noProof="0">
              <a:ln>
                <a:noFill/>
              </a:ln>
              <a:solidFill>
                <a:srgbClr val="9B40EA"/>
              </a:solidFill>
              <a:effectLst/>
              <a:uLnTx/>
              <a:uFillTx/>
              <a:latin typeface="Segoe UI"/>
              <a:ea typeface="+mn-ea"/>
              <a:cs typeface="+mn-cs"/>
            </a:endParaRPr>
          </a:p>
        </p:txBody>
      </p:sp>
      <p:sp>
        <p:nvSpPr>
          <p:cNvPr id="9" name="TextBox 8">
            <a:extLst>
              <a:ext uri="{FF2B5EF4-FFF2-40B4-BE49-F238E27FC236}">
                <a16:creationId xmlns:a16="http://schemas.microsoft.com/office/drawing/2014/main" id="{0D615A62-E2B0-3DC8-F1F5-F1DAE29DA19B}"/>
              </a:ext>
            </a:extLst>
          </p:cNvPr>
          <p:cNvSpPr txBox="1"/>
          <p:nvPr/>
        </p:nvSpPr>
        <p:spPr>
          <a:xfrm>
            <a:off x="7117350" y="3138407"/>
            <a:ext cx="1260000" cy="215444"/>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9B40EA"/>
                </a:solidFill>
                <a:effectLst/>
                <a:uLnTx/>
                <a:uFillTx/>
                <a:latin typeface="Segoe UI"/>
                <a:ea typeface="+mn-ea"/>
                <a:cs typeface="+mn-cs"/>
              </a:rPr>
              <a:t>Ask Questions 7-9</a:t>
            </a:r>
            <a:endParaRPr kumimoji="0" lang="en-US" sz="2000" b="0" i="1" u="none" strike="noStrike" kern="1200" cap="none" spc="0" normalizeH="0" baseline="0" noProof="0">
              <a:ln>
                <a:noFill/>
              </a:ln>
              <a:solidFill>
                <a:srgbClr val="9B40EA"/>
              </a:solidFill>
              <a:effectLst/>
              <a:uLnTx/>
              <a:uFillTx/>
              <a:latin typeface="Segoe UI"/>
              <a:ea typeface="+mn-ea"/>
              <a:cs typeface="+mn-cs"/>
            </a:endParaRPr>
          </a:p>
        </p:txBody>
      </p:sp>
    </p:spTree>
    <p:extLst>
      <p:ext uri="{BB962C8B-B14F-4D97-AF65-F5344CB8AC3E}">
        <p14:creationId xmlns:p14="http://schemas.microsoft.com/office/powerpoint/2010/main" val="2675620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7DC63-FA1E-DE77-87DE-D86647A0B1C1}"/>
            </a:ext>
          </a:extLst>
        </p:cNvPr>
        <p:cNvGrpSpPr/>
        <p:nvPr/>
      </p:nvGrpSpPr>
      <p:grpSpPr>
        <a:xfrm>
          <a:off x="0" y="0"/>
          <a:ext cx="0" cy="0"/>
          <a:chOff x="0" y="0"/>
          <a:chExt cx="0" cy="0"/>
        </a:xfrm>
      </p:grpSpPr>
      <p:sp>
        <p:nvSpPr>
          <p:cNvPr id="179" name="Text Placeholder 3">
            <a:extLst>
              <a:ext uri="{FF2B5EF4-FFF2-40B4-BE49-F238E27FC236}">
                <a16:creationId xmlns:a16="http://schemas.microsoft.com/office/drawing/2014/main" id="{722650B8-CCC7-F89B-9DC2-C1CB0C729E05}"/>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D1931A7E-EF3E-AE68-0874-EE0AF14BE01A}"/>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2. Dispute Triage</a:t>
            </a:r>
          </a:p>
        </p:txBody>
      </p:sp>
      <p:sp>
        <p:nvSpPr>
          <p:cNvPr id="2" name="lg950">
            <a:extLst>
              <a:ext uri="{FF2B5EF4-FFF2-40B4-BE49-F238E27FC236}">
                <a16:creationId xmlns:a16="http://schemas.microsoft.com/office/drawing/2014/main" id="{F55AFA61-0D57-1DEF-3B5D-E825951DA588}"/>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3" name="lg951">
            <a:extLst>
              <a:ext uri="{FF2B5EF4-FFF2-40B4-BE49-F238E27FC236}">
                <a16:creationId xmlns:a16="http://schemas.microsoft.com/office/drawing/2014/main" id="{90DAA241-9345-9B00-88AB-A74BCA416E13}"/>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4" name="lg952">
            <a:extLst>
              <a:ext uri="{FF2B5EF4-FFF2-40B4-BE49-F238E27FC236}">
                <a16:creationId xmlns:a16="http://schemas.microsoft.com/office/drawing/2014/main" id="{398998CE-660A-BDBF-A64B-36D3DEF8F234}"/>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53" name="lg953">
            <a:extLst>
              <a:ext uri="{FF2B5EF4-FFF2-40B4-BE49-F238E27FC236}">
                <a16:creationId xmlns:a16="http://schemas.microsoft.com/office/drawing/2014/main" id="{12C7B2A3-7C69-01FE-2D28-5C2F340A4000}"/>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760" name="Group 759">
            <a:extLst>
              <a:ext uri="{FF2B5EF4-FFF2-40B4-BE49-F238E27FC236}">
                <a16:creationId xmlns:a16="http://schemas.microsoft.com/office/drawing/2014/main" id="{49B0E7D1-DC89-98B2-4D54-D75E383F48BF}"/>
              </a:ext>
            </a:extLst>
          </p:cNvPr>
          <p:cNvGrpSpPr/>
          <p:nvPr/>
        </p:nvGrpSpPr>
        <p:grpSpPr>
          <a:xfrm>
            <a:off x="10685728" y="1247437"/>
            <a:ext cx="210312" cy="210312"/>
            <a:chOff x="10674331" y="1239428"/>
            <a:chExt cx="210312" cy="210312"/>
          </a:xfrm>
        </p:grpSpPr>
        <p:sp>
          <p:nvSpPr>
            <p:cNvPr id="968" name="hoff968">
              <a:extLst>
                <a:ext uri="{FF2B5EF4-FFF2-40B4-BE49-F238E27FC236}">
                  <a16:creationId xmlns:a16="http://schemas.microsoft.com/office/drawing/2014/main" id="{F87D9427-BF68-6315-CF91-A7544A67E42C}"/>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69" name="hoffa969">
              <a:extLst>
                <a:ext uri="{FF2B5EF4-FFF2-40B4-BE49-F238E27FC236}">
                  <a16:creationId xmlns:a16="http://schemas.microsoft.com/office/drawing/2014/main" id="{A40C229C-1A18-E80A-54F8-CA72265FBFAE}"/>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972" name="lg972">
            <a:extLst>
              <a:ext uri="{FF2B5EF4-FFF2-40B4-BE49-F238E27FC236}">
                <a16:creationId xmlns:a16="http://schemas.microsoft.com/office/drawing/2014/main" id="{EE8AE268-1464-3C0C-2C3B-401024E7705A}"/>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cxnSp>
        <p:nvCxnSpPr>
          <p:cNvPr id="763" name="Elbow Connector 762">
            <a:extLst>
              <a:ext uri="{FF2B5EF4-FFF2-40B4-BE49-F238E27FC236}">
                <a16:creationId xmlns:a16="http://schemas.microsoft.com/office/drawing/2014/main" id="{247B5B49-F5BB-CAF9-1F8C-C23DF4316DB4}"/>
              </a:ext>
            </a:extLst>
          </p:cNvPr>
          <p:cNvCxnSpPr>
            <a:cxnSpLocks/>
          </p:cNvCxnSpPr>
          <p:nvPr/>
        </p:nvCxnSpPr>
        <p:spPr>
          <a:xfrm>
            <a:off x="-2926264" y="9638719"/>
            <a:ext cx="589990" cy="452490"/>
          </a:xfrm>
          <a:prstGeom prst="bentConnector3">
            <a:avLst/>
          </a:prstGeom>
          <a:ln w="19050">
            <a:solidFill>
              <a:srgbClr val="9B9B9B"/>
            </a:solidFill>
            <a:tailEnd type="triangle" w="med" len="med"/>
          </a:ln>
        </p:spPr>
      </p:cxnSp>
      <p:graphicFrame>
        <p:nvGraphicFramePr>
          <p:cNvPr id="462" name="Table 461">
            <a:extLst>
              <a:ext uri="{FF2B5EF4-FFF2-40B4-BE49-F238E27FC236}">
                <a16:creationId xmlns:a16="http://schemas.microsoft.com/office/drawing/2014/main" id="{753DC14B-C9EF-CCCE-6196-E6F154419355}"/>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INTAKE &amp; INITIATION</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DISPUTE TRIAGE</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CASE PREPARATION &amp; DOCUMENT ASSESSMENT</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PROVISIONAL CREDIT ISSUANCE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NETWORK SUBMISSION &amp; RESPONSE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RESOLUTION &amp; RECOVERY</a:t>
                      </a:r>
                    </a:p>
                  </a:txBody>
                  <a:tcPr anchor="ctr">
                    <a:solidFill>
                      <a:schemeClr val="bg1">
                        <a:lumMod val="75000"/>
                      </a:schemeClr>
                    </a:solidFill>
                  </a:tcPr>
                </a:tc>
                <a:extLst>
                  <a:ext uri="{0D108BD9-81ED-4DB2-BD59-A6C34878D82A}">
                    <a16:rowId xmlns:a16="http://schemas.microsoft.com/office/drawing/2014/main" val="831136574"/>
                  </a:ext>
                </a:extLst>
              </a:tr>
            </a:tbl>
          </a:graphicData>
        </a:graphic>
      </p:graphicFrame>
      <p:sp>
        <p:nvSpPr>
          <p:cNvPr id="6" name="Oval 5">
            <a:extLst>
              <a:ext uri="{FF2B5EF4-FFF2-40B4-BE49-F238E27FC236}">
                <a16:creationId xmlns:a16="http://schemas.microsoft.com/office/drawing/2014/main" id="{6C09EFA9-BBB2-DFF1-C781-09D077E56DAB}"/>
              </a:ext>
            </a:extLst>
          </p:cNvPr>
          <p:cNvSpPr/>
          <p:nvPr/>
        </p:nvSpPr>
        <p:spPr bwMode="gray">
          <a:xfrm>
            <a:off x="10652555" y="1522937"/>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8" name="lg972">
            <a:extLst>
              <a:ext uri="{FF2B5EF4-FFF2-40B4-BE49-F238E27FC236}">
                <a16:creationId xmlns:a16="http://schemas.microsoft.com/office/drawing/2014/main" id="{0724CAF1-76BD-36D6-832E-E8299E6E157C}"/>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sp>
        <p:nvSpPr>
          <p:cNvPr id="16" name="Shape 14">
            <a:extLst>
              <a:ext uri="{FF2B5EF4-FFF2-40B4-BE49-F238E27FC236}">
                <a16:creationId xmlns:a16="http://schemas.microsoft.com/office/drawing/2014/main" id="{6893E2A9-5671-504B-8C25-E13D4245E4FF}"/>
              </a:ext>
            </a:extLst>
          </p:cNvPr>
          <p:cNvSpPr/>
          <p:nvPr/>
        </p:nvSpPr>
        <p:spPr>
          <a:xfrm>
            <a:off x="9572625" y="6342232"/>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Payment Services / Fraud</a:t>
            </a:r>
          </a:p>
        </p:txBody>
      </p:sp>
      <p:sp>
        <p:nvSpPr>
          <p:cNvPr id="9" name="Shape 43">
            <a:extLst>
              <a:ext uri="{FF2B5EF4-FFF2-40B4-BE49-F238E27FC236}">
                <a16:creationId xmlns:a16="http://schemas.microsoft.com/office/drawing/2014/main" id="{81CBFEB3-BAF5-34A5-6335-5961A2253466}"/>
              </a:ext>
            </a:extLst>
          </p:cNvPr>
          <p:cNvSpPr/>
          <p:nvPr/>
        </p:nvSpPr>
        <p:spPr>
          <a:xfrm>
            <a:off x="2793363" y="35350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Did the trx occur on the Visa Network?</a:t>
            </a:r>
          </a:p>
        </p:txBody>
      </p:sp>
      <p:sp>
        <p:nvSpPr>
          <p:cNvPr id="21" name="TextBox 20">
            <a:extLst>
              <a:ext uri="{FF2B5EF4-FFF2-40B4-BE49-F238E27FC236}">
                <a16:creationId xmlns:a16="http://schemas.microsoft.com/office/drawing/2014/main" id="{B070BDB3-EE69-6623-C2F7-47ACA7A48BB6}"/>
              </a:ext>
            </a:extLst>
          </p:cNvPr>
          <p:cNvSpPr txBox="1"/>
          <p:nvPr/>
        </p:nvSpPr>
        <p:spPr>
          <a:xfrm>
            <a:off x="3109614" y="4417405"/>
            <a:ext cx="66349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2400" b="0" i="0" u="none" strike="noStrike" kern="1200" cap="none" spc="0" normalizeH="0" baseline="0" noProof="0">
              <a:ln>
                <a:noFill/>
              </a:ln>
              <a:solidFill>
                <a:srgbClr val="C00000"/>
              </a:solidFill>
              <a:effectLst/>
              <a:uLnTx/>
              <a:uFillTx/>
              <a:latin typeface="Segoe UI"/>
              <a:ea typeface="+mn-ea"/>
              <a:cs typeface="+mn-cs"/>
            </a:endParaRPr>
          </a:p>
        </p:txBody>
      </p:sp>
      <p:sp>
        <p:nvSpPr>
          <p:cNvPr id="23" name="Oval 22">
            <a:extLst>
              <a:ext uri="{FF2B5EF4-FFF2-40B4-BE49-F238E27FC236}">
                <a16:creationId xmlns:a16="http://schemas.microsoft.com/office/drawing/2014/main" id="{4990A038-8467-C541-E2B7-27D064F68F96}"/>
              </a:ext>
            </a:extLst>
          </p:cNvPr>
          <p:cNvSpPr/>
          <p:nvPr/>
        </p:nvSpPr>
        <p:spPr bwMode="gray">
          <a:xfrm>
            <a:off x="3297363" y="5853637"/>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25" name="TextBox 24">
            <a:extLst>
              <a:ext uri="{FF2B5EF4-FFF2-40B4-BE49-F238E27FC236}">
                <a16:creationId xmlns:a16="http://schemas.microsoft.com/office/drawing/2014/main" id="{10838D69-002E-C591-2D6B-6CA11CD4F255}"/>
              </a:ext>
            </a:extLst>
          </p:cNvPr>
          <p:cNvSpPr txBox="1"/>
          <p:nvPr/>
        </p:nvSpPr>
        <p:spPr>
          <a:xfrm>
            <a:off x="3656616" y="5869230"/>
            <a:ext cx="1415411" cy="415498"/>
          </a:xfrm>
          <a:prstGeom prst="rect">
            <a:avLst/>
          </a:prstGeom>
          <a:solidFill>
            <a:schemeClr val="bg1"/>
          </a:solidFill>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Follow other network dispute / investigation process (e.g., </a:t>
            </a:r>
            <a:r>
              <a:rPr kumimoji="0" lang="en-US" sz="900" b="1" i="0" u="none" strike="noStrike" kern="1200" cap="none" spc="0" normalizeH="0" baseline="0" noProof="0" err="1">
                <a:ln>
                  <a:noFill/>
                </a:ln>
                <a:solidFill>
                  <a:srgbClr val="404040"/>
                </a:solidFill>
                <a:effectLst/>
                <a:uLnTx/>
                <a:uFillTx/>
                <a:latin typeface="Segoe UI"/>
                <a:ea typeface="+mn-ea"/>
                <a:cs typeface="+mn-cs"/>
              </a:rPr>
              <a:t>Interac</a:t>
            </a:r>
            <a:r>
              <a:rPr kumimoji="0" lang="en-US" sz="900" b="1" i="0" u="none" strike="noStrike" kern="1200" cap="none" spc="0" normalizeH="0" baseline="0" noProof="0">
                <a:ln>
                  <a:noFill/>
                </a:ln>
                <a:solidFill>
                  <a:srgbClr val="404040"/>
                </a:solidFill>
                <a:effectLst/>
                <a:uLnTx/>
                <a:uFillTx/>
                <a:latin typeface="Segoe UI"/>
                <a:ea typeface="+mn-ea"/>
                <a:cs typeface="+mn-cs"/>
              </a:rPr>
              <a:t>)</a:t>
            </a:r>
          </a:p>
        </p:txBody>
      </p:sp>
      <p:cxnSp>
        <p:nvCxnSpPr>
          <p:cNvPr id="26" name="lnk906">
            <a:extLst>
              <a:ext uri="{FF2B5EF4-FFF2-40B4-BE49-F238E27FC236}">
                <a16:creationId xmlns:a16="http://schemas.microsoft.com/office/drawing/2014/main" id="{BFD70FF6-F239-C419-C452-685E84F94B6D}"/>
              </a:ext>
            </a:extLst>
          </p:cNvPr>
          <p:cNvCxnSpPr>
            <a:cxnSpLocks/>
            <a:stCxn id="21" idx="2"/>
            <a:endCxn id="23" idx="0"/>
          </p:cNvCxnSpPr>
          <p:nvPr/>
        </p:nvCxnSpPr>
        <p:spPr>
          <a:xfrm>
            <a:off x="3441363" y="4648237"/>
            <a:ext cx="0" cy="1205400"/>
          </a:xfrm>
          <a:prstGeom prst="straightConnector1">
            <a:avLst/>
          </a:prstGeom>
          <a:ln w="19050">
            <a:solidFill>
              <a:srgbClr val="9B9B9B"/>
            </a:solidFill>
            <a:tailEnd type="triangle" w="med" len="med"/>
          </a:ln>
        </p:spPr>
      </p:cxnSp>
      <p:sp>
        <p:nvSpPr>
          <p:cNvPr id="47" name="fx413">
            <a:extLst>
              <a:ext uri="{FF2B5EF4-FFF2-40B4-BE49-F238E27FC236}">
                <a16:creationId xmlns:a16="http://schemas.microsoft.com/office/drawing/2014/main" id="{DE9FD6AC-442B-2F91-4393-B4AA3EE46E6E}"/>
              </a:ext>
            </a:extLst>
          </p:cNvPr>
          <p:cNvSpPr/>
          <p:nvPr/>
        </p:nvSpPr>
        <p:spPr>
          <a:xfrm>
            <a:off x="9835813" y="3080279"/>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Payment Service / Fraud agent proceeds with investigation and case assessment</a:t>
            </a:r>
          </a:p>
        </p:txBody>
      </p:sp>
      <p:grpSp>
        <p:nvGrpSpPr>
          <p:cNvPr id="58" name="Group 57">
            <a:extLst>
              <a:ext uri="{FF2B5EF4-FFF2-40B4-BE49-F238E27FC236}">
                <a16:creationId xmlns:a16="http://schemas.microsoft.com/office/drawing/2014/main" id="{374FBBBE-4B96-8736-B2EA-FEEB9F0CBC5D}"/>
              </a:ext>
            </a:extLst>
          </p:cNvPr>
          <p:cNvGrpSpPr/>
          <p:nvPr/>
        </p:nvGrpSpPr>
        <p:grpSpPr>
          <a:xfrm>
            <a:off x="10927959" y="2944970"/>
            <a:ext cx="252000" cy="252000"/>
            <a:chOff x="10225008" y="2189338"/>
            <a:chExt cx="252000" cy="252000"/>
          </a:xfrm>
        </p:grpSpPr>
        <p:sp>
          <p:nvSpPr>
            <p:cNvPr id="59" name="hoff960">
              <a:extLst>
                <a:ext uri="{FF2B5EF4-FFF2-40B4-BE49-F238E27FC236}">
                  <a16:creationId xmlns:a16="http://schemas.microsoft.com/office/drawing/2014/main" id="{42962348-D800-08A0-0ED8-40597D6059E4}"/>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60" name="hoffa961">
              <a:extLst>
                <a:ext uri="{FF2B5EF4-FFF2-40B4-BE49-F238E27FC236}">
                  <a16:creationId xmlns:a16="http://schemas.microsoft.com/office/drawing/2014/main" id="{0AACCD58-4990-B72A-8C42-72988640E4F7}"/>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grpSp>
        <p:nvGrpSpPr>
          <p:cNvPr id="51" name="Group 50">
            <a:extLst>
              <a:ext uri="{FF2B5EF4-FFF2-40B4-BE49-F238E27FC236}">
                <a16:creationId xmlns:a16="http://schemas.microsoft.com/office/drawing/2014/main" id="{69FAA756-A419-F7E8-69BE-7118CBEC978F}"/>
              </a:ext>
            </a:extLst>
          </p:cNvPr>
          <p:cNvGrpSpPr/>
          <p:nvPr/>
        </p:nvGrpSpPr>
        <p:grpSpPr>
          <a:xfrm>
            <a:off x="6267635" y="3320287"/>
            <a:ext cx="879648" cy="230832"/>
            <a:chOff x="6267635" y="3320287"/>
            <a:chExt cx="879648" cy="230832"/>
          </a:xfrm>
        </p:grpSpPr>
        <p:sp>
          <p:nvSpPr>
            <p:cNvPr id="1007" name="TextBox 1006">
              <a:extLst>
                <a:ext uri="{FF2B5EF4-FFF2-40B4-BE49-F238E27FC236}">
                  <a16:creationId xmlns:a16="http://schemas.microsoft.com/office/drawing/2014/main" id="{3C95E897-CA4F-80D9-D7F9-43A8CE5937BC}"/>
                </a:ext>
              </a:extLst>
            </p:cNvPr>
            <p:cNvSpPr txBox="1"/>
            <p:nvPr/>
          </p:nvSpPr>
          <p:spPr>
            <a:xfrm>
              <a:off x="6267635" y="3320287"/>
              <a:ext cx="498140"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Yes</a:t>
              </a:r>
              <a:endParaRPr kumimoji="0" lang="en-US" sz="900" b="0" i="0" u="none" strike="noStrike" kern="1200" cap="none" spc="0" normalizeH="0" baseline="0" noProof="0">
                <a:ln>
                  <a:noFill/>
                </a:ln>
                <a:solidFill>
                  <a:srgbClr val="009A44"/>
                </a:solidFill>
                <a:effectLst/>
                <a:uLnTx/>
                <a:uFillTx/>
                <a:latin typeface="Segoe UI"/>
                <a:ea typeface="+mn-ea"/>
                <a:cs typeface="+mn-cs"/>
              </a:endParaRPr>
            </a:p>
          </p:txBody>
        </p:sp>
        <p:cxnSp>
          <p:nvCxnSpPr>
            <p:cNvPr id="41" name="lnk906">
              <a:extLst>
                <a:ext uri="{FF2B5EF4-FFF2-40B4-BE49-F238E27FC236}">
                  <a16:creationId xmlns:a16="http://schemas.microsoft.com/office/drawing/2014/main" id="{D89E34EA-1E12-D0BF-2C88-76A8DDC963EC}"/>
                </a:ext>
              </a:extLst>
            </p:cNvPr>
            <p:cNvCxnSpPr>
              <a:cxnSpLocks/>
              <a:stCxn id="1007" idx="3"/>
              <a:endCxn id="13" idx="1"/>
            </p:cNvCxnSpPr>
            <p:nvPr/>
          </p:nvCxnSpPr>
          <p:spPr>
            <a:xfrm>
              <a:off x="6765775" y="3435703"/>
              <a:ext cx="381508" cy="3347"/>
            </a:xfrm>
            <a:prstGeom prst="straightConnector1">
              <a:avLst/>
            </a:prstGeom>
            <a:ln w="19050">
              <a:solidFill>
                <a:srgbClr val="9B9B9B"/>
              </a:solidFill>
              <a:tailEnd type="triangle" w="med" len="med"/>
            </a:ln>
          </p:spPr>
        </p:cxnSp>
      </p:grpSp>
      <p:sp>
        <p:nvSpPr>
          <p:cNvPr id="929" name="Oval 928">
            <a:extLst>
              <a:ext uri="{FF2B5EF4-FFF2-40B4-BE49-F238E27FC236}">
                <a16:creationId xmlns:a16="http://schemas.microsoft.com/office/drawing/2014/main" id="{461E7B60-FE87-D719-DD79-A05C5547D7EC}"/>
              </a:ext>
            </a:extLst>
          </p:cNvPr>
          <p:cNvSpPr/>
          <p:nvPr/>
        </p:nvSpPr>
        <p:spPr bwMode="gray">
          <a:xfrm>
            <a:off x="5971024" y="2267928"/>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942" name="Shape 43">
            <a:extLst>
              <a:ext uri="{FF2B5EF4-FFF2-40B4-BE49-F238E27FC236}">
                <a16:creationId xmlns:a16="http://schemas.microsoft.com/office/drawing/2014/main" id="{72E713D0-C01F-13EB-764C-8D1CA4F83C54}"/>
              </a:ext>
            </a:extLst>
          </p:cNvPr>
          <p:cNvSpPr/>
          <p:nvPr/>
        </p:nvSpPr>
        <p:spPr>
          <a:xfrm>
            <a:off x="5081137" y="302065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Dispute rights exist?</a:t>
            </a:r>
          </a:p>
        </p:txBody>
      </p:sp>
      <p:cxnSp>
        <p:nvCxnSpPr>
          <p:cNvPr id="943" name="Elbow Connector 942">
            <a:extLst>
              <a:ext uri="{FF2B5EF4-FFF2-40B4-BE49-F238E27FC236}">
                <a16:creationId xmlns:a16="http://schemas.microsoft.com/office/drawing/2014/main" id="{E9555C3A-0E6B-DD16-2A57-901752E9D507}"/>
              </a:ext>
            </a:extLst>
          </p:cNvPr>
          <p:cNvCxnSpPr>
            <a:cxnSpLocks/>
            <a:stCxn id="944" idx="0"/>
            <a:endCxn id="929" idx="2"/>
          </p:cNvCxnSpPr>
          <p:nvPr/>
        </p:nvCxnSpPr>
        <p:spPr>
          <a:xfrm rot="5400000" flipH="1" flipV="1">
            <a:off x="5658139" y="2492324"/>
            <a:ext cx="393280" cy="232489"/>
          </a:xfrm>
          <a:prstGeom prst="bentConnector2">
            <a:avLst/>
          </a:prstGeom>
          <a:ln w="19050">
            <a:solidFill>
              <a:srgbClr val="9B9B9B"/>
            </a:solidFill>
            <a:tailEnd type="triangle" w="med" len="med"/>
          </a:ln>
        </p:spPr>
      </p:cxnSp>
      <p:sp>
        <p:nvSpPr>
          <p:cNvPr id="944" name="TextBox 943">
            <a:extLst>
              <a:ext uri="{FF2B5EF4-FFF2-40B4-BE49-F238E27FC236}">
                <a16:creationId xmlns:a16="http://schemas.microsoft.com/office/drawing/2014/main" id="{26B32ADA-148A-0694-38A4-6B3AF28B9857}"/>
              </a:ext>
            </a:extLst>
          </p:cNvPr>
          <p:cNvSpPr txBox="1"/>
          <p:nvPr/>
        </p:nvSpPr>
        <p:spPr>
          <a:xfrm>
            <a:off x="5493256" y="2805208"/>
            <a:ext cx="49055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900" b="0" i="0" u="none" strike="noStrike" kern="1200" cap="none" spc="0" normalizeH="0" baseline="0" noProof="0">
              <a:ln>
                <a:noFill/>
              </a:ln>
              <a:solidFill>
                <a:srgbClr val="C00000"/>
              </a:solidFill>
              <a:effectLst/>
              <a:uLnTx/>
              <a:uFillTx/>
              <a:latin typeface="Segoe UI"/>
              <a:ea typeface="+mn-ea"/>
              <a:cs typeface="+mn-cs"/>
            </a:endParaRPr>
          </a:p>
        </p:txBody>
      </p:sp>
      <p:sp>
        <p:nvSpPr>
          <p:cNvPr id="933" name="TextBox 932">
            <a:extLst>
              <a:ext uri="{FF2B5EF4-FFF2-40B4-BE49-F238E27FC236}">
                <a16:creationId xmlns:a16="http://schemas.microsoft.com/office/drawing/2014/main" id="{F84C4500-D103-540A-527A-12F047C9F56D}"/>
              </a:ext>
            </a:extLst>
          </p:cNvPr>
          <p:cNvSpPr txBox="1"/>
          <p:nvPr/>
        </p:nvSpPr>
        <p:spPr>
          <a:xfrm>
            <a:off x="6267210" y="2102546"/>
            <a:ext cx="1415411" cy="138499"/>
          </a:xfrm>
          <a:prstGeom prst="rect">
            <a:avLst/>
          </a:prstGeom>
          <a:solidFill>
            <a:schemeClr val="bg1"/>
          </a:solidFill>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404040"/>
              </a:solidFill>
              <a:effectLst/>
              <a:uLnTx/>
              <a:uFillTx/>
              <a:latin typeface="Segoe UI"/>
              <a:ea typeface="+mn-ea"/>
              <a:cs typeface="+mn-cs"/>
            </a:endParaRPr>
          </a:p>
        </p:txBody>
      </p:sp>
      <p:sp>
        <p:nvSpPr>
          <p:cNvPr id="13" name="Shape 43">
            <a:extLst>
              <a:ext uri="{FF2B5EF4-FFF2-40B4-BE49-F238E27FC236}">
                <a16:creationId xmlns:a16="http://schemas.microsoft.com/office/drawing/2014/main" id="{E2F716C5-9076-194D-9685-641C6BA17D75}"/>
              </a:ext>
            </a:extLst>
          </p:cNvPr>
          <p:cNvSpPr/>
          <p:nvPr/>
        </p:nvSpPr>
        <p:spPr>
          <a:xfrm>
            <a:off x="7147283" y="3004710"/>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System auto write off?</a:t>
            </a:r>
          </a:p>
        </p:txBody>
      </p:sp>
      <p:cxnSp>
        <p:nvCxnSpPr>
          <p:cNvPr id="15" name="Elbow Connector 942">
            <a:extLst>
              <a:ext uri="{FF2B5EF4-FFF2-40B4-BE49-F238E27FC236}">
                <a16:creationId xmlns:a16="http://schemas.microsoft.com/office/drawing/2014/main" id="{C7714BCF-17C0-8B12-A091-F16C7F588854}"/>
              </a:ext>
            </a:extLst>
          </p:cNvPr>
          <p:cNvCxnSpPr>
            <a:cxnSpLocks/>
            <a:stCxn id="17" idx="0"/>
            <a:endCxn id="32" idx="2"/>
          </p:cNvCxnSpPr>
          <p:nvPr/>
        </p:nvCxnSpPr>
        <p:spPr>
          <a:xfrm rot="5400000" flipH="1" flipV="1">
            <a:off x="7857822" y="2338835"/>
            <a:ext cx="328975" cy="475162"/>
          </a:xfrm>
          <a:prstGeom prst="bentConnector2">
            <a:avLst/>
          </a:prstGeom>
          <a:ln w="19050">
            <a:solidFill>
              <a:srgbClr val="9B9B9B"/>
            </a:solidFill>
            <a:tailEnd type="triangle" w="med" len="med"/>
          </a:ln>
        </p:spPr>
      </p:cxnSp>
      <p:sp>
        <p:nvSpPr>
          <p:cNvPr id="17" name="TextBox 16">
            <a:extLst>
              <a:ext uri="{FF2B5EF4-FFF2-40B4-BE49-F238E27FC236}">
                <a16:creationId xmlns:a16="http://schemas.microsoft.com/office/drawing/2014/main" id="{6A859DAD-4EF4-29CE-D2A4-294F365B9CFF}"/>
              </a:ext>
            </a:extLst>
          </p:cNvPr>
          <p:cNvSpPr txBox="1"/>
          <p:nvPr/>
        </p:nvSpPr>
        <p:spPr>
          <a:xfrm>
            <a:off x="7539449" y="2740903"/>
            <a:ext cx="49055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Yes</a:t>
            </a:r>
            <a:endParaRPr kumimoji="0" lang="en-US" sz="900" b="0" i="0" u="none" strike="noStrike" kern="1200" cap="none" spc="0" normalizeH="0" baseline="0" noProof="0">
              <a:ln>
                <a:noFill/>
              </a:ln>
              <a:solidFill>
                <a:srgbClr val="009A44"/>
              </a:solidFill>
              <a:effectLst/>
              <a:uLnTx/>
              <a:uFillTx/>
              <a:latin typeface="Segoe UI"/>
              <a:ea typeface="+mn-ea"/>
              <a:cs typeface="+mn-cs"/>
            </a:endParaRPr>
          </a:p>
        </p:txBody>
      </p:sp>
      <p:cxnSp>
        <p:nvCxnSpPr>
          <p:cNvPr id="20" name="lnk906">
            <a:extLst>
              <a:ext uri="{FF2B5EF4-FFF2-40B4-BE49-F238E27FC236}">
                <a16:creationId xmlns:a16="http://schemas.microsoft.com/office/drawing/2014/main" id="{4783F107-30A3-FCCE-335C-8DF9E4C22375}"/>
              </a:ext>
            </a:extLst>
          </p:cNvPr>
          <p:cNvCxnSpPr>
            <a:cxnSpLocks/>
            <a:stCxn id="11" idx="3"/>
            <a:endCxn id="47" idx="1"/>
          </p:cNvCxnSpPr>
          <p:nvPr/>
        </p:nvCxnSpPr>
        <p:spPr>
          <a:xfrm>
            <a:off x="8669596" y="3439050"/>
            <a:ext cx="1166217" cy="1229"/>
          </a:xfrm>
          <a:prstGeom prst="straightConnector1">
            <a:avLst/>
          </a:prstGeom>
          <a:ln w="19050">
            <a:solidFill>
              <a:srgbClr val="9B9B9B"/>
            </a:solidFill>
            <a:tailEnd type="triangle" w="med" len="med"/>
          </a:ln>
        </p:spPr>
      </p:cxnSp>
      <p:sp>
        <p:nvSpPr>
          <p:cNvPr id="32" name="Oval 31">
            <a:extLst>
              <a:ext uri="{FF2B5EF4-FFF2-40B4-BE49-F238E27FC236}">
                <a16:creationId xmlns:a16="http://schemas.microsoft.com/office/drawing/2014/main" id="{B3FBB6EB-2846-797F-A6DE-747B11B78B65}"/>
              </a:ext>
            </a:extLst>
          </p:cNvPr>
          <p:cNvSpPr/>
          <p:nvPr/>
        </p:nvSpPr>
        <p:spPr bwMode="gray">
          <a:xfrm>
            <a:off x="8259890" y="2267928"/>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81F02FDA-CF1B-70C1-21E6-744E1CCF10BE}"/>
              </a:ext>
            </a:extLst>
          </p:cNvPr>
          <p:cNvSpPr txBox="1"/>
          <p:nvPr/>
        </p:nvSpPr>
        <p:spPr>
          <a:xfrm>
            <a:off x="8556076" y="2302449"/>
            <a:ext cx="1415411" cy="276999"/>
          </a:xfrm>
          <a:prstGeom prst="rect">
            <a:avLst/>
          </a:prstGeom>
          <a:solidFill>
            <a:schemeClr val="bg1"/>
          </a:solidFill>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Refund</a:t>
            </a:r>
            <a:r>
              <a:rPr kumimoji="0" lang="en-US" sz="900" b="1" i="0" u="none" strike="noStrike" kern="1200" cap="none" spc="0" normalizeH="0" baseline="0" noProof="0">
                <a:ln>
                  <a:noFill/>
                </a:ln>
                <a:solidFill>
                  <a:srgbClr val="404040"/>
                </a:solidFill>
                <a:effectLst/>
                <a:uLnTx/>
                <a:uFillTx/>
                <a:latin typeface="Segoe UI"/>
                <a:ea typeface="+mn-ea"/>
                <a:cs typeface="+mn-cs"/>
              </a:rPr>
              <a:t>, communicate to the member</a:t>
            </a:r>
          </a:p>
        </p:txBody>
      </p:sp>
      <p:sp>
        <p:nvSpPr>
          <p:cNvPr id="11" name="TextBox 10">
            <a:extLst>
              <a:ext uri="{FF2B5EF4-FFF2-40B4-BE49-F238E27FC236}">
                <a16:creationId xmlns:a16="http://schemas.microsoft.com/office/drawing/2014/main" id="{65856F23-F693-9D1D-EA4C-A4939D003DDF}"/>
              </a:ext>
            </a:extLst>
          </p:cNvPr>
          <p:cNvSpPr txBox="1"/>
          <p:nvPr/>
        </p:nvSpPr>
        <p:spPr>
          <a:xfrm>
            <a:off x="8323189" y="3323634"/>
            <a:ext cx="346407"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2400" b="0" i="0" u="none" strike="noStrike" kern="1200" cap="none" spc="0" normalizeH="0" baseline="0" noProof="0">
              <a:ln>
                <a:noFill/>
              </a:ln>
              <a:solidFill>
                <a:srgbClr val="C00000"/>
              </a:solidFill>
              <a:effectLst/>
              <a:uLnTx/>
              <a:uFillTx/>
              <a:latin typeface="Segoe UI"/>
              <a:ea typeface="+mn-ea"/>
              <a:cs typeface="+mn-cs"/>
            </a:endParaRPr>
          </a:p>
        </p:txBody>
      </p:sp>
      <p:sp>
        <p:nvSpPr>
          <p:cNvPr id="24" name="TextBox 23">
            <a:extLst>
              <a:ext uri="{FF2B5EF4-FFF2-40B4-BE49-F238E27FC236}">
                <a16:creationId xmlns:a16="http://schemas.microsoft.com/office/drawing/2014/main" id="{268E6498-97DE-A956-D703-D24D0D0600EA}"/>
              </a:ext>
            </a:extLst>
          </p:cNvPr>
          <p:cNvSpPr txBox="1"/>
          <p:nvPr/>
        </p:nvSpPr>
        <p:spPr>
          <a:xfrm>
            <a:off x="6316205" y="2302449"/>
            <a:ext cx="1415411" cy="276999"/>
          </a:xfrm>
          <a:prstGeom prst="rect">
            <a:avLst/>
          </a:prstGeom>
          <a:solidFill>
            <a:schemeClr val="bg1"/>
          </a:solidFill>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 refund</a:t>
            </a:r>
            <a:r>
              <a:rPr kumimoji="0" lang="en-US" sz="900" b="1" i="0" u="none" strike="noStrike" kern="1200" cap="none" spc="0" normalizeH="0" baseline="0" noProof="0">
                <a:ln>
                  <a:noFill/>
                </a:ln>
                <a:solidFill>
                  <a:srgbClr val="404040"/>
                </a:solidFill>
                <a:effectLst/>
                <a:uLnTx/>
                <a:uFillTx/>
                <a:latin typeface="Segoe UI"/>
                <a:ea typeface="+mn-ea"/>
                <a:cs typeface="+mn-cs"/>
              </a:rPr>
              <a:t>, communicate to the member</a:t>
            </a:r>
          </a:p>
        </p:txBody>
      </p:sp>
      <p:sp>
        <p:nvSpPr>
          <p:cNvPr id="43" name="fx407">
            <a:extLst>
              <a:ext uri="{FF2B5EF4-FFF2-40B4-BE49-F238E27FC236}">
                <a16:creationId xmlns:a16="http://schemas.microsoft.com/office/drawing/2014/main" id="{2E2A66B7-3E56-7413-3992-DA3CD479684A}"/>
              </a:ext>
            </a:extLst>
          </p:cNvPr>
          <p:cNvSpPr/>
          <p:nvPr/>
        </p:nvSpPr>
        <p:spPr>
          <a:xfrm>
            <a:off x="828188" y="3609349"/>
            <a:ext cx="1260000" cy="720000"/>
          </a:xfrm>
          <a:prstGeom prst="roundRect">
            <a:avLst/>
          </a:prstGeom>
          <a:solidFill>
            <a:schemeClr val="bg1">
              <a:alpha val="56863"/>
            </a:schemeClr>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Payment Services / Fraud agent opens assigned case &amp; reviews documented details</a:t>
            </a:r>
          </a:p>
        </p:txBody>
      </p:sp>
      <p:cxnSp>
        <p:nvCxnSpPr>
          <p:cNvPr id="44" name="lnk906">
            <a:extLst>
              <a:ext uri="{FF2B5EF4-FFF2-40B4-BE49-F238E27FC236}">
                <a16:creationId xmlns:a16="http://schemas.microsoft.com/office/drawing/2014/main" id="{42DE4159-339B-6551-41AC-E32BCD4D3A04}"/>
              </a:ext>
            </a:extLst>
          </p:cNvPr>
          <p:cNvCxnSpPr>
            <a:cxnSpLocks/>
            <a:stCxn id="43" idx="3"/>
            <a:endCxn id="9" idx="1"/>
          </p:cNvCxnSpPr>
          <p:nvPr/>
        </p:nvCxnSpPr>
        <p:spPr>
          <a:xfrm>
            <a:off x="2088188" y="3969349"/>
            <a:ext cx="705175" cy="0"/>
          </a:xfrm>
          <a:prstGeom prst="straightConnector1">
            <a:avLst/>
          </a:prstGeom>
          <a:ln w="19050">
            <a:solidFill>
              <a:srgbClr val="9B9B9B"/>
            </a:solidFill>
            <a:tailEnd type="triangle" w="med" len="med"/>
          </a:ln>
        </p:spPr>
      </p:cxnSp>
      <p:cxnSp>
        <p:nvCxnSpPr>
          <p:cNvPr id="57" name="Elbow Connector 942">
            <a:extLst>
              <a:ext uri="{FF2B5EF4-FFF2-40B4-BE49-F238E27FC236}">
                <a16:creationId xmlns:a16="http://schemas.microsoft.com/office/drawing/2014/main" id="{6E0CE11D-B658-9651-7717-1F8F431FC316}"/>
              </a:ext>
            </a:extLst>
          </p:cNvPr>
          <p:cNvCxnSpPr>
            <a:cxnSpLocks/>
            <a:stCxn id="54" idx="3"/>
            <a:endCxn id="47" idx="2"/>
          </p:cNvCxnSpPr>
          <p:nvPr/>
        </p:nvCxnSpPr>
        <p:spPr>
          <a:xfrm flipV="1">
            <a:off x="6720910" y="3800279"/>
            <a:ext cx="3744903" cy="672654"/>
          </a:xfrm>
          <a:prstGeom prst="bentConnector2">
            <a:avLst/>
          </a:prstGeom>
          <a:ln w="19050">
            <a:solidFill>
              <a:srgbClr val="9B9B9B"/>
            </a:solidFill>
            <a:tailEnd type="triangle" w="med" len="med"/>
          </a:ln>
        </p:spPr>
      </p:cxnSp>
      <p:sp>
        <p:nvSpPr>
          <p:cNvPr id="451" name="TextBox 450">
            <a:extLst>
              <a:ext uri="{FF2B5EF4-FFF2-40B4-BE49-F238E27FC236}">
                <a16:creationId xmlns:a16="http://schemas.microsoft.com/office/drawing/2014/main" id="{A5F7425D-F1C3-7973-17C6-38E7879C7EAB}"/>
              </a:ext>
            </a:extLst>
          </p:cNvPr>
          <p:cNvSpPr txBox="1"/>
          <p:nvPr/>
        </p:nvSpPr>
        <p:spPr>
          <a:xfrm>
            <a:off x="3909686" y="4225881"/>
            <a:ext cx="720784" cy="3693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7A9"/>
                </a:solidFill>
                <a:effectLst/>
                <a:uLnTx/>
                <a:uFillTx/>
                <a:latin typeface="Segoe UI"/>
                <a:ea typeface="+mn-ea"/>
                <a:cs typeface="+mn-cs"/>
              </a:rPr>
              <a:t>Fraud</a:t>
            </a:r>
            <a:endParaRPr kumimoji="0" lang="en-US" sz="900" b="1" i="0" u="none" strike="noStrike" kern="1200" cap="none" spc="0" normalizeH="0" baseline="0" noProof="0">
              <a:ln>
                <a:noFill/>
              </a:ln>
              <a:solidFill>
                <a:srgbClr val="009A44"/>
              </a:solidFill>
              <a:effectLst/>
              <a:uLnTx/>
              <a:uFillTx/>
              <a:latin typeface="Segoe UI"/>
              <a:ea typeface="+mn-ea"/>
              <a:cs typeface="+mn-cs"/>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Yes</a:t>
            </a:r>
            <a:endParaRPr kumimoji="0" lang="en-US" sz="900" b="0" i="0" u="none" strike="noStrike" kern="1200" cap="none" spc="0" normalizeH="0" baseline="0" noProof="0">
              <a:ln>
                <a:noFill/>
              </a:ln>
              <a:solidFill>
                <a:srgbClr val="009A44"/>
              </a:solidFill>
              <a:effectLst/>
              <a:uLnTx/>
              <a:uFillTx/>
              <a:latin typeface="Segoe UI"/>
              <a:ea typeface="+mn-ea"/>
              <a:cs typeface="+mn-cs"/>
            </a:endParaRPr>
          </a:p>
        </p:txBody>
      </p:sp>
      <p:sp>
        <p:nvSpPr>
          <p:cNvPr id="22" name="Rectangle 21">
            <a:extLst>
              <a:ext uri="{FF2B5EF4-FFF2-40B4-BE49-F238E27FC236}">
                <a16:creationId xmlns:a16="http://schemas.microsoft.com/office/drawing/2014/main" id="{465125AE-987F-2AB0-108C-6F3236357C7E}"/>
              </a:ext>
            </a:extLst>
          </p:cNvPr>
          <p:cNvSpPr/>
          <p:nvPr/>
        </p:nvSpPr>
        <p:spPr bwMode="gray">
          <a:xfrm>
            <a:off x="7908955" y="1220393"/>
            <a:ext cx="1527212" cy="778495"/>
          </a:xfrm>
          <a:prstGeom prst="rect">
            <a:avLst/>
          </a:prstGeom>
          <a:solidFill>
            <a:schemeClr val="accent1">
              <a:lumMod val="50000"/>
            </a:schemeClr>
          </a:solidFill>
          <a:ln w="38100" algn="ctr">
            <a:solidFill>
              <a:schemeClr val="accent1"/>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Segoe UI"/>
                <a:ea typeface="+mn-ea"/>
                <a:cs typeface="+mn-cs"/>
              </a:rPr>
              <a:t>Decision Pending (D-007): </a:t>
            </a:r>
            <a:r>
              <a:rPr kumimoji="0" lang="en-US" sz="900" b="0" i="0" u="none" strike="noStrike" kern="1200" cap="none" spc="0" normalizeH="0" baseline="0" noProof="0">
                <a:ln>
                  <a:noFill/>
                </a:ln>
                <a:solidFill>
                  <a:prstClr val="white"/>
                </a:solidFill>
                <a:effectLst/>
                <a:uLnTx/>
                <a:uFillTx/>
                <a:latin typeface="Segoe UI"/>
                <a:ea typeface="+mn-ea"/>
                <a:cs typeface="+mn-cs"/>
              </a:rPr>
              <a:t>Non-fraud a</a:t>
            </a:r>
            <a:r>
              <a:rPr kumimoji="0" lang="en-US" sz="900" b="0" i="0" u="none" strike="noStrike" kern="1200" cap="none" spc="0" normalizeH="0" baseline="0" noProof="0" err="1">
                <a:ln>
                  <a:noFill/>
                </a:ln>
                <a:solidFill>
                  <a:prstClr val="white"/>
                </a:solidFill>
                <a:effectLst/>
                <a:uLnTx/>
                <a:uFillTx/>
                <a:latin typeface="Segoe UI"/>
                <a:ea typeface="+mn-ea"/>
                <a:cs typeface="+mn-cs"/>
              </a:rPr>
              <a:t>uto</a:t>
            </a:r>
            <a:r>
              <a:rPr kumimoji="0" lang="en-US" sz="900" b="0" i="0" u="none" strike="noStrike" kern="1200" cap="none" spc="0" normalizeH="0" baseline="0" noProof="0">
                <a:ln>
                  <a:noFill/>
                </a:ln>
                <a:solidFill>
                  <a:prstClr val="white"/>
                </a:solidFill>
                <a:effectLst/>
                <a:uLnTx/>
                <a:uFillTx/>
                <a:latin typeface="Segoe UI"/>
                <a:ea typeface="+mn-ea"/>
                <a:cs typeface="+mn-cs"/>
              </a:rPr>
              <a:t>-write off thresholds for Visa Debit is </a:t>
            </a:r>
            <a:r>
              <a:rPr kumimoji="0" lang="en-US" sz="900" b="0" i="0" u="none" strike="noStrike" kern="1200" cap="none" spc="0" normalizeH="0" baseline="0" noProof="0">
                <a:ln>
                  <a:noFill/>
                </a:ln>
                <a:solidFill>
                  <a:srgbClr val="DA291C"/>
                </a:solidFill>
                <a:effectLst/>
                <a:uLnTx/>
                <a:uFillTx/>
                <a:latin typeface="Segoe UI"/>
                <a:ea typeface="+mn-ea"/>
                <a:cs typeface="+mn-cs"/>
              </a:rPr>
              <a:t>TBD</a:t>
            </a:r>
            <a:endParaRPr kumimoji="0" lang="en-US" sz="900" b="0" i="1" u="none" strike="noStrike" kern="1200" cap="none" spc="0" normalizeH="0" baseline="0" noProof="0">
              <a:ln>
                <a:noFill/>
              </a:ln>
              <a:solidFill>
                <a:srgbClr val="DA291C"/>
              </a:solidFill>
              <a:effectLst/>
              <a:uLnTx/>
              <a:uFillTx/>
              <a:latin typeface="Segoe UI"/>
              <a:ea typeface="+mn-ea"/>
              <a:cs typeface="+mn-cs"/>
            </a:endParaRPr>
          </a:p>
        </p:txBody>
      </p:sp>
      <p:sp>
        <p:nvSpPr>
          <p:cNvPr id="28" name="Rectangle 27">
            <a:extLst>
              <a:ext uri="{FF2B5EF4-FFF2-40B4-BE49-F238E27FC236}">
                <a16:creationId xmlns:a16="http://schemas.microsoft.com/office/drawing/2014/main" id="{07ECA73C-A533-46FC-3137-37375FC7B6A4}"/>
              </a:ext>
            </a:extLst>
          </p:cNvPr>
          <p:cNvSpPr/>
          <p:nvPr/>
        </p:nvSpPr>
        <p:spPr bwMode="gray">
          <a:xfrm>
            <a:off x="4397623" y="1220393"/>
            <a:ext cx="1527212" cy="778495"/>
          </a:xfrm>
          <a:prstGeom prst="rect">
            <a:avLst/>
          </a:prstGeom>
          <a:solidFill>
            <a:schemeClr val="accent1">
              <a:lumMod val="50000"/>
            </a:schemeClr>
          </a:solidFill>
          <a:ln w="38100" algn="ctr">
            <a:solidFill>
              <a:schemeClr val="accent1"/>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Segoe UI"/>
                <a:ea typeface="+mn-ea"/>
                <a:cs typeface="+mn-cs"/>
              </a:rPr>
              <a:t>Decision (D-004): </a:t>
            </a:r>
            <a:r>
              <a:rPr kumimoji="0" lang="en-US" sz="900" b="0" i="0" u="none" strike="noStrike" kern="1200" cap="none" spc="0" normalizeH="0" baseline="0" noProof="0">
                <a:ln>
                  <a:noFill/>
                </a:ln>
                <a:solidFill>
                  <a:prstClr val="white"/>
                </a:solidFill>
                <a:effectLst/>
                <a:uLnTx/>
                <a:uFillTx/>
                <a:latin typeface="Segoe UI"/>
                <a:ea typeface="+mn-ea"/>
                <a:cs typeface="+mn-cs"/>
              </a:rPr>
              <a:t>Cardholders must dispute trx within 60 days as per agreement </a:t>
            </a:r>
            <a:endParaRPr kumimoji="0" lang="en-US" sz="900" b="0" i="1" u="none" strike="noStrike" kern="1200" cap="none" spc="0" normalizeH="0" baseline="0" noProof="0">
              <a:ln>
                <a:noFill/>
              </a:ln>
              <a:solidFill>
                <a:prstClr val="white"/>
              </a:solidFill>
              <a:effectLst/>
              <a:uLnTx/>
              <a:uFillTx/>
              <a:latin typeface="Segoe UI"/>
              <a:ea typeface="+mn-ea"/>
              <a:cs typeface="+mn-cs"/>
            </a:endParaRPr>
          </a:p>
        </p:txBody>
      </p:sp>
      <p:sp>
        <p:nvSpPr>
          <p:cNvPr id="27" name="Shape 43">
            <a:extLst>
              <a:ext uri="{FF2B5EF4-FFF2-40B4-BE49-F238E27FC236}">
                <a16:creationId xmlns:a16="http://schemas.microsoft.com/office/drawing/2014/main" id="{9EBF805E-8626-4A7E-812B-13EDFBCE4FCC}"/>
              </a:ext>
            </a:extLst>
          </p:cNvPr>
          <p:cNvSpPr/>
          <p:nvPr/>
        </p:nvSpPr>
        <p:spPr>
          <a:xfrm>
            <a:off x="5081137" y="4039455"/>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System auto write off?</a:t>
            </a:r>
          </a:p>
        </p:txBody>
      </p:sp>
      <p:sp>
        <p:nvSpPr>
          <p:cNvPr id="18" name="TextBox 17">
            <a:extLst>
              <a:ext uri="{FF2B5EF4-FFF2-40B4-BE49-F238E27FC236}">
                <a16:creationId xmlns:a16="http://schemas.microsoft.com/office/drawing/2014/main" id="{D7D05B8B-B94C-52E8-CF7E-FE1FF894EF11}"/>
              </a:ext>
            </a:extLst>
          </p:cNvPr>
          <p:cNvSpPr txBox="1"/>
          <p:nvPr/>
        </p:nvSpPr>
        <p:spPr>
          <a:xfrm>
            <a:off x="3824212" y="3256033"/>
            <a:ext cx="795645" cy="3693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70C0"/>
                </a:solidFill>
                <a:effectLst/>
                <a:uLnTx/>
                <a:uFillTx/>
                <a:latin typeface="Segoe UI"/>
                <a:ea typeface="+mn-ea"/>
                <a:cs typeface="+mn-cs"/>
              </a:rPr>
              <a:t>Non-fraud</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Yes</a:t>
            </a:r>
            <a:r>
              <a:rPr kumimoji="0" lang="en-US" sz="900" b="1" i="0" u="none" strike="noStrike" kern="1200" cap="none" spc="0" normalizeH="0" baseline="0" noProof="0">
                <a:ln>
                  <a:noFill/>
                </a:ln>
                <a:solidFill>
                  <a:srgbClr val="0070C0"/>
                </a:solidFill>
                <a:effectLst/>
                <a:uLnTx/>
                <a:uFillTx/>
                <a:latin typeface="Segoe UI"/>
                <a:ea typeface="+mn-ea"/>
                <a:cs typeface="+mn-cs"/>
              </a:rPr>
              <a:t> </a:t>
            </a:r>
            <a:endParaRPr kumimoji="0" lang="en-US" sz="2400" b="0" i="0" u="none" strike="noStrike" kern="1200" cap="none" spc="0" normalizeH="0" baseline="0" noProof="0">
              <a:ln>
                <a:noFill/>
              </a:ln>
              <a:solidFill>
                <a:srgbClr val="0070C0"/>
              </a:solidFill>
              <a:effectLst/>
              <a:uLnTx/>
              <a:uFillTx/>
              <a:latin typeface="Segoe UI"/>
              <a:ea typeface="+mn-ea"/>
              <a:cs typeface="+mn-cs"/>
            </a:endParaRPr>
          </a:p>
        </p:txBody>
      </p:sp>
      <p:cxnSp>
        <p:nvCxnSpPr>
          <p:cNvPr id="37" name="Elbow Connector 471">
            <a:extLst>
              <a:ext uri="{FF2B5EF4-FFF2-40B4-BE49-F238E27FC236}">
                <a16:creationId xmlns:a16="http://schemas.microsoft.com/office/drawing/2014/main" id="{14321D4F-3523-E950-537B-42FE17D3C296}"/>
              </a:ext>
            </a:extLst>
          </p:cNvPr>
          <p:cNvCxnSpPr>
            <a:cxnSpLocks/>
            <a:endCxn id="942" idx="1"/>
          </p:cNvCxnSpPr>
          <p:nvPr/>
        </p:nvCxnSpPr>
        <p:spPr>
          <a:xfrm flipV="1">
            <a:off x="4435063" y="3454999"/>
            <a:ext cx="646074" cy="533043"/>
          </a:xfrm>
          <a:prstGeom prst="bentConnector3">
            <a:avLst>
              <a:gd name="adj1" fmla="val 21989"/>
            </a:avLst>
          </a:prstGeom>
          <a:ln w="19050">
            <a:solidFill>
              <a:srgbClr val="9B9B9B"/>
            </a:solidFill>
            <a:tailEnd type="triangle" w="med" len="med"/>
          </a:ln>
        </p:spPr>
      </p:cxnSp>
      <p:cxnSp>
        <p:nvCxnSpPr>
          <p:cNvPr id="38" name="Elbow Connector 479">
            <a:extLst>
              <a:ext uri="{FF2B5EF4-FFF2-40B4-BE49-F238E27FC236}">
                <a16:creationId xmlns:a16="http://schemas.microsoft.com/office/drawing/2014/main" id="{DC0ED995-D44D-4103-218B-89B4FFF1A3C4}"/>
              </a:ext>
            </a:extLst>
          </p:cNvPr>
          <p:cNvCxnSpPr>
            <a:cxnSpLocks/>
            <a:endCxn id="27" idx="1"/>
          </p:cNvCxnSpPr>
          <p:nvPr/>
        </p:nvCxnSpPr>
        <p:spPr>
          <a:xfrm>
            <a:off x="4084565" y="3987365"/>
            <a:ext cx="996572" cy="486430"/>
          </a:xfrm>
          <a:prstGeom prst="bentConnector3">
            <a:avLst>
              <a:gd name="adj1" fmla="val 50000"/>
            </a:avLst>
          </a:prstGeom>
          <a:ln w="19050">
            <a:solidFill>
              <a:srgbClr val="9B9B9B"/>
            </a:solidFill>
            <a:tailEnd type="triangle" w="med" len="med"/>
          </a:ln>
        </p:spPr>
      </p:cxnSp>
      <p:sp>
        <p:nvSpPr>
          <p:cNvPr id="54" name="TextBox 53">
            <a:extLst>
              <a:ext uri="{FF2B5EF4-FFF2-40B4-BE49-F238E27FC236}">
                <a16:creationId xmlns:a16="http://schemas.microsoft.com/office/drawing/2014/main" id="{706BBC8C-BAC7-5E22-4F78-B99C9EC6145F}"/>
              </a:ext>
            </a:extLst>
          </p:cNvPr>
          <p:cNvSpPr txBox="1"/>
          <p:nvPr/>
        </p:nvSpPr>
        <p:spPr>
          <a:xfrm>
            <a:off x="6312500" y="4357517"/>
            <a:ext cx="408410"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900" b="0" i="0" u="none" strike="noStrike" kern="1200" cap="none" spc="0" normalizeH="0" baseline="0" noProof="0">
              <a:ln>
                <a:noFill/>
              </a:ln>
              <a:solidFill>
                <a:srgbClr val="009A44"/>
              </a:solidFill>
              <a:effectLst/>
              <a:uLnTx/>
              <a:uFillTx/>
              <a:latin typeface="Segoe UI"/>
              <a:ea typeface="+mn-ea"/>
              <a:cs typeface="+mn-cs"/>
            </a:endParaRPr>
          </a:p>
        </p:txBody>
      </p:sp>
      <p:cxnSp>
        <p:nvCxnSpPr>
          <p:cNvPr id="63" name="Elbow Connector 942">
            <a:extLst>
              <a:ext uri="{FF2B5EF4-FFF2-40B4-BE49-F238E27FC236}">
                <a16:creationId xmlns:a16="http://schemas.microsoft.com/office/drawing/2014/main" id="{A7A98F2A-53F7-59EC-25FC-3115F0EF74BD}"/>
              </a:ext>
            </a:extLst>
          </p:cNvPr>
          <p:cNvCxnSpPr>
            <a:cxnSpLocks/>
            <a:stCxn id="448" idx="2"/>
            <a:endCxn id="449" idx="2"/>
          </p:cNvCxnSpPr>
          <p:nvPr/>
        </p:nvCxnSpPr>
        <p:spPr>
          <a:xfrm rot="16200000" flipH="1">
            <a:off x="5778851" y="5173553"/>
            <a:ext cx="135518" cy="248828"/>
          </a:xfrm>
          <a:prstGeom prst="bentConnector2">
            <a:avLst/>
          </a:prstGeom>
          <a:ln w="19050">
            <a:solidFill>
              <a:srgbClr val="9B9B9B"/>
            </a:solidFill>
            <a:tailEnd type="triangle" w="med" len="med"/>
          </a:ln>
        </p:spPr>
      </p:cxnSp>
      <p:sp>
        <p:nvSpPr>
          <p:cNvPr id="448" name="TextBox 447">
            <a:extLst>
              <a:ext uri="{FF2B5EF4-FFF2-40B4-BE49-F238E27FC236}">
                <a16:creationId xmlns:a16="http://schemas.microsoft.com/office/drawing/2014/main" id="{5E705EDB-AB06-9340-1A0B-FE2E59B88A4E}"/>
              </a:ext>
            </a:extLst>
          </p:cNvPr>
          <p:cNvSpPr txBox="1"/>
          <p:nvPr/>
        </p:nvSpPr>
        <p:spPr>
          <a:xfrm>
            <a:off x="5476917" y="4999376"/>
            <a:ext cx="49055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Yes</a:t>
            </a:r>
            <a:endParaRPr kumimoji="0" lang="en-US" sz="900" b="0" i="0" u="none" strike="noStrike" kern="1200" cap="none" spc="0" normalizeH="0" baseline="0" noProof="0">
              <a:ln>
                <a:noFill/>
              </a:ln>
              <a:solidFill>
                <a:srgbClr val="009A44"/>
              </a:solidFill>
              <a:effectLst/>
              <a:uLnTx/>
              <a:uFillTx/>
              <a:latin typeface="Segoe UI"/>
              <a:ea typeface="+mn-ea"/>
              <a:cs typeface="+mn-cs"/>
            </a:endParaRPr>
          </a:p>
        </p:txBody>
      </p:sp>
      <p:sp>
        <p:nvSpPr>
          <p:cNvPr id="449" name="Oval 448">
            <a:extLst>
              <a:ext uri="{FF2B5EF4-FFF2-40B4-BE49-F238E27FC236}">
                <a16:creationId xmlns:a16="http://schemas.microsoft.com/office/drawing/2014/main" id="{C788E74C-4A05-A157-922A-692D19908955}"/>
              </a:ext>
            </a:extLst>
          </p:cNvPr>
          <p:cNvSpPr/>
          <p:nvPr/>
        </p:nvSpPr>
        <p:spPr bwMode="gray">
          <a:xfrm>
            <a:off x="5971024" y="5221726"/>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450" name="TextBox 449">
            <a:extLst>
              <a:ext uri="{FF2B5EF4-FFF2-40B4-BE49-F238E27FC236}">
                <a16:creationId xmlns:a16="http://schemas.microsoft.com/office/drawing/2014/main" id="{BDB4B801-02E4-88FE-3394-A4BEAC7DE64F}"/>
              </a:ext>
            </a:extLst>
          </p:cNvPr>
          <p:cNvSpPr txBox="1"/>
          <p:nvPr/>
        </p:nvSpPr>
        <p:spPr>
          <a:xfrm>
            <a:off x="6316205" y="5256247"/>
            <a:ext cx="1415411" cy="276999"/>
          </a:xfrm>
          <a:prstGeom prst="rect">
            <a:avLst/>
          </a:prstGeom>
          <a:solidFill>
            <a:schemeClr val="bg1"/>
          </a:solidFill>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Refund</a:t>
            </a:r>
            <a:r>
              <a:rPr kumimoji="0" lang="en-US" sz="900" b="1" i="0" u="none" strike="noStrike" kern="1200" cap="none" spc="0" normalizeH="0" baseline="0" noProof="0">
                <a:ln>
                  <a:noFill/>
                </a:ln>
                <a:solidFill>
                  <a:srgbClr val="404040"/>
                </a:solidFill>
                <a:effectLst/>
                <a:uLnTx/>
                <a:uFillTx/>
                <a:latin typeface="Segoe UI"/>
                <a:ea typeface="+mn-ea"/>
                <a:cs typeface="+mn-cs"/>
              </a:rPr>
              <a:t>, communicate to the member</a:t>
            </a:r>
          </a:p>
        </p:txBody>
      </p:sp>
      <p:sp>
        <p:nvSpPr>
          <p:cNvPr id="458" name="Rectangle 457">
            <a:extLst>
              <a:ext uri="{FF2B5EF4-FFF2-40B4-BE49-F238E27FC236}">
                <a16:creationId xmlns:a16="http://schemas.microsoft.com/office/drawing/2014/main" id="{C261623E-C3C4-DDF1-15CD-BB5E2B0D747A}"/>
              </a:ext>
            </a:extLst>
          </p:cNvPr>
          <p:cNvSpPr/>
          <p:nvPr/>
        </p:nvSpPr>
        <p:spPr bwMode="gray">
          <a:xfrm>
            <a:off x="5846610" y="5759792"/>
            <a:ext cx="1527212" cy="778495"/>
          </a:xfrm>
          <a:prstGeom prst="rect">
            <a:avLst/>
          </a:prstGeom>
          <a:solidFill>
            <a:schemeClr val="accent1">
              <a:lumMod val="50000"/>
            </a:schemeClr>
          </a:solidFill>
          <a:ln w="3810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Segoe UI"/>
                <a:ea typeface="+mn-ea"/>
                <a:cs typeface="+mn-cs"/>
              </a:rPr>
              <a:t>Decision (D-008): </a:t>
            </a:r>
            <a:r>
              <a:rPr kumimoji="0" lang="en-US" sz="900" b="0" i="0" u="none" strike="noStrike" kern="1200" cap="none" spc="0" normalizeH="0" baseline="0" noProof="0">
                <a:ln>
                  <a:noFill/>
                </a:ln>
                <a:solidFill>
                  <a:prstClr val="white"/>
                </a:solidFill>
                <a:effectLst/>
                <a:uLnTx/>
                <a:uFillTx/>
                <a:latin typeface="Segoe UI"/>
                <a:ea typeface="+mn-ea"/>
                <a:cs typeface="+mn-cs"/>
              </a:rPr>
              <a:t>F</a:t>
            </a:r>
            <a:r>
              <a:rPr kumimoji="0" lang="en-US" sz="900" b="0" i="0" u="none" strike="noStrike" kern="1200" cap="none" spc="0" normalizeH="0" baseline="0" noProof="0" err="1">
                <a:ln>
                  <a:noFill/>
                </a:ln>
                <a:solidFill>
                  <a:prstClr val="white"/>
                </a:solidFill>
                <a:effectLst/>
                <a:uLnTx/>
                <a:uFillTx/>
                <a:latin typeface="Segoe UI"/>
                <a:ea typeface="+mn-ea"/>
                <a:cs typeface="+mn-cs"/>
              </a:rPr>
              <a:t>raud</a:t>
            </a:r>
            <a:r>
              <a:rPr kumimoji="0" lang="en-US" sz="900" b="0" i="0" u="none" strike="noStrike" kern="1200" cap="none" spc="0" normalizeH="0" baseline="0" noProof="0">
                <a:ln>
                  <a:noFill/>
                </a:ln>
                <a:solidFill>
                  <a:prstClr val="white"/>
                </a:solidFill>
                <a:effectLst/>
                <a:uLnTx/>
                <a:uFillTx/>
                <a:latin typeface="Segoe UI"/>
                <a:ea typeface="+mn-ea"/>
                <a:cs typeface="+mn-cs"/>
              </a:rPr>
              <a:t> a</a:t>
            </a:r>
            <a:r>
              <a:rPr kumimoji="0" lang="en-US" sz="900" b="0" i="0" u="none" strike="noStrike" kern="1200" cap="none" spc="0" normalizeH="0" baseline="0" noProof="0" err="1">
                <a:ln>
                  <a:noFill/>
                </a:ln>
                <a:solidFill>
                  <a:prstClr val="white"/>
                </a:solidFill>
                <a:effectLst/>
                <a:uLnTx/>
                <a:uFillTx/>
                <a:latin typeface="Segoe UI"/>
                <a:ea typeface="+mn-ea"/>
                <a:cs typeface="+mn-cs"/>
              </a:rPr>
              <a:t>uto</a:t>
            </a:r>
            <a:r>
              <a:rPr kumimoji="0" lang="en-US" sz="900" b="0" i="0" u="none" strike="noStrike" kern="1200" cap="none" spc="0" normalizeH="0" baseline="0" noProof="0">
                <a:ln>
                  <a:noFill/>
                </a:ln>
                <a:solidFill>
                  <a:prstClr val="white"/>
                </a:solidFill>
                <a:effectLst/>
                <a:uLnTx/>
                <a:uFillTx/>
                <a:latin typeface="Segoe UI"/>
                <a:ea typeface="+mn-ea"/>
                <a:cs typeface="+mn-cs"/>
              </a:rPr>
              <a:t>-write off threshold follows existing $400 threshold and member risk review criteria.</a:t>
            </a:r>
            <a:endParaRPr kumimoji="0" lang="en-US" sz="900" b="0" i="1" u="none" strike="noStrike" kern="1200" cap="none" spc="0" normalizeH="0" baseline="0" noProof="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638392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39AAD-7EC5-9421-17AF-FD86FC94DF56}"/>
            </a:ext>
          </a:extLst>
        </p:cNvPr>
        <p:cNvGrpSpPr/>
        <p:nvPr/>
      </p:nvGrpSpPr>
      <p:grpSpPr>
        <a:xfrm>
          <a:off x="0" y="0"/>
          <a:ext cx="0" cy="0"/>
          <a:chOff x="0" y="0"/>
          <a:chExt cx="0" cy="0"/>
        </a:xfrm>
      </p:grpSpPr>
      <p:sp>
        <p:nvSpPr>
          <p:cNvPr id="509" name="fx413">
            <a:extLst>
              <a:ext uri="{FF2B5EF4-FFF2-40B4-BE49-F238E27FC236}">
                <a16:creationId xmlns:a16="http://schemas.microsoft.com/office/drawing/2014/main" id="{2F9E990B-7194-0019-BEEA-ECA7AC96C54E}"/>
              </a:ext>
            </a:extLst>
          </p:cNvPr>
          <p:cNvSpPr/>
          <p:nvPr/>
        </p:nvSpPr>
        <p:spPr>
          <a:xfrm>
            <a:off x="8387259" y="2488903"/>
            <a:ext cx="1260000" cy="720000"/>
          </a:xfrm>
          <a:prstGeom prst="roundRect">
            <a:avLst/>
          </a:prstGeom>
          <a:no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Segoe UI"/>
                <a:ea typeface="Arial" pitchFamily="34" charset="-122"/>
                <a:cs typeface="Arial" pitchFamily="34" charset="-120"/>
              </a:rPr>
              <a:t>Prepare the case for submission to C1</a:t>
            </a:r>
            <a:endParaRPr kumimoji="0" lang="en-US" sz="900" b="1" i="0" u="none" strike="noStrike" kern="1200" cap="none" spc="0" normalizeH="0" baseline="0" noProof="0">
              <a:ln>
                <a:noFill/>
              </a:ln>
              <a:solidFill>
                <a:srgbClr val="404040"/>
              </a:solidFill>
              <a:effectLst/>
              <a:uLnTx/>
              <a:uFillTx/>
              <a:latin typeface="Segoe UI"/>
              <a:ea typeface="+mn-ea"/>
              <a:cs typeface="+mn-cs"/>
            </a:endParaRPr>
          </a:p>
        </p:txBody>
      </p:sp>
      <p:sp>
        <p:nvSpPr>
          <p:cNvPr id="179" name="Text Placeholder 3">
            <a:extLst>
              <a:ext uri="{FF2B5EF4-FFF2-40B4-BE49-F238E27FC236}">
                <a16:creationId xmlns:a16="http://schemas.microsoft.com/office/drawing/2014/main" id="{2CE1300F-7A97-D904-B2DC-A3775C094942}"/>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4B59166F-56D5-BF94-C0A9-9296CAB52194}"/>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3A. Case Preparation &amp; Document Assessment</a:t>
            </a:r>
          </a:p>
        </p:txBody>
      </p:sp>
      <p:cxnSp>
        <p:nvCxnSpPr>
          <p:cNvPr id="763" name="Elbow Connector 762">
            <a:extLst>
              <a:ext uri="{FF2B5EF4-FFF2-40B4-BE49-F238E27FC236}">
                <a16:creationId xmlns:a16="http://schemas.microsoft.com/office/drawing/2014/main" id="{AA7D20E5-6928-7DC6-1308-F744F8D21834}"/>
              </a:ext>
            </a:extLst>
          </p:cNvPr>
          <p:cNvCxnSpPr>
            <a:cxnSpLocks/>
          </p:cNvCxnSpPr>
          <p:nvPr/>
        </p:nvCxnSpPr>
        <p:spPr>
          <a:xfrm>
            <a:off x="-2926264" y="9638719"/>
            <a:ext cx="589990" cy="452490"/>
          </a:xfrm>
          <a:prstGeom prst="bentConnector3">
            <a:avLst/>
          </a:prstGeom>
          <a:ln w="19050">
            <a:solidFill>
              <a:srgbClr val="9B9B9B"/>
            </a:solidFill>
            <a:tailEnd type="triangle" w="med" len="med"/>
          </a:ln>
        </p:spPr>
      </p:cxnSp>
      <p:sp>
        <p:nvSpPr>
          <p:cNvPr id="47" name="lg950">
            <a:extLst>
              <a:ext uri="{FF2B5EF4-FFF2-40B4-BE49-F238E27FC236}">
                <a16:creationId xmlns:a16="http://schemas.microsoft.com/office/drawing/2014/main" id="{8E54FE43-69E9-B30B-F8C9-3DD21C59910C}"/>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48" name="lg951">
            <a:extLst>
              <a:ext uri="{FF2B5EF4-FFF2-40B4-BE49-F238E27FC236}">
                <a16:creationId xmlns:a16="http://schemas.microsoft.com/office/drawing/2014/main" id="{584D3996-D25B-635C-CBBA-3DB1AE37075C}"/>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49" name="lg952">
            <a:extLst>
              <a:ext uri="{FF2B5EF4-FFF2-40B4-BE49-F238E27FC236}">
                <a16:creationId xmlns:a16="http://schemas.microsoft.com/office/drawing/2014/main" id="{8860472B-24EA-E4F0-4606-D8CA023A743A}"/>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50" name="lg953">
            <a:extLst>
              <a:ext uri="{FF2B5EF4-FFF2-40B4-BE49-F238E27FC236}">
                <a16:creationId xmlns:a16="http://schemas.microsoft.com/office/drawing/2014/main" id="{27E44F6E-BF29-404A-24BB-F92DF1F7DA03}"/>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51" name="Group 50">
            <a:extLst>
              <a:ext uri="{FF2B5EF4-FFF2-40B4-BE49-F238E27FC236}">
                <a16:creationId xmlns:a16="http://schemas.microsoft.com/office/drawing/2014/main" id="{D60CA52A-0395-1FC4-432E-517200929517}"/>
              </a:ext>
            </a:extLst>
          </p:cNvPr>
          <p:cNvGrpSpPr/>
          <p:nvPr/>
        </p:nvGrpSpPr>
        <p:grpSpPr>
          <a:xfrm>
            <a:off x="10685728" y="1247437"/>
            <a:ext cx="210312" cy="210312"/>
            <a:chOff x="10674331" y="1239428"/>
            <a:chExt cx="210312" cy="210312"/>
          </a:xfrm>
        </p:grpSpPr>
        <p:sp>
          <p:nvSpPr>
            <p:cNvPr id="52" name="hoff968">
              <a:extLst>
                <a:ext uri="{FF2B5EF4-FFF2-40B4-BE49-F238E27FC236}">
                  <a16:creationId xmlns:a16="http://schemas.microsoft.com/office/drawing/2014/main" id="{2E18F16A-6719-1824-82DE-1187356100E9}"/>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53" name="hoffa969">
              <a:extLst>
                <a:ext uri="{FF2B5EF4-FFF2-40B4-BE49-F238E27FC236}">
                  <a16:creationId xmlns:a16="http://schemas.microsoft.com/office/drawing/2014/main" id="{B4A810FD-29FD-89AC-2FFC-545C2BF3E49B}"/>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54" name="lg972">
            <a:extLst>
              <a:ext uri="{FF2B5EF4-FFF2-40B4-BE49-F238E27FC236}">
                <a16:creationId xmlns:a16="http://schemas.microsoft.com/office/drawing/2014/main" id="{40870765-5675-344E-BA42-06079B8715DF}"/>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sp>
        <p:nvSpPr>
          <p:cNvPr id="57" name="Oval 56">
            <a:extLst>
              <a:ext uri="{FF2B5EF4-FFF2-40B4-BE49-F238E27FC236}">
                <a16:creationId xmlns:a16="http://schemas.microsoft.com/office/drawing/2014/main" id="{6627354F-81ED-14C5-6CBE-326B90318B83}"/>
              </a:ext>
            </a:extLst>
          </p:cNvPr>
          <p:cNvSpPr/>
          <p:nvPr/>
        </p:nvSpPr>
        <p:spPr bwMode="gray">
          <a:xfrm>
            <a:off x="10681415" y="1545693"/>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58" name="lg972">
            <a:extLst>
              <a:ext uri="{FF2B5EF4-FFF2-40B4-BE49-F238E27FC236}">
                <a16:creationId xmlns:a16="http://schemas.microsoft.com/office/drawing/2014/main" id="{7C5B7E43-4579-76C5-1378-83156882F3AC}"/>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sp>
        <p:nvSpPr>
          <p:cNvPr id="18" name="TextBox 17">
            <a:extLst>
              <a:ext uri="{FF2B5EF4-FFF2-40B4-BE49-F238E27FC236}">
                <a16:creationId xmlns:a16="http://schemas.microsoft.com/office/drawing/2014/main" id="{74B4C11C-64B2-FB7F-BA5B-56F54AFA6EE1}"/>
              </a:ext>
            </a:extLst>
          </p:cNvPr>
          <p:cNvSpPr txBox="1"/>
          <p:nvPr/>
        </p:nvSpPr>
        <p:spPr>
          <a:xfrm>
            <a:off x="3369054" y="3283243"/>
            <a:ext cx="386546" cy="212366"/>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9013" name="TextBox 9012">
            <a:extLst>
              <a:ext uri="{FF2B5EF4-FFF2-40B4-BE49-F238E27FC236}">
                <a16:creationId xmlns:a16="http://schemas.microsoft.com/office/drawing/2014/main" id="{4F90826C-E0D2-FF07-BC92-4BF03873BE97}"/>
              </a:ext>
            </a:extLst>
          </p:cNvPr>
          <p:cNvSpPr txBox="1"/>
          <p:nvPr/>
        </p:nvSpPr>
        <p:spPr>
          <a:xfrm>
            <a:off x="7436455" y="2721393"/>
            <a:ext cx="620000" cy="212366"/>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8967" name="Shape 68">
            <a:extLst>
              <a:ext uri="{FF2B5EF4-FFF2-40B4-BE49-F238E27FC236}">
                <a16:creationId xmlns:a16="http://schemas.microsoft.com/office/drawing/2014/main" id="{62F528D1-ED5C-D400-7AB7-6C5630C548DB}"/>
              </a:ext>
            </a:extLst>
          </p:cNvPr>
          <p:cNvSpPr/>
          <p:nvPr/>
        </p:nvSpPr>
        <p:spPr>
          <a:xfrm>
            <a:off x="8331211" y="4133366"/>
            <a:ext cx="292608" cy="292608"/>
          </a:xfrm>
          <a:prstGeom prst="ellipse">
            <a:avLst/>
          </a:prstGeom>
          <a:solidFill>
            <a:srgbClr val="D8D8D8"/>
          </a:solidFill>
          <a:ln w="12700">
            <a:solidFill>
              <a:srgbClr val="D8D8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7" name="fx413">
            <a:extLst>
              <a:ext uri="{FF2B5EF4-FFF2-40B4-BE49-F238E27FC236}">
                <a16:creationId xmlns:a16="http://schemas.microsoft.com/office/drawing/2014/main" id="{AF0B080D-DAE9-4951-8D85-D1E32AE8C4D6}"/>
              </a:ext>
            </a:extLst>
          </p:cNvPr>
          <p:cNvSpPr/>
          <p:nvPr/>
        </p:nvSpPr>
        <p:spPr>
          <a:xfrm>
            <a:off x="6616205" y="3919670"/>
            <a:ext cx="1260000" cy="720000"/>
          </a:xfrm>
          <a:prstGeom prst="roundRect">
            <a:avLst/>
          </a:prstGeom>
          <a:noFill/>
          <a:ln w="12700">
            <a:solidFill>
              <a:schemeClr val="bg1">
                <a:lumMod val="85000"/>
              </a:schemeClr>
            </a:solidFill>
          </a:ln>
        </p:spPr>
        <p:txBody>
          <a:bodyPr wrap="square" lIns="0" tIns="0" rIns="0" bIns="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Segoe UI"/>
                <a:ea typeface="Arial" pitchFamily="34" charset="-122"/>
                <a:cs typeface="Arial" pitchFamily="34" charset="-120"/>
              </a:rPr>
              <a:t>Document the rationale, refund decision, close the case &amp; communicate to member</a:t>
            </a:r>
            <a:endParaRPr kumimoji="0" lang="en-US" sz="900" b="1" i="0" u="none" strike="noStrike" kern="1200" cap="none" spc="0" normalizeH="0" baseline="0" noProof="0">
              <a:ln>
                <a:noFill/>
              </a:ln>
              <a:solidFill>
                <a:srgbClr val="404040"/>
              </a:solidFill>
              <a:effectLst/>
              <a:uLnTx/>
              <a:uFillTx/>
              <a:latin typeface="Segoe UI"/>
              <a:ea typeface="+mn-ea"/>
              <a:cs typeface="+mn-cs"/>
            </a:endParaRPr>
          </a:p>
        </p:txBody>
      </p:sp>
      <p:sp>
        <p:nvSpPr>
          <p:cNvPr id="6" name="fx413">
            <a:extLst>
              <a:ext uri="{FF2B5EF4-FFF2-40B4-BE49-F238E27FC236}">
                <a16:creationId xmlns:a16="http://schemas.microsoft.com/office/drawing/2014/main" id="{43595455-5EFC-72D6-DE0D-FB75D9134D76}"/>
              </a:ext>
            </a:extLst>
          </p:cNvPr>
          <p:cNvSpPr/>
          <p:nvPr/>
        </p:nvSpPr>
        <p:spPr>
          <a:xfrm>
            <a:off x="1044312" y="2488903"/>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Payment Services/Fraud agent commences investigation</a:t>
            </a:r>
            <a:endParaRPr kumimoji="0" lang="en-CA" sz="900" b="1" i="0" u="none" strike="noStrike" kern="1200" cap="none" spc="0" normalizeH="0" baseline="0" noProof="0">
              <a:ln>
                <a:noFill/>
              </a:ln>
              <a:solidFill>
                <a:srgbClr val="404040"/>
              </a:solidFill>
              <a:effectLst/>
              <a:uLnTx/>
              <a:uFillTx/>
              <a:latin typeface="Segoe UI"/>
              <a:ea typeface="+mn-ea"/>
              <a:cs typeface="+mn-cs"/>
            </a:endParaRPr>
          </a:p>
        </p:txBody>
      </p:sp>
      <p:sp>
        <p:nvSpPr>
          <p:cNvPr id="9" name="Shape 43">
            <a:extLst>
              <a:ext uri="{FF2B5EF4-FFF2-40B4-BE49-F238E27FC236}">
                <a16:creationId xmlns:a16="http://schemas.microsoft.com/office/drawing/2014/main" id="{8626D4F7-FF8F-380B-A362-D2F9B17A6239}"/>
              </a:ext>
            </a:extLst>
          </p:cNvPr>
          <p:cNvSpPr/>
          <p:nvPr/>
        </p:nvSpPr>
        <p:spPr>
          <a:xfrm>
            <a:off x="2914327" y="2414563"/>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Segoe UI"/>
                <a:ea typeface="Arial" pitchFamily="34" charset="-122"/>
                <a:cs typeface="Arial" pitchFamily="34" charset="-120"/>
              </a:rPr>
              <a:t>Additional  information required?</a:t>
            </a:r>
            <a:endParaRPr kumimoji="0" lang="en-US" sz="900" b="0" i="0" u="none" strike="noStrike" kern="1200" cap="none" spc="0" normalizeH="0" baseline="0" noProof="0">
              <a:ln>
                <a:noFill/>
              </a:ln>
              <a:solidFill>
                <a:prstClr val="black"/>
              </a:solidFill>
              <a:effectLst/>
              <a:uLnTx/>
              <a:uFillTx/>
              <a:latin typeface="Segoe UI"/>
              <a:ea typeface="+mn-ea"/>
              <a:cs typeface="+mn-cs"/>
            </a:endParaRPr>
          </a:p>
        </p:txBody>
      </p:sp>
      <p:sp>
        <p:nvSpPr>
          <p:cNvPr id="15" name="Shape 43">
            <a:extLst>
              <a:ext uri="{FF2B5EF4-FFF2-40B4-BE49-F238E27FC236}">
                <a16:creationId xmlns:a16="http://schemas.microsoft.com/office/drawing/2014/main" id="{080D297D-6D3F-8F59-39F5-9BFFFDC19C46}"/>
              </a:ext>
            </a:extLst>
          </p:cNvPr>
          <p:cNvSpPr/>
          <p:nvPr/>
        </p:nvSpPr>
        <p:spPr>
          <a:xfrm>
            <a:off x="6598205" y="2414563"/>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Segoe UI"/>
                <a:ea typeface="Arial" pitchFamily="34" charset="-122"/>
                <a:cs typeface="Arial" pitchFamily="34" charset="-120"/>
              </a:rPr>
              <a:t>Proceed to case submission?</a:t>
            </a:r>
            <a:endParaRPr kumimoji="0" lang="en-US" sz="900" b="0" i="0" u="none" strike="noStrike" kern="1200" cap="none" spc="0" normalizeH="0" baseline="0" noProof="0">
              <a:ln>
                <a:noFill/>
              </a:ln>
              <a:solidFill>
                <a:prstClr val="black"/>
              </a:solidFill>
              <a:effectLst/>
              <a:uLnTx/>
              <a:uFillTx/>
              <a:latin typeface="Segoe UI"/>
              <a:ea typeface="+mn-ea"/>
              <a:cs typeface="+mn-cs"/>
            </a:endParaRPr>
          </a:p>
        </p:txBody>
      </p:sp>
      <p:sp>
        <p:nvSpPr>
          <p:cNvPr id="20" name="fx407">
            <a:extLst>
              <a:ext uri="{FF2B5EF4-FFF2-40B4-BE49-F238E27FC236}">
                <a16:creationId xmlns:a16="http://schemas.microsoft.com/office/drawing/2014/main" id="{35795BA3-FA18-BE84-34E9-CD2D756E1F70}"/>
              </a:ext>
            </a:extLst>
          </p:cNvPr>
          <p:cNvSpPr/>
          <p:nvPr/>
        </p:nvSpPr>
        <p:spPr>
          <a:xfrm>
            <a:off x="2932327" y="3919670"/>
            <a:ext cx="1260000" cy="720000"/>
          </a:xfrm>
          <a:prstGeom prst="roundRect">
            <a:avLst/>
          </a:prstGeom>
          <a:solidFill>
            <a:srgbClr val="EDDBFB">
              <a:alpha val="56863"/>
            </a:srgbClr>
          </a:solidFill>
          <a:ln w="12700">
            <a:solidFill>
              <a:schemeClr val="accent1"/>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Send missing information request to Growth Team</a:t>
            </a:r>
          </a:p>
        </p:txBody>
      </p:sp>
      <p:sp>
        <p:nvSpPr>
          <p:cNvPr id="23" name="TextBox 22">
            <a:extLst>
              <a:ext uri="{FF2B5EF4-FFF2-40B4-BE49-F238E27FC236}">
                <a16:creationId xmlns:a16="http://schemas.microsoft.com/office/drawing/2014/main" id="{0610ACAB-267C-FD8A-4134-665E4D629B36}"/>
              </a:ext>
            </a:extLst>
          </p:cNvPr>
          <p:cNvSpPr txBox="1"/>
          <p:nvPr/>
        </p:nvSpPr>
        <p:spPr>
          <a:xfrm>
            <a:off x="4023856" y="2733487"/>
            <a:ext cx="35209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2400" b="0" i="0" u="none" strike="noStrike" kern="1200" cap="none" spc="0" normalizeH="0" baseline="0" noProof="0">
              <a:ln>
                <a:noFill/>
              </a:ln>
              <a:solidFill>
                <a:srgbClr val="C00000"/>
              </a:solidFill>
              <a:effectLst/>
              <a:uLnTx/>
              <a:uFillTx/>
              <a:latin typeface="Segoe UI"/>
              <a:ea typeface="+mn-ea"/>
              <a:cs typeface="+mn-cs"/>
            </a:endParaRPr>
          </a:p>
        </p:txBody>
      </p:sp>
      <p:sp>
        <p:nvSpPr>
          <p:cNvPr id="27" name="TextBox 26">
            <a:extLst>
              <a:ext uri="{FF2B5EF4-FFF2-40B4-BE49-F238E27FC236}">
                <a16:creationId xmlns:a16="http://schemas.microsoft.com/office/drawing/2014/main" id="{F66CAE81-7085-FC4E-C1F3-8220F1C7FFD1}"/>
              </a:ext>
            </a:extLst>
          </p:cNvPr>
          <p:cNvSpPr txBox="1"/>
          <p:nvPr/>
        </p:nvSpPr>
        <p:spPr>
          <a:xfrm>
            <a:off x="7787725" y="2742720"/>
            <a:ext cx="292150" cy="212366"/>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cxnSp>
        <p:nvCxnSpPr>
          <p:cNvPr id="28" name="ar433">
            <a:extLst>
              <a:ext uri="{FF2B5EF4-FFF2-40B4-BE49-F238E27FC236}">
                <a16:creationId xmlns:a16="http://schemas.microsoft.com/office/drawing/2014/main" id="{F7739414-A0A9-0963-8EFB-4A392A62B7CB}"/>
              </a:ext>
            </a:extLst>
          </p:cNvPr>
          <p:cNvCxnSpPr>
            <a:cxnSpLocks/>
            <a:stCxn id="6" idx="3"/>
            <a:endCxn id="9" idx="1"/>
          </p:cNvCxnSpPr>
          <p:nvPr/>
        </p:nvCxnSpPr>
        <p:spPr>
          <a:xfrm>
            <a:off x="2304312" y="2848903"/>
            <a:ext cx="610015" cy="0"/>
          </a:xfrm>
          <a:prstGeom prst="straightConnector1">
            <a:avLst/>
          </a:prstGeom>
          <a:ln w="19050">
            <a:solidFill>
              <a:srgbClr val="9B9B9B"/>
            </a:solidFill>
            <a:tailEnd type="triangle" w="med" len="med"/>
          </a:ln>
          <a:effectLst/>
        </p:spPr>
      </p:cxnSp>
      <p:cxnSp>
        <p:nvCxnSpPr>
          <p:cNvPr id="3" name="ar433">
            <a:extLst>
              <a:ext uri="{FF2B5EF4-FFF2-40B4-BE49-F238E27FC236}">
                <a16:creationId xmlns:a16="http://schemas.microsoft.com/office/drawing/2014/main" id="{96F3A2BA-F119-7E4B-1069-73AD5F0FE9D4}"/>
              </a:ext>
            </a:extLst>
          </p:cNvPr>
          <p:cNvCxnSpPr>
            <a:cxnSpLocks/>
            <a:stCxn id="5" idx="3"/>
            <a:endCxn id="15" idx="1"/>
          </p:cNvCxnSpPr>
          <p:nvPr/>
        </p:nvCxnSpPr>
        <p:spPr>
          <a:xfrm>
            <a:off x="6137755" y="2848902"/>
            <a:ext cx="460450" cy="1"/>
          </a:xfrm>
          <a:prstGeom prst="straightConnector1">
            <a:avLst/>
          </a:prstGeom>
          <a:ln w="19050">
            <a:solidFill>
              <a:srgbClr val="9B9B9B"/>
            </a:solidFill>
            <a:tailEnd type="triangle" w="med" len="med"/>
          </a:ln>
          <a:effectLst/>
        </p:spPr>
      </p:cxnSp>
      <p:sp>
        <p:nvSpPr>
          <p:cNvPr id="19" name="TextBox 18">
            <a:extLst>
              <a:ext uri="{FF2B5EF4-FFF2-40B4-BE49-F238E27FC236}">
                <a16:creationId xmlns:a16="http://schemas.microsoft.com/office/drawing/2014/main" id="{A6643A2E-3EC3-CDBD-E73A-39C99DE43930}"/>
              </a:ext>
            </a:extLst>
          </p:cNvPr>
          <p:cNvSpPr txBox="1"/>
          <p:nvPr/>
        </p:nvSpPr>
        <p:spPr>
          <a:xfrm>
            <a:off x="7070156" y="3255352"/>
            <a:ext cx="35209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2400" b="0" i="0" u="none" strike="noStrike" kern="1200" cap="none" spc="0" normalizeH="0" baseline="0" noProof="0">
              <a:ln>
                <a:noFill/>
              </a:ln>
              <a:solidFill>
                <a:srgbClr val="C00000"/>
              </a:solidFill>
              <a:effectLst/>
              <a:uLnTx/>
              <a:uFillTx/>
              <a:latin typeface="Segoe UI"/>
              <a:ea typeface="+mn-ea"/>
              <a:cs typeface="+mn-cs"/>
            </a:endParaRPr>
          </a:p>
        </p:txBody>
      </p:sp>
      <p:cxnSp>
        <p:nvCxnSpPr>
          <p:cNvPr id="42" name="Connector 9004">
            <a:extLst>
              <a:ext uri="{FF2B5EF4-FFF2-40B4-BE49-F238E27FC236}">
                <a16:creationId xmlns:a16="http://schemas.microsoft.com/office/drawing/2014/main" id="{D582DE09-1C03-E045-C957-0FC712B27542}"/>
              </a:ext>
            </a:extLst>
          </p:cNvPr>
          <p:cNvCxnSpPr>
            <a:cxnSpLocks/>
            <a:stCxn id="19" idx="2"/>
            <a:endCxn id="7" idx="0"/>
          </p:cNvCxnSpPr>
          <p:nvPr/>
        </p:nvCxnSpPr>
        <p:spPr>
          <a:xfrm>
            <a:off x="7246205" y="3486184"/>
            <a:ext cx="0" cy="433486"/>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9004">
            <a:extLst>
              <a:ext uri="{FF2B5EF4-FFF2-40B4-BE49-F238E27FC236}">
                <a16:creationId xmlns:a16="http://schemas.microsoft.com/office/drawing/2014/main" id="{65B3077F-1AEE-2439-E8DA-9F78A5EC6755}"/>
              </a:ext>
            </a:extLst>
          </p:cNvPr>
          <p:cNvCxnSpPr>
            <a:cxnSpLocks/>
            <a:stCxn id="7" idx="3"/>
            <a:endCxn id="8967" idx="2"/>
          </p:cNvCxnSpPr>
          <p:nvPr/>
        </p:nvCxnSpPr>
        <p:spPr>
          <a:xfrm>
            <a:off x="7876205" y="4279670"/>
            <a:ext cx="455006" cy="0"/>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BB5CDDF5-AD5E-4789-C070-DE3F4B3F0BD2}"/>
              </a:ext>
            </a:extLst>
          </p:cNvPr>
          <p:cNvSpPr/>
          <p:nvPr/>
        </p:nvSpPr>
        <p:spPr bwMode="gray">
          <a:xfrm>
            <a:off x="8353425" y="5930297"/>
            <a:ext cx="3305175" cy="765264"/>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10" name="Shape 14">
            <a:extLst>
              <a:ext uri="{FF2B5EF4-FFF2-40B4-BE49-F238E27FC236}">
                <a16:creationId xmlns:a16="http://schemas.microsoft.com/office/drawing/2014/main" id="{1E9096D9-006E-6221-B9C5-88C9791375C9}"/>
              </a:ext>
            </a:extLst>
          </p:cNvPr>
          <p:cNvSpPr/>
          <p:nvPr/>
        </p:nvSpPr>
        <p:spPr>
          <a:xfrm>
            <a:off x="9572625" y="6342232"/>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Payment Services / Fraud</a:t>
            </a:r>
          </a:p>
        </p:txBody>
      </p:sp>
      <p:graphicFrame>
        <p:nvGraphicFramePr>
          <p:cNvPr id="14" name="Table 13">
            <a:extLst>
              <a:ext uri="{FF2B5EF4-FFF2-40B4-BE49-F238E27FC236}">
                <a16:creationId xmlns:a16="http://schemas.microsoft.com/office/drawing/2014/main" id="{801F8BC9-D82E-988C-5904-64FFCB4D3859}"/>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INTAKE &amp; INITIATION</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TRIAGE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CASE PREPARATION &amp; DOCUMENT ASSESSMENT</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PROVISIONAL CREDIT ISSUANCE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NETWORK SUBMISSION &amp; RESPONSE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RESOLUTION &amp; RECOVERY</a:t>
                      </a:r>
                    </a:p>
                  </a:txBody>
                  <a:tcPr anchor="ctr">
                    <a:solidFill>
                      <a:schemeClr val="bg1">
                        <a:lumMod val="75000"/>
                      </a:schemeClr>
                    </a:solidFill>
                  </a:tcPr>
                </a:tc>
                <a:extLst>
                  <a:ext uri="{0D108BD9-81ED-4DB2-BD59-A6C34878D82A}">
                    <a16:rowId xmlns:a16="http://schemas.microsoft.com/office/drawing/2014/main" val="831136574"/>
                  </a:ext>
                </a:extLst>
              </a:tr>
            </a:tbl>
          </a:graphicData>
        </a:graphic>
      </p:graphicFrame>
      <p:sp>
        <p:nvSpPr>
          <p:cNvPr id="21" name="TextBox 20">
            <a:extLst>
              <a:ext uri="{FF2B5EF4-FFF2-40B4-BE49-F238E27FC236}">
                <a16:creationId xmlns:a16="http://schemas.microsoft.com/office/drawing/2014/main" id="{8EA8FD71-EFB4-C966-215E-5C914EE54C3A}"/>
              </a:ext>
            </a:extLst>
          </p:cNvPr>
          <p:cNvSpPr txBox="1"/>
          <p:nvPr/>
        </p:nvSpPr>
        <p:spPr>
          <a:xfrm>
            <a:off x="6316752" y="4639669"/>
            <a:ext cx="1985504" cy="353943"/>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a:ln>
                  <a:noFill/>
                </a:ln>
                <a:solidFill>
                  <a:srgbClr val="3C3C3C"/>
                </a:solidFill>
                <a:effectLst/>
                <a:uLnTx/>
                <a:uFillTx/>
                <a:latin typeface="Segoe UI"/>
                <a:ea typeface="Arial" pitchFamily="34" charset="-122"/>
                <a:cs typeface="Arial" pitchFamily="34" charset="-120"/>
              </a:rPr>
              <a:t>Including potential courtesy refund to victims of fraud</a:t>
            </a:r>
            <a:endParaRPr kumimoji="0" lang="en-US" sz="850" b="0" i="1" u="none" strike="noStrike" kern="1200" cap="none" spc="0" normalizeH="0" baseline="0" noProof="0">
              <a:ln>
                <a:noFill/>
              </a:ln>
              <a:solidFill>
                <a:srgbClr val="404040"/>
              </a:solidFill>
              <a:effectLst/>
              <a:uLnTx/>
              <a:uFillTx/>
              <a:latin typeface="Segoe UI"/>
              <a:ea typeface="+mn-ea"/>
              <a:cs typeface="+mn-cs"/>
            </a:endParaRPr>
          </a:p>
        </p:txBody>
      </p:sp>
      <p:cxnSp>
        <p:nvCxnSpPr>
          <p:cNvPr id="16" name="Elbow Connector 479">
            <a:extLst>
              <a:ext uri="{FF2B5EF4-FFF2-40B4-BE49-F238E27FC236}">
                <a16:creationId xmlns:a16="http://schemas.microsoft.com/office/drawing/2014/main" id="{3E2586D1-7714-44D4-DEEF-FDF36535C9BD}"/>
              </a:ext>
            </a:extLst>
          </p:cNvPr>
          <p:cNvCxnSpPr>
            <a:cxnSpLocks/>
            <a:stCxn id="20" idx="3"/>
            <a:endCxn id="5" idx="2"/>
          </p:cNvCxnSpPr>
          <p:nvPr/>
        </p:nvCxnSpPr>
        <p:spPr>
          <a:xfrm flipV="1">
            <a:off x="4192327" y="3208902"/>
            <a:ext cx="1315428" cy="1070768"/>
          </a:xfrm>
          <a:prstGeom prst="bentConnector2">
            <a:avLst/>
          </a:prstGeom>
          <a:ln w="19050">
            <a:solidFill>
              <a:srgbClr val="9B9B9B"/>
            </a:solidFill>
            <a:tailEnd type="triangle" w="med" len="med"/>
          </a:ln>
        </p:spPr>
      </p:cxnSp>
      <p:cxnSp>
        <p:nvCxnSpPr>
          <p:cNvPr id="38" name="Connector 9004">
            <a:extLst>
              <a:ext uri="{FF2B5EF4-FFF2-40B4-BE49-F238E27FC236}">
                <a16:creationId xmlns:a16="http://schemas.microsoft.com/office/drawing/2014/main" id="{29316E64-C69A-A749-5A44-32D645B2DC13}"/>
              </a:ext>
            </a:extLst>
          </p:cNvPr>
          <p:cNvCxnSpPr>
            <a:cxnSpLocks/>
          </p:cNvCxnSpPr>
          <p:nvPr/>
        </p:nvCxnSpPr>
        <p:spPr>
          <a:xfrm>
            <a:off x="3565972" y="3480469"/>
            <a:ext cx="0" cy="439201"/>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9010">
            <a:extLst>
              <a:ext uri="{FF2B5EF4-FFF2-40B4-BE49-F238E27FC236}">
                <a16:creationId xmlns:a16="http://schemas.microsoft.com/office/drawing/2014/main" id="{9BDF2393-8D39-8937-3861-54B7C67F5559}"/>
              </a:ext>
            </a:extLst>
          </p:cNvPr>
          <p:cNvCxnSpPr>
            <a:cxnSpLocks/>
            <a:stCxn id="27" idx="3"/>
            <a:endCxn id="509" idx="1"/>
          </p:cNvCxnSpPr>
          <p:nvPr/>
        </p:nvCxnSpPr>
        <p:spPr>
          <a:xfrm>
            <a:off x="8079875" y="2848903"/>
            <a:ext cx="307384" cy="0"/>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4B07CC1F-C9CA-1A23-97B2-828356EDCB48}"/>
              </a:ext>
            </a:extLst>
          </p:cNvPr>
          <p:cNvGrpSpPr/>
          <p:nvPr/>
        </p:nvGrpSpPr>
        <p:grpSpPr>
          <a:xfrm>
            <a:off x="9507371" y="2388492"/>
            <a:ext cx="252000" cy="252000"/>
            <a:chOff x="10225008" y="2189338"/>
            <a:chExt cx="252000" cy="252000"/>
          </a:xfrm>
        </p:grpSpPr>
        <p:sp>
          <p:nvSpPr>
            <p:cNvPr id="17" name="hoff960">
              <a:extLst>
                <a:ext uri="{FF2B5EF4-FFF2-40B4-BE49-F238E27FC236}">
                  <a16:creationId xmlns:a16="http://schemas.microsoft.com/office/drawing/2014/main" id="{5666D474-1ACF-8323-E868-A45D5023A28E}"/>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22" name="hoffa961">
              <a:extLst>
                <a:ext uri="{FF2B5EF4-FFF2-40B4-BE49-F238E27FC236}">
                  <a16:creationId xmlns:a16="http://schemas.microsoft.com/office/drawing/2014/main" id="{D958E756-E744-45E3-D143-5EEC18815901}"/>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pic>
        <p:nvPicPr>
          <p:cNvPr id="29" name="Graphic 28" descr="Bookmark with solid fill">
            <a:extLst>
              <a:ext uri="{FF2B5EF4-FFF2-40B4-BE49-F238E27FC236}">
                <a16:creationId xmlns:a16="http://schemas.microsoft.com/office/drawing/2014/main" id="{1A4D0A22-27D0-E7CB-DE3D-E009353871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29503" y="4063491"/>
            <a:ext cx="329804" cy="329804"/>
          </a:xfrm>
          <a:prstGeom prst="rect">
            <a:avLst/>
          </a:prstGeom>
        </p:spPr>
      </p:pic>
      <p:sp>
        <p:nvSpPr>
          <p:cNvPr id="8" name="TextBox 7">
            <a:extLst>
              <a:ext uri="{FF2B5EF4-FFF2-40B4-BE49-F238E27FC236}">
                <a16:creationId xmlns:a16="http://schemas.microsoft.com/office/drawing/2014/main" id="{5DC31F73-7EF6-302C-4023-87F8ED4AC2E3}"/>
              </a:ext>
            </a:extLst>
          </p:cNvPr>
          <p:cNvSpPr txBox="1"/>
          <p:nvPr/>
        </p:nvSpPr>
        <p:spPr>
          <a:xfrm>
            <a:off x="9018577" y="4039352"/>
            <a:ext cx="2932124" cy="1692771"/>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53565A"/>
                </a:solidFill>
                <a:effectLst/>
                <a:uLnTx/>
                <a:uFillTx/>
                <a:latin typeface="Segoe UI"/>
                <a:ea typeface="+mn-ea"/>
                <a:cs typeface="+mn-cs"/>
              </a:rPr>
              <a:t>Risk (R-002): </a:t>
            </a:r>
            <a:r>
              <a:rPr kumimoji="0" lang="en-US" sz="800" b="0" i="1" u="none" strike="noStrike" kern="1200" cap="none" spc="0" normalizeH="0" baseline="0" noProof="0">
                <a:ln>
                  <a:noFill/>
                </a:ln>
                <a:solidFill>
                  <a:srgbClr val="53565A"/>
                </a:solidFill>
                <a:effectLst/>
                <a:uLnTx/>
                <a:uFillTx/>
                <a:latin typeface="Segoe UI"/>
                <a:ea typeface="+mn-ea"/>
                <a:cs typeface="+mn-cs"/>
              </a:rPr>
              <a:t>In the current state, disputes follow a multi-hop, manual handoff process — submitted via the existing trace form to Central 1, then passed to PPJV, and finally to Everlink, which manually re-keys the dispute details into Visa Resolve Online (VROL). Each manual transcription point introduces the risk of transposition errors, omitted or mismatched fields (e.g., transaction amount, dispute reason code, cardholder account number, or transaction date), and misalignment between the original trace form and what is ultimately filed in VROL. These errors can result in delayed or rejected dispute submissions, missed Visa filing deadlines— increasing potential non-compliance with Visa's dispute requirements.</a:t>
            </a:r>
          </a:p>
        </p:txBody>
      </p:sp>
      <p:sp>
        <p:nvSpPr>
          <p:cNvPr id="5" name="fx413">
            <a:extLst>
              <a:ext uri="{FF2B5EF4-FFF2-40B4-BE49-F238E27FC236}">
                <a16:creationId xmlns:a16="http://schemas.microsoft.com/office/drawing/2014/main" id="{E12DA374-14EC-F2ED-B28D-B56B629CDBDD}"/>
              </a:ext>
            </a:extLst>
          </p:cNvPr>
          <p:cNvSpPr/>
          <p:nvPr/>
        </p:nvSpPr>
        <p:spPr>
          <a:xfrm>
            <a:off x="4877755" y="2488902"/>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Agent reviews all evidence and  completes investigation</a:t>
            </a:r>
            <a:endParaRPr kumimoji="0" lang="en-CA" sz="900" b="1" i="0" u="none" strike="noStrike" kern="1200" cap="none" spc="0" normalizeH="0" baseline="0" noProof="0">
              <a:ln>
                <a:noFill/>
              </a:ln>
              <a:solidFill>
                <a:srgbClr val="404040"/>
              </a:solidFill>
              <a:effectLst/>
              <a:uLnTx/>
              <a:uFillTx/>
              <a:latin typeface="Segoe UI"/>
              <a:ea typeface="+mn-ea"/>
              <a:cs typeface="+mn-cs"/>
            </a:endParaRPr>
          </a:p>
        </p:txBody>
      </p:sp>
      <p:cxnSp>
        <p:nvCxnSpPr>
          <p:cNvPr id="24" name="ar433">
            <a:extLst>
              <a:ext uri="{FF2B5EF4-FFF2-40B4-BE49-F238E27FC236}">
                <a16:creationId xmlns:a16="http://schemas.microsoft.com/office/drawing/2014/main" id="{2A0D066A-043A-66EE-3AC2-418165F987A1}"/>
              </a:ext>
            </a:extLst>
          </p:cNvPr>
          <p:cNvCxnSpPr>
            <a:cxnSpLocks/>
            <a:stCxn id="23" idx="3"/>
            <a:endCxn id="5" idx="1"/>
          </p:cNvCxnSpPr>
          <p:nvPr/>
        </p:nvCxnSpPr>
        <p:spPr>
          <a:xfrm flipV="1">
            <a:off x="4375954" y="2848902"/>
            <a:ext cx="501801" cy="1"/>
          </a:xfrm>
          <a:prstGeom prst="straightConnector1">
            <a:avLst/>
          </a:prstGeom>
          <a:ln w="19050">
            <a:solidFill>
              <a:srgbClr val="9B9B9B"/>
            </a:solidFill>
            <a:tailEnd type="triangle" w="med" len="med"/>
          </a:ln>
          <a:effectLst/>
        </p:spPr>
      </p:cxnSp>
    </p:spTree>
    <p:extLst>
      <p:ext uri="{BB962C8B-B14F-4D97-AF65-F5344CB8AC3E}">
        <p14:creationId xmlns:p14="http://schemas.microsoft.com/office/powerpoint/2010/main" val="1481186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5AAE5-48E5-9F44-1E4C-F6D3AE7DE94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4E14AAC-130A-9631-A34A-97FB695390C0}"/>
              </a:ext>
            </a:extLst>
          </p:cNvPr>
          <p:cNvSpPr/>
          <p:nvPr/>
        </p:nvSpPr>
        <p:spPr bwMode="gray">
          <a:xfrm>
            <a:off x="8353425" y="5930297"/>
            <a:ext cx="3305175" cy="765264"/>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179" name="Text Placeholder 3">
            <a:extLst>
              <a:ext uri="{FF2B5EF4-FFF2-40B4-BE49-F238E27FC236}">
                <a16:creationId xmlns:a16="http://schemas.microsoft.com/office/drawing/2014/main" id="{1AA1F9FD-3E34-9721-91DC-AC6115BB780C}"/>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3BE74E13-0508-0A25-811D-8CB069183F85}"/>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3B. Provisional Credit Issuance</a:t>
            </a:r>
          </a:p>
        </p:txBody>
      </p:sp>
      <p:sp>
        <p:nvSpPr>
          <p:cNvPr id="2" name="lg950">
            <a:extLst>
              <a:ext uri="{FF2B5EF4-FFF2-40B4-BE49-F238E27FC236}">
                <a16:creationId xmlns:a16="http://schemas.microsoft.com/office/drawing/2014/main" id="{A8764A41-F3CB-F60F-0E1C-CE2E37066B7C}"/>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3" name="lg951">
            <a:extLst>
              <a:ext uri="{FF2B5EF4-FFF2-40B4-BE49-F238E27FC236}">
                <a16:creationId xmlns:a16="http://schemas.microsoft.com/office/drawing/2014/main" id="{943F82F5-234A-9633-3C9D-4D9D5191DC1A}"/>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4" name="lg952">
            <a:extLst>
              <a:ext uri="{FF2B5EF4-FFF2-40B4-BE49-F238E27FC236}">
                <a16:creationId xmlns:a16="http://schemas.microsoft.com/office/drawing/2014/main" id="{86A8C28E-D92E-6CA9-C57C-0EC981205996}"/>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53" name="lg953">
            <a:extLst>
              <a:ext uri="{FF2B5EF4-FFF2-40B4-BE49-F238E27FC236}">
                <a16:creationId xmlns:a16="http://schemas.microsoft.com/office/drawing/2014/main" id="{AA093BBC-D5B8-4B85-1145-DA1D56291224}"/>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760" name="Group 759">
            <a:extLst>
              <a:ext uri="{FF2B5EF4-FFF2-40B4-BE49-F238E27FC236}">
                <a16:creationId xmlns:a16="http://schemas.microsoft.com/office/drawing/2014/main" id="{F694EDA9-F6B1-ED51-8A16-7CC33828FBB3}"/>
              </a:ext>
            </a:extLst>
          </p:cNvPr>
          <p:cNvGrpSpPr/>
          <p:nvPr/>
        </p:nvGrpSpPr>
        <p:grpSpPr>
          <a:xfrm>
            <a:off x="10685728" y="1247437"/>
            <a:ext cx="210312" cy="210312"/>
            <a:chOff x="10674331" y="1239428"/>
            <a:chExt cx="210312" cy="210312"/>
          </a:xfrm>
        </p:grpSpPr>
        <p:sp>
          <p:nvSpPr>
            <p:cNvPr id="968" name="hoff968">
              <a:extLst>
                <a:ext uri="{FF2B5EF4-FFF2-40B4-BE49-F238E27FC236}">
                  <a16:creationId xmlns:a16="http://schemas.microsoft.com/office/drawing/2014/main" id="{F708E8AE-BC0F-5899-7083-78382E87E6E7}"/>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69" name="hoffa969">
              <a:extLst>
                <a:ext uri="{FF2B5EF4-FFF2-40B4-BE49-F238E27FC236}">
                  <a16:creationId xmlns:a16="http://schemas.microsoft.com/office/drawing/2014/main" id="{42524B5B-C673-DFD5-CB68-101E8E2CA4D1}"/>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972" name="lg972">
            <a:extLst>
              <a:ext uri="{FF2B5EF4-FFF2-40B4-BE49-F238E27FC236}">
                <a16:creationId xmlns:a16="http://schemas.microsoft.com/office/drawing/2014/main" id="{D5604F33-6EBE-C675-2164-C01EEB291502}"/>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cxnSp>
        <p:nvCxnSpPr>
          <p:cNvPr id="763" name="Elbow Connector 762">
            <a:extLst>
              <a:ext uri="{FF2B5EF4-FFF2-40B4-BE49-F238E27FC236}">
                <a16:creationId xmlns:a16="http://schemas.microsoft.com/office/drawing/2014/main" id="{14601E61-A420-7534-9773-F2DE82C24CC5}"/>
              </a:ext>
            </a:extLst>
          </p:cNvPr>
          <p:cNvCxnSpPr>
            <a:cxnSpLocks/>
          </p:cNvCxnSpPr>
          <p:nvPr/>
        </p:nvCxnSpPr>
        <p:spPr>
          <a:xfrm>
            <a:off x="-2926264" y="9638719"/>
            <a:ext cx="589990" cy="452490"/>
          </a:xfrm>
          <a:prstGeom prst="bentConnector3">
            <a:avLst/>
          </a:prstGeom>
          <a:ln w="19050">
            <a:solidFill>
              <a:srgbClr val="9B9B9B"/>
            </a:solidFill>
            <a:tailEnd type="triangle" w="med" len="med"/>
          </a:ln>
        </p:spPr>
      </p:cxnSp>
      <p:sp>
        <p:nvSpPr>
          <p:cNvPr id="24" name="Oval 23">
            <a:extLst>
              <a:ext uri="{FF2B5EF4-FFF2-40B4-BE49-F238E27FC236}">
                <a16:creationId xmlns:a16="http://schemas.microsoft.com/office/drawing/2014/main" id="{02C818A9-A12E-F31E-26BA-17A6A113CF80}"/>
              </a:ext>
            </a:extLst>
          </p:cNvPr>
          <p:cNvSpPr/>
          <p:nvPr/>
        </p:nvSpPr>
        <p:spPr bwMode="gray">
          <a:xfrm>
            <a:off x="10681415" y="1545693"/>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26" name="lg972">
            <a:extLst>
              <a:ext uri="{FF2B5EF4-FFF2-40B4-BE49-F238E27FC236}">
                <a16:creationId xmlns:a16="http://schemas.microsoft.com/office/drawing/2014/main" id="{C1568974-5382-0CAB-2406-B9C9C47F5EDF}"/>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sp>
        <p:nvSpPr>
          <p:cNvPr id="6" name="fx413">
            <a:extLst>
              <a:ext uri="{FF2B5EF4-FFF2-40B4-BE49-F238E27FC236}">
                <a16:creationId xmlns:a16="http://schemas.microsoft.com/office/drawing/2014/main" id="{11082BE3-4C6B-5A92-26EC-64F96580D312}"/>
              </a:ext>
            </a:extLst>
          </p:cNvPr>
          <p:cNvSpPr/>
          <p:nvPr/>
        </p:nvSpPr>
        <p:spPr>
          <a:xfrm>
            <a:off x="1819060" y="3034878"/>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Payment Services validates provisional credit amount</a:t>
            </a:r>
          </a:p>
        </p:txBody>
      </p:sp>
      <p:sp>
        <p:nvSpPr>
          <p:cNvPr id="11" name="fx413">
            <a:extLst>
              <a:ext uri="{FF2B5EF4-FFF2-40B4-BE49-F238E27FC236}">
                <a16:creationId xmlns:a16="http://schemas.microsoft.com/office/drawing/2014/main" id="{E91A22D4-6BE6-91DA-3B15-2BF8E31CEF87}"/>
              </a:ext>
            </a:extLst>
          </p:cNvPr>
          <p:cNvSpPr/>
          <p:nvPr/>
        </p:nvSpPr>
        <p:spPr>
          <a:xfrm>
            <a:off x="3830354" y="3034878"/>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Post temporary provisional credit to member account </a:t>
            </a:r>
          </a:p>
        </p:txBody>
      </p:sp>
      <p:sp>
        <p:nvSpPr>
          <p:cNvPr id="14" name="fx413">
            <a:extLst>
              <a:ext uri="{FF2B5EF4-FFF2-40B4-BE49-F238E27FC236}">
                <a16:creationId xmlns:a16="http://schemas.microsoft.com/office/drawing/2014/main" id="{BDB560BC-E103-10DD-165B-4C8DDF07C856}"/>
              </a:ext>
            </a:extLst>
          </p:cNvPr>
          <p:cNvSpPr/>
          <p:nvPr/>
        </p:nvSpPr>
        <p:spPr>
          <a:xfrm>
            <a:off x="5841648" y="3034878"/>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Select completion status and add comment</a:t>
            </a:r>
          </a:p>
        </p:txBody>
      </p:sp>
      <p:cxnSp>
        <p:nvCxnSpPr>
          <p:cNvPr id="19" name="lnk906">
            <a:extLst>
              <a:ext uri="{FF2B5EF4-FFF2-40B4-BE49-F238E27FC236}">
                <a16:creationId xmlns:a16="http://schemas.microsoft.com/office/drawing/2014/main" id="{D27B84C1-83AE-304A-ADEF-1F3B61AFAA9E}"/>
              </a:ext>
            </a:extLst>
          </p:cNvPr>
          <p:cNvCxnSpPr>
            <a:cxnSpLocks/>
            <a:stCxn id="6" idx="3"/>
            <a:endCxn id="11" idx="1"/>
          </p:cNvCxnSpPr>
          <p:nvPr/>
        </p:nvCxnSpPr>
        <p:spPr>
          <a:xfrm>
            <a:off x="3079060" y="3394878"/>
            <a:ext cx="751294" cy="0"/>
          </a:xfrm>
          <a:prstGeom prst="straightConnector1">
            <a:avLst/>
          </a:prstGeom>
          <a:ln w="19050">
            <a:solidFill>
              <a:srgbClr val="9B9B9B"/>
            </a:solidFill>
            <a:tailEnd type="triangle" w="med" len="med"/>
          </a:ln>
        </p:spPr>
      </p:cxnSp>
      <p:cxnSp>
        <p:nvCxnSpPr>
          <p:cNvPr id="27" name="lnk906">
            <a:extLst>
              <a:ext uri="{FF2B5EF4-FFF2-40B4-BE49-F238E27FC236}">
                <a16:creationId xmlns:a16="http://schemas.microsoft.com/office/drawing/2014/main" id="{D5995604-F705-E85B-8F9D-BC3B7ECA6CE4}"/>
              </a:ext>
            </a:extLst>
          </p:cNvPr>
          <p:cNvCxnSpPr>
            <a:cxnSpLocks/>
            <a:stCxn id="11" idx="3"/>
            <a:endCxn id="14" idx="1"/>
          </p:cNvCxnSpPr>
          <p:nvPr/>
        </p:nvCxnSpPr>
        <p:spPr>
          <a:xfrm>
            <a:off x="5090354" y="3394878"/>
            <a:ext cx="751294" cy="0"/>
          </a:xfrm>
          <a:prstGeom prst="straightConnector1">
            <a:avLst/>
          </a:prstGeom>
          <a:ln w="19050">
            <a:solidFill>
              <a:srgbClr val="9B9B9B"/>
            </a:solidFill>
            <a:tailEnd type="triangle" w="med" len="med"/>
          </a:ln>
        </p:spPr>
      </p:cxnSp>
      <p:sp>
        <p:nvSpPr>
          <p:cNvPr id="13" name="fx413">
            <a:extLst>
              <a:ext uri="{FF2B5EF4-FFF2-40B4-BE49-F238E27FC236}">
                <a16:creationId xmlns:a16="http://schemas.microsoft.com/office/drawing/2014/main" id="{775F433B-C8A6-6037-C4E6-9C3EDF7EDC81}"/>
              </a:ext>
            </a:extLst>
          </p:cNvPr>
          <p:cNvSpPr/>
          <p:nvPr/>
        </p:nvSpPr>
        <p:spPr>
          <a:xfrm>
            <a:off x="7852942" y="3034878"/>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Record the posting in specific tracker or GL</a:t>
            </a:r>
          </a:p>
        </p:txBody>
      </p:sp>
      <p:cxnSp>
        <p:nvCxnSpPr>
          <p:cNvPr id="18" name="lnk906">
            <a:extLst>
              <a:ext uri="{FF2B5EF4-FFF2-40B4-BE49-F238E27FC236}">
                <a16:creationId xmlns:a16="http://schemas.microsoft.com/office/drawing/2014/main" id="{80F06ADF-D72A-D792-CD69-4E15A1B86DBA}"/>
              </a:ext>
            </a:extLst>
          </p:cNvPr>
          <p:cNvCxnSpPr>
            <a:cxnSpLocks/>
            <a:stCxn id="14" idx="3"/>
            <a:endCxn id="13" idx="1"/>
          </p:cNvCxnSpPr>
          <p:nvPr/>
        </p:nvCxnSpPr>
        <p:spPr>
          <a:xfrm>
            <a:off x="7101648" y="3394878"/>
            <a:ext cx="751294" cy="0"/>
          </a:xfrm>
          <a:prstGeom prst="straightConnector1">
            <a:avLst/>
          </a:prstGeom>
          <a:ln w="19050">
            <a:solidFill>
              <a:srgbClr val="9B9B9B"/>
            </a:solidFill>
            <a:tailEnd type="triangle" w="med" len="med"/>
          </a:ln>
        </p:spPr>
      </p:cxnSp>
      <p:sp>
        <p:nvSpPr>
          <p:cNvPr id="7" name="Shape 14">
            <a:extLst>
              <a:ext uri="{FF2B5EF4-FFF2-40B4-BE49-F238E27FC236}">
                <a16:creationId xmlns:a16="http://schemas.microsoft.com/office/drawing/2014/main" id="{40FA3BDE-4673-FD29-89E6-CB21EDA8C457}"/>
              </a:ext>
            </a:extLst>
          </p:cNvPr>
          <p:cNvSpPr/>
          <p:nvPr/>
        </p:nvSpPr>
        <p:spPr>
          <a:xfrm>
            <a:off x="9572625" y="6342232"/>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Finance</a:t>
            </a:r>
          </a:p>
        </p:txBody>
      </p:sp>
      <p:graphicFrame>
        <p:nvGraphicFramePr>
          <p:cNvPr id="8" name="Table 7">
            <a:extLst>
              <a:ext uri="{FF2B5EF4-FFF2-40B4-BE49-F238E27FC236}">
                <a16:creationId xmlns:a16="http://schemas.microsoft.com/office/drawing/2014/main" id="{27106D25-4E54-C723-1161-91D1311B052D}"/>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INTAKE &amp; INITIATION</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TRIAGE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CASE PREPARATION &amp; DOCUMENT ASSESSMENT</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PROVISIONAL CREDIT ISSUANCE</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NETWORK SUBMISSION &amp; RESPONSE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RESOLUTION &amp; RECOVERY</a:t>
                      </a:r>
                    </a:p>
                  </a:txBody>
                  <a:tcPr anchor="ctr">
                    <a:solidFill>
                      <a:schemeClr val="bg1">
                        <a:lumMod val="75000"/>
                      </a:schemeClr>
                    </a:solidFill>
                  </a:tcPr>
                </a:tc>
                <a:extLst>
                  <a:ext uri="{0D108BD9-81ED-4DB2-BD59-A6C34878D82A}">
                    <a16:rowId xmlns:a16="http://schemas.microsoft.com/office/drawing/2014/main" val="831136574"/>
                  </a:ext>
                </a:extLst>
              </a:tr>
            </a:tbl>
          </a:graphicData>
        </a:graphic>
      </p:graphicFrame>
      <p:sp>
        <p:nvSpPr>
          <p:cNvPr id="21" name="Rectangle 20">
            <a:extLst>
              <a:ext uri="{FF2B5EF4-FFF2-40B4-BE49-F238E27FC236}">
                <a16:creationId xmlns:a16="http://schemas.microsoft.com/office/drawing/2014/main" id="{1AB3FFB5-DEE1-EF52-C3F2-3407425CE745}"/>
              </a:ext>
            </a:extLst>
          </p:cNvPr>
          <p:cNvSpPr/>
          <p:nvPr/>
        </p:nvSpPr>
        <p:spPr bwMode="gray">
          <a:xfrm>
            <a:off x="579944" y="1143074"/>
            <a:ext cx="1526400" cy="1104320"/>
          </a:xfrm>
          <a:prstGeom prst="rect">
            <a:avLst/>
          </a:prstGeom>
          <a:solidFill>
            <a:schemeClr val="accent1">
              <a:lumMod val="50000"/>
            </a:schemeClr>
          </a:solidFill>
          <a:ln w="38100" algn="ctr">
            <a:solidFill>
              <a:schemeClr val="accent1"/>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Segoe UI"/>
                <a:ea typeface="+mn-ea"/>
                <a:cs typeface="+mn-cs"/>
              </a:rPr>
              <a:t>Decision Pending (D-010): </a:t>
            </a:r>
            <a:r>
              <a:rPr kumimoji="0" lang="en-US" sz="900" b="0" i="0" u="none" strike="noStrike" kern="1200" cap="none" spc="0" normalizeH="0" baseline="0" noProof="0">
                <a:ln>
                  <a:noFill/>
                </a:ln>
                <a:solidFill>
                  <a:prstClr val="white"/>
                </a:solidFill>
                <a:effectLst/>
                <a:uLnTx/>
                <a:uFillTx/>
                <a:latin typeface="Segoe UI"/>
                <a:ea typeface="+mn-ea"/>
                <a:cs typeface="+mn-cs"/>
              </a:rPr>
              <a:t>The provisional credit will be issued in parallel with the investigation, to meet 2 business days Visa SLA.</a:t>
            </a:r>
            <a:endParaRPr kumimoji="0" lang="en-US" sz="900" b="0" i="1" u="none" strike="noStrike" kern="1200" cap="none" spc="0" normalizeH="0" baseline="0" noProof="0">
              <a:ln>
                <a:noFill/>
              </a:ln>
              <a:solidFill>
                <a:prstClr val="white"/>
              </a:solidFill>
              <a:effectLst/>
              <a:uLnTx/>
              <a:uFillTx/>
              <a:latin typeface="Segoe UI"/>
              <a:ea typeface="+mn-ea"/>
              <a:cs typeface="+mn-cs"/>
            </a:endParaRPr>
          </a:p>
        </p:txBody>
      </p:sp>
      <p:sp>
        <p:nvSpPr>
          <p:cNvPr id="23" name="TextBox 22">
            <a:extLst>
              <a:ext uri="{FF2B5EF4-FFF2-40B4-BE49-F238E27FC236}">
                <a16:creationId xmlns:a16="http://schemas.microsoft.com/office/drawing/2014/main" id="{C3C7C29C-8C6E-BD0A-B378-D0BC13DAAA4A}"/>
              </a:ext>
            </a:extLst>
          </p:cNvPr>
          <p:cNvSpPr txBox="1"/>
          <p:nvPr/>
        </p:nvSpPr>
        <p:spPr>
          <a:xfrm>
            <a:off x="2360876" y="1400939"/>
            <a:ext cx="5015085" cy="584775"/>
          </a:xfrm>
          <a:prstGeom prst="rect">
            <a:avLst/>
          </a:prstGeom>
          <a:noFill/>
        </p:spPr>
        <p:txBody>
          <a:bodyPr wrap="square">
            <a:spAutoFit/>
          </a:bodyPr>
          <a:lstStyle>
            <a:defPPr>
              <a:defRPr lang="en-US"/>
            </a:defPPr>
            <a:lvl1pPr>
              <a:defRPr sz="800" b="1"/>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53565A"/>
                </a:solidFill>
                <a:effectLst/>
                <a:uLnTx/>
                <a:uFillTx/>
                <a:latin typeface="Segoe UI"/>
                <a:ea typeface="+mn-ea"/>
                <a:cs typeface="+mn-cs"/>
              </a:rPr>
              <a:t>Risk (R-001): </a:t>
            </a:r>
            <a:r>
              <a:rPr kumimoji="0" lang="en-US" sz="800" b="0" i="1" u="none" strike="noStrike" kern="1200" cap="none" spc="0" normalizeH="0" baseline="0" noProof="0">
                <a:ln>
                  <a:noFill/>
                </a:ln>
                <a:solidFill>
                  <a:srgbClr val="53565A"/>
                </a:solidFill>
                <a:effectLst/>
                <a:uLnTx/>
                <a:uFillTx/>
                <a:latin typeface="Segoe UI"/>
                <a:ea typeface="+mn-ea"/>
                <a:cs typeface="+mn-cs"/>
              </a:rPr>
              <a:t>Cardholders may exploit the provisional credit process by submitting a fraudulent or unsubstantiated dispute, receiving the credit, and then becoming unreachable or closing the account before the investigation concludes or the credit can be reversed — resulting in an unrecoverable loss to the institution.</a:t>
            </a:r>
          </a:p>
        </p:txBody>
      </p:sp>
      <p:pic>
        <p:nvPicPr>
          <p:cNvPr id="25" name="Graphic 24" descr="Bookmark with solid fill">
            <a:extLst>
              <a:ext uri="{FF2B5EF4-FFF2-40B4-BE49-F238E27FC236}">
                <a16:creationId xmlns:a16="http://schemas.microsoft.com/office/drawing/2014/main" id="{2B839A6F-D056-D66E-7241-5744D7950A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172165" y="1439029"/>
            <a:ext cx="329804" cy="329804"/>
          </a:xfrm>
          <a:prstGeom prst="rect">
            <a:avLst/>
          </a:prstGeom>
        </p:spPr>
      </p:pic>
    </p:spTree>
    <p:extLst>
      <p:ext uri="{BB962C8B-B14F-4D97-AF65-F5344CB8AC3E}">
        <p14:creationId xmlns:p14="http://schemas.microsoft.com/office/powerpoint/2010/main" val="2260003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1CF31-FD9C-305E-07B1-38BB4BDEE71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D929E5C-D178-7E9F-D218-18CF553E6E73}"/>
              </a:ext>
            </a:extLst>
          </p:cNvPr>
          <p:cNvSpPr/>
          <p:nvPr/>
        </p:nvSpPr>
        <p:spPr bwMode="gray">
          <a:xfrm>
            <a:off x="8353425" y="5930297"/>
            <a:ext cx="3305175" cy="765264"/>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15" name="Shape 14">
            <a:extLst>
              <a:ext uri="{FF2B5EF4-FFF2-40B4-BE49-F238E27FC236}">
                <a16:creationId xmlns:a16="http://schemas.microsoft.com/office/drawing/2014/main" id="{532109F5-5399-B983-FA04-C01948045781}"/>
              </a:ext>
            </a:extLst>
          </p:cNvPr>
          <p:cNvSpPr/>
          <p:nvPr/>
        </p:nvSpPr>
        <p:spPr>
          <a:xfrm>
            <a:off x="9572625" y="6342232"/>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Payment Services / Fraud</a:t>
            </a:r>
          </a:p>
        </p:txBody>
      </p:sp>
      <p:sp>
        <p:nvSpPr>
          <p:cNvPr id="32" name="Shape 43">
            <a:extLst>
              <a:ext uri="{FF2B5EF4-FFF2-40B4-BE49-F238E27FC236}">
                <a16:creationId xmlns:a16="http://schemas.microsoft.com/office/drawing/2014/main" id="{71E74FC6-82E1-46D1-4D6B-0902939ADA8B}"/>
              </a:ext>
            </a:extLst>
          </p:cNvPr>
          <p:cNvSpPr/>
          <p:nvPr/>
        </p:nvSpPr>
        <p:spPr>
          <a:xfrm>
            <a:off x="1910639" y="31265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Does Beem accept Acquirer Response?</a:t>
            </a:r>
          </a:p>
        </p:txBody>
      </p:sp>
      <p:sp>
        <p:nvSpPr>
          <p:cNvPr id="47" name="TextBox 46">
            <a:extLst>
              <a:ext uri="{FF2B5EF4-FFF2-40B4-BE49-F238E27FC236}">
                <a16:creationId xmlns:a16="http://schemas.microsoft.com/office/drawing/2014/main" id="{5CAB9906-048C-9EE7-6557-C42EACAB93F6}"/>
              </a:ext>
            </a:extLst>
          </p:cNvPr>
          <p:cNvSpPr txBox="1"/>
          <p:nvPr/>
        </p:nvSpPr>
        <p:spPr>
          <a:xfrm>
            <a:off x="3079764" y="3454666"/>
            <a:ext cx="252000" cy="212366"/>
          </a:xfrm>
          <a:prstGeom prst="rect">
            <a:avLst/>
          </a:prstGeom>
          <a:noFill/>
          <a:effectLst/>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00000"/>
                </a:solidFill>
                <a:effectLst/>
                <a:uLnTx/>
                <a:uFillTx/>
                <a:latin typeface="Segoe UI"/>
                <a:ea typeface="+mn-ea"/>
                <a:cs typeface="+mn-cs"/>
              </a:rPr>
              <a:t>No</a:t>
            </a:r>
          </a:p>
        </p:txBody>
      </p:sp>
      <p:sp>
        <p:nvSpPr>
          <p:cNvPr id="28" name="Shape 43">
            <a:extLst>
              <a:ext uri="{FF2B5EF4-FFF2-40B4-BE49-F238E27FC236}">
                <a16:creationId xmlns:a16="http://schemas.microsoft.com/office/drawing/2014/main" id="{F866FA64-0437-63EA-69EE-6284FCCD449C}"/>
              </a:ext>
            </a:extLst>
          </p:cNvPr>
          <p:cNvSpPr/>
          <p:nvPr/>
        </p:nvSpPr>
        <p:spPr>
          <a:xfrm>
            <a:off x="253551" y="31265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Acquirer accepts dispute?</a:t>
            </a:r>
          </a:p>
        </p:txBody>
      </p:sp>
      <p:sp>
        <p:nvSpPr>
          <p:cNvPr id="179" name="Text Placeholder 3">
            <a:extLst>
              <a:ext uri="{FF2B5EF4-FFF2-40B4-BE49-F238E27FC236}">
                <a16:creationId xmlns:a16="http://schemas.microsoft.com/office/drawing/2014/main" id="{80A3DDAB-9AC0-67AD-4E86-8E1B111560A2}"/>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1F01DC19-8581-F7C2-41C7-EAF9BBA1AAEA}"/>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4. Network Submission &amp; Response</a:t>
            </a:r>
          </a:p>
        </p:txBody>
      </p:sp>
      <p:cxnSp>
        <p:nvCxnSpPr>
          <p:cNvPr id="763" name="Elbow Connector 762">
            <a:extLst>
              <a:ext uri="{FF2B5EF4-FFF2-40B4-BE49-F238E27FC236}">
                <a16:creationId xmlns:a16="http://schemas.microsoft.com/office/drawing/2014/main" id="{1ED40DAF-10E8-E733-FE91-4A643169F56E}"/>
              </a:ext>
            </a:extLst>
          </p:cNvPr>
          <p:cNvCxnSpPr>
            <a:cxnSpLocks/>
          </p:cNvCxnSpPr>
          <p:nvPr/>
        </p:nvCxnSpPr>
        <p:spPr>
          <a:xfrm>
            <a:off x="-2926264" y="9638719"/>
            <a:ext cx="589990" cy="452490"/>
          </a:xfrm>
          <a:prstGeom prst="bentConnector3">
            <a:avLst/>
          </a:prstGeom>
          <a:ln w="19050">
            <a:solidFill>
              <a:srgbClr val="9B9B9B"/>
            </a:solidFill>
            <a:tailEnd type="triangle" w="med" len="med"/>
          </a:ln>
        </p:spPr>
      </p:cxnSp>
      <p:sp>
        <p:nvSpPr>
          <p:cNvPr id="487" name="TextBox 486">
            <a:extLst>
              <a:ext uri="{FF2B5EF4-FFF2-40B4-BE49-F238E27FC236}">
                <a16:creationId xmlns:a16="http://schemas.microsoft.com/office/drawing/2014/main" id="{E68628A9-D81B-1470-F32E-39C14D9AF7C2}"/>
              </a:ext>
            </a:extLst>
          </p:cNvPr>
          <p:cNvSpPr txBox="1"/>
          <p:nvPr/>
        </p:nvSpPr>
        <p:spPr>
          <a:xfrm>
            <a:off x="221952" y="1655071"/>
            <a:ext cx="1550000" cy="289310"/>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700" b="0" i="1" u="none" strike="noStrike" kern="1200" cap="none" spc="0" normalizeH="0" baseline="0" noProof="0">
                <a:ln>
                  <a:noFill/>
                </a:ln>
                <a:solidFill>
                  <a:srgbClr val="404040"/>
                </a:solidFill>
                <a:effectLst/>
                <a:uLnTx/>
                <a:uFillTx/>
                <a:latin typeface="Segoe UI"/>
                <a:ea typeface="+mn-ea"/>
                <a:cs typeface="+mn-cs"/>
              </a:rPr>
              <a:t>120 days from transaction date (75 days in specific conditions)</a:t>
            </a:r>
          </a:p>
        </p:txBody>
      </p:sp>
      <p:sp>
        <p:nvSpPr>
          <p:cNvPr id="25" name="TextBox 24">
            <a:extLst>
              <a:ext uri="{FF2B5EF4-FFF2-40B4-BE49-F238E27FC236}">
                <a16:creationId xmlns:a16="http://schemas.microsoft.com/office/drawing/2014/main" id="{86542F9A-5DFF-1E18-9889-904B53D714EB}"/>
              </a:ext>
            </a:extLst>
          </p:cNvPr>
          <p:cNvSpPr txBox="1"/>
          <p:nvPr/>
        </p:nvSpPr>
        <p:spPr>
          <a:xfrm>
            <a:off x="1422676" y="3454666"/>
            <a:ext cx="252000" cy="212366"/>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00000"/>
                </a:solidFill>
                <a:effectLst/>
                <a:uLnTx/>
                <a:uFillTx/>
                <a:latin typeface="Segoe UI"/>
                <a:ea typeface="+mn-ea"/>
                <a:cs typeface="+mn-cs"/>
              </a:rPr>
              <a:t>No</a:t>
            </a:r>
          </a:p>
        </p:txBody>
      </p:sp>
      <p:sp>
        <p:nvSpPr>
          <p:cNvPr id="23" name="Rounded Rectangle 9104">
            <a:extLst>
              <a:ext uri="{FF2B5EF4-FFF2-40B4-BE49-F238E27FC236}">
                <a16:creationId xmlns:a16="http://schemas.microsoft.com/office/drawing/2014/main" id="{8E486714-A23F-1934-9C50-12E2EA82BEBD}"/>
              </a:ext>
            </a:extLst>
          </p:cNvPr>
          <p:cNvSpPr/>
          <p:nvPr/>
        </p:nvSpPr>
        <p:spPr>
          <a:xfrm>
            <a:off x="8502991" y="3200849"/>
            <a:ext cx="1395526" cy="720000"/>
          </a:xfrm>
          <a:prstGeom prst="roundRect">
            <a:avLst>
              <a:gd name="adj" fmla="val 10000"/>
            </a:avLst>
          </a:prstGeom>
          <a:no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404040"/>
                </a:solidFill>
                <a:effectLst/>
                <a:uLnTx/>
                <a:uFillTx/>
                <a:latin typeface="Segoe UI"/>
                <a:ea typeface="+mn-ea"/>
                <a:cs typeface="+mn-cs"/>
              </a:rPr>
              <a:t>Beem files Arbitration</a:t>
            </a:r>
            <a:r>
              <a:rPr kumimoji="0" lang="en-CA" sz="900" b="1" i="0" u="none" strike="noStrike" kern="1200" cap="none" spc="0" normalizeH="0" baseline="30000" noProof="0">
                <a:ln>
                  <a:noFill/>
                </a:ln>
                <a:solidFill>
                  <a:srgbClr val="404040"/>
                </a:solidFill>
                <a:effectLst/>
                <a:uLnTx/>
                <a:uFillTx/>
                <a:latin typeface="Segoe UI"/>
                <a:ea typeface="+mn-ea"/>
                <a:cs typeface="+mn-cs"/>
              </a:rPr>
              <a:t>2</a:t>
            </a:r>
          </a:p>
        </p:txBody>
      </p:sp>
      <p:sp>
        <p:nvSpPr>
          <p:cNvPr id="30" name="fx413">
            <a:extLst>
              <a:ext uri="{FF2B5EF4-FFF2-40B4-BE49-F238E27FC236}">
                <a16:creationId xmlns:a16="http://schemas.microsoft.com/office/drawing/2014/main" id="{0E732084-5243-EBE2-0EC6-251E16F1C807}"/>
              </a:ext>
            </a:extLst>
          </p:cNvPr>
          <p:cNvSpPr/>
          <p:nvPr/>
        </p:nvSpPr>
        <p:spPr>
          <a:xfrm>
            <a:off x="271551" y="1974771"/>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Submit dispute to Central 1 (for submission to Visa VROL) &amp; monitor Acquirer response</a:t>
            </a:r>
            <a:r>
              <a:rPr kumimoji="0" lang="en-US" sz="900" b="1" i="0" u="none" strike="noStrike" kern="1200" cap="none" spc="0" normalizeH="0" baseline="30000" noProof="0">
                <a:ln>
                  <a:noFill/>
                </a:ln>
                <a:solidFill>
                  <a:srgbClr val="404040"/>
                </a:solidFill>
                <a:effectLst/>
                <a:uLnTx/>
                <a:uFillTx/>
                <a:latin typeface="Segoe UI"/>
                <a:ea typeface="+mn-ea"/>
                <a:cs typeface="+mn-cs"/>
              </a:rPr>
              <a:t>1</a:t>
            </a:r>
          </a:p>
        </p:txBody>
      </p:sp>
      <p:sp>
        <p:nvSpPr>
          <p:cNvPr id="39" name="Shape 43">
            <a:extLst>
              <a:ext uri="{FF2B5EF4-FFF2-40B4-BE49-F238E27FC236}">
                <a16:creationId xmlns:a16="http://schemas.microsoft.com/office/drawing/2014/main" id="{1CD965CF-FC58-639F-E7CB-F936EDCB1414}"/>
              </a:ext>
            </a:extLst>
          </p:cNvPr>
          <p:cNvSpPr/>
          <p:nvPr/>
        </p:nvSpPr>
        <p:spPr>
          <a:xfrm>
            <a:off x="6845903" y="31265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Does Beem accept Acquirer Pre-Arbitration Response?</a:t>
            </a:r>
          </a:p>
        </p:txBody>
      </p:sp>
      <p:sp>
        <p:nvSpPr>
          <p:cNvPr id="35" name="Shape 43">
            <a:extLst>
              <a:ext uri="{FF2B5EF4-FFF2-40B4-BE49-F238E27FC236}">
                <a16:creationId xmlns:a16="http://schemas.microsoft.com/office/drawing/2014/main" id="{8D112495-0B39-C571-3266-5A9614E200A4}"/>
              </a:ext>
            </a:extLst>
          </p:cNvPr>
          <p:cNvSpPr/>
          <p:nvPr/>
        </p:nvSpPr>
        <p:spPr>
          <a:xfrm>
            <a:off x="5188815" y="31265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404040"/>
                </a:solidFill>
                <a:effectLst/>
                <a:uLnTx/>
                <a:uFillTx/>
                <a:latin typeface="Segoe UI"/>
                <a:ea typeface="+mn-ea"/>
                <a:cs typeface="+mn-cs"/>
              </a:rPr>
              <a:t>Acquirer accepts Pre-Arbitration Attempt?</a:t>
            </a:r>
          </a:p>
        </p:txBody>
      </p:sp>
      <p:sp>
        <p:nvSpPr>
          <p:cNvPr id="42" name="Shape 43">
            <a:extLst>
              <a:ext uri="{FF2B5EF4-FFF2-40B4-BE49-F238E27FC236}">
                <a16:creationId xmlns:a16="http://schemas.microsoft.com/office/drawing/2014/main" id="{79D41A92-86BE-A525-1217-C60E2AEC04CE}"/>
              </a:ext>
            </a:extLst>
          </p:cNvPr>
          <p:cNvSpPr/>
          <p:nvPr/>
        </p:nvSpPr>
        <p:spPr>
          <a:xfrm>
            <a:off x="10236749" y="31265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404040"/>
                </a:solidFill>
                <a:effectLst/>
                <a:uLnTx/>
                <a:uFillTx/>
                <a:latin typeface="Segoe UI"/>
                <a:ea typeface="+mn-ea"/>
                <a:cs typeface="+mn-cs"/>
              </a:rPr>
              <a:t>Visa rules in Beem's favor?</a:t>
            </a:r>
          </a:p>
        </p:txBody>
      </p:sp>
      <p:sp>
        <p:nvSpPr>
          <p:cNvPr id="45" name="fx413">
            <a:extLst>
              <a:ext uri="{FF2B5EF4-FFF2-40B4-BE49-F238E27FC236}">
                <a16:creationId xmlns:a16="http://schemas.microsoft.com/office/drawing/2014/main" id="{CFF7D82E-6183-24E3-D08B-4F9A6CFB9F27}"/>
              </a:ext>
            </a:extLst>
          </p:cNvPr>
          <p:cNvSpPr/>
          <p:nvPr/>
        </p:nvSpPr>
        <p:spPr>
          <a:xfrm>
            <a:off x="3567727" y="3200849"/>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Beem responds to Acquirer’s by submitting a Pre-Arbitration Attempt</a:t>
            </a:r>
          </a:p>
        </p:txBody>
      </p:sp>
      <p:sp>
        <p:nvSpPr>
          <p:cNvPr id="46" name="fx413">
            <a:extLst>
              <a:ext uri="{FF2B5EF4-FFF2-40B4-BE49-F238E27FC236}">
                <a16:creationId xmlns:a16="http://schemas.microsoft.com/office/drawing/2014/main" id="{F045DC10-0F0F-E503-FB46-061A3E4596CE}"/>
              </a:ext>
            </a:extLst>
          </p:cNvPr>
          <p:cNvSpPr/>
          <p:nvPr/>
        </p:nvSpPr>
        <p:spPr>
          <a:xfrm>
            <a:off x="10254749" y="1938151"/>
            <a:ext cx="1260000" cy="720000"/>
          </a:xfrm>
          <a:prstGeom prst="roundRect">
            <a:avLst/>
          </a:prstGeom>
          <a:no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Determine whether liability rests with Beem or the member and record the outcome</a:t>
            </a:r>
          </a:p>
        </p:txBody>
      </p:sp>
      <p:grpSp>
        <p:nvGrpSpPr>
          <p:cNvPr id="48" name="Group 47">
            <a:extLst>
              <a:ext uri="{FF2B5EF4-FFF2-40B4-BE49-F238E27FC236}">
                <a16:creationId xmlns:a16="http://schemas.microsoft.com/office/drawing/2014/main" id="{7389D8F8-DAFC-738A-8740-F23BA0B27511}"/>
              </a:ext>
            </a:extLst>
          </p:cNvPr>
          <p:cNvGrpSpPr/>
          <p:nvPr/>
        </p:nvGrpSpPr>
        <p:grpSpPr>
          <a:xfrm>
            <a:off x="11399857" y="1824168"/>
            <a:ext cx="252000" cy="252000"/>
            <a:chOff x="10225008" y="2189338"/>
            <a:chExt cx="252000" cy="252000"/>
          </a:xfrm>
        </p:grpSpPr>
        <p:sp>
          <p:nvSpPr>
            <p:cNvPr id="50" name="hoff960">
              <a:extLst>
                <a:ext uri="{FF2B5EF4-FFF2-40B4-BE49-F238E27FC236}">
                  <a16:creationId xmlns:a16="http://schemas.microsoft.com/office/drawing/2014/main" id="{F26B3743-6EB3-B0FA-CF34-5788DE2A3CB1}"/>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51" name="hoffa961">
              <a:extLst>
                <a:ext uri="{FF2B5EF4-FFF2-40B4-BE49-F238E27FC236}">
                  <a16:creationId xmlns:a16="http://schemas.microsoft.com/office/drawing/2014/main" id="{1A9F698A-D87A-9BEE-E46A-DE77DC7BA87C}"/>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54" name="fx413">
            <a:extLst>
              <a:ext uri="{FF2B5EF4-FFF2-40B4-BE49-F238E27FC236}">
                <a16:creationId xmlns:a16="http://schemas.microsoft.com/office/drawing/2014/main" id="{41F89892-EBED-0113-0997-E19BABE59675}"/>
              </a:ext>
            </a:extLst>
          </p:cNvPr>
          <p:cNvSpPr/>
          <p:nvPr/>
        </p:nvSpPr>
        <p:spPr>
          <a:xfrm>
            <a:off x="10254749" y="4416341"/>
            <a:ext cx="1260000" cy="720000"/>
          </a:xfrm>
          <a:prstGeom prst="roundRect">
            <a:avLst/>
          </a:prstGeom>
          <a:no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Acquirer determined liable; record outcome in system</a:t>
            </a:r>
            <a:endParaRPr kumimoji="0" lang="en-CA" sz="900" b="1" i="0" u="none" strike="noStrike" kern="1200" cap="none" spc="0" normalizeH="0" baseline="0" noProof="0">
              <a:ln>
                <a:noFill/>
              </a:ln>
              <a:solidFill>
                <a:srgbClr val="404040"/>
              </a:solidFill>
              <a:effectLst/>
              <a:uLnTx/>
              <a:uFillTx/>
              <a:latin typeface="Segoe UI"/>
              <a:ea typeface="+mn-ea"/>
              <a:cs typeface="+mn-cs"/>
            </a:endParaRPr>
          </a:p>
        </p:txBody>
      </p:sp>
      <p:grpSp>
        <p:nvGrpSpPr>
          <p:cNvPr id="55" name="Group 54">
            <a:extLst>
              <a:ext uri="{FF2B5EF4-FFF2-40B4-BE49-F238E27FC236}">
                <a16:creationId xmlns:a16="http://schemas.microsoft.com/office/drawing/2014/main" id="{1E323CF2-D463-6EA6-D023-3B08DA808EFA}"/>
              </a:ext>
            </a:extLst>
          </p:cNvPr>
          <p:cNvGrpSpPr/>
          <p:nvPr/>
        </p:nvGrpSpPr>
        <p:grpSpPr>
          <a:xfrm>
            <a:off x="11399857" y="4302358"/>
            <a:ext cx="252000" cy="252000"/>
            <a:chOff x="10225008" y="2189338"/>
            <a:chExt cx="252000" cy="252000"/>
          </a:xfrm>
        </p:grpSpPr>
        <p:sp>
          <p:nvSpPr>
            <p:cNvPr id="56" name="hoff960">
              <a:extLst>
                <a:ext uri="{FF2B5EF4-FFF2-40B4-BE49-F238E27FC236}">
                  <a16:creationId xmlns:a16="http://schemas.microsoft.com/office/drawing/2014/main" id="{F6E8903B-0FD8-6DC1-1A99-5DF15170B335}"/>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57" name="hoffa961">
              <a:extLst>
                <a:ext uri="{FF2B5EF4-FFF2-40B4-BE49-F238E27FC236}">
                  <a16:creationId xmlns:a16="http://schemas.microsoft.com/office/drawing/2014/main" id="{95CCDE6C-42E7-2592-5BCC-AFE4575F138A}"/>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cxnSp>
        <p:nvCxnSpPr>
          <p:cNvPr id="58" name="ar433">
            <a:extLst>
              <a:ext uri="{FF2B5EF4-FFF2-40B4-BE49-F238E27FC236}">
                <a16:creationId xmlns:a16="http://schemas.microsoft.com/office/drawing/2014/main" id="{6F59CFB4-78D8-1D63-BC88-92FF0051D7DE}"/>
              </a:ext>
            </a:extLst>
          </p:cNvPr>
          <p:cNvCxnSpPr>
            <a:cxnSpLocks/>
            <a:stCxn id="30" idx="2"/>
            <a:endCxn id="28" idx="0"/>
          </p:cNvCxnSpPr>
          <p:nvPr/>
        </p:nvCxnSpPr>
        <p:spPr>
          <a:xfrm>
            <a:off x="901551" y="2694771"/>
            <a:ext cx="0" cy="431738"/>
          </a:xfrm>
          <a:prstGeom prst="straightConnector1">
            <a:avLst/>
          </a:prstGeom>
          <a:ln w="19050">
            <a:solidFill>
              <a:srgbClr val="9B9B9B"/>
            </a:solidFill>
            <a:tailEnd type="triangle" w="med" len="med"/>
          </a:ln>
          <a:effectLst/>
        </p:spPr>
      </p:cxnSp>
      <p:cxnSp>
        <p:nvCxnSpPr>
          <p:cNvPr id="63" name="ar433">
            <a:extLst>
              <a:ext uri="{FF2B5EF4-FFF2-40B4-BE49-F238E27FC236}">
                <a16:creationId xmlns:a16="http://schemas.microsoft.com/office/drawing/2014/main" id="{221B9C2F-DF54-0A1D-FAA9-77D125A0C119}"/>
              </a:ext>
            </a:extLst>
          </p:cNvPr>
          <p:cNvCxnSpPr>
            <a:cxnSpLocks/>
            <a:stCxn id="45" idx="2"/>
            <a:endCxn id="451" idx="0"/>
          </p:cNvCxnSpPr>
          <p:nvPr/>
        </p:nvCxnSpPr>
        <p:spPr>
          <a:xfrm>
            <a:off x="4197727" y="3920849"/>
            <a:ext cx="0" cy="413872"/>
          </a:xfrm>
          <a:prstGeom prst="straightConnector1">
            <a:avLst/>
          </a:prstGeom>
          <a:ln w="19050">
            <a:solidFill>
              <a:srgbClr val="9B9B9B"/>
            </a:solidFill>
            <a:tailEnd type="triangle" w="med" len="med"/>
          </a:ln>
          <a:effectLst/>
        </p:spPr>
      </p:cxnSp>
      <p:sp>
        <p:nvSpPr>
          <p:cNvPr id="34" name="TextBox 33">
            <a:extLst>
              <a:ext uri="{FF2B5EF4-FFF2-40B4-BE49-F238E27FC236}">
                <a16:creationId xmlns:a16="http://schemas.microsoft.com/office/drawing/2014/main" id="{2C86E09C-4585-87DB-F7F5-412365D1F366}"/>
              </a:ext>
            </a:extLst>
          </p:cNvPr>
          <p:cNvSpPr txBox="1"/>
          <p:nvPr/>
        </p:nvSpPr>
        <p:spPr>
          <a:xfrm>
            <a:off x="686445" y="3929252"/>
            <a:ext cx="430212" cy="210312"/>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36" name="TextBox 35">
            <a:extLst>
              <a:ext uri="{FF2B5EF4-FFF2-40B4-BE49-F238E27FC236}">
                <a16:creationId xmlns:a16="http://schemas.microsoft.com/office/drawing/2014/main" id="{43316ABC-5A3C-ADFA-39AC-DBB38A580C92}"/>
              </a:ext>
            </a:extLst>
          </p:cNvPr>
          <p:cNvSpPr txBox="1"/>
          <p:nvPr/>
        </p:nvSpPr>
        <p:spPr>
          <a:xfrm>
            <a:off x="5621709" y="3929252"/>
            <a:ext cx="430212" cy="210312"/>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49" name="TextBox 48">
            <a:extLst>
              <a:ext uri="{FF2B5EF4-FFF2-40B4-BE49-F238E27FC236}">
                <a16:creationId xmlns:a16="http://schemas.microsoft.com/office/drawing/2014/main" id="{59B86B4B-CB53-08E5-3EBB-4418B5D52473}"/>
              </a:ext>
            </a:extLst>
          </p:cNvPr>
          <p:cNvSpPr txBox="1"/>
          <p:nvPr/>
        </p:nvSpPr>
        <p:spPr>
          <a:xfrm>
            <a:off x="2343533" y="2982134"/>
            <a:ext cx="430212" cy="210312"/>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38" name="TextBox 37">
            <a:extLst>
              <a:ext uri="{FF2B5EF4-FFF2-40B4-BE49-F238E27FC236}">
                <a16:creationId xmlns:a16="http://schemas.microsoft.com/office/drawing/2014/main" id="{754C675F-515E-0320-6D7C-4BEA46A88443}"/>
              </a:ext>
            </a:extLst>
          </p:cNvPr>
          <p:cNvSpPr txBox="1"/>
          <p:nvPr/>
        </p:nvSpPr>
        <p:spPr>
          <a:xfrm>
            <a:off x="6357940" y="3454666"/>
            <a:ext cx="252000" cy="212366"/>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00000"/>
                </a:solidFill>
                <a:effectLst/>
                <a:uLnTx/>
                <a:uFillTx/>
                <a:latin typeface="Segoe UI"/>
                <a:ea typeface="+mn-ea"/>
                <a:cs typeface="+mn-cs"/>
              </a:rPr>
              <a:t>No</a:t>
            </a:r>
          </a:p>
        </p:txBody>
      </p:sp>
      <p:sp>
        <p:nvSpPr>
          <p:cNvPr id="17" name="TextBox 16">
            <a:extLst>
              <a:ext uri="{FF2B5EF4-FFF2-40B4-BE49-F238E27FC236}">
                <a16:creationId xmlns:a16="http://schemas.microsoft.com/office/drawing/2014/main" id="{AC1C487F-E058-D444-44C6-A5144DB7AE4E}"/>
              </a:ext>
            </a:extLst>
          </p:cNvPr>
          <p:cNvSpPr txBox="1"/>
          <p:nvPr/>
        </p:nvSpPr>
        <p:spPr>
          <a:xfrm>
            <a:off x="7278797" y="2982134"/>
            <a:ext cx="430212" cy="210312"/>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20" name="TextBox 19">
            <a:extLst>
              <a:ext uri="{FF2B5EF4-FFF2-40B4-BE49-F238E27FC236}">
                <a16:creationId xmlns:a16="http://schemas.microsoft.com/office/drawing/2014/main" id="{0404BACA-FACD-9AF5-F0FD-60D9950210CA}"/>
              </a:ext>
            </a:extLst>
          </p:cNvPr>
          <p:cNvSpPr txBox="1"/>
          <p:nvPr/>
        </p:nvSpPr>
        <p:spPr>
          <a:xfrm>
            <a:off x="8015028" y="3454666"/>
            <a:ext cx="252000" cy="212366"/>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00000"/>
                </a:solidFill>
                <a:effectLst/>
                <a:uLnTx/>
                <a:uFillTx/>
                <a:latin typeface="Segoe UI"/>
                <a:ea typeface="+mn-ea"/>
                <a:cs typeface="+mn-cs"/>
              </a:rPr>
              <a:t>No</a:t>
            </a:r>
          </a:p>
        </p:txBody>
      </p:sp>
      <p:sp>
        <p:nvSpPr>
          <p:cNvPr id="451" name="fx413">
            <a:extLst>
              <a:ext uri="{FF2B5EF4-FFF2-40B4-BE49-F238E27FC236}">
                <a16:creationId xmlns:a16="http://schemas.microsoft.com/office/drawing/2014/main" id="{3DBB23B4-1BF9-2277-C104-291F0378F266}"/>
              </a:ext>
            </a:extLst>
          </p:cNvPr>
          <p:cNvSpPr/>
          <p:nvPr/>
        </p:nvSpPr>
        <p:spPr>
          <a:xfrm>
            <a:off x="3567727" y="4334721"/>
            <a:ext cx="1260000" cy="720000"/>
          </a:xfrm>
          <a:prstGeom prst="roundRect">
            <a:avLst/>
          </a:prstGeom>
          <a:solidFill>
            <a:srgbClr val="EDDBFB">
              <a:alpha val="56863"/>
            </a:srgbClr>
          </a:solidFill>
          <a:ln w="12700">
            <a:solidFill>
              <a:schemeClr val="accent1"/>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Send missing information request to Growth Team</a:t>
            </a:r>
          </a:p>
        </p:txBody>
      </p:sp>
      <p:cxnSp>
        <p:nvCxnSpPr>
          <p:cNvPr id="454" name="ar433">
            <a:extLst>
              <a:ext uri="{FF2B5EF4-FFF2-40B4-BE49-F238E27FC236}">
                <a16:creationId xmlns:a16="http://schemas.microsoft.com/office/drawing/2014/main" id="{3F1D6789-79EB-AFF4-FCE8-AB8ABE2C9787}"/>
              </a:ext>
            </a:extLst>
          </p:cNvPr>
          <p:cNvCxnSpPr>
            <a:cxnSpLocks/>
            <a:stCxn id="25" idx="3"/>
            <a:endCxn id="32" idx="1"/>
          </p:cNvCxnSpPr>
          <p:nvPr/>
        </p:nvCxnSpPr>
        <p:spPr>
          <a:xfrm>
            <a:off x="1674676" y="3560849"/>
            <a:ext cx="235963" cy="0"/>
          </a:xfrm>
          <a:prstGeom prst="straightConnector1">
            <a:avLst/>
          </a:prstGeom>
          <a:ln w="19050">
            <a:solidFill>
              <a:srgbClr val="9B9B9B"/>
            </a:solidFill>
            <a:tailEnd type="triangle" w="med" len="med"/>
          </a:ln>
          <a:effectLst/>
        </p:spPr>
      </p:cxnSp>
      <p:cxnSp>
        <p:nvCxnSpPr>
          <p:cNvPr id="457" name="ar433">
            <a:extLst>
              <a:ext uri="{FF2B5EF4-FFF2-40B4-BE49-F238E27FC236}">
                <a16:creationId xmlns:a16="http://schemas.microsoft.com/office/drawing/2014/main" id="{5FB02B42-5691-16D7-E3E1-95FC57112967}"/>
              </a:ext>
            </a:extLst>
          </p:cNvPr>
          <p:cNvCxnSpPr>
            <a:cxnSpLocks/>
            <a:stCxn id="47" idx="3"/>
            <a:endCxn id="45" idx="1"/>
          </p:cNvCxnSpPr>
          <p:nvPr/>
        </p:nvCxnSpPr>
        <p:spPr>
          <a:xfrm>
            <a:off x="3331764" y="3560849"/>
            <a:ext cx="235963" cy="0"/>
          </a:xfrm>
          <a:prstGeom prst="straightConnector1">
            <a:avLst/>
          </a:prstGeom>
          <a:ln w="19050">
            <a:solidFill>
              <a:srgbClr val="9B9B9B"/>
            </a:solidFill>
            <a:tailEnd type="triangle" w="med" len="med"/>
          </a:ln>
        </p:spPr>
      </p:cxnSp>
      <p:cxnSp>
        <p:nvCxnSpPr>
          <p:cNvPr id="460" name="ar433">
            <a:extLst>
              <a:ext uri="{FF2B5EF4-FFF2-40B4-BE49-F238E27FC236}">
                <a16:creationId xmlns:a16="http://schemas.microsoft.com/office/drawing/2014/main" id="{DCEDD612-9C7A-FC13-0337-FF18E89D48E3}"/>
              </a:ext>
            </a:extLst>
          </p:cNvPr>
          <p:cNvCxnSpPr>
            <a:cxnSpLocks/>
            <a:stCxn id="45" idx="3"/>
            <a:endCxn id="35" idx="1"/>
          </p:cNvCxnSpPr>
          <p:nvPr/>
        </p:nvCxnSpPr>
        <p:spPr>
          <a:xfrm>
            <a:off x="4827727" y="3560849"/>
            <a:ext cx="361088" cy="0"/>
          </a:xfrm>
          <a:prstGeom prst="straightConnector1">
            <a:avLst/>
          </a:prstGeom>
          <a:ln w="19050">
            <a:solidFill>
              <a:srgbClr val="9B9B9B"/>
            </a:solidFill>
            <a:tailEnd type="triangle" w="med" len="med"/>
          </a:ln>
          <a:effectLst/>
        </p:spPr>
      </p:cxnSp>
      <p:cxnSp>
        <p:nvCxnSpPr>
          <p:cNvPr id="464" name="ar433">
            <a:extLst>
              <a:ext uri="{FF2B5EF4-FFF2-40B4-BE49-F238E27FC236}">
                <a16:creationId xmlns:a16="http://schemas.microsoft.com/office/drawing/2014/main" id="{678E5779-F2DB-3305-B77D-E2040DFACDDB}"/>
              </a:ext>
            </a:extLst>
          </p:cNvPr>
          <p:cNvCxnSpPr>
            <a:cxnSpLocks/>
            <a:stCxn id="38" idx="3"/>
            <a:endCxn id="39" idx="1"/>
          </p:cNvCxnSpPr>
          <p:nvPr/>
        </p:nvCxnSpPr>
        <p:spPr>
          <a:xfrm>
            <a:off x="6609940" y="3560849"/>
            <a:ext cx="235963" cy="0"/>
          </a:xfrm>
          <a:prstGeom prst="straightConnector1">
            <a:avLst/>
          </a:prstGeom>
          <a:ln w="19050">
            <a:solidFill>
              <a:srgbClr val="9B9B9B"/>
            </a:solidFill>
            <a:tailEnd type="triangle" w="med" len="med"/>
          </a:ln>
          <a:effectLst/>
        </p:spPr>
      </p:cxnSp>
      <p:cxnSp>
        <p:nvCxnSpPr>
          <p:cNvPr id="467" name="ar433">
            <a:extLst>
              <a:ext uri="{FF2B5EF4-FFF2-40B4-BE49-F238E27FC236}">
                <a16:creationId xmlns:a16="http://schemas.microsoft.com/office/drawing/2014/main" id="{5D526FFD-9C00-844A-6DEC-B56BDA9AEB3E}"/>
              </a:ext>
            </a:extLst>
          </p:cNvPr>
          <p:cNvCxnSpPr>
            <a:cxnSpLocks/>
            <a:stCxn id="20" idx="3"/>
            <a:endCxn id="23" idx="1"/>
          </p:cNvCxnSpPr>
          <p:nvPr/>
        </p:nvCxnSpPr>
        <p:spPr>
          <a:xfrm>
            <a:off x="8267028" y="3560849"/>
            <a:ext cx="235963" cy="0"/>
          </a:xfrm>
          <a:prstGeom prst="straightConnector1">
            <a:avLst/>
          </a:prstGeom>
          <a:ln w="19050">
            <a:solidFill>
              <a:srgbClr val="9B9B9B"/>
            </a:solidFill>
            <a:tailEnd type="triangle" w="med" len="med"/>
          </a:ln>
        </p:spPr>
      </p:cxnSp>
      <p:cxnSp>
        <p:nvCxnSpPr>
          <p:cNvPr id="470" name="ar433">
            <a:extLst>
              <a:ext uri="{FF2B5EF4-FFF2-40B4-BE49-F238E27FC236}">
                <a16:creationId xmlns:a16="http://schemas.microsoft.com/office/drawing/2014/main" id="{DC564634-5480-5919-88B0-14692ED4F5C7}"/>
              </a:ext>
            </a:extLst>
          </p:cNvPr>
          <p:cNvCxnSpPr>
            <a:cxnSpLocks/>
            <a:stCxn id="23" idx="3"/>
            <a:endCxn id="42" idx="1"/>
          </p:cNvCxnSpPr>
          <p:nvPr/>
        </p:nvCxnSpPr>
        <p:spPr>
          <a:xfrm>
            <a:off x="9898517" y="3560849"/>
            <a:ext cx="338232" cy="0"/>
          </a:xfrm>
          <a:prstGeom prst="straightConnector1">
            <a:avLst/>
          </a:prstGeom>
          <a:ln w="19050">
            <a:solidFill>
              <a:srgbClr val="9B9B9B"/>
            </a:solidFill>
            <a:tailEnd type="triangle" w="med" len="med"/>
          </a:ln>
        </p:spPr>
      </p:cxnSp>
      <p:sp>
        <p:nvSpPr>
          <p:cNvPr id="474" name="TextBox 473">
            <a:extLst>
              <a:ext uri="{FF2B5EF4-FFF2-40B4-BE49-F238E27FC236}">
                <a16:creationId xmlns:a16="http://schemas.microsoft.com/office/drawing/2014/main" id="{C3E5989C-DAC1-AE64-4D61-E247CD7D1251}"/>
              </a:ext>
            </a:extLst>
          </p:cNvPr>
          <p:cNvSpPr txBox="1"/>
          <p:nvPr/>
        </p:nvSpPr>
        <p:spPr>
          <a:xfrm>
            <a:off x="10758749" y="2956263"/>
            <a:ext cx="252000" cy="212366"/>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00000"/>
                </a:solidFill>
                <a:effectLst/>
                <a:uLnTx/>
                <a:uFillTx/>
                <a:latin typeface="Segoe UI"/>
                <a:ea typeface="+mn-ea"/>
                <a:cs typeface="+mn-cs"/>
              </a:rPr>
              <a:t>No</a:t>
            </a:r>
          </a:p>
        </p:txBody>
      </p:sp>
      <p:sp>
        <p:nvSpPr>
          <p:cNvPr id="476" name="TextBox 475">
            <a:extLst>
              <a:ext uri="{FF2B5EF4-FFF2-40B4-BE49-F238E27FC236}">
                <a16:creationId xmlns:a16="http://schemas.microsoft.com/office/drawing/2014/main" id="{7D44490C-439E-B0D8-B760-ABF50360B087}"/>
              </a:ext>
            </a:extLst>
          </p:cNvPr>
          <p:cNvSpPr txBox="1"/>
          <p:nvPr/>
        </p:nvSpPr>
        <p:spPr>
          <a:xfrm>
            <a:off x="10669643" y="3929252"/>
            <a:ext cx="430212" cy="210312"/>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cxnSp>
        <p:nvCxnSpPr>
          <p:cNvPr id="477" name="ar433">
            <a:extLst>
              <a:ext uri="{FF2B5EF4-FFF2-40B4-BE49-F238E27FC236}">
                <a16:creationId xmlns:a16="http://schemas.microsoft.com/office/drawing/2014/main" id="{FFB5F7F4-B21D-634E-0F7A-93030932FB3A}"/>
              </a:ext>
            </a:extLst>
          </p:cNvPr>
          <p:cNvCxnSpPr>
            <a:cxnSpLocks/>
            <a:stCxn id="474" idx="0"/>
            <a:endCxn id="46" idx="2"/>
          </p:cNvCxnSpPr>
          <p:nvPr/>
        </p:nvCxnSpPr>
        <p:spPr>
          <a:xfrm flipV="1">
            <a:off x="10884749" y="2658151"/>
            <a:ext cx="0" cy="298112"/>
          </a:xfrm>
          <a:prstGeom prst="straightConnector1">
            <a:avLst/>
          </a:prstGeom>
          <a:ln w="19050">
            <a:solidFill>
              <a:srgbClr val="9B9B9B"/>
            </a:solidFill>
            <a:tailEnd type="triangle" w="med" len="med"/>
          </a:ln>
          <a:effectLst/>
        </p:spPr>
      </p:cxnSp>
      <p:cxnSp>
        <p:nvCxnSpPr>
          <p:cNvPr id="480" name="ar433">
            <a:extLst>
              <a:ext uri="{FF2B5EF4-FFF2-40B4-BE49-F238E27FC236}">
                <a16:creationId xmlns:a16="http://schemas.microsoft.com/office/drawing/2014/main" id="{94674BDA-78EC-6050-E50F-49B6021340F5}"/>
              </a:ext>
            </a:extLst>
          </p:cNvPr>
          <p:cNvCxnSpPr>
            <a:cxnSpLocks/>
            <a:stCxn id="476" idx="2"/>
            <a:endCxn id="54" idx="0"/>
          </p:cNvCxnSpPr>
          <p:nvPr/>
        </p:nvCxnSpPr>
        <p:spPr>
          <a:xfrm>
            <a:off x="10884749" y="4139564"/>
            <a:ext cx="0" cy="276777"/>
          </a:xfrm>
          <a:prstGeom prst="straightConnector1">
            <a:avLst/>
          </a:prstGeom>
          <a:ln w="19050">
            <a:solidFill>
              <a:srgbClr val="9B9B9B"/>
            </a:solidFill>
            <a:tailEnd type="triangle" w="med" len="med"/>
          </a:ln>
          <a:effectLst/>
        </p:spPr>
      </p:cxnSp>
      <p:cxnSp>
        <p:nvCxnSpPr>
          <p:cNvPr id="490" name="Elbow Connector 925">
            <a:extLst>
              <a:ext uri="{FF2B5EF4-FFF2-40B4-BE49-F238E27FC236}">
                <a16:creationId xmlns:a16="http://schemas.microsoft.com/office/drawing/2014/main" id="{FCCE7E4E-5341-3F83-4780-23C88004167B}"/>
              </a:ext>
            </a:extLst>
          </p:cNvPr>
          <p:cNvCxnSpPr>
            <a:cxnSpLocks/>
            <a:stCxn id="34" idx="2"/>
            <a:endCxn id="54" idx="2"/>
          </p:cNvCxnSpPr>
          <p:nvPr/>
        </p:nvCxnSpPr>
        <p:spPr>
          <a:xfrm rot="16200000" flipH="1">
            <a:off x="5394762" y="-353647"/>
            <a:ext cx="996777" cy="9983198"/>
          </a:xfrm>
          <a:prstGeom prst="bentConnector3">
            <a:avLst>
              <a:gd name="adj1" fmla="val 166388"/>
            </a:avLst>
          </a:prstGeom>
          <a:ln w="19050">
            <a:solidFill>
              <a:srgbClr val="9B9B9B"/>
            </a:solidFill>
            <a:tailEnd type="triangle" w="med" len="med"/>
          </a:ln>
          <a:effectLst/>
        </p:spPr>
      </p:cxnSp>
      <p:cxnSp>
        <p:nvCxnSpPr>
          <p:cNvPr id="494" name="Elbow Connector 925">
            <a:extLst>
              <a:ext uri="{FF2B5EF4-FFF2-40B4-BE49-F238E27FC236}">
                <a16:creationId xmlns:a16="http://schemas.microsoft.com/office/drawing/2014/main" id="{F4C3011E-7BDA-DDF4-BB62-D4CCA54D90CA}"/>
              </a:ext>
            </a:extLst>
          </p:cNvPr>
          <p:cNvCxnSpPr>
            <a:cxnSpLocks/>
            <a:stCxn id="49" idx="0"/>
            <a:endCxn id="46" idx="1"/>
          </p:cNvCxnSpPr>
          <p:nvPr/>
        </p:nvCxnSpPr>
        <p:spPr>
          <a:xfrm rot="5400000" flipH="1" flipV="1">
            <a:off x="6064703" y="-1207912"/>
            <a:ext cx="683983" cy="7696110"/>
          </a:xfrm>
          <a:prstGeom prst="bentConnector2">
            <a:avLst/>
          </a:prstGeom>
          <a:ln w="19050">
            <a:solidFill>
              <a:srgbClr val="9B9B9B"/>
            </a:solidFill>
            <a:tailEnd type="triangle" w="med" len="med"/>
          </a:ln>
          <a:effectLst/>
        </p:spPr>
      </p:cxnSp>
      <p:cxnSp>
        <p:nvCxnSpPr>
          <p:cNvPr id="497" name="ar433">
            <a:extLst>
              <a:ext uri="{FF2B5EF4-FFF2-40B4-BE49-F238E27FC236}">
                <a16:creationId xmlns:a16="http://schemas.microsoft.com/office/drawing/2014/main" id="{B24A1F2A-BDAF-3291-1B64-1B42583B8CA9}"/>
              </a:ext>
            </a:extLst>
          </p:cNvPr>
          <p:cNvCxnSpPr>
            <a:cxnSpLocks/>
            <a:stCxn id="36" idx="2"/>
          </p:cNvCxnSpPr>
          <p:nvPr/>
        </p:nvCxnSpPr>
        <p:spPr>
          <a:xfrm>
            <a:off x="5836815" y="4139564"/>
            <a:ext cx="0" cy="1672190"/>
          </a:xfrm>
          <a:prstGeom prst="straightConnector1">
            <a:avLst/>
          </a:prstGeom>
          <a:ln w="19050">
            <a:solidFill>
              <a:srgbClr val="9B9B9B"/>
            </a:solidFill>
            <a:tailEnd type="none" w="med" len="med"/>
          </a:ln>
          <a:effectLst/>
        </p:spPr>
      </p:cxnSp>
      <p:cxnSp>
        <p:nvCxnSpPr>
          <p:cNvPr id="500" name="ar433">
            <a:extLst>
              <a:ext uri="{FF2B5EF4-FFF2-40B4-BE49-F238E27FC236}">
                <a16:creationId xmlns:a16="http://schemas.microsoft.com/office/drawing/2014/main" id="{E5424A76-C353-55C0-1FCB-A4775E70E353}"/>
              </a:ext>
            </a:extLst>
          </p:cNvPr>
          <p:cNvCxnSpPr>
            <a:cxnSpLocks/>
            <a:endCxn id="17" idx="0"/>
          </p:cNvCxnSpPr>
          <p:nvPr/>
        </p:nvCxnSpPr>
        <p:spPr>
          <a:xfrm>
            <a:off x="7493903" y="2298151"/>
            <a:ext cx="0" cy="683983"/>
          </a:xfrm>
          <a:prstGeom prst="straightConnector1">
            <a:avLst/>
          </a:prstGeom>
          <a:ln w="19050">
            <a:solidFill>
              <a:srgbClr val="9B9B9B"/>
            </a:solidFill>
            <a:tailEnd type="none" w="med" len="med"/>
          </a:ln>
          <a:effectLst/>
        </p:spPr>
      </p:cxnSp>
      <p:sp>
        <p:nvSpPr>
          <p:cNvPr id="505" name="TextBox 504">
            <a:extLst>
              <a:ext uri="{FF2B5EF4-FFF2-40B4-BE49-F238E27FC236}">
                <a16:creationId xmlns:a16="http://schemas.microsoft.com/office/drawing/2014/main" id="{CCDDE6B1-C4DE-9627-AF8A-684D702FC014}"/>
              </a:ext>
            </a:extLst>
          </p:cNvPr>
          <p:cNvSpPr txBox="1"/>
          <p:nvPr/>
        </p:nvSpPr>
        <p:spPr>
          <a:xfrm>
            <a:off x="1088781" y="3091264"/>
            <a:ext cx="822111" cy="289310"/>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700" b="0" i="1" u="none" strike="noStrike" kern="1200" cap="none" spc="0" normalizeH="0" baseline="0" noProof="0">
                <a:ln>
                  <a:noFill/>
                </a:ln>
                <a:solidFill>
                  <a:srgbClr val="404040"/>
                </a:solidFill>
                <a:effectLst/>
                <a:uLnTx/>
                <a:uFillTx/>
                <a:latin typeface="Segoe UI"/>
                <a:ea typeface="+mn-ea"/>
                <a:cs typeface="+mn-cs"/>
              </a:rPr>
              <a:t>Dispute Response: 30 days</a:t>
            </a:r>
          </a:p>
        </p:txBody>
      </p:sp>
      <p:sp>
        <p:nvSpPr>
          <p:cNvPr id="507" name="TextBox 506">
            <a:extLst>
              <a:ext uri="{FF2B5EF4-FFF2-40B4-BE49-F238E27FC236}">
                <a16:creationId xmlns:a16="http://schemas.microsoft.com/office/drawing/2014/main" id="{3C70A0EB-C4DB-99EF-1760-36DCB6D6A07C}"/>
              </a:ext>
            </a:extLst>
          </p:cNvPr>
          <p:cNvSpPr txBox="1"/>
          <p:nvPr/>
        </p:nvSpPr>
        <p:spPr>
          <a:xfrm>
            <a:off x="3794540" y="2853687"/>
            <a:ext cx="892856" cy="289310"/>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700" b="0" i="1" u="none" strike="noStrike" kern="1200" cap="none" spc="0" normalizeH="0" baseline="0" noProof="0">
                <a:ln>
                  <a:noFill/>
                </a:ln>
                <a:solidFill>
                  <a:srgbClr val="404040"/>
                </a:solidFill>
                <a:effectLst/>
                <a:uLnTx/>
                <a:uFillTx/>
                <a:latin typeface="Segoe UI"/>
                <a:ea typeface="+mn-ea"/>
                <a:cs typeface="+mn-cs"/>
              </a:rPr>
              <a:t>Pre-Arbitration Attempt: 30 days</a:t>
            </a:r>
          </a:p>
        </p:txBody>
      </p:sp>
      <p:sp>
        <p:nvSpPr>
          <p:cNvPr id="509" name="TextBox 508">
            <a:extLst>
              <a:ext uri="{FF2B5EF4-FFF2-40B4-BE49-F238E27FC236}">
                <a16:creationId xmlns:a16="http://schemas.microsoft.com/office/drawing/2014/main" id="{36244F5D-C12C-C681-387F-FAB5C4E1A819}"/>
              </a:ext>
            </a:extLst>
          </p:cNvPr>
          <p:cNvSpPr txBox="1"/>
          <p:nvPr/>
        </p:nvSpPr>
        <p:spPr>
          <a:xfrm>
            <a:off x="6060909" y="3091264"/>
            <a:ext cx="892800" cy="272821"/>
          </a:xfrm>
          <a:prstGeom prst="rect">
            <a:avLst/>
          </a:prstGeom>
          <a:noFill/>
        </p:spPr>
        <p:txBody>
          <a:bodyPr wrap="square" lIns="45720" tIns="36576" rIns="45720" bIns="36576"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700" b="0" i="1" u="none" strike="noStrike" kern="1200" cap="none" spc="0" normalizeH="0" baseline="0" noProof="0">
                <a:ln>
                  <a:noFill/>
                </a:ln>
                <a:solidFill>
                  <a:srgbClr val="404040"/>
                </a:solidFill>
                <a:effectLst/>
                <a:uLnTx/>
                <a:uFillTx/>
                <a:latin typeface="Segoe UI"/>
                <a:ea typeface="+mn-ea"/>
                <a:cs typeface="+mn-cs"/>
              </a:rPr>
              <a:t>Pre-Arbitration Response: 30 days</a:t>
            </a:r>
          </a:p>
        </p:txBody>
      </p:sp>
      <p:sp>
        <p:nvSpPr>
          <p:cNvPr id="511" name="TextBox 510">
            <a:extLst>
              <a:ext uri="{FF2B5EF4-FFF2-40B4-BE49-F238E27FC236}">
                <a16:creationId xmlns:a16="http://schemas.microsoft.com/office/drawing/2014/main" id="{17A09B70-6659-8D2D-7A38-699E16B63659}"/>
              </a:ext>
            </a:extLst>
          </p:cNvPr>
          <p:cNvSpPr txBox="1"/>
          <p:nvPr/>
        </p:nvSpPr>
        <p:spPr>
          <a:xfrm>
            <a:off x="8725185" y="2898315"/>
            <a:ext cx="951138" cy="200055"/>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700" b="0" i="1" u="none" strike="noStrike" kern="1200" cap="none" spc="0" normalizeH="0" baseline="0" noProof="0">
                <a:ln>
                  <a:noFill/>
                </a:ln>
                <a:solidFill>
                  <a:srgbClr val="404040"/>
                </a:solidFill>
                <a:effectLst/>
                <a:uLnTx/>
                <a:uFillTx/>
                <a:latin typeface="Segoe UI"/>
                <a:ea typeface="+mn-ea"/>
                <a:cs typeface="+mn-cs"/>
              </a:rPr>
              <a:t>Arbitration: 10 days</a:t>
            </a:r>
            <a:endParaRPr kumimoji="0" lang="en-US" sz="700" b="0" i="1" u="none" strike="noStrike" kern="1200" cap="none" spc="0" normalizeH="0" baseline="0" noProof="0">
              <a:ln>
                <a:noFill/>
              </a:ln>
              <a:solidFill>
                <a:srgbClr val="404040"/>
              </a:solidFill>
              <a:effectLst/>
              <a:uLnTx/>
              <a:uFillTx/>
              <a:latin typeface="Segoe UI"/>
              <a:ea typeface="+mn-ea"/>
              <a:cs typeface="+mn-cs"/>
            </a:endParaRPr>
          </a:p>
        </p:txBody>
      </p:sp>
      <p:sp>
        <p:nvSpPr>
          <p:cNvPr id="897" name="Clarifying Questions">
            <a:extLst>
              <a:ext uri="{FF2B5EF4-FFF2-40B4-BE49-F238E27FC236}">
                <a16:creationId xmlns:a16="http://schemas.microsoft.com/office/drawing/2014/main" id="{48C51E2C-3D3F-934A-F1B4-4575A86F5708}"/>
              </a:ext>
            </a:extLst>
          </p:cNvPr>
          <p:cNvSpPr/>
          <p:nvPr/>
        </p:nvSpPr>
        <p:spPr>
          <a:xfrm>
            <a:off x="137525" y="6275217"/>
            <a:ext cx="11290449" cy="516108"/>
          </a:xfrm>
          <a:prstGeom prst="roundRect">
            <a:avLst/>
          </a:prstGeom>
          <a:noFill/>
          <a:ln w="12700">
            <a:noFill/>
            <a:prstDash val="dash"/>
          </a:ln>
        </p:spPr>
        <p:txBody>
          <a:bodyPr lIns="91440" tIns="73152" rIns="91440" bIns="73152" anchor="ctr"/>
          <a:lstStyle/>
          <a:p>
            <a:pPr marL="0" marR="0" lvl="0" indent="0" algn="l" defTabSz="1219170" rtl="0" eaLnBrk="1" fontAlgn="auto" latinLnBrk="0" hangingPunct="1">
              <a:lnSpc>
                <a:spcPct val="100000"/>
              </a:lnSpc>
              <a:spcBef>
                <a:spcPts val="0"/>
              </a:spcBef>
              <a:spcAft>
                <a:spcPts val="300"/>
              </a:spcAft>
              <a:buClrTx/>
              <a:buSzPct val="100000"/>
              <a:buFontTx/>
              <a:buNone/>
              <a:tabLst/>
              <a:defRPr/>
            </a:pPr>
            <a:r>
              <a:rPr kumimoji="0" lang="en-US" sz="900" b="0" i="1" u="none" strike="noStrike" kern="1200" cap="none" spc="0" normalizeH="0" baseline="30000" noProof="0">
                <a:ln>
                  <a:noFill/>
                </a:ln>
                <a:solidFill>
                  <a:srgbClr val="53565A">
                    <a:lumMod val="75000"/>
                  </a:srgbClr>
                </a:solidFill>
                <a:effectLst/>
                <a:uLnTx/>
                <a:uFillTx/>
                <a:latin typeface="Segoe UI"/>
                <a:ea typeface="+mn-ea"/>
                <a:cs typeface="+mn-cs"/>
              </a:rPr>
              <a:t>1</a:t>
            </a:r>
            <a:r>
              <a:rPr kumimoji="0" lang="en-US" sz="900" b="0" i="1" u="none" strike="noStrike" kern="1200" cap="none" spc="0" normalizeH="0" baseline="0" noProof="0">
                <a:ln>
                  <a:noFill/>
                </a:ln>
                <a:solidFill>
                  <a:srgbClr val="53565A">
                    <a:lumMod val="75000"/>
                  </a:srgbClr>
                </a:solidFill>
                <a:effectLst/>
                <a:uLnTx/>
                <a:uFillTx/>
                <a:latin typeface="Segoe UI"/>
                <a:ea typeface="+mn-ea"/>
                <a:cs typeface="+mn-cs"/>
              </a:rPr>
              <a:t>Dispute processing steps vary by dispute type, and each escalation stage (e.g., pre-arbitration, arbitration) carries its own conditions that must be satisfied before the dispute can proceed.</a:t>
            </a:r>
          </a:p>
          <a:p>
            <a:pPr marL="0" marR="0" lvl="0" indent="0" algn="l" defTabSz="1219170" rtl="0" eaLnBrk="1" fontAlgn="auto" latinLnBrk="0" hangingPunct="1">
              <a:lnSpc>
                <a:spcPct val="100000"/>
              </a:lnSpc>
              <a:spcBef>
                <a:spcPts val="0"/>
              </a:spcBef>
              <a:spcAft>
                <a:spcPts val="300"/>
              </a:spcAft>
              <a:buClrTx/>
              <a:buSzPct val="100000"/>
              <a:buFontTx/>
              <a:buNone/>
              <a:tabLst/>
              <a:defRPr/>
            </a:pPr>
            <a:r>
              <a:rPr kumimoji="0" lang="en-US" sz="900" b="0" i="1" u="none" strike="noStrike" kern="1200" cap="none" spc="0" normalizeH="0" baseline="30000" noProof="0">
                <a:ln>
                  <a:noFill/>
                </a:ln>
                <a:solidFill>
                  <a:srgbClr val="53565A">
                    <a:lumMod val="75000"/>
                  </a:srgbClr>
                </a:solidFill>
                <a:effectLst/>
                <a:uLnTx/>
                <a:uFillTx/>
                <a:latin typeface="Segoe UI"/>
                <a:ea typeface="+mn-ea"/>
                <a:cs typeface="+mn-cs"/>
              </a:rPr>
              <a:t>2</a:t>
            </a:r>
            <a:r>
              <a:rPr kumimoji="0" lang="en-US" sz="900" b="0" i="1" u="none" strike="noStrike" kern="1200" cap="none" spc="0" normalizeH="0" baseline="0" noProof="0">
                <a:ln>
                  <a:noFill/>
                </a:ln>
                <a:solidFill>
                  <a:srgbClr val="53565A">
                    <a:lumMod val="75000"/>
                  </a:srgbClr>
                </a:solidFill>
                <a:effectLst/>
                <a:uLnTx/>
                <a:uFillTx/>
                <a:latin typeface="Segoe UI"/>
                <a:ea typeface="+mn-ea"/>
                <a:cs typeface="+mn-cs"/>
              </a:rPr>
              <a:t>Arbitration carries additional cost. Visa applies filing and review fees, so the expected recovery should be weighed against the cost and likelihood of success before Beem file.</a:t>
            </a:r>
          </a:p>
        </p:txBody>
      </p:sp>
      <p:sp>
        <p:nvSpPr>
          <p:cNvPr id="5" name="lg950">
            <a:extLst>
              <a:ext uri="{FF2B5EF4-FFF2-40B4-BE49-F238E27FC236}">
                <a16:creationId xmlns:a16="http://schemas.microsoft.com/office/drawing/2014/main" id="{48D308AF-5C1B-6044-F496-A4F01CDB056A}"/>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6" name="lg951">
            <a:extLst>
              <a:ext uri="{FF2B5EF4-FFF2-40B4-BE49-F238E27FC236}">
                <a16:creationId xmlns:a16="http://schemas.microsoft.com/office/drawing/2014/main" id="{FF1CD449-E85E-DF11-31F9-46E50A9910C3}"/>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7" name="lg952">
            <a:extLst>
              <a:ext uri="{FF2B5EF4-FFF2-40B4-BE49-F238E27FC236}">
                <a16:creationId xmlns:a16="http://schemas.microsoft.com/office/drawing/2014/main" id="{45BEAE4E-4383-655A-184F-32F112E213BA}"/>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8" name="lg953">
            <a:extLst>
              <a:ext uri="{FF2B5EF4-FFF2-40B4-BE49-F238E27FC236}">
                <a16:creationId xmlns:a16="http://schemas.microsoft.com/office/drawing/2014/main" id="{2B6176B4-7AAE-EB73-3F29-DECE05660DF0}"/>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9" name="Group 8">
            <a:extLst>
              <a:ext uri="{FF2B5EF4-FFF2-40B4-BE49-F238E27FC236}">
                <a16:creationId xmlns:a16="http://schemas.microsoft.com/office/drawing/2014/main" id="{BEED048D-D990-C9A5-2F07-2FEAFD303984}"/>
              </a:ext>
            </a:extLst>
          </p:cNvPr>
          <p:cNvGrpSpPr/>
          <p:nvPr/>
        </p:nvGrpSpPr>
        <p:grpSpPr>
          <a:xfrm>
            <a:off x="10685728" y="1247437"/>
            <a:ext cx="210312" cy="210312"/>
            <a:chOff x="10674331" y="1239428"/>
            <a:chExt cx="210312" cy="210312"/>
          </a:xfrm>
        </p:grpSpPr>
        <p:sp>
          <p:nvSpPr>
            <p:cNvPr id="10" name="hoff968">
              <a:extLst>
                <a:ext uri="{FF2B5EF4-FFF2-40B4-BE49-F238E27FC236}">
                  <a16:creationId xmlns:a16="http://schemas.microsoft.com/office/drawing/2014/main" id="{C5DA778C-1EBB-05AF-59B5-149BEDEB8292}"/>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11" name="hoffa969">
              <a:extLst>
                <a:ext uri="{FF2B5EF4-FFF2-40B4-BE49-F238E27FC236}">
                  <a16:creationId xmlns:a16="http://schemas.microsoft.com/office/drawing/2014/main" id="{34EFC821-C29D-DC48-7FB2-4803509728EA}"/>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12" name="lg972">
            <a:extLst>
              <a:ext uri="{FF2B5EF4-FFF2-40B4-BE49-F238E27FC236}">
                <a16:creationId xmlns:a16="http://schemas.microsoft.com/office/drawing/2014/main" id="{8FEC0A7B-0795-65B9-774B-3A0558418289}"/>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sp>
        <p:nvSpPr>
          <p:cNvPr id="13" name="Oval 12">
            <a:extLst>
              <a:ext uri="{FF2B5EF4-FFF2-40B4-BE49-F238E27FC236}">
                <a16:creationId xmlns:a16="http://schemas.microsoft.com/office/drawing/2014/main" id="{73D6EB79-4094-FE1B-9875-079F149D6F49}"/>
              </a:ext>
            </a:extLst>
          </p:cNvPr>
          <p:cNvSpPr/>
          <p:nvPr/>
        </p:nvSpPr>
        <p:spPr bwMode="gray">
          <a:xfrm>
            <a:off x="10652555" y="1522937"/>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14" name="lg972">
            <a:extLst>
              <a:ext uri="{FF2B5EF4-FFF2-40B4-BE49-F238E27FC236}">
                <a16:creationId xmlns:a16="http://schemas.microsoft.com/office/drawing/2014/main" id="{866539C6-B1EE-5842-465D-671997D203C8}"/>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graphicFrame>
        <p:nvGraphicFramePr>
          <p:cNvPr id="4" name="Table 3">
            <a:extLst>
              <a:ext uri="{FF2B5EF4-FFF2-40B4-BE49-F238E27FC236}">
                <a16:creationId xmlns:a16="http://schemas.microsoft.com/office/drawing/2014/main" id="{1D83C6BB-2A1A-8F81-CB81-6CFA2DAFCDA8}"/>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INTAKE &amp; INITIATION</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TRIAGE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CASE PREPARATION &amp; DOCUMENT ASSESSMENT</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PROVISIONAL CREDIT ISSUANCE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NETWORK SUBMISSION &amp; RESPONSE</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RESOLUTION &amp; RECOVERY</a:t>
                      </a:r>
                    </a:p>
                  </a:txBody>
                  <a:tcPr anchor="ctr">
                    <a:solidFill>
                      <a:schemeClr val="bg1">
                        <a:lumMod val="75000"/>
                      </a:schemeClr>
                    </a:solidFill>
                  </a:tcPr>
                </a:tc>
                <a:extLst>
                  <a:ext uri="{0D108BD9-81ED-4DB2-BD59-A6C34878D82A}">
                    <a16:rowId xmlns:a16="http://schemas.microsoft.com/office/drawing/2014/main" val="831136574"/>
                  </a:ext>
                </a:extLst>
              </a:tr>
            </a:tbl>
          </a:graphicData>
        </a:graphic>
      </p:graphicFrame>
    </p:spTree>
    <p:extLst>
      <p:ext uri="{BB962C8B-B14F-4D97-AF65-F5344CB8AC3E}">
        <p14:creationId xmlns:p14="http://schemas.microsoft.com/office/powerpoint/2010/main" val="2997864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FB8B2-0493-D275-3A29-2B20E625B7C6}"/>
            </a:ext>
          </a:extLst>
        </p:cNvPr>
        <p:cNvGrpSpPr/>
        <p:nvPr/>
      </p:nvGrpSpPr>
      <p:grpSpPr>
        <a:xfrm>
          <a:off x="0" y="0"/>
          <a:ext cx="0" cy="0"/>
          <a:chOff x="0" y="0"/>
          <a:chExt cx="0" cy="0"/>
        </a:xfrm>
      </p:grpSpPr>
      <p:sp>
        <p:nvSpPr>
          <p:cNvPr id="482" name="fx413">
            <a:extLst>
              <a:ext uri="{FF2B5EF4-FFF2-40B4-BE49-F238E27FC236}">
                <a16:creationId xmlns:a16="http://schemas.microsoft.com/office/drawing/2014/main" id="{CB26CBDD-B9BC-6159-8A55-4BF381EA776C}"/>
              </a:ext>
            </a:extLst>
          </p:cNvPr>
          <p:cNvSpPr/>
          <p:nvPr/>
        </p:nvSpPr>
        <p:spPr>
          <a:xfrm>
            <a:off x="4094075" y="3653527"/>
            <a:ext cx="1260000" cy="720000"/>
          </a:xfrm>
          <a:prstGeom prst="roundRect">
            <a:avLst/>
          </a:prstGeom>
          <a:solidFill>
            <a:srgbClr val="EDDBFB">
              <a:alpha val="56863"/>
            </a:srgbClr>
          </a:solidFill>
          <a:ln w="12700">
            <a:solidFill>
              <a:schemeClr val="accent1"/>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Notify member of the decision</a:t>
            </a:r>
          </a:p>
        </p:txBody>
      </p:sp>
      <p:sp>
        <p:nvSpPr>
          <p:cNvPr id="179" name="Text Placeholder 3">
            <a:extLst>
              <a:ext uri="{FF2B5EF4-FFF2-40B4-BE49-F238E27FC236}">
                <a16:creationId xmlns:a16="http://schemas.microsoft.com/office/drawing/2014/main" id="{2BFC1CBE-5F3E-D6FB-7DD9-7E6A33D29DD3}"/>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AADD12FD-F996-DD14-8776-2B4C033AED25}"/>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5. Resolution &amp; Recovery</a:t>
            </a:r>
          </a:p>
        </p:txBody>
      </p:sp>
      <p:cxnSp>
        <p:nvCxnSpPr>
          <p:cNvPr id="763" name="Elbow Connector 762">
            <a:extLst>
              <a:ext uri="{FF2B5EF4-FFF2-40B4-BE49-F238E27FC236}">
                <a16:creationId xmlns:a16="http://schemas.microsoft.com/office/drawing/2014/main" id="{6A7E9E80-05C6-66E4-3FE0-17E4A1F36687}"/>
              </a:ext>
            </a:extLst>
          </p:cNvPr>
          <p:cNvCxnSpPr>
            <a:cxnSpLocks/>
          </p:cNvCxnSpPr>
          <p:nvPr/>
        </p:nvCxnSpPr>
        <p:spPr>
          <a:xfrm>
            <a:off x="-2926264" y="9638719"/>
            <a:ext cx="589990" cy="452490"/>
          </a:xfrm>
          <a:prstGeom prst="bentConnector3">
            <a:avLst/>
          </a:prstGeom>
          <a:ln w="19050">
            <a:solidFill>
              <a:srgbClr val="9B9B9B"/>
            </a:solidFill>
            <a:tailEnd type="triangle" w="med" len="med"/>
          </a:ln>
        </p:spPr>
      </p:cxnSp>
      <p:sp>
        <p:nvSpPr>
          <p:cNvPr id="14" name="fx401">
            <a:extLst>
              <a:ext uri="{FF2B5EF4-FFF2-40B4-BE49-F238E27FC236}">
                <a16:creationId xmlns:a16="http://schemas.microsoft.com/office/drawing/2014/main" id="{E34AC1BF-9061-FB8C-3F1E-DC7ED558565F}"/>
              </a:ext>
            </a:extLst>
          </p:cNvPr>
          <p:cNvSpPr/>
          <p:nvPr/>
        </p:nvSpPr>
        <p:spPr>
          <a:xfrm flipH="1">
            <a:off x="506647" y="1668316"/>
            <a:ext cx="312710" cy="1504909"/>
          </a:xfrm>
          <a:prstGeom prst="roundRect">
            <a:avLst/>
          </a:prstGeom>
          <a:solidFill>
            <a:schemeClr val="bg1">
              <a:lumMod val="85000"/>
            </a:schemeClr>
          </a:solidFill>
          <a:ln w="12700">
            <a:solidFill>
              <a:srgbClr val="F3EAFA"/>
            </a:solidFill>
          </a:ln>
        </p:spPr>
        <p:txBody>
          <a:bodyPr vert="vert270"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PATH 1: MEMBER LIABLE</a:t>
            </a:r>
          </a:p>
        </p:txBody>
      </p:sp>
      <p:sp>
        <p:nvSpPr>
          <p:cNvPr id="16" name="fx401">
            <a:extLst>
              <a:ext uri="{FF2B5EF4-FFF2-40B4-BE49-F238E27FC236}">
                <a16:creationId xmlns:a16="http://schemas.microsoft.com/office/drawing/2014/main" id="{428E3A2A-A75D-D9E7-66F0-0DA4A55ADC08}"/>
              </a:ext>
            </a:extLst>
          </p:cNvPr>
          <p:cNvSpPr/>
          <p:nvPr/>
        </p:nvSpPr>
        <p:spPr>
          <a:xfrm flipH="1">
            <a:off x="506647" y="3283370"/>
            <a:ext cx="312710" cy="1487448"/>
          </a:xfrm>
          <a:prstGeom prst="roundRect">
            <a:avLst/>
          </a:prstGeom>
          <a:solidFill>
            <a:schemeClr val="bg1">
              <a:lumMod val="85000"/>
            </a:schemeClr>
          </a:solidFill>
          <a:ln w="12700">
            <a:solidFill>
              <a:srgbClr val="F3EAFA"/>
            </a:solidFill>
          </a:ln>
        </p:spPr>
        <p:txBody>
          <a:bodyPr vert="vert270"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PATH 2: ISSUER LIABLE</a:t>
            </a:r>
          </a:p>
        </p:txBody>
      </p:sp>
      <p:sp>
        <p:nvSpPr>
          <p:cNvPr id="18" name="fx401">
            <a:extLst>
              <a:ext uri="{FF2B5EF4-FFF2-40B4-BE49-F238E27FC236}">
                <a16:creationId xmlns:a16="http://schemas.microsoft.com/office/drawing/2014/main" id="{C613FFCE-EFF0-FDA4-56A1-BEEA5B985167}"/>
              </a:ext>
            </a:extLst>
          </p:cNvPr>
          <p:cNvSpPr/>
          <p:nvPr/>
        </p:nvSpPr>
        <p:spPr>
          <a:xfrm flipH="1">
            <a:off x="506647" y="4880962"/>
            <a:ext cx="312710" cy="1487448"/>
          </a:xfrm>
          <a:prstGeom prst="roundRect">
            <a:avLst/>
          </a:prstGeom>
          <a:solidFill>
            <a:schemeClr val="bg1">
              <a:lumMod val="85000"/>
            </a:schemeClr>
          </a:solidFill>
          <a:ln w="12700">
            <a:solidFill>
              <a:srgbClr val="F3EAFA"/>
            </a:solidFill>
          </a:ln>
        </p:spPr>
        <p:txBody>
          <a:bodyPr vert="vert270"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PATH 3: ACQUIERER LIABLE</a:t>
            </a:r>
          </a:p>
        </p:txBody>
      </p:sp>
      <p:cxnSp>
        <p:nvCxnSpPr>
          <p:cNvPr id="36" name="Connector 977">
            <a:extLst>
              <a:ext uri="{FF2B5EF4-FFF2-40B4-BE49-F238E27FC236}">
                <a16:creationId xmlns:a16="http://schemas.microsoft.com/office/drawing/2014/main" id="{68A84888-DDC6-1850-6A50-2426F8999B04}"/>
              </a:ext>
            </a:extLst>
          </p:cNvPr>
          <p:cNvCxnSpPr>
            <a:cxnSpLocks/>
          </p:cNvCxnSpPr>
          <p:nvPr/>
        </p:nvCxnSpPr>
        <p:spPr>
          <a:xfrm>
            <a:off x="2754075" y="4016835"/>
            <a:ext cx="1340000" cy="0"/>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7" name="Connector 978">
            <a:extLst>
              <a:ext uri="{FF2B5EF4-FFF2-40B4-BE49-F238E27FC236}">
                <a16:creationId xmlns:a16="http://schemas.microsoft.com/office/drawing/2014/main" id="{B26F1733-1ABB-3B75-1F7F-A867139BFE46}"/>
              </a:ext>
            </a:extLst>
          </p:cNvPr>
          <p:cNvCxnSpPr/>
          <p:nvPr/>
        </p:nvCxnSpPr>
        <p:spPr>
          <a:xfrm>
            <a:off x="5392853" y="4013527"/>
            <a:ext cx="1340000" cy="0"/>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6" name="Connector 9009">
            <a:extLst>
              <a:ext uri="{FF2B5EF4-FFF2-40B4-BE49-F238E27FC236}">
                <a16:creationId xmlns:a16="http://schemas.microsoft.com/office/drawing/2014/main" id="{281B93B6-42A1-8DC8-32A1-C01A90A04273}"/>
              </a:ext>
            </a:extLst>
          </p:cNvPr>
          <p:cNvCxnSpPr>
            <a:cxnSpLocks/>
            <a:stCxn id="482" idx="0"/>
          </p:cNvCxnSpPr>
          <p:nvPr/>
        </p:nvCxnSpPr>
        <p:spPr>
          <a:xfrm rot="5400000" flipH="1" flipV="1">
            <a:off x="5070947" y="1991621"/>
            <a:ext cx="1315034" cy="2008778"/>
          </a:xfrm>
          <a:prstGeom prst="bentConnector2">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1" name="Connector 9009">
            <a:extLst>
              <a:ext uri="{FF2B5EF4-FFF2-40B4-BE49-F238E27FC236}">
                <a16:creationId xmlns:a16="http://schemas.microsoft.com/office/drawing/2014/main" id="{B1110310-4173-4D9F-1AF3-8D05A55812FB}"/>
              </a:ext>
            </a:extLst>
          </p:cNvPr>
          <p:cNvCxnSpPr>
            <a:cxnSpLocks/>
            <a:stCxn id="482" idx="2"/>
          </p:cNvCxnSpPr>
          <p:nvPr/>
        </p:nvCxnSpPr>
        <p:spPr>
          <a:xfrm rot="16200000" flipH="1">
            <a:off x="5136646" y="3960956"/>
            <a:ext cx="1203364" cy="2028506"/>
          </a:xfrm>
          <a:prstGeom prst="bentConnector2">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9" name="Connector 9009">
            <a:extLst>
              <a:ext uri="{FF2B5EF4-FFF2-40B4-BE49-F238E27FC236}">
                <a16:creationId xmlns:a16="http://schemas.microsoft.com/office/drawing/2014/main" id="{39A50C9F-735D-B68E-F8BE-B4D772B32E08}"/>
              </a:ext>
            </a:extLst>
          </p:cNvPr>
          <p:cNvCxnSpPr>
            <a:cxnSpLocks/>
          </p:cNvCxnSpPr>
          <p:nvPr/>
        </p:nvCxnSpPr>
        <p:spPr>
          <a:xfrm>
            <a:off x="2754075" y="2367001"/>
            <a:ext cx="665400" cy="1621326"/>
          </a:xfrm>
          <a:prstGeom prst="bentConnector2">
            <a:avLst/>
          </a:prstGeom>
          <a:ln w="19050">
            <a:solidFill>
              <a:srgbClr val="9B9B9B"/>
            </a:solidFill>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53" name="Connector 9009">
            <a:extLst>
              <a:ext uri="{FF2B5EF4-FFF2-40B4-BE49-F238E27FC236}">
                <a16:creationId xmlns:a16="http://schemas.microsoft.com/office/drawing/2014/main" id="{7BA0FB5E-5633-6151-B4C5-AD7CFC178E7D}"/>
              </a:ext>
            </a:extLst>
          </p:cNvPr>
          <p:cNvCxnSpPr>
            <a:cxnSpLocks/>
          </p:cNvCxnSpPr>
          <p:nvPr/>
        </p:nvCxnSpPr>
        <p:spPr>
          <a:xfrm flipV="1">
            <a:off x="2773803" y="4013527"/>
            <a:ext cx="645672" cy="1591872"/>
          </a:xfrm>
          <a:prstGeom prst="bentConnector2">
            <a:avLst/>
          </a:prstGeom>
          <a:ln w="19050">
            <a:solidFill>
              <a:srgbClr val="9B9B9B"/>
            </a:solidFill>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1" name="Connector 977">
            <a:extLst>
              <a:ext uri="{FF2B5EF4-FFF2-40B4-BE49-F238E27FC236}">
                <a16:creationId xmlns:a16="http://schemas.microsoft.com/office/drawing/2014/main" id="{16F5689D-0A84-B345-3E21-15FD73E91BAD}"/>
              </a:ext>
            </a:extLst>
          </p:cNvPr>
          <p:cNvCxnSpPr>
            <a:cxnSpLocks/>
          </p:cNvCxnSpPr>
          <p:nvPr/>
        </p:nvCxnSpPr>
        <p:spPr>
          <a:xfrm>
            <a:off x="8042717" y="3974203"/>
            <a:ext cx="1320272" cy="3308"/>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3" name="Connector 9009">
            <a:extLst>
              <a:ext uri="{FF2B5EF4-FFF2-40B4-BE49-F238E27FC236}">
                <a16:creationId xmlns:a16="http://schemas.microsoft.com/office/drawing/2014/main" id="{4E8E03A6-7739-AED1-B7C5-BDABB4C1DA01}"/>
              </a:ext>
            </a:extLst>
          </p:cNvPr>
          <p:cNvCxnSpPr>
            <a:cxnSpLocks/>
          </p:cNvCxnSpPr>
          <p:nvPr/>
        </p:nvCxnSpPr>
        <p:spPr>
          <a:xfrm>
            <a:off x="8022989" y="2352877"/>
            <a:ext cx="665400" cy="1621326"/>
          </a:xfrm>
          <a:prstGeom prst="bentConnector2">
            <a:avLst/>
          </a:prstGeom>
          <a:ln w="19050">
            <a:solidFill>
              <a:srgbClr val="9B9B9B"/>
            </a:solidFill>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4" name="Connector 9009">
            <a:extLst>
              <a:ext uri="{FF2B5EF4-FFF2-40B4-BE49-F238E27FC236}">
                <a16:creationId xmlns:a16="http://schemas.microsoft.com/office/drawing/2014/main" id="{E2569CE5-7673-8ED3-06B2-3D9E4F041EBC}"/>
              </a:ext>
            </a:extLst>
          </p:cNvPr>
          <p:cNvCxnSpPr>
            <a:cxnSpLocks/>
          </p:cNvCxnSpPr>
          <p:nvPr/>
        </p:nvCxnSpPr>
        <p:spPr>
          <a:xfrm flipV="1">
            <a:off x="8042717" y="3999403"/>
            <a:ext cx="645672" cy="1591872"/>
          </a:xfrm>
          <a:prstGeom prst="bentConnector2">
            <a:avLst/>
          </a:prstGeom>
          <a:ln w="19050">
            <a:solidFill>
              <a:srgbClr val="9B9B9B"/>
            </a:solidFill>
            <a:tailEnd type="none" w="med" len="med"/>
          </a:ln>
          <a:effectLst/>
        </p:spPr>
        <p:style>
          <a:lnRef idx="2">
            <a:schemeClr val="accent1"/>
          </a:lnRef>
          <a:fillRef idx="0">
            <a:schemeClr val="accent1"/>
          </a:fillRef>
          <a:effectRef idx="1">
            <a:schemeClr val="accent1"/>
          </a:effectRef>
          <a:fontRef idx="minor">
            <a:schemeClr val="tx1"/>
          </a:fontRef>
        </p:style>
      </p:cxnSp>
      <p:sp>
        <p:nvSpPr>
          <p:cNvPr id="466" name="Oval 465">
            <a:extLst>
              <a:ext uri="{FF2B5EF4-FFF2-40B4-BE49-F238E27FC236}">
                <a16:creationId xmlns:a16="http://schemas.microsoft.com/office/drawing/2014/main" id="{A07A28AB-D11C-BDF8-DDE8-524576934E94}"/>
              </a:ext>
            </a:extLst>
          </p:cNvPr>
          <p:cNvSpPr/>
          <p:nvPr/>
        </p:nvSpPr>
        <p:spPr bwMode="gray">
          <a:xfrm>
            <a:off x="11347459" y="3853785"/>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cxnSp>
        <p:nvCxnSpPr>
          <p:cNvPr id="472" name="Connector 978">
            <a:extLst>
              <a:ext uri="{FF2B5EF4-FFF2-40B4-BE49-F238E27FC236}">
                <a16:creationId xmlns:a16="http://schemas.microsoft.com/office/drawing/2014/main" id="{3B4B1A8E-B173-0648-2588-E39016E60148}"/>
              </a:ext>
            </a:extLst>
          </p:cNvPr>
          <p:cNvCxnSpPr>
            <a:cxnSpLocks/>
            <a:endCxn id="466" idx="2"/>
          </p:cNvCxnSpPr>
          <p:nvPr/>
        </p:nvCxnSpPr>
        <p:spPr>
          <a:xfrm>
            <a:off x="10621428" y="3997785"/>
            <a:ext cx="726031" cy="0"/>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6" name="TextBox 475">
            <a:extLst>
              <a:ext uri="{FF2B5EF4-FFF2-40B4-BE49-F238E27FC236}">
                <a16:creationId xmlns:a16="http://schemas.microsoft.com/office/drawing/2014/main" id="{88EDA3F7-AB88-3931-DA17-6F08AD3C0973}"/>
              </a:ext>
            </a:extLst>
          </p:cNvPr>
          <p:cNvSpPr txBox="1"/>
          <p:nvPr/>
        </p:nvSpPr>
        <p:spPr>
          <a:xfrm>
            <a:off x="10790884" y="4138344"/>
            <a:ext cx="1415411"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Dispute Case Closed</a:t>
            </a:r>
          </a:p>
        </p:txBody>
      </p:sp>
      <p:sp>
        <p:nvSpPr>
          <p:cNvPr id="480" name="fx413">
            <a:extLst>
              <a:ext uri="{FF2B5EF4-FFF2-40B4-BE49-F238E27FC236}">
                <a16:creationId xmlns:a16="http://schemas.microsoft.com/office/drawing/2014/main" id="{3A794955-8298-D89B-52F9-7FEA8721541E}"/>
              </a:ext>
            </a:extLst>
          </p:cNvPr>
          <p:cNvSpPr/>
          <p:nvPr/>
        </p:nvSpPr>
        <p:spPr>
          <a:xfrm>
            <a:off x="1494075" y="2007001"/>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Reverse the provisional credit from cardholders account</a:t>
            </a:r>
          </a:p>
        </p:txBody>
      </p:sp>
      <p:sp>
        <p:nvSpPr>
          <p:cNvPr id="6" name="fx413">
            <a:extLst>
              <a:ext uri="{FF2B5EF4-FFF2-40B4-BE49-F238E27FC236}">
                <a16:creationId xmlns:a16="http://schemas.microsoft.com/office/drawing/2014/main" id="{0CB74E72-E28A-327E-E4EB-C0B6AAA90019}"/>
              </a:ext>
            </a:extLst>
          </p:cNvPr>
          <p:cNvSpPr/>
          <p:nvPr/>
        </p:nvSpPr>
        <p:spPr>
          <a:xfrm>
            <a:off x="1494075" y="3656835"/>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Finalize the provisional credit in members account</a:t>
            </a:r>
          </a:p>
        </p:txBody>
      </p:sp>
      <p:sp>
        <p:nvSpPr>
          <p:cNvPr id="12" name="fx413">
            <a:extLst>
              <a:ext uri="{FF2B5EF4-FFF2-40B4-BE49-F238E27FC236}">
                <a16:creationId xmlns:a16="http://schemas.microsoft.com/office/drawing/2014/main" id="{2B700A72-D70C-5EC4-37B9-A4A88BDD1355}"/>
              </a:ext>
            </a:extLst>
          </p:cNvPr>
          <p:cNvSpPr/>
          <p:nvPr/>
        </p:nvSpPr>
        <p:spPr>
          <a:xfrm>
            <a:off x="1494075" y="5245399"/>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Finalize the provisional credit in members account</a:t>
            </a:r>
          </a:p>
        </p:txBody>
      </p:sp>
      <p:sp>
        <p:nvSpPr>
          <p:cNvPr id="15" name="fx413">
            <a:extLst>
              <a:ext uri="{FF2B5EF4-FFF2-40B4-BE49-F238E27FC236}">
                <a16:creationId xmlns:a16="http://schemas.microsoft.com/office/drawing/2014/main" id="{431C3EB2-8119-DD69-F73A-B2416CBADEDF}"/>
              </a:ext>
            </a:extLst>
          </p:cNvPr>
          <p:cNvSpPr/>
          <p:nvPr/>
        </p:nvSpPr>
        <p:spPr>
          <a:xfrm>
            <a:off x="6742378" y="1978493"/>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Record reversal in the general ledger</a:t>
            </a:r>
            <a:endParaRPr kumimoji="0" lang="en-CA" sz="900" b="1" i="0" u="none" strike="noStrike" kern="1200" cap="none" spc="0" normalizeH="0" baseline="0" noProof="0">
              <a:ln>
                <a:noFill/>
              </a:ln>
              <a:solidFill>
                <a:srgbClr val="404040"/>
              </a:solidFill>
              <a:effectLst/>
              <a:uLnTx/>
              <a:uFillTx/>
              <a:latin typeface="Segoe UI"/>
              <a:ea typeface="+mn-ea"/>
              <a:cs typeface="+mn-cs"/>
            </a:endParaRPr>
          </a:p>
        </p:txBody>
      </p:sp>
      <p:sp>
        <p:nvSpPr>
          <p:cNvPr id="20" name="fx413">
            <a:extLst>
              <a:ext uri="{FF2B5EF4-FFF2-40B4-BE49-F238E27FC236}">
                <a16:creationId xmlns:a16="http://schemas.microsoft.com/office/drawing/2014/main" id="{3670BA6C-8686-F1C5-2A19-E98BA3D9BE51}"/>
              </a:ext>
            </a:extLst>
          </p:cNvPr>
          <p:cNvSpPr/>
          <p:nvPr/>
        </p:nvSpPr>
        <p:spPr>
          <a:xfrm>
            <a:off x="6742378" y="3656835"/>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Record the loss in general ledger</a:t>
            </a:r>
            <a:endParaRPr kumimoji="0" lang="en-CA" sz="900" b="1" i="0" u="none" strike="noStrike" kern="1200" cap="none" spc="0" normalizeH="0" baseline="0" noProof="0">
              <a:ln>
                <a:noFill/>
              </a:ln>
              <a:solidFill>
                <a:srgbClr val="404040"/>
              </a:solidFill>
              <a:effectLst/>
              <a:uLnTx/>
              <a:uFillTx/>
              <a:latin typeface="Segoe UI"/>
              <a:ea typeface="+mn-ea"/>
              <a:cs typeface="+mn-cs"/>
            </a:endParaRPr>
          </a:p>
        </p:txBody>
      </p:sp>
      <p:sp>
        <p:nvSpPr>
          <p:cNvPr id="22" name="fx413">
            <a:extLst>
              <a:ext uri="{FF2B5EF4-FFF2-40B4-BE49-F238E27FC236}">
                <a16:creationId xmlns:a16="http://schemas.microsoft.com/office/drawing/2014/main" id="{050C0761-62FB-557B-90F7-152C99453983}"/>
              </a:ext>
            </a:extLst>
          </p:cNvPr>
          <p:cNvSpPr/>
          <p:nvPr/>
        </p:nvSpPr>
        <p:spPr>
          <a:xfrm>
            <a:off x="6742378" y="5216891"/>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VROL auto-settles the recovery; Beem records credit it in the general ledger</a:t>
            </a:r>
            <a:endParaRPr kumimoji="0" lang="en-CA" sz="900" b="1" i="0" u="none" strike="noStrike" kern="1200" cap="none" spc="0" normalizeH="0" baseline="0" noProof="0">
              <a:ln>
                <a:noFill/>
              </a:ln>
              <a:solidFill>
                <a:srgbClr val="404040"/>
              </a:solidFill>
              <a:effectLst/>
              <a:uLnTx/>
              <a:uFillTx/>
              <a:latin typeface="Segoe UI"/>
              <a:ea typeface="+mn-ea"/>
              <a:cs typeface="+mn-cs"/>
            </a:endParaRPr>
          </a:p>
        </p:txBody>
      </p:sp>
      <p:sp>
        <p:nvSpPr>
          <p:cNvPr id="26" name="fx413">
            <a:extLst>
              <a:ext uri="{FF2B5EF4-FFF2-40B4-BE49-F238E27FC236}">
                <a16:creationId xmlns:a16="http://schemas.microsoft.com/office/drawing/2014/main" id="{998B4C56-B8A7-7338-4BA2-6E3688EDE0D5}"/>
              </a:ext>
            </a:extLst>
          </p:cNvPr>
          <p:cNvSpPr/>
          <p:nvPr/>
        </p:nvSpPr>
        <p:spPr>
          <a:xfrm>
            <a:off x="9348525" y="3637785"/>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404040"/>
                </a:solidFill>
                <a:effectLst/>
                <a:uLnTx/>
                <a:uFillTx/>
                <a:latin typeface="Segoe UI"/>
                <a:ea typeface="+mn-ea"/>
                <a:cs typeface="+mn-cs"/>
              </a:rPr>
              <a:t>Archive supporting evidence, prepare reporting &amp; trend analysis, and close case</a:t>
            </a:r>
          </a:p>
        </p:txBody>
      </p:sp>
      <p:sp>
        <p:nvSpPr>
          <p:cNvPr id="5" name="lg950">
            <a:extLst>
              <a:ext uri="{FF2B5EF4-FFF2-40B4-BE49-F238E27FC236}">
                <a16:creationId xmlns:a16="http://schemas.microsoft.com/office/drawing/2014/main" id="{0AFE6C09-1C70-A5BF-CB8D-462BA6EAA797}"/>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7" name="lg951">
            <a:extLst>
              <a:ext uri="{FF2B5EF4-FFF2-40B4-BE49-F238E27FC236}">
                <a16:creationId xmlns:a16="http://schemas.microsoft.com/office/drawing/2014/main" id="{51971C0F-C778-9C37-DB50-780AE5A4F7CD}"/>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8" name="lg952">
            <a:extLst>
              <a:ext uri="{FF2B5EF4-FFF2-40B4-BE49-F238E27FC236}">
                <a16:creationId xmlns:a16="http://schemas.microsoft.com/office/drawing/2014/main" id="{63FF9613-1E9A-F462-DEA8-860B3A7280D2}"/>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 name="lg953">
            <a:extLst>
              <a:ext uri="{FF2B5EF4-FFF2-40B4-BE49-F238E27FC236}">
                <a16:creationId xmlns:a16="http://schemas.microsoft.com/office/drawing/2014/main" id="{78974B7D-9583-BE9A-3A15-1D91DCF03509}"/>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10" name="Group 9">
            <a:extLst>
              <a:ext uri="{FF2B5EF4-FFF2-40B4-BE49-F238E27FC236}">
                <a16:creationId xmlns:a16="http://schemas.microsoft.com/office/drawing/2014/main" id="{CE6A490A-2E40-B239-47B5-8F3A92A172AB}"/>
              </a:ext>
            </a:extLst>
          </p:cNvPr>
          <p:cNvGrpSpPr/>
          <p:nvPr/>
        </p:nvGrpSpPr>
        <p:grpSpPr>
          <a:xfrm>
            <a:off x="10685728" y="1247437"/>
            <a:ext cx="210312" cy="210312"/>
            <a:chOff x="10674331" y="1239428"/>
            <a:chExt cx="210312" cy="210312"/>
          </a:xfrm>
        </p:grpSpPr>
        <p:sp>
          <p:nvSpPr>
            <p:cNvPr id="11" name="hoff968">
              <a:extLst>
                <a:ext uri="{FF2B5EF4-FFF2-40B4-BE49-F238E27FC236}">
                  <a16:creationId xmlns:a16="http://schemas.microsoft.com/office/drawing/2014/main" id="{2E8823B9-A1B3-D1BD-F125-634F1B58E631}"/>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13" name="hoffa969">
              <a:extLst>
                <a:ext uri="{FF2B5EF4-FFF2-40B4-BE49-F238E27FC236}">
                  <a16:creationId xmlns:a16="http://schemas.microsoft.com/office/drawing/2014/main" id="{02B10DEB-DF3B-61ED-DBE0-5C81D56E0F5C}"/>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17" name="lg972">
            <a:extLst>
              <a:ext uri="{FF2B5EF4-FFF2-40B4-BE49-F238E27FC236}">
                <a16:creationId xmlns:a16="http://schemas.microsoft.com/office/drawing/2014/main" id="{ADEC103C-C7BB-9332-6F7F-C6986ABD05A2}"/>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sp>
        <p:nvSpPr>
          <p:cNvPr id="19" name="Oval 18">
            <a:extLst>
              <a:ext uri="{FF2B5EF4-FFF2-40B4-BE49-F238E27FC236}">
                <a16:creationId xmlns:a16="http://schemas.microsoft.com/office/drawing/2014/main" id="{D63C2F1C-364D-69B3-1484-C2EC79E4C85E}"/>
              </a:ext>
            </a:extLst>
          </p:cNvPr>
          <p:cNvSpPr/>
          <p:nvPr/>
        </p:nvSpPr>
        <p:spPr bwMode="gray">
          <a:xfrm>
            <a:off x="10652555" y="1522937"/>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21" name="lg972">
            <a:extLst>
              <a:ext uri="{FF2B5EF4-FFF2-40B4-BE49-F238E27FC236}">
                <a16:creationId xmlns:a16="http://schemas.microsoft.com/office/drawing/2014/main" id="{6788512F-800B-7514-1631-D9AA76B31D80}"/>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sp>
        <p:nvSpPr>
          <p:cNvPr id="3" name="Rectangle 2">
            <a:extLst>
              <a:ext uri="{FF2B5EF4-FFF2-40B4-BE49-F238E27FC236}">
                <a16:creationId xmlns:a16="http://schemas.microsoft.com/office/drawing/2014/main" id="{1DC3510F-C3C0-AA7F-1F45-A005D44A503F}"/>
              </a:ext>
            </a:extLst>
          </p:cNvPr>
          <p:cNvSpPr/>
          <p:nvPr/>
        </p:nvSpPr>
        <p:spPr bwMode="gray">
          <a:xfrm>
            <a:off x="8353425" y="5930297"/>
            <a:ext cx="3305175" cy="765264"/>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23" name="Shape 14">
            <a:extLst>
              <a:ext uri="{FF2B5EF4-FFF2-40B4-BE49-F238E27FC236}">
                <a16:creationId xmlns:a16="http://schemas.microsoft.com/office/drawing/2014/main" id="{2FFA3092-B80F-72EA-A1AE-AA996D7BC93F}"/>
              </a:ext>
            </a:extLst>
          </p:cNvPr>
          <p:cNvSpPr/>
          <p:nvPr/>
        </p:nvSpPr>
        <p:spPr>
          <a:xfrm>
            <a:off x="9572625" y="6342232"/>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Payment Services / Fraud and Finance</a:t>
            </a:r>
          </a:p>
        </p:txBody>
      </p:sp>
      <p:graphicFrame>
        <p:nvGraphicFramePr>
          <p:cNvPr id="4" name="Table 3">
            <a:extLst>
              <a:ext uri="{FF2B5EF4-FFF2-40B4-BE49-F238E27FC236}">
                <a16:creationId xmlns:a16="http://schemas.microsoft.com/office/drawing/2014/main" id="{7909C9B4-4F07-A674-53AB-D1FA059D43AA}"/>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INTAKE &amp; INITIATION</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TRIAGE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CASE PREPARATION &amp; DOCUMENT ASSESSMENT</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PROVISIONAL CREDIT ISSUANCE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NETWORK SUBMISSION &amp; RESPONSE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RESOLUTION &amp; RECOVERY</a:t>
                      </a:r>
                    </a:p>
                  </a:txBody>
                  <a:tcPr anchor="ctr">
                    <a:solidFill>
                      <a:schemeClr val="accent1">
                        <a:lumMod val="20000"/>
                        <a:lumOff val="80000"/>
                      </a:schemeClr>
                    </a:solidFill>
                  </a:tcPr>
                </a:tc>
                <a:extLst>
                  <a:ext uri="{0D108BD9-81ED-4DB2-BD59-A6C34878D82A}">
                    <a16:rowId xmlns:a16="http://schemas.microsoft.com/office/drawing/2014/main" val="831136574"/>
                  </a:ext>
                </a:extLst>
              </a:tr>
            </a:tbl>
          </a:graphicData>
        </a:graphic>
      </p:graphicFrame>
    </p:spTree>
    <p:extLst>
      <p:ext uri="{BB962C8B-B14F-4D97-AF65-F5344CB8AC3E}">
        <p14:creationId xmlns:p14="http://schemas.microsoft.com/office/powerpoint/2010/main" val="3040062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54326-4E9D-C72E-3E89-B07927279DE9}"/>
            </a:ext>
          </a:extLst>
        </p:cNvPr>
        <p:cNvGrpSpPr/>
        <p:nvPr/>
      </p:nvGrpSpPr>
      <p:grpSpPr>
        <a:xfrm>
          <a:off x="0" y="0"/>
          <a:ext cx="0" cy="0"/>
          <a:chOff x="0" y="0"/>
          <a:chExt cx="0" cy="0"/>
        </a:xfrm>
      </p:grpSpPr>
      <p:sp>
        <p:nvSpPr>
          <p:cNvPr id="181" name="Title 3">
            <a:extLst>
              <a:ext uri="{FF2B5EF4-FFF2-40B4-BE49-F238E27FC236}">
                <a16:creationId xmlns:a16="http://schemas.microsoft.com/office/drawing/2014/main" id="{E972F686-DCFC-63D0-F739-423AE77A7382}"/>
              </a:ext>
            </a:extLst>
          </p:cNvPr>
          <p:cNvSpPr txBox="1">
            <a:spLocks/>
          </p:cNvSpPr>
          <p:nvPr>
            <p:custDataLst>
              <p:tags r:id="rId1"/>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Visa SLAs for Dispute Codes 10 &amp; 11 </a:t>
            </a:r>
          </a:p>
        </p:txBody>
      </p:sp>
      <p:graphicFrame>
        <p:nvGraphicFramePr>
          <p:cNvPr id="5" name="Table 4">
            <a:extLst>
              <a:ext uri="{FF2B5EF4-FFF2-40B4-BE49-F238E27FC236}">
                <a16:creationId xmlns:a16="http://schemas.microsoft.com/office/drawing/2014/main" id="{D20139DA-EAC4-B995-B300-0394CB8D92AB}"/>
              </a:ext>
            </a:extLst>
          </p:cNvPr>
          <p:cNvGraphicFramePr>
            <a:graphicFrameLocks noGrp="1"/>
          </p:cNvGraphicFramePr>
          <p:nvPr/>
        </p:nvGraphicFramePr>
        <p:xfrm>
          <a:off x="457198" y="1026053"/>
          <a:ext cx="11281284" cy="3993621"/>
        </p:xfrm>
        <a:graphic>
          <a:graphicData uri="http://schemas.openxmlformats.org/drawingml/2006/table">
            <a:tbl>
              <a:tblPr>
                <a:tableStyleId>{5C22544A-7EE6-4342-B048-85BDC9FD1C3A}</a:tableStyleId>
              </a:tblPr>
              <a:tblGrid>
                <a:gridCol w="2820321">
                  <a:extLst>
                    <a:ext uri="{9D8B030D-6E8A-4147-A177-3AD203B41FA5}">
                      <a16:colId xmlns:a16="http://schemas.microsoft.com/office/drawing/2014/main" val="1147480579"/>
                    </a:ext>
                  </a:extLst>
                </a:gridCol>
                <a:gridCol w="2820321">
                  <a:extLst>
                    <a:ext uri="{9D8B030D-6E8A-4147-A177-3AD203B41FA5}">
                      <a16:colId xmlns:a16="http://schemas.microsoft.com/office/drawing/2014/main" val="1562656262"/>
                    </a:ext>
                  </a:extLst>
                </a:gridCol>
                <a:gridCol w="2820321">
                  <a:extLst>
                    <a:ext uri="{9D8B030D-6E8A-4147-A177-3AD203B41FA5}">
                      <a16:colId xmlns:a16="http://schemas.microsoft.com/office/drawing/2014/main" val="2552045047"/>
                    </a:ext>
                  </a:extLst>
                </a:gridCol>
                <a:gridCol w="2820321">
                  <a:extLst>
                    <a:ext uri="{9D8B030D-6E8A-4147-A177-3AD203B41FA5}">
                      <a16:colId xmlns:a16="http://schemas.microsoft.com/office/drawing/2014/main" val="3317509737"/>
                    </a:ext>
                  </a:extLst>
                </a:gridCol>
              </a:tblGrid>
              <a:tr h="450766">
                <a:tc>
                  <a:txBody>
                    <a:bodyPr/>
                    <a:lstStyle/>
                    <a:p>
                      <a:pPr>
                        <a:buNone/>
                      </a:pPr>
                      <a:r>
                        <a:rPr lang="en-US" sz="1300" b="1">
                          <a:solidFill>
                            <a:schemeClr val="bg1"/>
                          </a:solidFill>
                        </a:rPr>
                        <a:t>S</a:t>
                      </a:r>
                      <a:r>
                        <a:rPr lang="en-CA" sz="1300" b="1">
                          <a:solidFill>
                            <a:schemeClr val="bg1"/>
                          </a:solidFill>
                        </a:rPr>
                        <a:t>tep</a:t>
                      </a:r>
                    </a:p>
                  </a:txBody>
                  <a:tcPr marL="87027" marR="87027" marT="43513" marB="43513" anchor="ctr">
                    <a:solidFill>
                      <a:schemeClr val="accent1">
                        <a:lumMod val="75000"/>
                      </a:schemeClr>
                    </a:solidFill>
                  </a:tcPr>
                </a:tc>
                <a:tc>
                  <a:txBody>
                    <a:bodyPr/>
                    <a:lstStyle/>
                    <a:p>
                      <a:pPr>
                        <a:buNone/>
                      </a:pPr>
                      <a:r>
                        <a:rPr lang="en-US" sz="1300" b="1">
                          <a:solidFill>
                            <a:schemeClr val="bg1"/>
                          </a:solidFill>
                        </a:rPr>
                        <a:t>Who </a:t>
                      </a:r>
                      <a:r>
                        <a:rPr lang="en-US" sz="1300" b="0" i="1">
                          <a:solidFill>
                            <a:schemeClr val="bg1"/>
                          </a:solidFill>
                        </a:rPr>
                        <a:t>(Dispute Code 10 &amp; 11)</a:t>
                      </a:r>
                      <a:endParaRPr lang="en-CA" sz="1300" b="0" i="1">
                        <a:solidFill>
                          <a:schemeClr val="bg1"/>
                        </a:solidFill>
                      </a:endParaRPr>
                    </a:p>
                  </a:txBody>
                  <a:tcPr marL="87027" marR="87027" marT="43513" marB="43513" anchor="ctr">
                    <a:solidFill>
                      <a:schemeClr val="tx1"/>
                    </a:solidFill>
                  </a:tcPr>
                </a:tc>
                <a:tc>
                  <a:txBody>
                    <a:bodyPr/>
                    <a:lstStyle/>
                    <a:p>
                      <a:pPr>
                        <a:buNone/>
                      </a:pPr>
                      <a:r>
                        <a:rPr lang="en-US" sz="1300" b="1">
                          <a:solidFill>
                            <a:schemeClr val="bg1"/>
                          </a:solidFill>
                        </a:rPr>
                        <a:t>Who </a:t>
                      </a:r>
                      <a:r>
                        <a:rPr kumimoji="0" lang="en-US" sz="1300" b="0" i="1" u="none" strike="noStrike" kern="1200" cap="none" spc="0" normalizeH="0" baseline="0" noProof="0">
                          <a:ln>
                            <a:noFill/>
                          </a:ln>
                          <a:solidFill>
                            <a:prstClr val="white"/>
                          </a:solidFill>
                          <a:effectLst/>
                          <a:uLnTx/>
                          <a:uFillTx/>
                          <a:latin typeface="+mn-lt"/>
                          <a:ea typeface="+mn-ea"/>
                          <a:cs typeface="+mn-cs"/>
                        </a:rPr>
                        <a:t>(Dispute Code 12 &amp; 13)</a:t>
                      </a:r>
                      <a:endParaRPr lang="en-CA" sz="1300" b="1">
                        <a:solidFill>
                          <a:schemeClr val="bg1"/>
                        </a:solidFill>
                      </a:endParaRPr>
                    </a:p>
                  </a:txBody>
                  <a:tcPr marL="87027" marR="87027" marT="43513" marB="43513" anchor="ctr">
                    <a:solidFill>
                      <a:schemeClr val="tx1"/>
                    </a:solidFill>
                  </a:tcPr>
                </a:tc>
                <a:tc>
                  <a:txBody>
                    <a:bodyPr/>
                    <a:lstStyle/>
                    <a:p>
                      <a:pPr>
                        <a:buNone/>
                      </a:pPr>
                      <a:r>
                        <a:rPr lang="en-CA" sz="1300" b="1">
                          <a:solidFill>
                            <a:schemeClr val="bg1"/>
                          </a:solidFill>
                        </a:rPr>
                        <a:t>Time limit per Visa Rules</a:t>
                      </a:r>
                    </a:p>
                  </a:txBody>
                  <a:tcPr marL="87027" marR="87027" marT="43513" marB="43513" anchor="ctr">
                    <a:solidFill>
                      <a:schemeClr val="tx1"/>
                    </a:solidFill>
                  </a:tcPr>
                </a:tc>
                <a:extLst>
                  <a:ext uri="{0D108BD9-81ED-4DB2-BD59-A6C34878D82A}">
                    <a16:rowId xmlns:a16="http://schemas.microsoft.com/office/drawing/2014/main" val="1389659811"/>
                  </a:ext>
                </a:extLst>
              </a:tr>
              <a:tr h="708571">
                <a:tc>
                  <a:txBody>
                    <a:bodyPr/>
                    <a:lstStyle/>
                    <a:p>
                      <a:pPr>
                        <a:buNone/>
                      </a:pPr>
                      <a:r>
                        <a:rPr lang="en-CA" sz="1300" b="1">
                          <a:solidFill>
                            <a:schemeClr val="accent1"/>
                          </a:solidFill>
                        </a:rPr>
                        <a:t>1. File the dispute</a:t>
                      </a:r>
                    </a:p>
                  </a:txBody>
                  <a:tcPr marL="87027" marR="87027" marT="43513" marB="43513" anchor="ctr">
                    <a:solidFill>
                      <a:schemeClr val="accent1">
                        <a:lumMod val="20000"/>
                        <a:lumOff val="80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CA" sz="1300" b="0" i="0" u="none" strike="noStrike" kern="1200" cap="none" spc="0" normalizeH="0" baseline="0" noProof="0">
                          <a:ln>
                            <a:noFill/>
                          </a:ln>
                          <a:solidFill>
                            <a:srgbClr val="53565A"/>
                          </a:solidFill>
                          <a:effectLst/>
                          <a:uLnTx/>
                          <a:uFillTx/>
                          <a:latin typeface="Segoe UI"/>
                          <a:ea typeface="+mn-ea"/>
                          <a:cs typeface="+mn-cs"/>
                        </a:rPr>
                        <a:t>Issuer (Beem)</a:t>
                      </a:r>
                    </a:p>
                  </a:txBody>
                  <a:tcPr marL="87027" marR="87027" marT="43513" marB="43513" anchor="ctr">
                    <a:solidFill>
                      <a:schemeClr val="bg1">
                        <a:lumMod val="95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CA" sz="1300" b="0" i="0" u="none" strike="noStrike" kern="1200" cap="none" spc="0" normalizeH="0" baseline="0" noProof="0">
                          <a:ln>
                            <a:noFill/>
                          </a:ln>
                          <a:solidFill>
                            <a:srgbClr val="53565A"/>
                          </a:solidFill>
                          <a:effectLst/>
                          <a:uLnTx/>
                          <a:uFillTx/>
                          <a:latin typeface="Segoe UI"/>
                          <a:ea typeface="+mn-ea"/>
                          <a:cs typeface="+mn-cs"/>
                        </a:rPr>
                        <a:t>Issuer (Beem)</a:t>
                      </a:r>
                    </a:p>
                  </a:txBody>
                  <a:tcPr marL="87027" marR="87027" marT="43513" marB="43513" anchor="ctr">
                    <a:solidFill>
                      <a:schemeClr val="bg1">
                        <a:lumMod val="95000"/>
                      </a:schemeClr>
                    </a:solidFill>
                  </a:tcPr>
                </a:tc>
                <a:tc>
                  <a:txBody>
                    <a:bodyPr/>
                    <a:lstStyle/>
                    <a:p>
                      <a:pPr algn="ctr">
                        <a:buNone/>
                      </a:pPr>
                      <a:r>
                        <a:rPr lang="en-CA" sz="1300" b="1"/>
                        <a:t>120 days or 75 days in some cases*</a:t>
                      </a:r>
                    </a:p>
                  </a:txBody>
                  <a:tcPr marL="87027" marR="87027" marT="43513" marB="43513" anchor="ctr">
                    <a:solidFill>
                      <a:schemeClr val="bg1">
                        <a:lumMod val="95000"/>
                      </a:schemeClr>
                    </a:solidFill>
                  </a:tcPr>
                </a:tc>
                <a:extLst>
                  <a:ext uri="{0D108BD9-81ED-4DB2-BD59-A6C34878D82A}">
                    <a16:rowId xmlns:a16="http://schemas.microsoft.com/office/drawing/2014/main" val="2546131893"/>
                  </a:ext>
                </a:extLst>
              </a:tr>
              <a:tr h="708571">
                <a:tc>
                  <a:txBody>
                    <a:bodyPr/>
                    <a:lstStyle/>
                    <a:p>
                      <a:pPr>
                        <a:buNone/>
                      </a:pPr>
                      <a:r>
                        <a:rPr lang="en-CA" sz="1300" b="1">
                          <a:solidFill>
                            <a:schemeClr val="accent1"/>
                          </a:solidFill>
                        </a:rPr>
                        <a:t>2. Dispute Response</a:t>
                      </a:r>
                    </a:p>
                  </a:txBody>
                  <a:tcPr marL="87027" marR="87027" marT="43513" marB="43513" anchor="ctr">
                    <a:solidFill>
                      <a:schemeClr val="accent1">
                        <a:lumMod val="20000"/>
                        <a:lumOff val="80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300"/>
                        <a:t>N / A</a:t>
                      </a:r>
                      <a:endParaRPr lang="en-CA" sz="1300"/>
                    </a:p>
                  </a:txBody>
                  <a:tcPr marL="87027" marR="87027" marT="43513" marB="43513" anchor="ctr">
                    <a:solidFill>
                      <a:schemeClr val="bg1">
                        <a:lumMod val="95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CA" sz="1300"/>
                        <a:t>Acquirer responds with evidence</a:t>
                      </a:r>
                    </a:p>
                  </a:txBody>
                  <a:tcPr marL="87027" marR="87027" marT="43513" marB="43513" anchor="ctr">
                    <a:solidFill>
                      <a:schemeClr val="bg1">
                        <a:lumMod val="95000"/>
                      </a:schemeClr>
                    </a:solidFill>
                  </a:tcPr>
                </a:tc>
                <a:tc>
                  <a:txBody>
                    <a:bodyPr/>
                    <a:lstStyle/>
                    <a:p>
                      <a:pPr algn="ctr">
                        <a:buNone/>
                      </a:pPr>
                      <a:r>
                        <a:rPr lang="en-CA" sz="1300" b="1"/>
                        <a:t>30 days</a:t>
                      </a:r>
                    </a:p>
                  </a:txBody>
                  <a:tcPr marL="87027" marR="87027" marT="43513" marB="43513" anchor="ctr">
                    <a:solidFill>
                      <a:schemeClr val="bg1">
                        <a:lumMod val="95000"/>
                      </a:schemeClr>
                    </a:solidFill>
                  </a:tcPr>
                </a:tc>
                <a:extLst>
                  <a:ext uri="{0D108BD9-81ED-4DB2-BD59-A6C34878D82A}">
                    <a16:rowId xmlns:a16="http://schemas.microsoft.com/office/drawing/2014/main" val="2607409373"/>
                  </a:ext>
                </a:extLst>
              </a:tr>
              <a:tr h="708571">
                <a:tc>
                  <a:txBody>
                    <a:bodyPr/>
                    <a:lstStyle/>
                    <a:p>
                      <a:pPr>
                        <a:buNone/>
                      </a:pPr>
                      <a:r>
                        <a:rPr lang="en-CA" sz="1300" b="1">
                          <a:solidFill>
                            <a:schemeClr val="accent1"/>
                          </a:solidFill>
                        </a:rPr>
                        <a:t>3. Pre-Arbitration attempt</a:t>
                      </a:r>
                    </a:p>
                  </a:txBody>
                  <a:tcPr marL="87027" marR="87027" marT="43513" marB="43513" anchor="ctr">
                    <a:solidFill>
                      <a:schemeClr val="accent1">
                        <a:lumMod val="20000"/>
                        <a:lumOff val="80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CA" sz="1300"/>
                        <a:t>Acquirer provides evidence</a:t>
                      </a:r>
                    </a:p>
                  </a:txBody>
                  <a:tcPr marL="87027" marR="87027" marT="43513" marB="43513" anchor="ctr">
                    <a:solidFill>
                      <a:schemeClr val="bg1">
                        <a:lumMod val="95000"/>
                      </a:schemeClr>
                    </a:solidFill>
                  </a:tcPr>
                </a:tc>
                <a:tc>
                  <a:txBody>
                    <a:bodyPr/>
                    <a:lstStyle/>
                    <a:p>
                      <a:pPr>
                        <a:buNone/>
                      </a:pPr>
                      <a:r>
                        <a:rPr lang="en-CA" sz="1300"/>
                        <a:t>Issuer (Beem) pushes back</a:t>
                      </a:r>
                    </a:p>
                  </a:txBody>
                  <a:tcPr marL="87027" marR="87027" marT="43513" marB="43513" anchor="ctr">
                    <a:solidFill>
                      <a:schemeClr val="bg1">
                        <a:lumMod val="95000"/>
                      </a:schemeClr>
                    </a:solidFill>
                  </a:tcPr>
                </a:tc>
                <a:tc>
                  <a:txBody>
                    <a:bodyPr/>
                    <a:lstStyle/>
                    <a:p>
                      <a:pPr algn="ctr">
                        <a:buNone/>
                      </a:pPr>
                      <a:r>
                        <a:rPr lang="en-CA" sz="1300" b="1"/>
                        <a:t>30 days</a:t>
                      </a:r>
                    </a:p>
                  </a:txBody>
                  <a:tcPr marL="87027" marR="87027" marT="43513" marB="43513" anchor="ctr">
                    <a:solidFill>
                      <a:schemeClr val="bg1">
                        <a:lumMod val="95000"/>
                      </a:schemeClr>
                    </a:solidFill>
                  </a:tcPr>
                </a:tc>
                <a:extLst>
                  <a:ext uri="{0D108BD9-81ED-4DB2-BD59-A6C34878D82A}">
                    <a16:rowId xmlns:a16="http://schemas.microsoft.com/office/drawing/2014/main" val="763678520"/>
                  </a:ext>
                </a:extLst>
              </a:tr>
              <a:tr h="708571">
                <a:tc>
                  <a:txBody>
                    <a:bodyPr/>
                    <a:lstStyle/>
                    <a:p>
                      <a:pPr>
                        <a:buNone/>
                      </a:pPr>
                      <a:r>
                        <a:rPr lang="en-CA" sz="1300" b="1">
                          <a:solidFill>
                            <a:schemeClr val="accent1"/>
                          </a:solidFill>
                        </a:rPr>
                        <a:t>4. Pre-Arbitration response</a:t>
                      </a:r>
                    </a:p>
                  </a:txBody>
                  <a:tcPr marL="87027" marR="87027" marT="43513" marB="43513" anchor="ctr">
                    <a:solidFill>
                      <a:schemeClr val="accent1">
                        <a:lumMod val="20000"/>
                        <a:lumOff val="80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CA" sz="1300"/>
                        <a:t>Issuer (Beem) pushes back</a:t>
                      </a:r>
                    </a:p>
                  </a:txBody>
                  <a:tcPr marL="87027" marR="87027" marT="43513" marB="43513" anchor="ctr">
                    <a:solidFill>
                      <a:schemeClr val="bg1">
                        <a:lumMod val="95000"/>
                      </a:schemeClr>
                    </a:solidFill>
                  </a:tcPr>
                </a:tc>
                <a:tc>
                  <a:txBody>
                    <a:bodyPr/>
                    <a:lstStyle/>
                    <a:p>
                      <a:pPr>
                        <a:buNone/>
                      </a:pPr>
                      <a:r>
                        <a:rPr lang="en-CA" sz="1300"/>
                        <a:t>Acquirer responds</a:t>
                      </a:r>
                    </a:p>
                  </a:txBody>
                  <a:tcPr marL="87027" marR="87027" marT="43513" marB="43513" anchor="ctr">
                    <a:solidFill>
                      <a:schemeClr val="bg1">
                        <a:lumMod val="95000"/>
                      </a:schemeClr>
                    </a:solidFill>
                  </a:tcPr>
                </a:tc>
                <a:tc>
                  <a:txBody>
                    <a:bodyPr/>
                    <a:lstStyle/>
                    <a:p>
                      <a:pPr algn="ctr">
                        <a:buNone/>
                      </a:pPr>
                      <a:r>
                        <a:rPr lang="en-CA" sz="1300" b="1"/>
                        <a:t>30 days</a:t>
                      </a:r>
                    </a:p>
                  </a:txBody>
                  <a:tcPr marL="87027" marR="87027" marT="43513" marB="43513" anchor="ctr">
                    <a:solidFill>
                      <a:schemeClr val="bg1">
                        <a:lumMod val="95000"/>
                      </a:schemeClr>
                    </a:solidFill>
                  </a:tcPr>
                </a:tc>
                <a:extLst>
                  <a:ext uri="{0D108BD9-81ED-4DB2-BD59-A6C34878D82A}">
                    <a16:rowId xmlns:a16="http://schemas.microsoft.com/office/drawing/2014/main" val="2619464224"/>
                  </a:ext>
                </a:extLst>
              </a:tr>
              <a:tr h="708571">
                <a:tc>
                  <a:txBody>
                    <a:bodyPr/>
                    <a:lstStyle/>
                    <a:p>
                      <a:pPr>
                        <a:buNone/>
                      </a:pPr>
                      <a:r>
                        <a:rPr lang="en-CA" sz="1300" b="1">
                          <a:solidFill>
                            <a:schemeClr val="accent1"/>
                          </a:solidFill>
                        </a:rPr>
                        <a:t>5. Arbitration</a:t>
                      </a:r>
                    </a:p>
                  </a:txBody>
                  <a:tcPr marL="87027" marR="87027" marT="43513" marB="43513" anchor="ctr">
                    <a:solidFill>
                      <a:schemeClr val="accent1">
                        <a:lumMod val="20000"/>
                        <a:lumOff val="80000"/>
                      </a:schemeClr>
                    </a:solidFill>
                  </a:tcPr>
                </a:tc>
                <a:tc>
                  <a:txBody>
                    <a:bodyPr/>
                    <a:lstStyle/>
                    <a:p>
                      <a:pPr>
                        <a:buNone/>
                      </a:pPr>
                      <a:r>
                        <a:rPr lang="en-CA" sz="1300"/>
                        <a:t>Acquirer escalates to Visa</a:t>
                      </a:r>
                    </a:p>
                  </a:txBody>
                  <a:tcPr marL="87027" marR="87027" marT="43513" marB="43513" anchor="ctr">
                    <a:solidFill>
                      <a:schemeClr val="bg1">
                        <a:lumMod val="95000"/>
                      </a:schemeClr>
                    </a:solidFill>
                  </a:tcPr>
                </a:tc>
                <a:tc>
                  <a:txBody>
                    <a:bodyPr/>
                    <a:lstStyle/>
                    <a:p>
                      <a:pPr>
                        <a:buNone/>
                      </a:pPr>
                      <a:r>
                        <a:rPr lang="en-CA" sz="1300"/>
                        <a:t>Issuer (Beem) escalates to Visa</a:t>
                      </a:r>
                    </a:p>
                  </a:txBody>
                  <a:tcPr marL="87027" marR="87027" marT="43513" marB="43513" anchor="ctr">
                    <a:solidFill>
                      <a:schemeClr val="bg1">
                        <a:lumMod val="95000"/>
                      </a:schemeClr>
                    </a:solidFill>
                  </a:tcPr>
                </a:tc>
                <a:tc>
                  <a:txBody>
                    <a:bodyPr/>
                    <a:lstStyle/>
                    <a:p>
                      <a:pPr algn="ctr">
                        <a:buNone/>
                      </a:pPr>
                      <a:r>
                        <a:rPr lang="en-CA" sz="1300" b="1"/>
                        <a:t>10 days</a:t>
                      </a:r>
                    </a:p>
                  </a:txBody>
                  <a:tcPr marL="87027" marR="87027" marT="43513" marB="43513" anchor="ctr">
                    <a:solidFill>
                      <a:schemeClr val="bg1">
                        <a:lumMod val="95000"/>
                      </a:schemeClr>
                    </a:solidFill>
                  </a:tcPr>
                </a:tc>
                <a:extLst>
                  <a:ext uri="{0D108BD9-81ED-4DB2-BD59-A6C34878D82A}">
                    <a16:rowId xmlns:a16="http://schemas.microsoft.com/office/drawing/2014/main" val="2888609959"/>
                  </a:ext>
                </a:extLst>
              </a:tr>
            </a:tbl>
          </a:graphicData>
        </a:graphic>
      </p:graphicFrame>
      <p:sp>
        <p:nvSpPr>
          <p:cNvPr id="9" name="TextBox 8">
            <a:extLst>
              <a:ext uri="{FF2B5EF4-FFF2-40B4-BE49-F238E27FC236}">
                <a16:creationId xmlns:a16="http://schemas.microsoft.com/office/drawing/2014/main" id="{A2CED516-9995-D442-55BA-415D8EC9C3D5}"/>
              </a:ext>
            </a:extLst>
          </p:cNvPr>
          <p:cNvSpPr txBox="1"/>
          <p:nvPr/>
        </p:nvSpPr>
        <p:spPr>
          <a:xfrm>
            <a:off x="272374" y="5402919"/>
            <a:ext cx="9328825" cy="1200329"/>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*75 days apply if the following conditions met:</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Condition 11.1</a:t>
            </a:r>
            <a:r>
              <a:rPr kumimoji="0" lang="en-CA" sz="1200" b="0" i="0" u="none" strike="noStrike" kern="1200" cap="none" spc="0" normalizeH="0" baseline="0" noProof="0">
                <a:ln>
                  <a:noFill/>
                </a:ln>
                <a:solidFill>
                  <a:srgbClr val="53565A"/>
                </a:solidFill>
                <a:effectLst/>
                <a:uLnTx/>
                <a:uFillTx/>
                <a:latin typeface="Segoe UI"/>
                <a:ea typeface="+mn-ea"/>
                <a:cs typeface="+mn-cs"/>
              </a:rPr>
              <a:t> — Card on the blocklist but merchant accepted it anyway </a:t>
            </a:r>
            <a:r>
              <a:rPr kumimoji="0" lang="en-CA" sz="1200" b="0" i="1" u="none" strike="noStrike" kern="1200" cap="none" spc="0" normalizeH="0" baseline="0" noProof="0">
                <a:ln>
                  <a:noFill/>
                </a:ln>
                <a:solidFill>
                  <a:srgbClr val="53565A"/>
                </a:solidFill>
                <a:effectLst/>
                <a:uLnTx/>
                <a:uFillTx/>
                <a:latin typeface="Segoe UI"/>
                <a:ea typeface="+mn-ea"/>
                <a:cs typeface="+mn-cs"/>
              </a:rPr>
              <a:t>(Ref: 11.8.1)</a:t>
            </a:r>
            <a:endParaRPr kumimoji="0" lang="en-CA" sz="1200" b="0" i="0" u="none" strike="noStrike" kern="1200" cap="none" spc="0" normalizeH="0" baseline="0" noProof="0">
              <a:ln>
                <a:noFill/>
              </a:ln>
              <a:solidFill>
                <a:srgbClr val="53565A"/>
              </a:solidFill>
              <a:effectLst/>
              <a:uLnTx/>
              <a:uFillTx/>
              <a:latin typeface="Segoe UI"/>
              <a:ea typeface="+mn-ea"/>
              <a:cs typeface="+mn-cs"/>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Condition 11.2</a:t>
            </a:r>
            <a:r>
              <a:rPr kumimoji="0" lang="en-CA" sz="1200" b="0" i="0" u="none" strike="noStrike" kern="1200" cap="none" spc="0" normalizeH="0" baseline="0" noProof="0">
                <a:ln>
                  <a:noFill/>
                </a:ln>
                <a:solidFill>
                  <a:srgbClr val="53565A"/>
                </a:solidFill>
                <a:effectLst/>
                <a:uLnTx/>
                <a:uFillTx/>
                <a:latin typeface="Segoe UI"/>
                <a:ea typeface="+mn-ea"/>
                <a:cs typeface="+mn-cs"/>
              </a:rPr>
              <a:t> — Beem declined the transaction but merchant processed it anyway </a:t>
            </a:r>
            <a:r>
              <a:rPr kumimoji="0" lang="en-CA" sz="1200" b="0" i="1" u="none" strike="noStrike" kern="1200" cap="none" spc="0" normalizeH="0" baseline="0" noProof="0">
                <a:ln>
                  <a:noFill/>
                </a:ln>
                <a:solidFill>
                  <a:srgbClr val="53565A"/>
                </a:solidFill>
                <a:effectLst/>
                <a:uLnTx/>
                <a:uFillTx/>
                <a:latin typeface="Segoe UI"/>
                <a:ea typeface="+mn-ea"/>
                <a:cs typeface="+mn-cs"/>
              </a:rPr>
              <a:t>(Ref: 11.8.2)</a:t>
            </a:r>
            <a:endParaRPr kumimoji="0" lang="en-CA" sz="1200" b="0" i="0" u="none" strike="noStrike" kern="1200" cap="none" spc="0" normalizeH="0" baseline="0" noProof="0">
              <a:ln>
                <a:noFill/>
              </a:ln>
              <a:solidFill>
                <a:srgbClr val="53565A"/>
              </a:solidFill>
              <a:effectLst/>
              <a:uLnTx/>
              <a:uFillTx/>
              <a:latin typeface="Segoe UI"/>
              <a:ea typeface="+mn-ea"/>
              <a:cs typeface="+mn-cs"/>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Condition 11.3</a:t>
            </a:r>
            <a:r>
              <a:rPr kumimoji="0" lang="en-CA" sz="1200" b="0" i="0" u="none" strike="noStrike" kern="1200" cap="none" spc="0" normalizeH="0" baseline="0" noProof="0">
                <a:ln>
                  <a:noFill/>
                </a:ln>
                <a:solidFill>
                  <a:srgbClr val="53565A"/>
                </a:solidFill>
                <a:effectLst/>
                <a:uLnTx/>
                <a:uFillTx/>
                <a:latin typeface="Segoe UI"/>
                <a:ea typeface="+mn-ea"/>
                <a:cs typeface="+mn-cs"/>
              </a:rPr>
              <a:t> — Merchant never requested authorization, or submitted the transaction too late </a:t>
            </a:r>
            <a:r>
              <a:rPr kumimoji="0" lang="en-CA" sz="1200" b="0" i="1" u="none" strike="noStrike" kern="1200" cap="none" spc="0" normalizeH="0" baseline="0" noProof="0">
                <a:ln>
                  <a:noFill/>
                </a:ln>
                <a:solidFill>
                  <a:srgbClr val="53565A"/>
                </a:solidFill>
                <a:effectLst/>
                <a:uLnTx/>
                <a:uFillTx/>
                <a:latin typeface="Segoe UI"/>
                <a:ea typeface="+mn-ea"/>
                <a:cs typeface="+mn-cs"/>
              </a:rPr>
              <a:t>(Ref: 11.8.3)</a:t>
            </a:r>
            <a:endParaRPr kumimoji="0" lang="en-CA" sz="1200" b="0" i="0" u="none" strike="noStrike" kern="1200" cap="none" spc="0" normalizeH="0" baseline="0" noProof="0">
              <a:ln>
                <a:noFill/>
              </a:ln>
              <a:solidFill>
                <a:srgbClr val="53565A"/>
              </a:solidFill>
              <a:effectLst/>
              <a:uLnTx/>
              <a:uFillTx/>
              <a:latin typeface="Segoe UI"/>
              <a:ea typeface="+mn-ea"/>
              <a:cs typeface="+mn-cs"/>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Condition 12.7</a:t>
            </a:r>
            <a:r>
              <a:rPr kumimoji="0" lang="en-CA" sz="1200" b="0" i="0" u="none" strike="noStrike" kern="1200" cap="none" spc="0" normalizeH="0" baseline="0" noProof="0">
                <a:ln>
                  <a:noFill/>
                </a:ln>
                <a:solidFill>
                  <a:srgbClr val="53565A"/>
                </a:solidFill>
                <a:effectLst/>
                <a:uLnTx/>
                <a:uFillTx/>
                <a:latin typeface="Segoe UI"/>
                <a:ea typeface="+mn-ea"/>
                <a:cs typeface="+mn-cs"/>
              </a:rPr>
              <a:t> — Merchant/Acquirer submitted invalid or non-compliant transaction data </a:t>
            </a:r>
            <a:r>
              <a:rPr kumimoji="0" lang="en-CA" sz="1200" b="0" i="1" u="none" strike="noStrike" kern="1200" cap="none" spc="0" normalizeH="0" baseline="0" noProof="0">
                <a:ln>
                  <a:noFill/>
                </a:ln>
                <a:solidFill>
                  <a:srgbClr val="53565A"/>
                </a:solidFill>
                <a:effectLst/>
                <a:uLnTx/>
                <a:uFillTx/>
                <a:latin typeface="Segoe UI"/>
                <a:ea typeface="+mn-ea"/>
                <a:cs typeface="+mn-cs"/>
              </a:rPr>
              <a:t>(Ref: 11.9.6)</a:t>
            </a:r>
            <a:endParaRPr kumimoji="0" lang="en-CA" sz="1200" b="0" i="0" u="none" strike="noStrike" kern="1200" cap="none" spc="0" normalizeH="0" baseline="0" noProof="0">
              <a:ln>
                <a:noFill/>
              </a:ln>
              <a:solidFill>
                <a:srgbClr val="53565A"/>
              </a:solidFill>
              <a:effectLst/>
              <a:uLnTx/>
              <a:uFillTx/>
              <a:latin typeface="Segoe UI"/>
              <a:ea typeface="+mn-ea"/>
              <a:cs typeface="+mn-cs"/>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Condition 13.8</a:t>
            </a:r>
            <a:r>
              <a:rPr kumimoji="0" lang="en-CA" sz="1200" b="0" i="0" u="none" strike="noStrike" kern="1200" cap="none" spc="0" normalizeH="0" baseline="0" noProof="0">
                <a:ln>
                  <a:noFill/>
                </a:ln>
                <a:solidFill>
                  <a:srgbClr val="53565A"/>
                </a:solidFill>
                <a:effectLst/>
                <a:uLnTx/>
                <a:uFillTx/>
                <a:latin typeface="Segoe UI"/>
                <a:ea typeface="+mn-ea"/>
                <a:cs typeface="+mn-cs"/>
              </a:rPr>
              <a:t> — An incoming OCT (push payment) wasn't accepted or posted </a:t>
            </a:r>
            <a:r>
              <a:rPr kumimoji="0" lang="en-CA" sz="1200" b="0" i="1" u="none" strike="noStrike" kern="1200" cap="none" spc="0" normalizeH="0" baseline="0" noProof="0">
                <a:ln>
                  <a:noFill/>
                </a:ln>
                <a:solidFill>
                  <a:srgbClr val="53565A"/>
                </a:solidFill>
                <a:effectLst/>
                <a:uLnTx/>
                <a:uFillTx/>
                <a:latin typeface="Segoe UI"/>
                <a:ea typeface="+mn-ea"/>
                <a:cs typeface="+mn-cs"/>
              </a:rPr>
              <a:t>(Ref: 11.10.8)</a:t>
            </a:r>
            <a:endParaRPr kumimoji="0" lang="en-CA" sz="1200" b="0" i="0" u="none" strike="noStrike" kern="1200" cap="none" spc="0" normalizeH="0" baseline="0" noProof="0">
              <a:ln>
                <a:noFill/>
              </a:ln>
              <a:solidFill>
                <a:srgbClr val="53565A"/>
              </a:solidFill>
              <a:effectLst/>
              <a:uLnTx/>
              <a:uFillTx/>
              <a:latin typeface="Segoe UI"/>
              <a:ea typeface="+mn-ea"/>
              <a:cs typeface="+mn-cs"/>
            </a:endParaRPr>
          </a:p>
        </p:txBody>
      </p:sp>
    </p:spTree>
    <p:extLst>
      <p:ext uri="{BB962C8B-B14F-4D97-AF65-F5344CB8AC3E}">
        <p14:creationId xmlns:p14="http://schemas.microsoft.com/office/powerpoint/2010/main" val="29852285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NUM" val="10"/>
</p:tagLst>
</file>

<file path=ppt/tags/tag3.xml><?xml version="1.0" encoding="utf-8"?>
<p:tagLst xmlns:a="http://schemas.openxmlformats.org/drawingml/2006/main" xmlns:r="http://schemas.openxmlformats.org/officeDocument/2006/relationships" xmlns:p="http://schemas.openxmlformats.org/presentationml/2006/main">
  <p:tag name="NUM" val="26"/>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NUM" val="10"/>
</p:tagLst>
</file>

<file path=ppt/tags/tag6.xml><?xml version="1.0" encoding="utf-8"?>
<p:tagLst xmlns:a="http://schemas.openxmlformats.org/drawingml/2006/main" xmlns:r="http://schemas.openxmlformats.org/officeDocument/2006/relationships" xmlns:p="http://schemas.openxmlformats.org/presentationml/2006/main">
  <p:tag name="NUM" val="26"/>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NUM" val="10"/>
</p:tagLst>
</file>

<file path=ppt/tags/tag9.xml><?xml version="1.0" encoding="utf-8"?>
<p:tagLst xmlns:a="http://schemas.openxmlformats.org/drawingml/2006/main" xmlns:r="http://schemas.openxmlformats.org/officeDocument/2006/relationships" xmlns:p="http://schemas.openxmlformats.org/presentationml/2006/main">
  <p:tag name="NUM" val="26"/>
</p:tagLst>
</file>

<file path=ppt/tags/tag10.xml><?xml version="1.0" encoding="utf-8"?>
<p:tagLst xmlns:a="http://schemas.openxmlformats.org/drawingml/2006/main" xmlns:r="http://schemas.openxmlformats.org/officeDocument/2006/relationships" xmlns:p="http://schemas.openxmlformats.org/presentationml/2006/main">
  <p:tag name="NUM" val="2"/>
</p:tagLst>
</file>

<file path=ppt/tags/tag11.xml><?xml version="1.0" encoding="utf-8"?>
<p:tagLst xmlns:a="http://schemas.openxmlformats.org/drawingml/2006/main" xmlns:r="http://schemas.openxmlformats.org/officeDocument/2006/relationships" xmlns:p="http://schemas.openxmlformats.org/presentationml/2006/main">
  <p:tag name="NUM" val="1"/>
</p:tagLst>
</file>

<file path=ppt/tags/tag12.xml><?xml version="1.0" encoding="utf-8"?>
<p:tagLst xmlns:a="http://schemas.openxmlformats.org/drawingml/2006/main" xmlns:r="http://schemas.openxmlformats.org/officeDocument/2006/relationships" xmlns:p="http://schemas.openxmlformats.org/presentationml/2006/main">
  <p:tag name="NUM" val="2"/>
</p:tagLst>
</file>

<file path=ppt/tags/tag13.xml><?xml version="1.0" encoding="utf-8"?>
<p:tagLst xmlns:a="http://schemas.openxmlformats.org/drawingml/2006/main" xmlns:r="http://schemas.openxmlformats.org/officeDocument/2006/relationships" xmlns:p="http://schemas.openxmlformats.org/presentationml/2006/main">
  <p:tag name="NUM" val="1"/>
</p:tagLst>
</file>

<file path=ppt/tags/tag14.xml><?xml version="1.0" encoding="utf-8"?>
<p:tagLst xmlns:a="http://schemas.openxmlformats.org/drawingml/2006/main" xmlns:r="http://schemas.openxmlformats.org/officeDocument/2006/relationships" xmlns:p="http://schemas.openxmlformats.org/presentationml/2006/main">
  <p:tag name="NUM" val="2"/>
</p:tagLst>
</file>

<file path=ppt/tags/tag15.xml><?xml version="1.0" encoding="utf-8"?>
<p:tagLst xmlns:a="http://schemas.openxmlformats.org/drawingml/2006/main" xmlns:r="http://schemas.openxmlformats.org/officeDocument/2006/relationships" xmlns:p="http://schemas.openxmlformats.org/presentationml/2006/main">
  <p:tag name="NUM" val="1"/>
</p:tagLst>
</file>

<file path=ppt/tags/tag16.xml><?xml version="1.0" encoding="utf-8"?>
<p:tagLst xmlns:a="http://schemas.openxmlformats.org/drawingml/2006/main" xmlns:r="http://schemas.openxmlformats.org/officeDocument/2006/relationships" xmlns:p="http://schemas.openxmlformats.org/presentationml/2006/main">
  <p:tag name="NUM" val="2"/>
</p:tagLst>
</file>

<file path=ppt/tags/tag17.xml><?xml version="1.0" encoding="utf-8"?>
<p:tagLst xmlns:a="http://schemas.openxmlformats.org/drawingml/2006/main" xmlns:r="http://schemas.openxmlformats.org/officeDocument/2006/relationships" xmlns:p="http://schemas.openxmlformats.org/presentationml/2006/main">
  <p:tag name="NUM" val="1"/>
</p:tagLst>
</file>

<file path=ppt/tags/tag18.xml><?xml version="1.0" encoding="utf-8"?>
<p:tagLst xmlns:a="http://schemas.openxmlformats.org/drawingml/2006/main" xmlns:r="http://schemas.openxmlformats.org/officeDocument/2006/relationships" xmlns:p="http://schemas.openxmlformats.org/presentationml/2006/main">
  <p:tag name="NUM" val="2"/>
</p:tagLst>
</file>

<file path=ppt/tags/tag19.xml><?xml version="1.0" encoding="utf-8"?>
<p:tagLst xmlns:a="http://schemas.openxmlformats.org/drawingml/2006/main" xmlns:r="http://schemas.openxmlformats.org/officeDocument/2006/relationships" xmlns:p="http://schemas.openxmlformats.org/presentationml/2006/main">
  <p:tag name="NUM" val="1"/>
</p:tagLst>
</file>

<file path=ppt/tags/tag20.xml><?xml version="1.0" encoding="utf-8"?>
<p:tagLst xmlns:a="http://schemas.openxmlformats.org/drawingml/2006/main" xmlns:r="http://schemas.openxmlformats.org/officeDocument/2006/relationships" xmlns:p="http://schemas.openxmlformats.org/presentationml/2006/main">
  <p:tag name="NUM" val="2"/>
</p:tagLst>
</file>

<file path=ppt/tags/tag21.xml><?xml version="1.0" encoding="utf-8"?>
<p:tagLst xmlns:a="http://schemas.openxmlformats.org/drawingml/2006/main" xmlns:r="http://schemas.openxmlformats.org/officeDocument/2006/relationships" xmlns:p="http://schemas.openxmlformats.org/presentationml/2006/main">
  <p:tag name="NUM" val="1"/>
</p:tagLst>
</file>

<file path=ppt/tags/tag22.xml><?xml version="1.0" encoding="utf-8"?>
<p:tagLst xmlns:a="http://schemas.openxmlformats.org/drawingml/2006/main" xmlns:r="http://schemas.openxmlformats.org/officeDocument/2006/relationships" xmlns:p="http://schemas.openxmlformats.org/presentationml/2006/main">
  <p:tag name="NUM" val="2"/>
</p:tagLst>
</file>

<file path=ppt/tags/tag23.xml><?xml version="1.0" encoding="utf-8"?>
<p:tagLst xmlns:a="http://schemas.openxmlformats.org/drawingml/2006/main" xmlns:r="http://schemas.openxmlformats.org/officeDocument/2006/relationships" xmlns:p="http://schemas.openxmlformats.org/presentationml/2006/main">
  <p:tag name="NUM" val="1"/>
</p:tagLst>
</file>

<file path=ppt/tags/tag24.xml><?xml version="1.0" encoding="utf-8"?>
<p:tagLst xmlns:a="http://schemas.openxmlformats.org/drawingml/2006/main" xmlns:r="http://schemas.openxmlformats.org/officeDocument/2006/relationships" xmlns:p="http://schemas.openxmlformats.org/presentationml/2006/main">
  <p:tag name="NUM" val="1"/>
</p:tagLst>
</file>

<file path=ppt/theme/theme1.xml><?xml version="1.0" encoding="utf-8"?>
<a:theme xmlns:a="http://schemas.openxmlformats.org/drawingml/2006/main" name="2_Brave New Market">
  <a:themeElements>
    <a:clrScheme name="Personnalisé 6">
      <a:dk1>
        <a:srgbClr val="53565A"/>
      </a:dk1>
      <a:lt1>
        <a:sysClr val="window" lastClr="FFFFFF"/>
      </a:lt1>
      <a:dk2>
        <a:srgbClr val="53565A"/>
      </a:dk2>
      <a:lt2>
        <a:srgbClr val="D0D0CE"/>
      </a:lt2>
      <a:accent1>
        <a:srgbClr val="9B40EA"/>
      </a:accent1>
      <a:accent2>
        <a:srgbClr val="C2E2E3"/>
      </a:accent2>
      <a:accent3>
        <a:srgbClr val="53565A"/>
      </a:accent3>
      <a:accent4>
        <a:srgbClr val="8CC7C6"/>
      </a:accent4>
      <a:accent5>
        <a:srgbClr val="F2EFEB"/>
      </a:accent5>
      <a:accent6>
        <a:srgbClr val="303434"/>
      </a:accent6>
      <a:hlink>
        <a:srgbClr val="53565A"/>
      </a:hlink>
      <a:folHlink>
        <a:srgbClr val="FFFFFF"/>
      </a:folHlink>
    </a:clrScheme>
    <a:fontScheme name="Custom 9">
      <a:majorFont>
        <a:latin typeface="Chronicle Display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81437FCE-F9C7-42CA-A8FF-0402FCD34AF0}" vid="{44A9CB49-6606-4E4B-9548-672F385C8FED}"/>
    </a:ext>
  </a:extLst>
</a:theme>
</file>

<file path=ppt/theme/theme2.xml><?xml version="1.0" encoding="utf-8"?>
<a:theme xmlns:a="http://schemas.openxmlformats.org/drawingml/2006/main" name="3_Brave New Market">
  <a:themeElements>
    <a:clrScheme name="Personnalisé 6">
      <a:dk1>
        <a:srgbClr val="53565A"/>
      </a:dk1>
      <a:lt1>
        <a:sysClr val="window" lastClr="FFFFFF"/>
      </a:lt1>
      <a:dk2>
        <a:srgbClr val="53565A"/>
      </a:dk2>
      <a:lt2>
        <a:srgbClr val="D0D0CE"/>
      </a:lt2>
      <a:accent1>
        <a:srgbClr val="9B40EA"/>
      </a:accent1>
      <a:accent2>
        <a:srgbClr val="C2E2E3"/>
      </a:accent2>
      <a:accent3>
        <a:srgbClr val="53565A"/>
      </a:accent3>
      <a:accent4>
        <a:srgbClr val="8CC7C6"/>
      </a:accent4>
      <a:accent5>
        <a:srgbClr val="F2EFEB"/>
      </a:accent5>
      <a:accent6>
        <a:srgbClr val="303434"/>
      </a:accent6>
      <a:hlink>
        <a:srgbClr val="53565A"/>
      </a:hlink>
      <a:folHlink>
        <a:srgbClr val="FFFFFF"/>
      </a:folHlink>
    </a:clrScheme>
    <a:fontScheme name="Custom 9">
      <a:majorFont>
        <a:latin typeface="Chronicle Display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81437FCE-F9C7-42CA-A8FF-0402FCD34AF0}" vid="{44A9CB49-6606-4E4B-9548-672F385C8FED}"/>
    </a:ext>
  </a:extLst>
</a:theme>
</file>

<file path=ppt/theme/theme3.xml><?xml version="1.0" encoding="utf-8"?>
<a:theme xmlns:a="http://schemas.openxmlformats.org/drawingml/2006/main" name="4_Brave New Market">
  <a:themeElements>
    <a:clrScheme name="Personnalisé 6">
      <a:dk1>
        <a:srgbClr val="53565A"/>
      </a:dk1>
      <a:lt1>
        <a:sysClr val="window" lastClr="FFFFFF"/>
      </a:lt1>
      <a:dk2>
        <a:srgbClr val="53565A"/>
      </a:dk2>
      <a:lt2>
        <a:srgbClr val="D0D0CE"/>
      </a:lt2>
      <a:accent1>
        <a:srgbClr val="9B40EA"/>
      </a:accent1>
      <a:accent2>
        <a:srgbClr val="C2E2E3"/>
      </a:accent2>
      <a:accent3>
        <a:srgbClr val="53565A"/>
      </a:accent3>
      <a:accent4>
        <a:srgbClr val="8CC7C6"/>
      </a:accent4>
      <a:accent5>
        <a:srgbClr val="F2EFEB"/>
      </a:accent5>
      <a:accent6>
        <a:srgbClr val="303434"/>
      </a:accent6>
      <a:hlink>
        <a:srgbClr val="53565A"/>
      </a:hlink>
      <a:folHlink>
        <a:srgbClr val="FFFFFF"/>
      </a:folHlink>
    </a:clrScheme>
    <a:fontScheme name="Custom 9">
      <a:majorFont>
        <a:latin typeface="Chronicle Display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81437FCE-F9C7-42CA-A8FF-0402FCD34AF0}" vid="{44A9CB49-6606-4E4B-9548-672F385C8FE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7</TotalTime>
  <Words>1882</Words>
  <Application>Microsoft Office PowerPoint</Application>
  <PresentationFormat>Widescreen</PresentationFormat>
  <Paragraphs>284</Paragraphs>
  <Slides>9</Slides>
  <Notes>8</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1</vt:i4>
      </vt:variant>
      <vt:variant>
        <vt:lpstr>Slide Titles</vt:lpstr>
      </vt:variant>
      <vt:variant>
        <vt:i4>9</vt:i4>
      </vt:variant>
    </vt:vector>
  </HeadingPairs>
  <TitlesOfParts>
    <vt:vector size="20" baseType="lpstr">
      <vt:lpstr>Aptos</vt:lpstr>
      <vt:lpstr>Arial</vt:lpstr>
      <vt:lpstr>Calibri</vt:lpstr>
      <vt:lpstr>Open Sans</vt:lpstr>
      <vt:lpstr>Segoe UI</vt:lpstr>
      <vt:lpstr>Verdana</vt:lpstr>
      <vt:lpstr>Wingdings 2</vt:lpstr>
      <vt:lpstr>2_Brave New Market</vt:lpstr>
      <vt:lpstr>3_Brave New Market</vt:lpstr>
      <vt:lpstr>4_Brave New Market</vt:lpstr>
      <vt:lpstr>think-cell Slide</vt:lpstr>
      <vt:lpstr>Dispute Resolution Process Flows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 David</dc:creator>
  <cp:lastModifiedBy>Lin, David</cp:lastModifiedBy>
  <cp:revision>4</cp:revision>
  <dcterms:created xsi:type="dcterms:W3CDTF">2026-09-28T19:13:29Z</dcterms:created>
  <dcterms:modified xsi:type="dcterms:W3CDTF">2026-10-13T14:31:48Z</dcterms:modified>
</cp:coreProperties>
</file>