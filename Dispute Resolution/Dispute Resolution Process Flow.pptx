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147483547" r:id="rId2"/>
    <p:sldId id="2147483554" r:id="rId3"/>
    <p:sldId id="2147483559" r:id="rId4"/>
    <p:sldId id="2147483563" r:id="rId5"/>
    <p:sldId id="2147483564" r:id="rId6"/>
    <p:sldId id="2147483565" r:id="rId7"/>
    <p:sldId id="2147483566" r:id="rId8"/>
    <p:sldId id="21474835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FA620-DC19-4CE5-B7B4-374BE689543E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63E8C-CDD1-4ABC-A605-C8AFBF4013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7904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96D4-10EE-F0BF-5459-C045EE35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62082-061C-30FE-7CFD-CDA48BD11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131A20-1B91-9EE9-DFD6-6713ADF13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28266-B6DA-CCE8-4874-E6B78449E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947599-835B-407E-BB99-8FF97F2D7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120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DDA6C-C195-B2B7-1133-C86D80FB2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5EB61-1448-9AB7-50E3-0214D513E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04942-AEC8-BFB4-7125-C496F03EC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2CC3D-CC1E-1A54-D11F-68B8044D7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947599-835B-407E-BB99-8FF97F2D7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436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5AFD-328A-85CE-6073-6F569748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94161-D6CA-BEF8-D50A-17A404342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1FA78-AE56-0EE2-9B23-9331F00C9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873E1-83E9-1FC3-9C88-FCFC66109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947599-835B-407E-BB99-8FF97F2D7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102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305A-A1E1-C863-F2E2-44D91521F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3FAF8-9C09-F605-5552-659C8E9F5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A754E-FB32-C343-03F3-A50B9ED52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C1CB7-E1D2-A32F-F138-EF7ED35A3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947599-835B-407E-BB99-8FF97F2D7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0322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60A2B-BE5A-8997-8F0B-229C38CCA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3B756-E6A1-320D-49CE-DB2E4F26A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55038-1554-79D5-7487-6101050E8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8864B-E944-0253-99FD-DC5B5070E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947599-835B-407E-BB99-8FF97F2D7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196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B974-F166-0AC6-006E-10E163FF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8E3D6-EDE8-0076-620A-EFA428D99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EE5C7-6700-B87B-F83A-44A70758E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4B7B3-E528-6E0B-9ABB-EFEE720A4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947599-835B-407E-BB99-8FF97F2D7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555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E082A-0E4C-8724-5EF9-D597C3DE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37E3A-A0AF-95E3-54E7-EACF6D872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62DC7-A75E-5E2D-6DF4-86603D19B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B88DD-7E0E-80DD-198A-F5E225FBA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947599-835B-407E-BB99-8FF97F2D7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1413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9900" y="325437"/>
            <a:ext cx="11232573" cy="291783"/>
          </a:xfrm>
          <a:prstGeom prst="rect">
            <a:avLst/>
          </a:prstGeom>
        </p:spPr>
        <p:txBody>
          <a:bodyPr lIns="0" tIns="0" rIns="0" bIns="0"/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One line headline</a:t>
            </a:r>
          </a:p>
        </p:txBody>
      </p:sp>
    </p:spTree>
    <p:extLst>
      <p:ext uri="{BB962C8B-B14F-4D97-AF65-F5344CB8AC3E}">
        <p14:creationId xmlns:p14="http://schemas.microsoft.com/office/powerpoint/2010/main" val="22746501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28">
          <p15:clr>
            <a:srgbClr val="FBAE40"/>
          </p15:clr>
        </p15:guide>
        <p15:guide id="3" pos="6912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oitte 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545" y="2609008"/>
            <a:ext cx="3256910" cy="132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8913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116B46-241F-6F52-CF2A-F9000A02B5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1672" y="139110"/>
            <a:ext cx="11264900" cy="306467"/>
          </a:xfrm>
          <a:prstGeom prst="rect">
            <a:avLst/>
          </a:prstGeom>
        </p:spPr>
        <p:txBody>
          <a:bodyPr anchor="b"/>
          <a:lstStyle>
            <a:lvl1pPr>
              <a:defRPr sz="900" b="1" spc="3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839B397-DAFA-629B-8CE7-15176B00E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1672" y="460861"/>
            <a:ext cx="11264900" cy="453540"/>
          </a:xfrm>
          <a:prstGeom prst="rect">
            <a:avLst/>
          </a:prstGeom>
        </p:spPr>
        <p:txBody>
          <a:bodyPr tIns="0"/>
          <a:lstStyle>
            <a:lvl1pPr>
              <a:defRPr sz="3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A9F47B5-07D2-D9D0-5FF8-FC0A3760C2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1672" y="931970"/>
            <a:ext cx="11264900" cy="339103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45">
            <a:extLst>
              <a:ext uri="{FF2B5EF4-FFF2-40B4-BE49-F238E27FC236}">
                <a16:creationId xmlns:a16="http://schemas.microsoft.com/office/drawing/2014/main" id="{B30088F9-A0E1-EF0F-BF57-7DC0CAF51D8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637919" y="139477"/>
            <a:ext cx="0" cy="365760"/>
          </a:xfrm>
          <a:prstGeom prst="line">
            <a:avLst/>
          </a:prstGeom>
          <a:ln w="12700">
            <a:solidFill>
              <a:srgbClr val="0D2233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pyright">
            <a:extLst>
              <a:ext uri="{FF2B5EF4-FFF2-40B4-BE49-F238E27FC236}">
                <a16:creationId xmlns:a16="http://schemas.microsoft.com/office/drawing/2014/main" id="{261876DE-0840-B0D5-ED62-9770B5E5BF88}"/>
              </a:ext>
            </a:extLst>
          </p:cNvPr>
          <p:cNvSpPr txBox="1"/>
          <p:nvPr userDrawn="1"/>
        </p:nvSpPr>
        <p:spPr>
          <a:xfrm>
            <a:off x="4587240" y="58215"/>
            <a:ext cx="30175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="1" i="1" baseline="0" noProof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PRIVILEGED AND CONFIDENTIAL</a:t>
            </a: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BFE2188C-836C-25D8-E6C3-4C29508DAAAF}"/>
              </a:ext>
            </a:extLst>
          </p:cNvPr>
          <p:cNvSpPr txBox="1">
            <a:spLocks/>
          </p:cNvSpPr>
          <p:nvPr userDrawn="1"/>
        </p:nvSpPr>
        <p:spPr>
          <a:xfrm>
            <a:off x="8794872" y="6520313"/>
            <a:ext cx="3893185" cy="1763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000" b="0" i="0" u="none" strike="noStrike" kern="1200" cap="none" spc="-5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pPr marL="381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1000" b="0" i="0" u="none" strike="noStrike" kern="1200" cap="none" spc="28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|</a:t>
            </a:r>
            <a:r>
              <a:rPr kumimoji="0" lang="en-US" sz="1000" b="0" i="0" u="none" strike="noStrike" kern="1200" cap="none" spc="27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Copyright</a:t>
            </a:r>
            <a:r>
              <a:rPr kumimoji="0" lang="en-US" sz="1000" b="0" i="0" u="none" strike="noStrike" kern="1200" cap="none" spc="2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©</a:t>
            </a:r>
            <a:r>
              <a:rPr kumimoji="0" lang="en-US" sz="1000" b="0" i="0" u="none" strike="noStrike" kern="1200" cap="none" spc="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2025 </a:t>
            </a:r>
            <a:r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Deloitte</a:t>
            </a:r>
            <a:r>
              <a:rPr kumimoji="0" lang="en-US" sz="1000" b="0" i="0" u="none" strike="noStrike" kern="1200" cap="none" spc="1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LLP.</a:t>
            </a:r>
            <a:r>
              <a:rPr kumimoji="0" lang="en-US" sz="1000" b="0" i="0" u="none" strike="noStrike" kern="1200" cap="none" spc="3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All</a:t>
            </a:r>
            <a:r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rights</a:t>
            </a:r>
            <a:r>
              <a:rPr kumimoji="0" lang="en-US" sz="1000" b="0" i="0" u="none" strike="noStrike" kern="1200" cap="none" spc="1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reserved.</a:t>
            </a:r>
          </a:p>
        </p:txBody>
      </p:sp>
    </p:spTree>
    <p:extLst>
      <p:ext uri="{BB962C8B-B14F-4D97-AF65-F5344CB8AC3E}">
        <p14:creationId xmlns:p14="http://schemas.microsoft.com/office/powerpoint/2010/main" val="1553957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_Title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9">
            <a:extLst>
              <a:ext uri="{FF2B5EF4-FFF2-40B4-BE49-F238E27FC236}">
                <a16:creationId xmlns:a16="http://schemas.microsoft.com/office/drawing/2014/main" id="{CD1E293E-901D-1105-833F-6937A0C97A36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11346395" y="6519672"/>
            <a:ext cx="343955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/>
            </a:lvl1pPr>
          </a:lstStyle>
          <a:p>
            <a:pPr algn="r">
              <a:spcBef>
                <a:spcPts val="600"/>
              </a:spcBef>
              <a:buSzPct val="100000"/>
              <a:buFont typeface="Arial"/>
              <a:buNone/>
            </a:pPr>
            <a:fld id="{A463779A-5FA6-46BB-A830-682585DD6BBA}" type="slidenum">
              <a:rPr lang="en-US" smtClean="0"/>
              <a:pPr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4106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0213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899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043660" y="6474295"/>
            <a:ext cx="1195840" cy="10002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650">
                <a:solidFill>
                  <a:schemeClr val="bg1"/>
                </a:solidFill>
              </a:defRPr>
            </a:lvl1pPr>
          </a:lstStyle>
          <a:p>
            <a:r>
              <a:rPr lang="en-US"/>
              <a:t>EQ Bank - Prepaid Card Program</a:t>
            </a:r>
            <a:endParaRPr lang="en-CA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576226" y="6474295"/>
            <a:ext cx="145874" cy="10002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650">
                <a:solidFill>
                  <a:schemeClr val="bg1"/>
                </a:solidFill>
              </a:defRPr>
            </a:lvl1pPr>
          </a:lstStyle>
          <a:p>
            <a:fld id="{1D70FF2A-E074-4D3B-BB94-FFBB4B519E26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extBox 8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CA" sz="650" noProof="0">
                <a:solidFill>
                  <a:schemeClr val="bg1"/>
                </a:solidFill>
              </a:rPr>
              <a:t>© Deloitte LLP and affiliated entities.</a:t>
            </a:r>
          </a:p>
        </p:txBody>
      </p:sp>
    </p:spTree>
    <p:extLst>
      <p:ext uri="{BB962C8B-B14F-4D97-AF65-F5344CB8AC3E}">
        <p14:creationId xmlns:p14="http://schemas.microsoft.com/office/powerpoint/2010/main" val="3232491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1667" y="2646105"/>
            <a:ext cx="11768667" cy="553998"/>
          </a:xfrm>
        </p:spPr>
        <p:txBody>
          <a:bodyPr lIns="0" tIns="0" rIns="0" bIns="0"/>
          <a:lstStyle>
            <a:lvl1pPr>
              <a:defRPr sz="3600" b="1" i="0">
                <a:solidFill>
                  <a:srgbClr val="C41F3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83A3D"/>
                </a:solidFill>
                <a:latin typeface="Arial"/>
                <a:cs typeface="Arial"/>
              </a:defRPr>
            </a:lvl1pPr>
          </a:lstStyle>
          <a:p>
            <a:pPr marL="16933">
              <a:spcBef>
                <a:spcPts val="20"/>
              </a:spcBef>
            </a:pPr>
            <a:endParaRPr lang="en-US" spc="-7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8837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1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6891810"/>
              </p:ext>
            </p:ext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270" imgH="270" progId="TCLayout.ActiveDocument.1">
                  <p:embed/>
                </p:oleObj>
              </mc:Choice>
              <mc:Fallback>
                <p:oleObj name="think-cell Slide" r:id="rId9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object 11">
            <a:extLst>
              <a:ext uri="{FF2B5EF4-FFF2-40B4-BE49-F238E27FC236}">
                <a16:creationId xmlns:a16="http://schemas.microsoft.com/office/drawing/2014/main" id="{6D94D76C-319F-36BF-93BC-9D4A893B8EE1}"/>
              </a:ext>
            </a:extLst>
          </p:cNvPr>
          <p:cNvSpPr txBox="1">
            <a:spLocks/>
          </p:cNvSpPr>
          <p:nvPr userDrawn="1"/>
        </p:nvSpPr>
        <p:spPr>
          <a:xfrm>
            <a:off x="8794872" y="6520313"/>
            <a:ext cx="3893185" cy="1763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000" b="0" i="0" u="none" strike="noStrike" kern="1200" cap="none" spc="-5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pPr marL="381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1000" b="0" i="0" u="none" strike="noStrike" kern="1200" cap="none" spc="28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|</a:t>
            </a:r>
            <a:r>
              <a:rPr kumimoji="0" lang="en-US" sz="1000" b="0" i="0" u="none" strike="noStrike" kern="1200" cap="none" spc="27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Copyright</a:t>
            </a:r>
            <a:r>
              <a:rPr kumimoji="0" lang="en-US" sz="1000" b="0" i="0" u="none" strike="noStrike" kern="1200" cap="none" spc="2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©</a:t>
            </a:r>
            <a:r>
              <a:rPr kumimoji="0" lang="en-US" sz="1000" b="0" i="0" u="none" strike="noStrike" kern="1200" cap="none" spc="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2025 </a:t>
            </a:r>
            <a:r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Deloitte</a:t>
            </a:r>
            <a:r>
              <a:rPr kumimoji="0" lang="en-US" sz="1000" b="0" i="0" u="none" strike="noStrike" kern="1200" cap="none" spc="1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LLP.</a:t>
            </a:r>
            <a:r>
              <a:rPr kumimoji="0" lang="en-US" sz="1000" b="0" i="0" u="none" strike="noStrike" kern="1200" cap="none" spc="3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All</a:t>
            </a:r>
            <a:r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rights</a:t>
            </a:r>
            <a:r>
              <a:rPr kumimoji="0" lang="en-US" sz="1000" b="0" i="0" u="none" strike="noStrike" kern="1200" cap="none" spc="1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reserved.</a:t>
            </a:r>
          </a:p>
        </p:txBody>
      </p:sp>
      <p:pic>
        <p:nvPicPr>
          <p:cNvPr id="4098" name="Picture 2" descr="Fort Nelson | Beem Credit Union">
            <a:extLst>
              <a:ext uri="{FF2B5EF4-FFF2-40B4-BE49-F238E27FC236}">
                <a16:creationId xmlns:a16="http://schemas.microsoft.com/office/drawing/2014/main" id="{07ED500F-5BEB-7258-0699-67830452B9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1464" y="138878"/>
            <a:ext cx="1373616" cy="40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76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ransition>
    <p:fade/>
  </p:transition>
  <p:hf hdr="0" ftr="0" dt="0"/>
  <p:txStyles>
    <p:titleStyle>
      <a:lvl1pPr algn="l" defTabSz="121917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1219170" rtl="0" eaLnBrk="1" latinLnBrk="0" hangingPunct="1">
        <a:spcBef>
          <a:spcPts val="0"/>
        </a:spcBef>
        <a:spcAft>
          <a:spcPts val="1333"/>
        </a:spcAft>
        <a:buSzPct val="100000"/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/>
        <a:buNone/>
        <a:defRPr lang="en-US" sz="1200" b="1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69863" indent="-169863" algn="l" defTabSz="1219170" rtl="0" eaLnBrk="1" latinLnBrk="0" hangingPunct="1">
        <a:spcBef>
          <a:spcPts val="0"/>
        </a:spcBef>
        <a:spcAft>
          <a:spcPts val="600"/>
        </a:spcAft>
        <a:buClrTx/>
        <a:buSzPct val="120000"/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284163" indent="-114300" algn="l" defTabSz="1219170" rtl="0" eaLnBrk="1" latinLnBrk="0" hangingPunct="1">
        <a:spcBef>
          <a:spcPts val="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400050" indent="-115888" algn="l" defTabSz="1064657" rtl="0" eaLnBrk="1" latinLnBrk="0" hangingPunct="1">
        <a:spcBef>
          <a:spcPts val="0"/>
        </a:spcBef>
        <a:spcAft>
          <a:spcPts val="600"/>
        </a:spcAft>
        <a:buClrTx/>
        <a:buSzPct val="100000"/>
        <a:buFont typeface="Verdana" panose="020B0604030504040204" pitchFamily="34" charset="0"/>
        <a:buChar char="−"/>
        <a:tabLst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86BC25"/>
          </p15:clr>
        </p15:guide>
        <p15:guide id="2" orient="horz" pos="4032">
          <p15:clr>
            <a:srgbClr val="86BC25"/>
          </p15:clr>
        </p15:guide>
        <p15:guide id="3" orient="horz" pos="518">
          <p15:clr>
            <a:srgbClr val="86BC25"/>
          </p15:clr>
        </p15:guide>
        <p15:guide id="4" orient="horz" pos="748">
          <p15:clr>
            <a:srgbClr val="86BC25"/>
          </p15:clr>
        </p15:guide>
        <p15:guide id="5" orient="horz" pos="1152">
          <p15:clr>
            <a:srgbClr val="046A38"/>
          </p15:clr>
        </p15:guide>
        <p15:guide id="6" orient="horz" pos="2592">
          <p15:clr>
            <a:srgbClr val="62B5E5"/>
          </p15:clr>
        </p15:guide>
        <p15:guide id="7" orient="horz" pos="2112">
          <p15:clr>
            <a:srgbClr val="012169"/>
          </p15:clr>
        </p15:guide>
        <p15:guide id="8" orient="horz" pos="3072">
          <p15:clr>
            <a:srgbClr val="012169"/>
          </p15:clr>
        </p15:guide>
        <p15:guide id="9" pos="288">
          <p15:clr>
            <a:srgbClr val="86BC25"/>
          </p15:clr>
        </p15:guide>
        <p15:guide id="10" pos="6048">
          <p15:clr>
            <a:srgbClr val="86BC25"/>
          </p15:clr>
        </p15:guide>
        <p15:guide id="11" pos="3024">
          <p15:clr>
            <a:srgbClr val="62B5E5"/>
          </p15:clr>
        </p15:guide>
        <p15:guide id="12" pos="3312">
          <p15:clr>
            <a:srgbClr val="62B5E5"/>
          </p15:clr>
        </p15:guide>
        <p15:guide id="13" pos="2016">
          <p15:clr>
            <a:srgbClr val="012169"/>
          </p15:clr>
        </p15:guide>
        <p15:guide id="14" pos="2448">
          <p15:clr>
            <a:srgbClr val="012169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3C7C1-35F1-EA23-5901-DE6B97D05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9E222-7EE9-FBD1-FC9C-0039DC8D6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07" y="2632799"/>
            <a:ext cx="10418233" cy="1592403"/>
          </a:xfrm>
        </p:spPr>
        <p:txBody>
          <a:bodyPr anchor="t"/>
          <a:lstStyle/>
          <a:p>
            <a:r>
              <a:rPr lang="en-US"/>
              <a:t>Dispute Resolution Documentation Review &amp; Assessment</a:t>
            </a:r>
            <a:r>
              <a:rPr lang="en-US" b="0"/>
              <a:t> </a:t>
            </a:r>
            <a:endParaRPr lang="en-US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213B69B-38C1-005D-D942-7BE094E28EE1}"/>
              </a:ext>
            </a:extLst>
          </p:cNvPr>
          <p:cNvSpPr txBox="1">
            <a:spLocks/>
          </p:cNvSpPr>
          <p:nvPr/>
        </p:nvSpPr>
        <p:spPr>
          <a:xfrm>
            <a:off x="11677216" y="6644119"/>
            <a:ext cx="44884" cy="10002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65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FF2A-E074-4D3B-BB94-FFBB4B519E26}" type="slidenum">
              <a:rPr kumimoji="0" lang="en-CA" sz="6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A" sz="6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35666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1127D-315E-24DF-8C00-FCE9D06E0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Placeholder 3">
            <a:extLst>
              <a:ext uri="{FF2B5EF4-FFF2-40B4-BE49-F238E27FC236}">
                <a16:creationId xmlns:a16="http://schemas.microsoft.com/office/drawing/2014/main" id="{E433E189-930C-BD1C-040F-EBC057B5C33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63547" y="832490"/>
            <a:ext cx="11264900" cy="464060"/>
          </a:xfrm>
          <a:prstGeom prst="rect">
            <a:avLst/>
          </a:prstGeom>
        </p:spPr>
        <p:txBody>
          <a:bodyPr/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/>
              <a:buNone/>
              <a:def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9863" indent="-169863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4163" indent="-1143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00050" indent="-115888" algn="l" defTabSz="1064657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rPr>
              <a:t>Effective dispute resolution depends on coordinated handoffs, documented procedures, and end-to-end case visibility.</a:t>
            </a:r>
          </a:p>
        </p:txBody>
      </p:sp>
      <p:sp>
        <p:nvSpPr>
          <p:cNvPr id="181" name="Title 3">
            <a:extLst>
              <a:ext uri="{FF2B5EF4-FFF2-40B4-BE49-F238E27FC236}">
                <a16:creationId xmlns:a16="http://schemas.microsoft.com/office/drawing/2014/main" id="{7097C280-CC38-6C92-1199-04CE0D003D2F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57200" y="430082"/>
            <a:ext cx="11281285" cy="340136"/>
          </a:xfrm>
        </p:spPr>
        <p:txBody>
          <a:bodyPr/>
          <a:lstStyle>
            <a:lvl1pPr algn="l" defTabSz="1219170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Disputes Resolution High-level Process Flow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AAE8126-4C91-57BC-FC5C-537D4DB0C97E}"/>
              </a:ext>
            </a:extLst>
          </p:cNvPr>
          <p:cNvSpPr/>
          <p:nvPr/>
        </p:nvSpPr>
        <p:spPr>
          <a:xfrm>
            <a:off x="502920" y="2663340"/>
            <a:ext cx="1956816" cy="59436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DISPUTE INITIATION &amp; TRIAGE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Growth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F5BD52B2-124D-9D1C-2AB1-BB75ABB4F312}"/>
              </a:ext>
            </a:extLst>
          </p:cNvPr>
          <p:cNvSpPr/>
          <p:nvPr/>
        </p:nvSpPr>
        <p:spPr>
          <a:xfrm>
            <a:off x="2761488" y="2663340"/>
            <a:ext cx="1956816" cy="594360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CASE PREPARATION &amp; DOCUMENT ASSESSMENT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Dispute Ops / Fraud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2EC0E5F5-6813-4354-9B29-1318BF493F58}"/>
              </a:ext>
            </a:extLst>
          </p:cNvPr>
          <p:cNvSpPr/>
          <p:nvPr/>
        </p:nvSpPr>
        <p:spPr>
          <a:xfrm>
            <a:off x="5010912" y="2663340"/>
            <a:ext cx="1956816" cy="59436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PROVISIONAL CREDIT ISSUANCE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Disputes Ops</a:t>
            </a: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C561A2DD-2662-57E8-E7F7-C5D7DAB1E21E}"/>
              </a:ext>
            </a:extLst>
          </p:cNvPr>
          <p:cNvSpPr/>
          <p:nvPr/>
        </p:nvSpPr>
        <p:spPr>
          <a:xfrm>
            <a:off x="7260336" y="2663340"/>
            <a:ext cx="1956816" cy="594360"/>
          </a:xfrm>
          <a:prstGeom prst="roundRect">
            <a:avLst>
              <a:gd name="adj" fmla="val 16667"/>
            </a:avLst>
          </a:prstGeom>
          <a:solidFill>
            <a:srgbClr val="991BFF"/>
          </a:solidFill>
          <a:ln w="12700">
            <a:noFill/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NETWORK SUBMISSION &amp; RESPONSE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Disputes Ops / Fraud / Central 1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9BF8717F-7891-5862-E562-0FEDE69D07D6}"/>
              </a:ext>
            </a:extLst>
          </p:cNvPr>
          <p:cNvSpPr/>
          <p:nvPr/>
        </p:nvSpPr>
        <p:spPr>
          <a:xfrm>
            <a:off x="9509760" y="2663340"/>
            <a:ext cx="1956816" cy="59436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RESOLUTION &amp; RECOVERY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Disputes Ops &amp; Finance</a:t>
            </a: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49C18326-1413-EE70-E2F6-2FC4638CC7ED}"/>
              </a:ext>
            </a:extLst>
          </p:cNvPr>
          <p:cNvSpPr/>
          <p:nvPr/>
        </p:nvSpPr>
        <p:spPr>
          <a:xfrm>
            <a:off x="2468880" y="3669180"/>
            <a:ext cx="303372" cy="0"/>
          </a:xfrm>
          <a:prstGeom prst="line">
            <a:avLst/>
          </a:prstGeom>
          <a:noFill/>
          <a:ln w="19050">
            <a:solidFill>
              <a:srgbClr val="7892A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>
                  <a:lumMod val="75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76018DE8-3BDD-15E6-D0BC-8F771CA05515}"/>
              </a:ext>
            </a:extLst>
          </p:cNvPr>
          <p:cNvSpPr/>
          <p:nvPr/>
        </p:nvSpPr>
        <p:spPr>
          <a:xfrm>
            <a:off x="4718304" y="3669180"/>
            <a:ext cx="292608" cy="0"/>
          </a:xfrm>
          <a:prstGeom prst="line">
            <a:avLst/>
          </a:prstGeom>
          <a:noFill/>
          <a:ln w="19050">
            <a:solidFill>
              <a:srgbClr val="7892A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3B06C89F-C44F-059A-F53C-2B3E2B612630}"/>
              </a:ext>
            </a:extLst>
          </p:cNvPr>
          <p:cNvSpPr/>
          <p:nvPr/>
        </p:nvSpPr>
        <p:spPr>
          <a:xfrm>
            <a:off x="6967728" y="3669180"/>
            <a:ext cx="292608" cy="0"/>
          </a:xfrm>
          <a:prstGeom prst="line">
            <a:avLst/>
          </a:prstGeom>
          <a:noFill/>
          <a:ln w="19050">
            <a:solidFill>
              <a:srgbClr val="7892A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B98488A6-83B8-D615-D2EB-F9D0904892A6}"/>
              </a:ext>
            </a:extLst>
          </p:cNvPr>
          <p:cNvSpPr/>
          <p:nvPr/>
        </p:nvSpPr>
        <p:spPr>
          <a:xfrm>
            <a:off x="9217152" y="3669180"/>
            <a:ext cx="292608" cy="0"/>
          </a:xfrm>
          <a:prstGeom prst="line">
            <a:avLst/>
          </a:prstGeom>
          <a:noFill/>
          <a:ln w="19050">
            <a:solidFill>
              <a:srgbClr val="7892A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12A036E4-0EEF-7205-8572-B5323CE78EB9}"/>
              </a:ext>
            </a:extLst>
          </p:cNvPr>
          <p:cNvSpPr/>
          <p:nvPr/>
        </p:nvSpPr>
        <p:spPr>
          <a:xfrm>
            <a:off x="502920" y="3303419"/>
            <a:ext cx="1956816" cy="19800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B7C8D8"/>
            </a:solidFill>
            <a:prstDash val="solid"/>
          </a:ln>
          <a:effectLst>
            <a:outerShdw blurRad="8890" dist="3810" dir="2700000" algn="bl" rotWithShape="0">
              <a:srgbClr val="667788">
                <a:alpha val="10000"/>
              </a:srgbClr>
            </a:outerShdw>
          </a:effectLst>
        </p:spPr>
        <p:txBody>
          <a:bodyPr/>
          <a:lstStyle/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Receive claim: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web, call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Verify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cardholder and impacted transaction(s)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Confirm the dispute is </a:t>
            </a:r>
            <a:r>
              <a:rPr kumimoji="0" lang="en-CA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within the filing window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3565A">
                  <a:lumMod val="75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Record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reason (fraud or non-fraud), dates, amount, and evidence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Block/reissue card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if account security is at risk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Create a case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, add required notices, and assign owner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3565A">
                  <a:lumMod val="75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5" name="Shape 40">
            <a:extLst>
              <a:ext uri="{FF2B5EF4-FFF2-40B4-BE49-F238E27FC236}">
                <a16:creationId xmlns:a16="http://schemas.microsoft.com/office/drawing/2014/main" id="{3E449A82-0199-5F37-2F6F-2A4A9589E753}"/>
              </a:ext>
            </a:extLst>
          </p:cNvPr>
          <p:cNvSpPr/>
          <p:nvPr/>
        </p:nvSpPr>
        <p:spPr>
          <a:xfrm>
            <a:off x="2761488" y="3303418"/>
            <a:ext cx="1956816" cy="19800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B7C8D8"/>
            </a:solidFill>
            <a:prstDash val="solid"/>
          </a:ln>
          <a:effectLst>
            <a:outerShdw blurRad="8890" dist="3810" dir="2700000" algn="bl" rotWithShape="0">
              <a:srgbClr val="667788">
                <a:alpha val="10000"/>
              </a:srgbClr>
            </a:outerShdw>
          </a:effectLst>
        </p:spPr>
        <p:txBody>
          <a:bodyPr/>
          <a:lstStyle/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Review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cardholder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statement and transaction data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Gather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missing information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supportive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evidence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Evaluate potential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liability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Validate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dispute eligibility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applicable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reason code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Assess potential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liability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recovery options</a:t>
            </a:r>
          </a:p>
        </p:txBody>
      </p:sp>
      <p:sp>
        <p:nvSpPr>
          <p:cNvPr id="48" name="Shape 43">
            <a:extLst>
              <a:ext uri="{FF2B5EF4-FFF2-40B4-BE49-F238E27FC236}">
                <a16:creationId xmlns:a16="http://schemas.microsoft.com/office/drawing/2014/main" id="{CBC2B997-8B0C-AA93-B121-80E8E5A6EDC3}"/>
              </a:ext>
            </a:extLst>
          </p:cNvPr>
          <p:cNvSpPr/>
          <p:nvPr/>
        </p:nvSpPr>
        <p:spPr>
          <a:xfrm>
            <a:off x="1126386" y="5396852"/>
            <a:ext cx="774000" cy="594358"/>
          </a:xfrm>
          <a:prstGeom prst="diamond">
            <a:avLst/>
          </a:prstGeom>
          <a:solidFill>
            <a:srgbClr val="FFF7E7"/>
          </a:solidFill>
          <a:ln w="16510">
            <a:solidFill>
              <a:srgbClr val="F2A93B"/>
            </a:solidFill>
            <a:prstDash val="solid"/>
          </a:ln>
        </p:spPr>
        <p:txBody>
          <a:bodyPr lIns="36000" rIns="3600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Fraud or non-fraud?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53565A">
                  <a:lumMod val="75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0" name="Shape 45">
            <a:extLst>
              <a:ext uri="{FF2B5EF4-FFF2-40B4-BE49-F238E27FC236}">
                <a16:creationId xmlns:a16="http://schemas.microsoft.com/office/drawing/2014/main" id="{73F0D64B-2AF9-BBEF-AD71-BAF237DED707}"/>
              </a:ext>
            </a:extLst>
          </p:cNvPr>
          <p:cNvSpPr/>
          <p:nvPr/>
        </p:nvSpPr>
        <p:spPr>
          <a:xfrm>
            <a:off x="717979" y="6186273"/>
            <a:ext cx="756000" cy="576000"/>
          </a:xfrm>
          <a:prstGeom prst="roundRect">
            <a:avLst>
              <a:gd name="adj" fmla="val 6122"/>
            </a:avLst>
          </a:prstGeom>
          <a:solidFill>
            <a:srgbClr val="EEF8F7"/>
          </a:solidFill>
          <a:ln w="12700">
            <a:noFill/>
            <a:prstDash val="solid"/>
          </a:ln>
          <a:effectLst>
            <a:outerShdw blurRad="8890" dist="3810" dir="2700000" algn="bl" rotWithShape="0">
              <a:srgbClr val="667788">
                <a:alpha val="10000"/>
              </a:srgbClr>
            </a:outerShdw>
          </a:effectLst>
        </p:spPr>
        <p:txBody>
          <a:bodyPr lIns="0" tIns="0" rIns="0" bIns="0"/>
          <a:lstStyle/>
          <a:p>
            <a:pPr marL="0" marR="0" lvl="0" indent="0" algn="ctr" defTabSz="121917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7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FRAUD</a:t>
            </a:r>
          </a:p>
          <a:p>
            <a:pPr marL="171450" marR="0" lvl="0" indent="-171450" algn="l" defTabSz="121917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7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Unauthorized transaction</a:t>
            </a:r>
          </a:p>
          <a:p>
            <a:pPr marL="171450" marR="0" lvl="0" indent="-171450" algn="l" defTabSz="121917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7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CNP</a:t>
            </a:r>
          </a:p>
          <a:p>
            <a:pPr marL="171450" marR="0" lvl="0" indent="-171450" algn="l" defTabSz="121917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7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Stolen card</a:t>
            </a:r>
          </a:p>
        </p:txBody>
      </p:sp>
      <p:sp>
        <p:nvSpPr>
          <p:cNvPr id="53" name="Shape 48">
            <a:extLst>
              <a:ext uri="{FF2B5EF4-FFF2-40B4-BE49-F238E27FC236}">
                <a16:creationId xmlns:a16="http://schemas.microsoft.com/office/drawing/2014/main" id="{39EC6303-25E3-5A16-DED6-46CC5F9B75BC}"/>
              </a:ext>
            </a:extLst>
          </p:cNvPr>
          <p:cNvSpPr/>
          <p:nvPr/>
        </p:nvSpPr>
        <p:spPr>
          <a:xfrm>
            <a:off x="1526646" y="6189007"/>
            <a:ext cx="756000" cy="576000"/>
          </a:xfrm>
          <a:prstGeom prst="roundRect">
            <a:avLst>
              <a:gd name="adj" fmla="val 6122"/>
            </a:avLst>
          </a:prstGeom>
          <a:solidFill>
            <a:srgbClr val="F1F6FB"/>
          </a:solidFill>
          <a:ln w="12700">
            <a:noFill/>
            <a:prstDash val="solid"/>
          </a:ln>
          <a:effectLst>
            <a:outerShdw blurRad="8890" dist="3810" dir="2700000" algn="bl" rotWithShape="0">
              <a:srgbClr val="667788">
                <a:alpha val="10000"/>
              </a:srgbClr>
            </a:outerShdw>
          </a:effectLst>
        </p:spPr>
        <p:txBody>
          <a:bodyPr lIns="0" tIns="0" rIns="0" bIns="0"/>
          <a:lstStyle/>
          <a:p>
            <a:pPr marL="0" marR="0" lvl="0" indent="0" algn="ctr" defTabSz="121917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7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NON-FRAUD</a:t>
            </a:r>
          </a:p>
          <a:p>
            <a:pPr marL="171450" marR="0" lvl="0" indent="-171450" algn="l" defTabSz="121917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7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INR</a:t>
            </a:r>
          </a:p>
          <a:p>
            <a:pPr marL="171450" marR="0" lvl="0" indent="-171450" algn="l" defTabSz="121917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7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Duplicate </a:t>
            </a:r>
            <a:r>
              <a:rPr kumimoji="0" lang="en-CA" sz="700" b="0" i="0" u="none" strike="noStrike" kern="1200" cap="none" spc="0" normalizeH="0" baseline="0" noProof="0" err="1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trx</a:t>
            </a:r>
            <a:endParaRPr kumimoji="0" lang="en-CA" sz="700" b="0" i="0" u="none" strike="noStrike" kern="1200" cap="none" spc="0" normalizeH="0" baseline="0" noProof="0">
              <a:ln>
                <a:noFill/>
              </a:ln>
              <a:solidFill>
                <a:srgbClr val="53565A">
                  <a:lumMod val="75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171450" marR="0" lvl="0" indent="-171450" algn="l" defTabSz="121917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7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Processing errors</a:t>
            </a:r>
          </a:p>
        </p:txBody>
      </p:sp>
      <p:sp>
        <p:nvSpPr>
          <p:cNvPr id="56" name="Shape 51">
            <a:extLst>
              <a:ext uri="{FF2B5EF4-FFF2-40B4-BE49-F238E27FC236}">
                <a16:creationId xmlns:a16="http://schemas.microsoft.com/office/drawing/2014/main" id="{1055549E-F950-3125-9858-803E42B6B7D1}"/>
              </a:ext>
            </a:extLst>
          </p:cNvPr>
          <p:cNvSpPr/>
          <p:nvPr/>
        </p:nvSpPr>
        <p:spPr>
          <a:xfrm>
            <a:off x="5010912" y="3303418"/>
            <a:ext cx="1956816" cy="19800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B7C8D8"/>
            </a:solidFill>
            <a:prstDash val="solid"/>
          </a:ln>
          <a:effectLst>
            <a:outerShdw blurRad="8890" dist="3810" dir="2700000" algn="bl" rotWithShape="0">
              <a:srgbClr val="667788">
                <a:alpha val="10000"/>
              </a:srgbClr>
            </a:outerShdw>
          </a:effectLst>
        </p:spPr>
        <p:txBody>
          <a:bodyPr/>
          <a:lstStyle/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Confirm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amount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and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 account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Document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rationale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and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approval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Post credit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within Visa SLAs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Notify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customer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Track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provisional credit aging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reversal</a:t>
            </a:r>
          </a:p>
        </p:txBody>
      </p:sp>
      <p:sp>
        <p:nvSpPr>
          <p:cNvPr id="68" name="Shape 62">
            <a:extLst>
              <a:ext uri="{FF2B5EF4-FFF2-40B4-BE49-F238E27FC236}">
                <a16:creationId xmlns:a16="http://schemas.microsoft.com/office/drawing/2014/main" id="{97285B9E-93C9-A0E4-05B7-04DA342F3228}"/>
              </a:ext>
            </a:extLst>
          </p:cNvPr>
          <p:cNvSpPr/>
          <p:nvPr/>
        </p:nvSpPr>
        <p:spPr>
          <a:xfrm>
            <a:off x="7260336" y="3303418"/>
            <a:ext cx="1956816" cy="19800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B7C8D8"/>
            </a:solidFill>
            <a:prstDash val="solid"/>
          </a:ln>
          <a:effectLst>
            <a:outerShdw blurRad="8890" dist="3810" dir="2700000" algn="bl" rotWithShape="0">
              <a:srgbClr val="667788">
                <a:alpha val="10000"/>
              </a:srgbClr>
            </a:outerShdw>
          </a:effectLst>
        </p:spPr>
        <p:txBody>
          <a:bodyPr/>
          <a:lstStyle/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Submit the dispute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 C1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Monitor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acceptance, response, and representment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Respond to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requests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and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escalate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when appropriate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Maintain a complete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case audit trail</a:t>
            </a:r>
          </a:p>
        </p:txBody>
      </p:sp>
      <p:sp>
        <p:nvSpPr>
          <p:cNvPr id="74" name="Shape 68">
            <a:extLst>
              <a:ext uri="{FF2B5EF4-FFF2-40B4-BE49-F238E27FC236}">
                <a16:creationId xmlns:a16="http://schemas.microsoft.com/office/drawing/2014/main" id="{2538A936-331B-318C-2434-B9B55A9D77ED}"/>
              </a:ext>
            </a:extLst>
          </p:cNvPr>
          <p:cNvSpPr/>
          <p:nvPr/>
        </p:nvSpPr>
        <p:spPr>
          <a:xfrm>
            <a:off x="9509760" y="3303419"/>
            <a:ext cx="1956816" cy="19800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B7C8D8"/>
            </a:solidFill>
            <a:prstDash val="solid"/>
          </a:ln>
          <a:effectLst>
            <a:outerShdw blurRad="8890" dist="3810" dir="2700000" algn="bl" rotWithShape="0">
              <a:srgbClr val="667788">
                <a:alpha val="10000"/>
              </a:srgbClr>
            </a:outerShdw>
          </a:effectLst>
        </p:spPr>
        <p:txBody>
          <a:bodyPr/>
          <a:lstStyle/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Finalize or reverse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provisional credit, as applicable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Notify the cardholder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the decision 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Record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recoveries, losses, fees, and required general ledger entries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Archive supporting evidence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close the case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Prepare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reporting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and trend analysis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08016A4-C146-706E-E4CA-562812D1D3AA}"/>
              </a:ext>
            </a:extLst>
          </p:cNvPr>
          <p:cNvSpPr/>
          <p:nvPr/>
        </p:nvSpPr>
        <p:spPr bwMode="gray">
          <a:xfrm>
            <a:off x="406700" y="2569513"/>
            <a:ext cx="216000" cy="216000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113C11C-3D54-CE11-A6ED-D6B118287963}"/>
              </a:ext>
            </a:extLst>
          </p:cNvPr>
          <p:cNvSpPr/>
          <p:nvPr/>
        </p:nvSpPr>
        <p:spPr bwMode="gray">
          <a:xfrm>
            <a:off x="2664252" y="2569513"/>
            <a:ext cx="216000" cy="216000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7EAD4F0-CFFA-7BB8-214E-57E18016DEC2}"/>
              </a:ext>
            </a:extLst>
          </p:cNvPr>
          <p:cNvSpPr/>
          <p:nvPr/>
        </p:nvSpPr>
        <p:spPr bwMode="gray">
          <a:xfrm>
            <a:off x="4921804" y="2569513"/>
            <a:ext cx="216000" cy="216000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C0E4088-5336-1F9F-8361-FC16775668DC}"/>
              </a:ext>
            </a:extLst>
          </p:cNvPr>
          <p:cNvSpPr/>
          <p:nvPr/>
        </p:nvSpPr>
        <p:spPr bwMode="gray">
          <a:xfrm>
            <a:off x="7179356" y="2569513"/>
            <a:ext cx="216000" cy="216000"/>
          </a:xfrm>
          <a:prstGeom prst="ellipse">
            <a:avLst/>
          </a:prstGeom>
          <a:solidFill>
            <a:schemeClr val="bg1"/>
          </a:solidFill>
          <a:ln w="19050" algn="ctr">
            <a:solidFill>
              <a:srgbClr val="991BFF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CA97414-BDE1-0A17-6D20-D7D9F1368688}"/>
              </a:ext>
            </a:extLst>
          </p:cNvPr>
          <p:cNvSpPr/>
          <p:nvPr/>
        </p:nvSpPr>
        <p:spPr bwMode="gray">
          <a:xfrm>
            <a:off x="9436908" y="2569513"/>
            <a:ext cx="216000" cy="216000"/>
          </a:xfrm>
          <a:prstGeom prst="ellipse">
            <a:avLst/>
          </a:prstGeom>
          <a:solidFill>
            <a:schemeClr val="bg1"/>
          </a:solidFill>
          <a:ln w="19050" algn="ctr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FE547163-6306-5789-8493-CB5F0564C17D}"/>
              </a:ext>
            </a:extLst>
          </p:cNvPr>
          <p:cNvCxnSpPr>
            <a:cxnSpLocks/>
            <a:stCxn id="48" idx="2"/>
            <a:endCxn id="50" idx="0"/>
          </p:cNvCxnSpPr>
          <p:nvPr/>
        </p:nvCxnSpPr>
        <p:spPr>
          <a:xfrm rot="5400000">
            <a:off x="1207152" y="5880038"/>
            <a:ext cx="195063" cy="417407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45FCD6A9-1CF4-4610-A131-7EF4A7F32AC4}"/>
              </a:ext>
            </a:extLst>
          </p:cNvPr>
          <p:cNvCxnSpPr>
            <a:cxnSpLocks/>
            <a:stCxn id="48" idx="2"/>
            <a:endCxn id="53" idx="0"/>
          </p:cNvCxnSpPr>
          <p:nvPr/>
        </p:nvCxnSpPr>
        <p:spPr>
          <a:xfrm rot="16200000" flipH="1">
            <a:off x="1610118" y="5894478"/>
            <a:ext cx="197797" cy="391260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Clarifying Questions"/>
          <p:cNvSpPr/>
          <p:nvPr/>
        </p:nvSpPr>
        <p:spPr>
          <a:xfrm>
            <a:off x="5465341" y="5514237"/>
            <a:ext cx="6031818" cy="9814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</p:spPr>
        <p:txBody>
          <a:bodyPr lIns="91440" tIns="73152" rIns="91440" bIns="73152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B40E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BEEM FOLLOW-UP QUESTIONS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Which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intake channels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will be available to Visa Debit cardholders?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What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documented procedures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exist at each stage of the dispute lifecycle?</a:t>
            </a:r>
          </a:p>
          <a:p>
            <a:pPr marL="114300" marR="0" lvl="0" indent="-1143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Which existing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tools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or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systems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can track disputes end to end across all stakeholders?</a:t>
            </a:r>
          </a:p>
        </p:txBody>
      </p:sp>
      <p:sp>
        <p:nvSpPr>
          <p:cNvPr id="301" name="Question Mark Icon"/>
          <p:cNvSpPr/>
          <p:nvPr/>
        </p:nvSpPr>
        <p:spPr>
          <a:xfrm>
            <a:off x="5264173" y="5326056"/>
            <a:ext cx="360000" cy="360000"/>
          </a:xfrm>
          <a:prstGeom prst="ellipse">
            <a:avLst/>
          </a:prstGeom>
          <a:solidFill>
            <a:schemeClr val="tx1">
              <a:lumMod val="50000"/>
            </a:schemeClr>
          </a:solidFill>
          <a:ln w="12700">
            <a:noFill/>
          </a:ln>
        </p:spPr>
        <p:txBody>
          <a:bodyPr lIns="0" tIns="0" rIns="0" bIns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?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85B3986-0675-8B9D-9F14-DA15DF1FED03}"/>
              </a:ext>
            </a:extLst>
          </p:cNvPr>
          <p:cNvCxnSpPr>
            <a:cxnSpLocks/>
          </p:cNvCxnSpPr>
          <p:nvPr/>
        </p:nvCxnSpPr>
        <p:spPr>
          <a:xfrm>
            <a:off x="406699" y="1324415"/>
            <a:ext cx="11376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3D097C19-E74D-AA46-4549-2DD92123E5AB}"/>
              </a:ext>
            </a:extLst>
          </p:cNvPr>
          <p:cNvSpPr txBox="1"/>
          <p:nvPr/>
        </p:nvSpPr>
        <p:spPr>
          <a:xfrm>
            <a:off x="4399851" y="1180910"/>
            <a:ext cx="3392298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ECOSYSTEM OVERVIEW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8" name="Shape 6">
            <a:extLst>
              <a:ext uri="{FF2B5EF4-FFF2-40B4-BE49-F238E27FC236}">
                <a16:creationId xmlns:a16="http://schemas.microsoft.com/office/drawing/2014/main" id="{6563BA29-59F2-B9AE-CA55-8E4932DC7EB9}"/>
              </a:ext>
            </a:extLst>
          </p:cNvPr>
          <p:cNvSpPr/>
          <p:nvPr/>
        </p:nvSpPr>
        <p:spPr>
          <a:xfrm>
            <a:off x="477927" y="1463377"/>
            <a:ext cx="2016000" cy="684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 lIns="393700" tIns="45720" rIns="45720" bIns="4572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Cardholder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Raises the dispute and provides supporting information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9" name="Shape 6">
            <a:extLst>
              <a:ext uri="{FF2B5EF4-FFF2-40B4-BE49-F238E27FC236}">
                <a16:creationId xmlns:a16="http://schemas.microsoft.com/office/drawing/2014/main" id="{9F15368C-6E75-325E-1BEF-179B5BD5085E}"/>
              </a:ext>
            </a:extLst>
          </p:cNvPr>
          <p:cNvSpPr/>
          <p:nvPr/>
        </p:nvSpPr>
        <p:spPr>
          <a:xfrm>
            <a:off x="2793321" y="1473098"/>
            <a:ext cx="2016000" cy="684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 lIns="393700" tIns="45720" rIns="45720" bIns="4572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Issuer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Receives the claim, assesses eligibility and submits the dispute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0" name="Shape 6">
            <a:extLst>
              <a:ext uri="{FF2B5EF4-FFF2-40B4-BE49-F238E27FC236}">
                <a16:creationId xmlns:a16="http://schemas.microsoft.com/office/drawing/2014/main" id="{014CBB87-CEB7-28A1-AF71-701478BAFFCA}"/>
              </a:ext>
            </a:extLst>
          </p:cNvPr>
          <p:cNvSpPr/>
          <p:nvPr/>
        </p:nvSpPr>
        <p:spPr>
          <a:xfrm>
            <a:off x="5108715" y="1473098"/>
            <a:ext cx="2016000" cy="684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 lIns="393700" tIns="45720" rIns="45720" bIns="4572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Network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Sets dispute rules, timeframes and reason codes; routes messages and funds</a:t>
            </a:r>
          </a:p>
        </p:txBody>
      </p:sp>
      <p:sp>
        <p:nvSpPr>
          <p:cNvPr id="151" name="Shape 6">
            <a:extLst>
              <a:ext uri="{FF2B5EF4-FFF2-40B4-BE49-F238E27FC236}">
                <a16:creationId xmlns:a16="http://schemas.microsoft.com/office/drawing/2014/main" id="{D8C97397-424F-BE1D-66B3-EFE696808BB8}"/>
              </a:ext>
            </a:extLst>
          </p:cNvPr>
          <p:cNvSpPr/>
          <p:nvPr/>
        </p:nvSpPr>
        <p:spPr>
          <a:xfrm>
            <a:off x="7424109" y="1473098"/>
            <a:ext cx="2016000" cy="684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 lIns="393700" tIns="45720" rIns="45720" bIns="4572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Acquirer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Receives the dispute for the merchant and coordinates the merchant response</a:t>
            </a:r>
          </a:p>
        </p:txBody>
      </p:sp>
      <p:sp>
        <p:nvSpPr>
          <p:cNvPr id="152" name="Shape 6">
            <a:extLst>
              <a:ext uri="{FF2B5EF4-FFF2-40B4-BE49-F238E27FC236}">
                <a16:creationId xmlns:a16="http://schemas.microsoft.com/office/drawing/2014/main" id="{980054A4-08CB-5A2B-30B4-9C22E5141ACF}"/>
              </a:ext>
            </a:extLst>
          </p:cNvPr>
          <p:cNvSpPr/>
          <p:nvPr/>
        </p:nvSpPr>
        <p:spPr>
          <a:xfrm>
            <a:off x="9739503" y="1473098"/>
            <a:ext cx="2016000" cy="684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 lIns="393700" tIns="45720" rIns="45720" bIns="4572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Merchant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Reviews the claim and either accepts it or provides evidence to challenge it</a:t>
            </a: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BD3E4DBE-FE8F-97B5-B539-F3276B1C0F1A}"/>
              </a:ext>
            </a:extLst>
          </p:cNvPr>
          <p:cNvCxnSpPr>
            <a:cxnSpLocks/>
          </p:cNvCxnSpPr>
          <p:nvPr/>
        </p:nvCxnSpPr>
        <p:spPr>
          <a:xfrm>
            <a:off x="502920" y="2363151"/>
            <a:ext cx="11376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23AF125B-9FF4-3E78-38F9-3F5036C8AFDF}"/>
              </a:ext>
            </a:extLst>
          </p:cNvPr>
          <p:cNvSpPr txBox="1"/>
          <p:nvPr/>
        </p:nvSpPr>
        <p:spPr>
          <a:xfrm>
            <a:off x="4496072" y="2219646"/>
            <a:ext cx="3392298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DISPUTE MANAGEMENT STAGES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80" name="IconBg0"/>
          <p:cNvSpPr/>
          <p:nvPr/>
        </p:nvSpPr>
        <p:spPr>
          <a:xfrm>
            <a:off x="528219" y="1659073"/>
            <a:ext cx="292608" cy="292608"/>
          </a:xfrm>
          <a:prstGeom prst="ellipse">
            <a:avLst/>
          </a:prstGeom>
          <a:solidFill>
            <a:srgbClr val="7A3E9D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81" name="Ico0A"/>
          <p:cNvSpPr/>
          <p:nvPr/>
        </p:nvSpPr>
        <p:spPr>
          <a:xfrm>
            <a:off x="633375" y="1718509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82" name="Ico0B"/>
          <p:cNvSpPr/>
          <p:nvPr/>
        </p:nvSpPr>
        <p:spPr>
          <a:xfrm>
            <a:off x="605943" y="1814521"/>
            <a:ext cx="137160" cy="822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83" name="IconBg1"/>
          <p:cNvSpPr/>
          <p:nvPr/>
        </p:nvSpPr>
        <p:spPr>
          <a:xfrm>
            <a:off x="2843613" y="1668794"/>
            <a:ext cx="292608" cy="292608"/>
          </a:xfrm>
          <a:prstGeom prst="ellipse">
            <a:avLst/>
          </a:prstGeom>
          <a:solidFill>
            <a:srgbClr val="7A3E9D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84" name="Ico1A"/>
          <p:cNvSpPr/>
          <p:nvPr/>
        </p:nvSpPr>
        <p:spPr>
          <a:xfrm>
            <a:off x="2903049" y="1728230"/>
            <a:ext cx="173736" cy="6858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85" name="Ico1B"/>
          <p:cNvSpPr/>
          <p:nvPr/>
        </p:nvSpPr>
        <p:spPr>
          <a:xfrm>
            <a:off x="2925909" y="1810526"/>
            <a:ext cx="128016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86" name="IconBg2"/>
          <p:cNvSpPr/>
          <p:nvPr/>
        </p:nvSpPr>
        <p:spPr>
          <a:xfrm>
            <a:off x="5159007" y="1668794"/>
            <a:ext cx="292608" cy="292608"/>
          </a:xfrm>
          <a:prstGeom prst="ellipse">
            <a:avLst/>
          </a:prstGeom>
          <a:solidFill>
            <a:srgbClr val="7A3E9D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87" name="Ico2A"/>
          <p:cNvSpPr/>
          <p:nvPr/>
        </p:nvSpPr>
        <p:spPr>
          <a:xfrm>
            <a:off x="5204727" y="1755662"/>
            <a:ext cx="201168" cy="118872"/>
          </a:xfrm>
          <a:prstGeom prst="leftRightArrow">
            <a:avLst>
              <a:gd name="adj1" fmla="val 32000"/>
              <a:gd name="adj2" fmla="val 4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88" name="IconBg3"/>
          <p:cNvSpPr/>
          <p:nvPr/>
        </p:nvSpPr>
        <p:spPr>
          <a:xfrm>
            <a:off x="7474401" y="1668794"/>
            <a:ext cx="292608" cy="292608"/>
          </a:xfrm>
          <a:prstGeom prst="ellipse">
            <a:avLst/>
          </a:prstGeom>
          <a:solidFill>
            <a:srgbClr val="7A3E9D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89" name="Ico3A"/>
          <p:cNvSpPr/>
          <p:nvPr/>
        </p:nvSpPr>
        <p:spPr>
          <a:xfrm>
            <a:off x="7529265" y="1746518"/>
            <a:ext cx="182880" cy="137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90" name="Ico3B"/>
          <p:cNvSpPr/>
          <p:nvPr/>
        </p:nvSpPr>
        <p:spPr>
          <a:xfrm>
            <a:off x="7529265" y="1753376"/>
            <a:ext cx="182880" cy="32004"/>
          </a:xfrm>
          <a:prstGeom prst="rect">
            <a:avLst/>
          </a:prstGeom>
          <a:solidFill>
            <a:srgbClr val="7A3E9D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91" name="IconBg4"/>
          <p:cNvSpPr/>
          <p:nvPr/>
        </p:nvSpPr>
        <p:spPr>
          <a:xfrm>
            <a:off x="9789795" y="1668794"/>
            <a:ext cx="292608" cy="292608"/>
          </a:xfrm>
          <a:prstGeom prst="ellipse">
            <a:avLst/>
          </a:prstGeom>
          <a:solidFill>
            <a:srgbClr val="7A3E9D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92" name="Ico4A"/>
          <p:cNvSpPr/>
          <p:nvPr/>
        </p:nvSpPr>
        <p:spPr>
          <a:xfrm>
            <a:off x="9835515" y="1677938"/>
            <a:ext cx="201168" cy="54864"/>
          </a:xfrm>
          <a:prstGeom prst="trapezoid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93" name="Ico4B"/>
          <p:cNvSpPr/>
          <p:nvPr/>
        </p:nvSpPr>
        <p:spPr>
          <a:xfrm>
            <a:off x="9858375" y="1824242"/>
            <a:ext cx="155448" cy="100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7" name="Shape 43">
            <a:extLst>
              <a:ext uri="{FF2B5EF4-FFF2-40B4-BE49-F238E27FC236}">
                <a16:creationId xmlns:a16="http://schemas.microsoft.com/office/drawing/2014/main" id="{7CD92ABC-29EF-5B1A-0969-AEF54338E19E}"/>
              </a:ext>
            </a:extLst>
          </p:cNvPr>
          <p:cNvSpPr/>
          <p:nvPr/>
        </p:nvSpPr>
        <p:spPr>
          <a:xfrm>
            <a:off x="1936966" y="5404335"/>
            <a:ext cx="772925" cy="594359"/>
          </a:xfrm>
          <a:prstGeom prst="diamond">
            <a:avLst/>
          </a:prstGeom>
          <a:solidFill>
            <a:srgbClr val="FFF7E7"/>
          </a:solidFill>
          <a:ln w="16510">
            <a:solidFill>
              <a:srgbClr val="F2A93B"/>
            </a:solidFill>
            <a:prstDash val="solid"/>
          </a:ln>
        </p:spPr>
        <p:txBody>
          <a:bodyPr lIns="0" tIns="36000" rIns="0" bIns="36000" anchor="ctr"/>
          <a:lstStyle/>
          <a:p>
            <a:pPr marL="0" marR="0" lvl="0" indent="0" algn="ctr" defTabSz="121917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7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Auto write off?</a:t>
            </a:r>
          </a:p>
        </p:txBody>
      </p:sp>
      <p:sp>
        <p:nvSpPr>
          <p:cNvPr id="189" name="Shape 43">
            <a:extLst>
              <a:ext uri="{FF2B5EF4-FFF2-40B4-BE49-F238E27FC236}">
                <a16:creationId xmlns:a16="http://schemas.microsoft.com/office/drawing/2014/main" id="{632208EA-7471-1BD9-11AA-BBC63D6C3D5A}"/>
              </a:ext>
            </a:extLst>
          </p:cNvPr>
          <p:cNvSpPr/>
          <p:nvPr/>
        </p:nvSpPr>
        <p:spPr>
          <a:xfrm>
            <a:off x="3293669" y="5396852"/>
            <a:ext cx="774000" cy="482400"/>
          </a:xfrm>
          <a:prstGeom prst="diamond">
            <a:avLst/>
          </a:prstGeom>
          <a:solidFill>
            <a:srgbClr val="FFF7E7"/>
          </a:solidFill>
          <a:ln w="16510">
            <a:solidFill>
              <a:srgbClr val="F2A93B"/>
            </a:solidFill>
            <a:prstDash val="solid"/>
          </a:ln>
        </p:spPr>
        <p:txBody>
          <a:bodyPr lIns="36000" rIns="3600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Submit the case?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53565A">
                  <a:lumMod val="75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0" name="fx401">
            <a:extLst>
              <a:ext uri="{FF2B5EF4-FFF2-40B4-BE49-F238E27FC236}">
                <a16:creationId xmlns:a16="http://schemas.microsoft.com/office/drawing/2014/main" id="{89713DED-8DA7-44AF-5A2E-94342213707F}"/>
              </a:ext>
            </a:extLst>
          </p:cNvPr>
          <p:cNvSpPr/>
          <p:nvPr/>
        </p:nvSpPr>
        <p:spPr>
          <a:xfrm flipH="1">
            <a:off x="70039" y="5435316"/>
            <a:ext cx="251917" cy="1318957"/>
          </a:xfrm>
          <a:prstGeom prst="roundRect">
            <a:avLst/>
          </a:prstGeom>
          <a:noFill/>
          <a:ln w="12700">
            <a:noFill/>
          </a:ln>
        </p:spPr>
        <p:txBody>
          <a:bodyPr vert="vert270"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Decisions</a:t>
            </a:r>
          </a:p>
        </p:txBody>
      </p:sp>
      <p:sp>
        <p:nvSpPr>
          <p:cNvPr id="191" name="Shape 43">
            <a:extLst>
              <a:ext uri="{FF2B5EF4-FFF2-40B4-BE49-F238E27FC236}">
                <a16:creationId xmlns:a16="http://schemas.microsoft.com/office/drawing/2014/main" id="{55D18817-03DE-9358-47E3-03524BCB6B36}"/>
              </a:ext>
            </a:extLst>
          </p:cNvPr>
          <p:cNvSpPr/>
          <p:nvPr/>
        </p:nvSpPr>
        <p:spPr>
          <a:xfrm>
            <a:off x="326217" y="5397127"/>
            <a:ext cx="772925" cy="594359"/>
          </a:xfrm>
          <a:prstGeom prst="diamond">
            <a:avLst/>
          </a:prstGeom>
          <a:solidFill>
            <a:srgbClr val="FFF7E7"/>
          </a:solidFill>
          <a:ln w="16510">
            <a:solidFill>
              <a:srgbClr val="F2A93B"/>
            </a:solidFill>
            <a:prstDash val="solid"/>
          </a:ln>
        </p:spPr>
        <p:txBody>
          <a:bodyPr lIns="0" tIns="36000" rIns="0" bIns="36000" anchor="ctr"/>
          <a:lstStyle/>
          <a:p>
            <a:pPr marL="0" marR="0" lvl="0" indent="0" algn="ctr" defTabSz="121917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Chargeback rights exist?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53565A">
                  <a:lumMod val="75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326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05C40-DD67-77E5-1145-1CEE69F8A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Placeholder 3">
            <a:extLst>
              <a:ext uri="{FF2B5EF4-FFF2-40B4-BE49-F238E27FC236}">
                <a16:creationId xmlns:a16="http://schemas.microsoft.com/office/drawing/2014/main" id="{32B6437A-520F-9C1C-DCE6-8CD2D0C9FB0F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63547" y="832490"/>
            <a:ext cx="11264900" cy="464060"/>
          </a:xfrm>
          <a:prstGeom prst="rect">
            <a:avLst/>
          </a:prstGeom>
        </p:spPr>
        <p:txBody>
          <a:bodyPr/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/>
              <a:buNone/>
              <a:def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9863" indent="-169863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4163" indent="-1143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00050" indent="-115888" algn="l" defTabSz="1064657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rPr>
              <a:t>An end-to-end issuer process for resolving cardholder disputes, from initial intake through final resolution and recovery</a:t>
            </a:r>
          </a:p>
        </p:txBody>
      </p:sp>
      <p:sp>
        <p:nvSpPr>
          <p:cNvPr id="181" name="Title 3">
            <a:extLst>
              <a:ext uri="{FF2B5EF4-FFF2-40B4-BE49-F238E27FC236}">
                <a16:creationId xmlns:a16="http://schemas.microsoft.com/office/drawing/2014/main" id="{840422A4-3266-738A-4371-DDC89AE9300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57200" y="430082"/>
            <a:ext cx="11281285" cy="340136"/>
          </a:xfrm>
        </p:spPr>
        <p:txBody>
          <a:bodyPr/>
          <a:lstStyle>
            <a:lvl1pPr algn="l" defTabSz="1219170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Disputes Resolution – Dispute Initiation &amp; Triage</a:t>
            </a:r>
          </a:p>
        </p:txBody>
      </p:sp>
      <p:sp>
        <p:nvSpPr>
          <p:cNvPr id="400" name="fx401"/>
          <p:cNvSpPr/>
          <p:nvPr/>
        </p:nvSpPr>
        <p:spPr>
          <a:xfrm flipH="1">
            <a:off x="414286" y="1273178"/>
            <a:ext cx="251917" cy="234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F3EAFA"/>
            </a:solidFill>
          </a:ln>
        </p:spPr>
        <p:txBody>
          <a:bodyPr vert="vert270"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PATH 1: DIGITAL SELF-SERVE</a:t>
            </a:r>
          </a:p>
        </p:txBody>
      </p:sp>
      <p:sp>
        <p:nvSpPr>
          <p:cNvPr id="404" name="fx405"/>
          <p:cNvSpPr/>
          <p:nvPr/>
        </p:nvSpPr>
        <p:spPr>
          <a:xfrm>
            <a:off x="869575" y="1617843"/>
            <a:ext cx="1260000" cy="720000"/>
          </a:xfrm>
          <a:prstGeom prst="roundRect">
            <a:avLst/>
          </a:prstGeom>
          <a:solidFill>
            <a:srgbClr val="EDDBFB">
              <a:alpha val="56863"/>
            </a:srgbClr>
          </a:solidFill>
          <a:ln w="12700">
            <a:solidFill>
              <a:schemeClr val="accent1"/>
            </a:solidFill>
          </a:ln>
        </p:spPr>
        <p:txBody>
          <a:bodyPr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Cardholder opens digital banking (web or app) and initiates the dispute</a:t>
            </a:r>
          </a:p>
        </p:txBody>
      </p:sp>
      <p:sp>
        <p:nvSpPr>
          <p:cNvPr id="406" name="fx407"/>
          <p:cNvSpPr/>
          <p:nvPr/>
        </p:nvSpPr>
        <p:spPr>
          <a:xfrm>
            <a:off x="869575" y="4421344"/>
            <a:ext cx="1260000" cy="720000"/>
          </a:xfrm>
          <a:prstGeom prst="roundRect">
            <a:avLst/>
          </a:prstGeom>
          <a:solidFill>
            <a:srgbClr val="EDDBFB">
              <a:alpha val="56863"/>
            </a:srgbClr>
          </a:solidFill>
          <a:ln w="12700">
            <a:solidFill>
              <a:schemeClr val="accent1"/>
            </a:solidFill>
          </a:ln>
        </p:spPr>
        <p:txBody>
          <a:bodyPr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Cardholder calls contact </a:t>
            </a:r>
            <a:r>
              <a:rPr kumimoji="0" lang="en-US" sz="900" b="1" i="0" u="none" strike="noStrike" kern="1200" cap="none" spc="0" normalizeH="0" baseline="0" noProof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centre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and initiates the dispute</a:t>
            </a:r>
          </a:p>
        </p:txBody>
      </p:sp>
      <p:cxnSp>
        <p:nvCxnSpPr>
          <p:cNvPr id="432" name="ar433"/>
          <p:cNvCxnSpPr>
            <a:cxnSpLocks/>
            <a:stCxn id="404" idx="3"/>
            <a:endCxn id="10" idx="1"/>
          </p:cNvCxnSpPr>
          <p:nvPr/>
        </p:nvCxnSpPr>
        <p:spPr>
          <a:xfrm>
            <a:off x="2129575" y="1977843"/>
            <a:ext cx="337271" cy="553"/>
          </a:xfrm>
          <a:prstGeom prst="straightConnector1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D71ABD7E-62D2-A056-3FCF-45284B72BDD6}"/>
              </a:ext>
            </a:extLst>
          </p:cNvPr>
          <p:cNvGrpSpPr/>
          <p:nvPr/>
        </p:nvGrpSpPr>
        <p:grpSpPr>
          <a:xfrm>
            <a:off x="778135" y="1325620"/>
            <a:ext cx="384048" cy="384048"/>
            <a:chOff x="365760" y="1636776"/>
            <a:chExt cx="384048" cy="384048"/>
          </a:xfrm>
        </p:grpSpPr>
        <p:sp>
          <p:nvSpPr>
            <p:cNvPr id="801" name="Person Badge"/>
            <p:cNvSpPr/>
            <p:nvPr/>
          </p:nvSpPr>
          <p:spPr>
            <a:xfrm>
              <a:off x="365760" y="1636776"/>
              <a:ext cx="384048" cy="384048"/>
            </a:xfrm>
            <a:prstGeom prst="ellipse">
              <a:avLst/>
            </a:prstGeom>
            <a:solidFill>
              <a:srgbClr val="7A3E9D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02" name="Person Head"/>
            <p:cNvSpPr/>
            <p:nvPr/>
          </p:nvSpPr>
          <p:spPr>
            <a:xfrm>
              <a:off x="498805" y="1696212"/>
              <a:ext cx="118872" cy="1188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03" name="Person Body"/>
            <p:cNvSpPr/>
            <p:nvPr/>
          </p:nvSpPr>
          <p:spPr>
            <a:xfrm>
              <a:off x="457200" y="1833372"/>
              <a:ext cx="201168" cy="12344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90" name="fx401">
            <a:extLst>
              <a:ext uri="{FF2B5EF4-FFF2-40B4-BE49-F238E27FC236}">
                <a16:creationId xmlns:a16="http://schemas.microsoft.com/office/drawing/2014/main" id="{70DBAFD2-E16F-896E-6AD1-775573EA9E5A}"/>
              </a:ext>
            </a:extLst>
          </p:cNvPr>
          <p:cNvSpPr/>
          <p:nvPr/>
        </p:nvSpPr>
        <p:spPr>
          <a:xfrm flipH="1">
            <a:off x="410485" y="4048175"/>
            <a:ext cx="251917" cy="234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F3EAFA"/>
            </a:solidFill>
          </a:ln>
        </p:spPr>
        <p:txBody>
          <a:bodyPr vert="vert270"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PATH 2: CONTACT CENTRE</a:t>
            </a:r>
          </a:p>
        </p:txBody>
      </p: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30AB2F86-282B-3090-A16E-70807738FD72}"/>
              </a:ext>
            </a:extLst>
          </p:cNvPr>
          <p:cNvGrpSpPr/>
          <p:nvPr/>
        </p:nvGrpSpPr>
        <p:grpSpPr>
          <a:xfrm>
            <a:off x="778135" y="4201680"/>
            <a:ext cx="384048" cy="384048"/>
            <a:chOff x="365760" y="1636776"/>
            <a:chExt cx="384048" cy="384048"/>
          </a:xfrm>
        </p:grpSpPr>
        <p:sp>
          <p:nvSpPr>
            <p:cNvPr id="459" name="Person Badge">
              <a:extLst>
                <a:ext uri="{FF2B5EF4-FFF2-40B4-BE49-F238E27FC236}">
                  <a16:creationId xmlns:a16="http://schemas.microsoft.com/office/drawing/2014/main" id="{0B440398-BF1B-47AA-6011-18023CEEE1D0}"/>
                </a:ext>
              </a:extLst>
            </p:cNvPr>
            <p:cNvSpPr/>
            <p:nvPr/>
          </p:nvSpPr>
          <p:spPr>
            <a:xfrm>
              <a:off x="365760" y="1636776"/>
              <a:ext cx="384048" cy="384048"/>
            </a:xfrm>
            <a:prstGeom prst="ellipse">
              <a:avLst/>
            </a:prstGeom>
            <a:solidFill>
              <a:srgbClr val="7A3E9D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60" name="Person Head">
              <a:extLst>
                <a:ext uri="{FF2B5EF4-FFF2-40B4-BE49-F238E27FC236}">
                  <a16:creationId xmlns:a16="http://schemas.microsoft.com/office/drawing/2014/main" id="{6B6409D5-A389-B3BE-A0E3-7E944C612134}"/>
                </a:ext>
              </a:extLst>
            </p:cNvPr>
            <p:cNvSpPr/>
            <p:nvPr/>
          </p:nvSpPr>
          <p:spPr>
            <a:xfrm>
              <a:off x="498805" y="1696212"/>
              <a:ext cx="118872" cy="1188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61" name="Person Body">
              <a:extLst>
                <a:ext uri="{FF2B5EF4-FFF2-40B4-BE49-F238E27FC236}">
                  <a16:creationId xmlns:a16="http://schemas.microsoft.com/office/drawing/2014/main" id="{7EC3B30D-F757-E66F-0BFA-CCE545C56946}"/>
                </a:ext>
              </a:extLst>
            </p:cNvPr>
            <p:cNvSpPr/>
            <p:nvPr/>
          </p:nvSpPr>
          <p:spPr>
            <a:xfrm>
              <a:off x="457200" y="1833372"/>
              <a:ext cx="201168" cy="12344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486" name="fx413">
            <a:extLst>
              <a:ext uri="{FF2B5EF4-FFF2-40B4-BE49-F238E27FC236}">
                <a16:creationId xmlns:a16="http://schemas.microsoft.com/office/drawing/2014/main" id="{8F2D2393-C47A-067D-3C90-2236734E8904}"/>
              </a:ext>
            </a:extLst>
          </p:cNvPr>
          <p:cNvSpPr/>
          <p:nvPr/>
        </p:nvSpPr>
        <p:spPr>
          <a:xfrm>
            <a:off x="8106753" y="2034253"/>
            <a:ext cx="1260000" cy="720000"/>
          </a:xfrm>
          <a:prstGeom prst="round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System creates a case and assigns an owner</a:t>
            </a:r>
          </a:p>
        </p:txBody>
      </p:sp>
      <p:cxnSp>
        <p:nvCxnSpPr>
          <p:cNvPr id="490" name="Elbow Connector 489">
            <a:extLst>
              <a:ext uri="{FF2B5EF4-FFF2-40B4-BE49-F238E27FC236}">
                <a16:creationId xmlns:a16="http://schemas.microsoft.com/office/drawing/2014/main" id="{D102DF2E-8730-1A2C-FFAD-519727CE9FA1}"/>
              </a:ext>
            </a:extLst>
          </p:cNvPr>
          <p:cNvCxnSpPr>
            <a:cxnSpLocks/>
            <a:stCxn id="10" idx="3"/>
            <a:endCxn id="950" idx="2"/>
          </p:cNvCxnSpPr>
          <p:nvPr/>
        </p:nvCxnSpPr>
        <p:spPr>
          <a:xfrm>
            <a:off x="3762846" y="1978396"/>
            <a:ext cx="582108" cy="694421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cxnSp>
        <p:nvCxnSpPr>
          <p:cNvPr id="494" name="ar433">
            <a:extLst>
              <a:ext uri="{FF2B5EF4-FFF2-40B4-BE49-F238E27FC236}">
                <a16:creationId xmlns:a16="http://schemas.microsoft.com/office/drawing/2014/main" id="{3B021684-9688-4480-9FEE-F4C32399D301}"/>
              </a:ext>
            </a:extLst>
          </p:cNvPr>
          <p:cNvCxnSpPr>
            <a:cxnSpLocks/>
            <a:stCxn id="486" idx="2"/>
            <a:endCxn id="722" idx="0"/>
          </p:cNvCxnSpPr>
          <p:nvPr/>
        </p:nvCxnSpPr>
        <p:spPr>
          <a:xfrm>
            <a:off x="8736753" y="2754253"/>
            <a:ext cx="0" cy="167409"/>
          </a:xfrm>
          <a:prstGeom prst="straightConnector1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sp>
        <p:nvSpPr>
          <p:cNvPr id="506" name="Oval 505">
            <a:extLst>
              <a:ext uri="{FF2B5EF4-FFF2-40B4-BE49-F238E27FC236}">
                <a16:creationId xmlns:a16="http://schemas.microsoft.com/office/drawing/2014/main" id="{235B7F26-F9AE-77A4-A857-C71C87762997}"/>
              </a:ext>
            </a:extLst>
          </p:cNvPr>
          <p:cNvSpPr/>
          <p:nvPr/>
        </p:nvSpPr>
        <p:spPr bwMode="gray">
          <a:xfrm>
            <a:off x="8106650" y="1419266"/>
            <a:ext cx="288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50" name="Oval 949">
            <a:extLst>
              <a:ext uri="{FF2B5EF4-FFF2-40B4-BE49-F238E27FC236}">
                <a16:creationId xmlns:a16="http://schemas.microsoft.com/office/drawing/2014/main" id="{5F7F3F6A-025A-9232-CCDB-8975BB5B38BC}"/>
              </a:ext>
            </a:extLst>
          </p:cNvPr>
          <p:cNvSpPr/>
          <p:nvPr/>
        </p:nvSpPr>
        <p:spPr bwMode="gray">
          <a:xfrm>
            <a:off x="4344954" y="2528817"/>
            <a:ext cx="288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51" name="TextBox 950">
            <a:extLst>
              <a:ext uri="{FF2B5EF4-FFF2-40B4-BE49-F238E27FC236}">
                <a16:creationId xmlns:a16="http://schemas.microsoft.com/office/drawing/2014/main" id="{D771964B-26EB-88D1-73AC-0A6E5B64C02F}"/>
              </a:ext>
            </a:extLst>
          </p:cNvPr>
          <p:cNvSpPr txBox="1"/>
          <p:nvPr/>
        </p:nvSpPr>
        <p:spPr>
          <a:xfrm>
            <a:off x="3683891" y="2807485"/>
            <a:ext cx="1559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 refund, communicate to the cardholder</a:t>
            </a:r>
          </a:p>
        </p:txBody>
      </p:sp>
      <p:sp>
        <p:nvSpPr>
          <p:cNvPr id="722" name="fx413">
            <a:extLst>
              <a:ext uri="{FF2B5EF4-FFF2-40B4-BE49-F238E27FC236}">
                <a16:creationId xmlns:a16="http://schemas.microsoft.com/office/drawing/2014/main" id="{68C9383B-8ACD-5C7E-7C5C-9F35BB92FAF8}"/>
              </a:ext>
            </a:extLst>
          </p:cNvPr>
          <p:cNvSpPr/>
          <p:nvPr/>
        </p:nvSpPr>
        <p:spPr>
          <a:xfrm>
            <a:off x="8106753" y="2921662"/>
            <a:ext cx="1260000" cy="720000"/>
          </a:xfrm>
          <a:prstGeom prst="roundRect">
            <a:avLst/>
          </a:prstGeom>
          <a:solidFill>
            <a:srgbClr val="EDDBFB">
              <a:alpha val="56863"/>
            </a:srgbClr>
          </a:solidFill>
          <a:ln w="12700">
            <a:solidFill>
              <a:schemeClr val="accent1"/>
            </a:solidFill>
          </a:ln>
        </p:spPr>
        <p:txBody>
          <a:bodyPr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Communication with the case ID and next steps sent to the cardholder</a:t>
            </a:r>
          </a:p>
        </p:txBody>
      </p:sp>
      <p:sp>
        <p:nvSpPr>
          <p:cNvPr id="728" name="fx413">
            <a:extLst>
              <a:ext uri="{FF2B5EF4-FFF2-40B4-BE49-F238E27FC236}">
                <a16:creationId xmlns:a16="http://schemas.microsoft.com/office/drawing/2014/main" id="{2A0321F9-3CC7-225A-2F67-75C441E3ADF1}"/>
              </a:ext>
            </a:extLst>
          </p:cNvPr>
          <p:cNvSpPr/>
          <p:nvPr/>
        </p:nvSpPr>
        <p:spPr>
          <a:xfrm>
            <a:off x="869575" y="2664578"/>
            <a:ext cx="1260000" cy="720000"/>
          </a:xfrm>
          <a:prstGeom prst="roundRect">
            <a:avLst/>
          </a:prstGeom>
          <a:solidFill>
            <a:srgbClr val="EDDBFB">
              <a:alpha val="56863"/>
            </a:srgbClr>
          </a:solidFill>
          <a:ln w="12700">
            <a:solidFill>
              <a:schemeClr val="accent1"/>
            </a:solidFill>
          </a:ln>
        </p:spPr>
        <p:txBody>
          <a:bodyPr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Communication with the acknowledgement sent to the cardholder</a:t>
            </a:r>
          </a:p>
        </p:txBody>
      </p:sp>
      <p:cxnSp>
        <p:nvCxnSpPr>
          <p:cNvPr id="729" name="ar433">
            <a:extLst>
              <a:ext uri="{FF2B5EF4-FFF2-40B4-BE49-F238E27FC236}">
                <a16:creationId xmlns:a16="http://schemas.microsoft.com/office/drawing/2014/main" id="{40CF9F0A-5165-EA29-FE7B-BB1BAEAF7696}"/>
              </a:ext>
            </a:extLst>
          </p:cNvPr>
          <p:cNvCxnSpPr>
            <a:cxnSpLocks/>
            <a:stCxn id="404" idx="2"/>
            <a:endCxn id="728" idx="0"/>
          </p:cNvCxnSpPr>
          <p:nvPr/>
        </p:nvCxnSpPr>
        <p:spPr>
          <a:xfrm>
            <a:off x="1499575" y="2337843"/>
            <a:ext cx="0" cy="326735"/>
          </a:xfrm>
          <a:prstGeom prst="straightConnector1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sp>
        <p:nvSpPr>
          <p:cNvPr id="733" name="TextBox 732">
            <a:extLst>
              <a:ext uri="{FF2B5EF4-FFF2-40B4-BE49-F238E27FC236}">
                <a16:creationId xmlns:a16="http://schemas.microsoft.com/office/drawing/2014/main" id="{09FE3D82-D39F-D2FF-4D4F-4D8755D058DF}"/>
              </a:ext>
            </a:extLst>
          </p:cNvPr>
          <p:cNvSpPr txBox="1"/>
          <p:nvPr/>
        </p:nvSpPr>
        <p:spPr>
          <a:xfrm>
            <a:off x="8350902" y="1403162"/>
            <a:ext cx="1415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Refund, communicate to the cardholder</a:t>
            </a:r>
          </a:p>
        </p:txBody>
      </p:sp>
      <p:sp>
        <p:nvSpPr>
          <p:cNvPr id="2" name="lg950"/>
          <p:cNvSpPr/>
          <p:nvPr/>
        </p:nvSpPr>
        <p:spPr>
          <a:xfrm>
            <a:off x="10637755" y="715753"/>
            <a:ext cx="274320" cy="182880"/>
          </a:xfrm>
          <a:prstGeom prst="roundRect">
            <a:avLst/>
          </a:prstGeom>
          <a:solidFill>
            <a:srgbClr val="EDDBFB">
              <a:alpha val="56863"/>
            </a:srgbClr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lg951"/>
          <p:cNvSpPr txBox="1"/>
          <p:nvPr/>
        </p:nvSpPr>
        <p:spPr>
          <a:xfrm>
            <a:off x="10972519" y="706609"/>
            <a:ext cx="1325880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 journey</a:t>
            </a:r>
          </a:p>
        </p:txBody>
      </p:sp>
      <p:sp>
        <p:nvSpPr>
          <p:cNvPr id="4" name="lg952"/>
          <p:cNvSpPr/>
          <p:nvPr/>
        </p:nvSpPr>
        <p:spPr>
          <a:xfrm>
            <a:off x="10637755" y="990073"/>
            <a:ext cx="27432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53" name="lg953"/>
          <p:cNvSpPr txBox="1"/>
          <p:nvPr/>
        </p:nvSpPr>
        <p:spPr>
          <a:xfrm>
            <a:off x="10972519" y="980929"/>
            <a:ext cx="1143000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Issuer journey</a:t>
            </a:r>
          </a:p>
        </p:txBody>
      </p:sp>
      <p:grpSp>
        <p:nvGrpSpPr>
          <p:cNvPr id="756" name="Group 755">
            <a:extLst>
              <a:ext uri="{FF2B5EF4-FFF2-40B4-BE49-F238E27FC236}">
                <a16:creationId xmlns:a16="http://schemas.microsoft.com/office/drawing/2014/main" id="{D5D88961-D923-7062-E56A-D3E17956B6E7}"/>
              </a:ext>
            </a:extLst>
          </p:cNvPr>
          <p:cNvGrpSpPr/>
          <p:nvPr/>
        </p:nvGrpSpPr>
        <p:grpSpPr>
          <a:xfrm>
            <a:off x="9215715" y="1920270"/>
            <a:ext cx="252000" cy="252000"/>
            <a:chOff x="10225008" y="2189338"/>
            <a:chExt cx="252000" cy="252000"/>
          </a:xfrm>
        </p:grpSpPr>
        <p:sp>
          <p:nvSpPr>
            <p:cNvPr id="960" name="hoff960"/>
            <p:cNvSpPr/>
            <p:nvPr/>
          </p:nvSpPr>
          <p:spPr>
            <a:xfrm>
              <a:off x="10225008" y="2189338"/>
              <a:ext cx="252000" cy="252000"/>
            </a:xfrm>
            <a:prstGeom prst="ellipse">
              <a:avLst/>
            </a:prstGeom>
            <a:solidFill>
              <a:srgbClr val="9DD4C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61" name="hoffa961"/>
            <p:cNvSpPr/>
            <p:nvPr/>
          </p:nvSpPr>
          <p:spPr>
            <a:xfrm>
              <a:off x="10275324" y="2253159"/>
              <a:ext cx="161665" cy="12435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60" name="Group 759">
            <a:extLst>
              <a:ext uri="{FF2B5EF4-FFF2-40B4-BE49-F238E27FC236}">
                <a16:creationId xmlns:a16="http://schemas.microsoft.com/office/drawing/2014/main" id="{54FB9201-B2B6-7BEA-4C9B-EB75549A0321}"/>
              </a:ext>
            </a:extLst>
          </p:cNvPr>
          <p:cNvGrpSpPr/>
          <p:nvPr/>
        </p:nvGrpSpPr>
        <p:grpSpPr>
          <a:xfrm>
            <a:off x="10685728" y="1247437"/>
            <a:ext cx="210312" cy="210312"/>
            <a:chOff x="10674331" y="1239428"/>
            <a:chExt cx="210312" cy="210312"/>
          </a:xfrm>
        </p:grpSpPr>
        <p:sp>
          <p:nvSpPr>
            <p:cNvPr id="968" name="hoff968"/>
            <p:cNvSpPr/>
            <p:nvPr/>
          </p:nvSpPr>
          <p:spPr>
            <a:xfrm>
              <a:off x="10674331" y="1239428"/>
              <a:ext cx="210312" cy="210312"/>
            </a:xfrm>
            <a:prstGeom prst="ellipse">
              <a:avLst/>
            </a:prstGeom>
            <a:solidFill>
              <a:srgbClr val="9DD4C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69" name="hoffa969"/>
            <p:cNvSpPr/>
            <p:nvPr/>
          </p:nvSpPr>
          <p:spPr>
            <a:xfrm>
              <a:off x="10728097" y="1304737"/>
              <a:ext cx="109362" cy="8412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972" name="lg972"/>
          <p:cNvSpPr txBox="1"/>
          <p:nvPr/>
        </p:nvSpPr>
        <p:spPr>
          <a:xfrm>
            <a:off x="10972519" y="1198280"/>
            <a:ext cx="1207008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Next stage handoff</a:t>
            </a:r>
          </a:p>
        </p:txBody>
      </p:sp>
      <p:cxnSp>
        <p:nvCxnSpPr>
          <p:cNvPr id="763" name="Elbow Connector 762">
            <a:extLst>
              <a:ext uri="{FF2B5EF4-FFF2-40B4-BE49-F238E27FC236}">
                <a16:creationId xmlns:a16="http://schemas.microsoft.com/office/drawing/2014/main" id="{D88A64DF-9934-62A9-174E-247E1266BF53}"/>
              </a:ext>
            </a:extLst>
          </p:cNvPr>
          <p:cNvCxnSpPr>
            <a:cxnSpLocks/>
          </p:cNvCxnSpPr>
          <p:nvPr/>
        </p:nvCxnSpPr>
        <p:spPr>
          <a:xfrm>
            <a:off x="-2926264" y="9638719"/>
            <a:ext cx="589990" cy="45249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sp>
        <p:nvSpPr>
          <p:cNvPr id="10" name="Shape 43">
            <a:extLst>
              <a:ext uri="{FF2B5EF4-FFF2-40B4-BE49-F238E27FC236}">
                <a16:creationId xmlns:a16="http://schemas.microsoft.com/office/drawing/2014/main" id="{C3883419-82E6-12DC-535A-61F232EBDF48}"/>
              </a:ext>
            </a:extLst>
          </p:cNvPr>
          <p:cNvSpPr/>
          <p:nvPr/>
        </p:nvSpPr>
        <p:spPr>
          <a:xfrm>
            <a:off x="2466846" y="1544056"/>
            <a:ext cx="1296000" cy="868680"/>
          </a:xfrm>
          <a:prstGeom prst="diamond">
            <a:avLst/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wrap="square" lIns="0" tIns="36576" rIns="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Chargeback rights exist?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7BE29-06D1-A954-0540-3ED0D7D7249B}"/>
              </a:ext>
            </a:extLst>
          </p:cNvPr>
          <p:cNvSpPr txBox="1"/>
          <p:nvPr/>
        </p:nvSpPr>
        <p:spPr>
          <a:xfrm>
            <a:off x="3896633" y="1757261"/>
            <a:ext cx="4905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9A4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Yes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9A4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Shape 43">
            <a:extLst>
              <a:ext uri="{FF2B5EF4-FFF2-40B4-BE49-F238E27FC236}">
                <a16:creationId xmlns:a16="http://schemas.microsoft.com/office/drawing/2014/main" id="{80404F30-E78C-A3F6-F050-A23AE96B200E}"/>
              </a:ext>
            </a:extLst>
          </p:cNvPr>
          <p:cNvSpPr/>
          <p:nvPr/>
        </p:nvSpPr>
        <p:spPr>
          <a:xfrm>
            <a:off x="6352983" y="1540949"/>
            <a:ext cx="1296000" cy="868680"/>
          </a:xfrm>
          <a:prstGeom prst="diamond">
            <a:avLst/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wrap="square" lIns="0" tIns="36576" rIns="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System Auto Write Off?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E7F661DB-B5D3-4BC9-EBCE-2A1F6F57C717}"/>
              </a:ext>
            </a:extLst>
          </p:cNvPr>
          <p:cNvCxnSpPr>
            <a:cxnSpLocks/>
            <a:stCxn id="14" idx="3"/>
            <a:endCxn id="506" idx="2"/>
          </p:cNvCxnSpPr>
          <p:nvPr/>
        </p:nvCxnSpPr>
        <p:spPr>
          <a:xfrm flipV="1">
            <a:off x="7648983" y="1563266"/>
            <a:ext cx="457667" cy="412023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1BA0A54-A8D1-6C41-895C-D7D285316E9C}"/>
              </a:ext>
            </a:extLst>
          </p:cNvPr>
          <p:cNvSpPr txBox="1"/>
          <p:nvPr/>
        </p:nvSpPr>
        <p:spPr>
          <a:xfrm>
            <a:off x="7496477" y="1612161"/>
            <a:ext cx="4905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9A4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Yes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9A4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133FDC-0802-0375-EF5C-07E7E17A64FA}"/>
              </a:ext>
            </a:extLst>
          </p:cNvPr>
          <p:cNvSpPr txBox="1"/>
          <p:nvPr/>
        </p:nvSpPr>
        <p:spPr>
          <a:xfrm>
            <a:off x="3589952" y="2246877"/>
            <a:ext cx="6634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BF2E91-C8FD-F38D-5F52-94EF2505DA4F}"/>
              </a:ext>
            </a:extLst>
          </p:cNvPr>
          <p:cNvSpPr txBox="1"/>
          <p:nvPr/>
        </p:nvSpPr>
        <p:spPr>
          <a:xfrm>
            <a:off x="2451261" y="2402579"/>
            <a:ext cx="13212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700" b="0" i="1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i.e., dispute is within the filing window as per Beem’s cardholder agreement (e.g., 90 days)</a:t>
            </a: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EEE51B92-6A6A-9F8A-0FA8-7E17A0AD4CB6}"/>
              </a:ext>
            </a:extLst>
          </p:cNvPr>
          <p:cNvCxnSpPr>
            <a:cxnSpLocks/>
            <a:stCxn id="14" idx="3"/>
            <a:endCxn id="486" idx="1"/>
          </p:cNvCxnSpPr>
          <p:nvPr/>
        </p:nvCxnSpPr>
        <p:spPr>
          <a:xfrm>
            <a:off x="7648983" y="1975289"/>
            <a:ext cx="457770" cy="418964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C7FD09-4809-FA5C-B0D8-F793D13EC790}"/>
              </a:ext>
            </a:extLst>
          </p:cNvPr>
          <p:cNvSpPr txBox="1"/>
          <p:nvPr/>
        </p:nvSpPr>
        <p:spPr>
          <a:xfrm>
            <a:off x="7415489" y="2136814"/>
            <a:ext cx="6634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Shape 43">
            <a:extLst>
              <a:ext uri="{FF2B5EF4-FFF2-40B4-BE49-F238E27FC236}">
                <a16:creationId xmlns:a16="http://schemas.microsoft.com/office/drawing/2014/main" id="{A5112FCD-4C6F-90AD-FF17-961B13BADCED}"/>
              </a:ext>
            </a:extLst>
          </p:cNvPr>
          <p:cNvSpPr/>
          <p:nvPr/>
        </p:nvSpPr>
        <p:spPr>
          <a:xfrm>
            <a:off x="4724747" y="1544056"/>
            <a:ext cx="1296000" cy="868680"/>
          </a:xfrm>
          <a:prstGeom prst="diamond">
            <a:avLst/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Fraud or non-fraud?</a:t>
            </a:r>
          </a:p>
        </p:txBody>
      </p:sp>
      <p:cxnSp>
        <p:nvCxnSpPr>
          <p:cNvPr id="41" name="ar433">
            <a:extLst>
              <a:ext uri="{FF2B5EF4-FFF2-40B4-BE49-F238E27FC236}">
                <a16:creationId xmlns:a16="http://schemas.microsoft.com/office/drawing/2014/main" id="{22924F0D-4E7B-4014-E065-B74D10385A45}"/>
              </a:ext>
            </a:extLst>
          </p:cNvPr>
          <p:cNvCxnSpPr>
            <a:cxnSpLocks/>
            <a:stCxn id="10" idx="3"/>
            <a:endCxn id="39" idx="1"/>
          </p:cNvCxnSpPr>
          <p:nvPr/>
        </p:nvCxnSpPr>
        <p:spPr>
          <a:xfrm>
            <a:off x="3762846" y="1978396"/>
            <a:ext cx="961901" cy="0"/>
          </a:xfrm>
          <a:prstGeom prst="straightConnector1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cxnSp>
        <p:nvCxnSpPr>
          <p:cNvPr id="50" name="lnk906">
            <a:extLst>
              <a:ext uri="{FF2B5EF4-FFF2-40B4-BE49-F238E27FC236}">
                <a16:creationId xmlns:a16="http://schemas.microsoft.com/office/drawing/2014/main" id="{3C1D79E1-CD23-73E4-9226-0ABF1FD175C0}"/>
              </a:ext>
            </a:extLst>
          </p:cNvPr>
          <p:cNvCxnSpPr>
            <a:cxnSpLocks/>
            <a:stCxn id="39" idx="3"/>
            <a:endCxn id="14" idx="1"/>
          </p:cNvCxnSpPr>
          <p:nvPr/>
        </p:nvCxnSpPr>
        <p:spPr>
          <a:xfrm flipV="1">
            <a:off x="6020747" y="1975289"/>
            <a:ext cx="332236" cy="3107"/>
          </a:xfrm>
          <a:prstGeom prst="straightConnector1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1B85BDB-EBA8-3CC2-74D9-3C975E062B97}"/>
              </a:ext>
            </a:extLst>
          </p:cNvPr>
          <p:cNvSpPr txBox="1"/>
          <p:nvPr/>
        </p:nvSpPr>
        <p:spPr>
          <a:xfrm>
            <a:off x="4699508" y="2367646"/>
            <a:ext cx="1321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If fraud, block/re-issue card as needed</a:t>
            </a:r>
          </a:p>
        </p:txBody>
      </p:sp>
      <p:sp>
        <p:nvSpPr>
          <p:cNvPr id="925" name="fx413">
            <a:extLst>
              <a:ext uri="{FF2B5EF4-FFF2-40B4-BE49-F238E27FC236}">
                <a16:creationId xmlns:a16="http://schemas.microsoft.com/office/drawing/2014/main" id="{737BC239-0CE1-7030-4681-47C44487C5BE}"/>
              </a:ext>
            </a:extLst>
          </p:cNvPr>
          <p:cNvSpPr/>
          <p:nvPr/>
        </p:nvSpPr>
        <p:spPr>
          <a:xfrm>
            <a:off x="9607560" y="4833886"/>
            <a:ext cx="1260000" cy="720000"/>
          </a:xfrm>
          <a:prstGeom prst="round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 creates a case and assigns an owner</a:t>
            </a:r>
          </a:p>
        </p:txBody>
      </p:sp>
      <p:cxnSp>
        <p:nvCxnSpPr>
          <p:cNvPr id="926" name="Elbow Connector 925">
            <a:extLst>
              <a:ext uri="{FF2B5EF4-FFF2-40B4-BE49-F238E27FC236}">
                <a16:creationId xmlns:a16="http://schemas.microsoft.com/office/drawing/2014/main" id="{7C9F1E20-CCCB-7F50-BCF0-F48D5EB40C7A}"/>
              </a:ext>
            </a:extLst>
          </p:cNvPr>
          <p:cNvCxnSpPr>
            <a:cxnSpLocks/>
            <a:stCxn id="938" idx="3"/>
            <a:endCxn id="930" idx="2"/>
          </p:cNvCxnSpPr>
          <p:nvPr/>
        </p:nvCxnSpPr>
        <p:spPr>
          <a:xfrm>
            <a:off x="3762846" y="4778029"/>
            <a:ext cx="582108" cy="694421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cxnSp>
        <p:nvCxnSpPr>
          <p:cNvPr id="927" name="ar433">
            <a:extLst>
              <a:ext uri="{FF2B5EF4-FFF2-40B4-BE49-F238E27FC236}">
                <a16:creationId xmlns:a16="http://schemas.microsoft.com/office/drawing/2014/main" id="{4DDE4621-FE11-D2F7-4766-42A8F08F32BE}"/>
              </a:ext>
            </a:extLst>
          </p:cNvPr>
          <p:cNvCxnSpPr>
            <a:cxnSpLocks/>
            <a:stCxn id="925" idx="2"/>
            <a:endCxn id="932" idx="0"/>
          </p:cNvCxnSpPr>
          <p:nvPr/>
        </p:nvCxnSpPr>
        <p:spPr>
          <a:xfrm>
            <a:off x="10237560" y="5553886"/>
            <a:ext cx="0" cy="167409"/>
          </a:xfrm>
          <a:prstGeom prst="straightConnector1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sp>
        <p:nvSpPr>
          <p:cNvPr id="929" name="Oval 928">
            <a:extLst>
              <a:ext uri="{FF2B5EF4-FFF2-40B4-BE49-F238E27FC236}">
                <a16:creationId xmlns:a16="http://schemas.microsoft.com/office/drawing/2014/main" id="{34867E8C-5957-C02F-CE77-2E4866B7F969}"/>
              </a:ext>
            </a:extLst>
          </p:cNvPr>
          <p:cNvSpPr/>
          <p:nvPr/>
        </p:nvSpPr>
        <p:spPr bwMode="gray">
          <a:xfrm>
            <a:off x="9607457" y="4218899"/>
            <a:ext cx="288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30" name="Oval 929">
            <a:extLst>
              <a:ext uri="{FF2B5EF4-FFF2-40B4-BE49-F238E27FC236}">
                <a16:creationId xmlns:a16="http://schemas.microsoft.com/office/drawing/2014/main" id="{C36A09AF-1AF5-7126-0E02-BDF5C5DF4C47}"/>
              </a:ext>
            </a:extLst>
          </p:cNvPr>
          <p:cNvSpPr/>
          <p:nvPr/>
        </p:nvSpPr>
        <p:spPr bwMode="gray">
          <a:xfrm>
            <a:off x="4344954" y="5328450"/>
            <a:ext cx="288000" cy="28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31" name="TextBox 930">
            <a:extLst>
              <a:ext uri="{FF2B5EF4-FFF2-40B4-BE49-F238E27FC236}">
                <a16:creationId xmlns:a16="http://schemas.microsoft.com/office/drawing/2014/main" id="{E1B304FF-8E83-B39D-082B-65A99EDB8A22}"/>
              </a:ext>
            </a:extLst>
          </p:cNvPr>
          <p:cNvSpPr txBox="1"/>
          <p:nvPr/>
        </p:nvSpPr>
        <p:spPr>
          <a:xfrm>
            <a:off x="3683891" y="5607118"/>
            <a:ext cx="1559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 refund, communicate to the cardholder</a:t>
            </a:r>
          </a:p>
        </p:txBody>
      </p:sp>
      <p:sp>
        <p:nvSpPr>
          <p:cNvPr id="932" name="fx413">
            <a:extLst>
              <a:ext uri="{FF2B5EF4-FFF2-40B4-BE49-F238E27FC236}">
                <a16:creationId xmlns:a16="http://schemas.microsoft.com/office/drawing/2014/main" id="{64EB3F13-05CB-6D5B-AEA7-C002A45C32D9}"/>
              </a:ext>
            </a:extLst>
          </p:cNvPr>
          <p:cNvSpPr/>
          <p:nvPr/>
        </p:nvSpPr>
        <p:spPr>
          <a:xfrm>
            <a:off x="9607560" y="5721295"/>
            <a:ext cx="1260000" cy="720000"/>
          </a:xfrm>
          <a:prstGeom prst="roundRect">
            <a:avLst/>
          </a:prstGeom>
          <a:solidFill>
            <a:srgbClr val="EDDBFB">
              <a:alpha val="56863"/>
            </a:srgbClr>
          </a:solidFill>
          <a:ln w="12700">
            <a:solidFill>
              <a:schemeClr val="accent1"/>
            </a:solidFill>
          </a:ln>
        </p:spPr>
        <p:txBody>
          <a:bodyPr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 communicates the case ID and next steps to the cardholder</a:t>
            </a:r>
          </a:p>
        </p:txBody>
      </p:sp>
      <p:sp>
        <p:nvSpPr>
          <p:cNvPr id="933" name="TextBox 932">
            <a:extLst>
              <a:ext uri="{FF2B5EF4-FFF2-40B4-BE49-F238E27FC236}">
                <a16:creationId xmlns:a16="http://schemas.microsoft.com/office/drawing/2014/main" id="{C8661FCA-DAD2-9D99-C2BB-1D29A2D6B2DE}"/>
              </a:ext>
            </a:extLst>
          </p:cNvPr>
          <p:cNvSpPr txBox="1"/>
          <p:nvPr/>
        </p:nvSpPr>
        <p:spPr>
          <a:xfrm>
            <a:off x="9851709" y="4202795"/>
            <a:ext cx="1415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Refund, communicate to the cardholder</a:t>
            </a:r>
          </a:p>
        </p:txBody>
      </p:sp>
      <p:grpSp>
        <p:nvGrpSpPr>
          <p:cNvPr id="934" name="Group 933">
            <a:extLst>
              <a:ext uri="{FF2B5EF4-FFF2-40B4-BE49-F238E27FC236}">
                <a16:creationId xmlns:a16="http://schemas.microsoft.com/office/drawing/2014/main" id="{719AB623-5F45-CFD9-A3AC-0310A9A09320}"/>
              </a:ext>
            </a:extLst>
          </p:cNvPr>
          <p:cNvGrpSpPr/>
          <p:nvPr/>
        </p:nvGrpSpPr>
        <p:grpSpPr>
          <a:xfrm>
            <a:off x="10716522" y="4719903"/>
            <a:ext cx="252000" cy="252000"/>
            <a:chOff x="10225008" y="2189338"/>
            <a:chExt cx="252000" cy="252000"/>
          </a:xfrm>
        </p:grpSpPr>
        <p:sp>
          <p:nvSpPr>
            <p:cNvPr id="935" name="hoff960">
              <a:extLst>
                <a:ext uri="{FF2B5EF4-FFF2-40B4-BE49-F238E27FC236}">
                  <a16:creationId xmlns:a16="http://schemas.microsoft.com/office/drawing/2014/main" id="{2CB9500B-16CD-357F-6786-601157ADBE86}"/>
                </a:ext>
              </a:extLst>
            </p:cNvPr>
            <p:cNvSpPr/>
            <p:nvPr/>
          </p:nvSpPr>
          <p:spPr>
            <a:xfrm>
              <a:off x="10225008" y="2189338"/>
              <a:ext cx="252000" cy="252000"/>
            </a:xfrm>
            <a:prstGeom prst="ellipse">
              <a:avLst/>
            </a:prstGeom>
            <a:solidFill>
              <a:srgbClr val="9DD4C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36" name="hoffa961">
              <a:extLst>
                <a:ext uri="{FF2B5EF4-FFF2-40B4-BE49-F238E27FC236}">
                  <a16:creationId xmlns:a16="http://schemas.microsoft.com/office/drawing/2014/main" id="{763A23FA-5163-243E-F1EF-CB7DEC4E2916}"/>
                </a:ext>
              </a:extLst>
            </p:cNvPr>
            <p:cNvSpPr/>
            <p:nvPr/>
          </p:nvSpPr>
          <p:spPr>
            <a:xfrm>
              <a:off x="10275324" y="2253159"/>
              <a:ext cx="161665" cy="12435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938" name="Shape 43">
            <a:extLst>
              <a:ext uri="{FF2B5EF4-FFF2-40B4-BE49-F238E27FC236}">
                <a16:creationId xmlns:a16="http://schemas.microsoft.com/office/drawing/2014/main" id="{237188DA-2E9F-91B7-22AC-A6C2C6D9C53E}"/>
              </a:ext>
            </a:extLst>
          </p:cNvPr>
          <p:cNvSpPr/>
          <p:nvPr/>
        </p:nvSpPr>
        <p:spPr>
          <a:xfrm>
            <a:off x="2466846" y="4343689"/>
            <a:ext cx="1296000" cy="868680"/>
          </a:xfrm>
          <a:prstGeom prst="diamond">
            <a:avLst/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wrap="square" lIns="0" tIns="36576" rIns="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Chargeback rights exist?</a:t>
            </a:r>
          </a:p>
        </p:txBody>
      </p:sp>
      <p:sp>
        <p:nvSpPr>
          <p:cNvPr id="941" name="TextBox 940">
            <a:extLst>
              <a:ext uri="{FF2B5EF4-FFF2-40B4-BE49-F238E27FC236}">
                <a16:creationId xmlns:a16="http://schemas.microsoft.com/office/drawing/2014/main" id="{3F55EEA4-2069-F71D-EBBF-576610A33AEB}"/>
              </a:ext>
            </a:extLst>
          </p:cNvPr>
          <p:cNvSpPr txBox="1"/>
          <p:nvPr/>
        </p:nvSpPr>
        <p:spPr>
          <a:xfrm>
            <a:off x="3896633" y="4556894"/>
            <a:ext cx="4905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9A4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Yes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9A4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42" name="Shape 43">
            <a:extLst>
              <a:ext uri="{FF2B5EF4-FFF2-40B4-BE49-F238E27FC236}">
                <a16:creationId xmlns:a16="http://schemas.microsoft.com/office/drawing/2014/main" id="{931590AC-E867-AF77-B058-ECEB2C5212B9}"/>
              </a:ext>
            </a:extLst>
          </p:cNvPr>
          <p:cNvSpPr/>
          <p:nvPr/>
        </p:nvSpPr>
        <p:spPr>
          <a:xfrm>
            <a:off x="7853790" y="4340582"/>
            <a:ext cx="1296000" cy="868680"/>
          </a:xfrm>
          <a:prstGeom prst="diamond">
            <a:avLst/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wrap="square" lIns="0" tIns="36576" rIns="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System Auto Write Off?</a:t>
            </a:r>
          </a:p>
        </p:txBody>
      </p:sp>
      <p:cxnSp>
        <p:nvCxnSpPr>
          <p:cNvPr id="943" name="Elbow Connector 942">
            <a:extLst>
              <a:ext uri="{FF2B5EF4-FFF2-40B4-BE49-F238E27FC236}">
                <a16:creationId xmlns:a16="http://schemas.microsoft.com/office/drawing/2014/main" id="{7E8B3B1B-52AD-74FE-36D8-8A6B33072BFF}"/>
              </a:ext>
            </a:extLst>
          </p:cNvPr>
          <p:cNvCxnSpPr>
            <a:cxnSpLocks/>
            <a:stCxn id="942" idx="3"/>
            <a:endCxn id="929" idx="2"/>
          </p:cNvCxnSpPr>
          <p:nvPr/>
        </p:nvCxnSpPr>
        <p:spPr>
          <a:xfrm flipV="1">
            <a:off x="9149790" y="4362899"/>
            <a:ext cx="457667" cy="412023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sp>
        <p:nvSpPr>
          <p:cNvPr id="944" name="TextBox 943">
            <a:extLst>
              <a:ext uri="{FF2B5EF4-FFF2-40B4-BE49-F238E27FC236}">
                <a16:creationId xmlns:a16="http://schemas.microsoft.com/office/drawing/2014/main" id="{0F453EA5-2F1A-B7A7-D649-D88DE8BCB4F0}"/>
              </a:ext>
            </a:extLst>
          </p:cNvPr>
          <p:cNvSpPr txBox="1"/>
          <p:nvPr/>
        </p:nvSpPr>
        <p:spPr>
          <a:xfrm>
            <a:off x="8997284" y="4411794"/>
            <a:ext cx="4905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9A4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Yes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9A4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45" name="TextBox 944">
            <a:extLst>
              <a:ext uri="{FF2B5EF4-FFF2-40B4-BE49-F238E27FC236}">
                <a16:creationId xmlns:a16="http://schemas.microsoft.com/office/drawing/2014/main" id="{04E6E92B-8ED9-E3C2-499B-A49D9A8C81B3}"/>
              </a:ext>
            </a:extLst>
          </p:cNvPr>
          <p:cNvSpPr txBox="1"/>
          <p:nvPr/>
        </p:nvSpPr>
        <p:spPr>
          <a:xfrm>
            <a:off x="3589952" y="5046510"/>
            <a:ext cx="6634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68526A88-BBA8-6119-B2D9-79E470025D43}"/>
              </a:ext>
            </a:extLst>
          </p:cNvPr>
          <p:cNvSpPr txBox="1"/>
          <p:nvPr/>
        </p:nvSpPr>
        <p:spPr>
          <a:xfrm>
            <a:off x="2451261" y="5202212"/>
            <a:ext cx="13212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700" b="0" i="1" u="none" strike="noStrike" kern="1200" cap="none" spc="0" normalizeH="0" baseline="0" noProof="0">
                <a:ln>
                  <a:noFill/>
                </a:ln>
                <a:solidFill>
                  <a:srgbClr val="53565A">
                    <a:lumMod val="7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i.e., dispute is within the filing window as per Beem’s cardholder agreement (e.g., 90 days)</a:t>
            </a: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947" name="Elbow Connector 946">
            <a:extLst>
              <a:ext uri="{FF2B5EF4-FFF2-40B4-BE49-F238E27FC236}">
                <a16:creationId xmlns:a16="http://schemas.microsoft.com/office/drawing/2014/main" id="{CC13D6B3-DA8F-6FA5-0A24-F1B35ED3A671}"/>
              </a:ext>
            </a:extLst>
          </p:cNvPr>
          <p:cNvCxnSpPr>
            <a:cxnSpLocks/>
            <a:stCxn id="942" idx="3"/>
            <a:endCxn id="925" idx="1"/>
          </p:cNvCxnSpPr>
          <p:nvPr/>
        </p:nvCxnSpPr>
        <p:spPr>
          <a:xfrm>
            <a:off x="9149790" y="4774922"/>
            <a:ext cx="457770" cy="418964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sp>
        <p:nvSpPr>
          <p:cNvPr id="948" name="TextBox 947">
            <a:extLst>
              <a:ext uri="{FF2B5EF4-FFF2-40B4-BE49-F238E27FC236}">
                <a16:creationId xmlns:a16="http://schemas.microsoft.com/office/drawing/2014/main" id="{73968D26-7921-EE49-553A-0DD7C7B30BAD}"/>
              </a:ext>
            </a:extLst>
          </p:cNvPr>
          <p:cNvSpPr txBox="1"/>
          <p:nvPr/>
        </p:nvSpPr>
        <p:spPr>
          <a:xfrm>
            <a:off x="8916296" y="4936447"/>
            <a:ext cx="6634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54" name="Shape 43">
            <a:extLst>
              <a:ext uri="{FF2B5EF4-FFF2-40B4-BE49-F238E27FC236}">
                <a16:creationId xmlns:a16="http://schemas.microsoft.com/office/drawing/2014/main" id="{1DC61487-AC59-8605-5767-54792D5A7688}"/>
              </a:ext>
            </a:extLst>
          </p:cNvPr>
          <p:cNvSpPr/>
          <p:nvPr/>
        </p:nvSpPr>
        <p:spPr>
          <a:xfrm>
            <a:off x="4724747" y="4343689"/>
            <a:ext cx="1296000" cy="868680"/>
          </a:xfrm>
          <a:prstGeom prst="diamond">
            <a:avLst/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Fraud or non-fraud?</a:t>
            </a:r>
          </a:p>
        </p:txBody>
      </p:sp>
      <p:cxnSp>
        <p:nvCxnSpPr>
          <p:cNvPr id="955" name="ar433">
            <a:extLst>
              <a:ext uri="{FF2B5EF4-FFF2-40B4-BE49-F238E27FC236}">
                <a16:creationId xmlns:a16="http://schemas.microsoft.com/office/drawing/2014/main" id="{E1C227BE-9E9A-329B-E875-39D6A4640850}"/>
              </a:ext>
            </a:extLst>
          </p:cNvPr>
          <p:cNvCxnSpPr>
            <a:cxnSpLocks/>
            <a:stCxn id="938" idx="3"/>
            <a:endCxn id="954" idx="1"/>
          </p:cNvCxnSpPr>
          <p:nvPr/>
        </p:nvCxnSpPr>
        <p:spPr>
          <a:xfrm>
            <a:off x="3762846" y="4778029"/>
            <a:ext cx="961901" cy="0"/>
          </a:xfrm>
          <a:prstGeom prst="straightConnector1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cxnSp>
        <p:nvCxnSpPr>
          <p:cNvPr id="956" name="lnk906">
            <a:extLst>
              <a:ext uri="{FF2B5EF4-FFF2-40B4-BE49-F238E27FC236}">
                <a16:creationId xmlns:a16="http://schemas.microsoft.com/office/drawing/2014/main" id="{732A6915-B9A8-5805-1B35-FFF34EE2144B}"/>
              </a:ext>
            </a:extLst>
          </p:cNvPr>
          <p:cNvCxnSpPr>
            <a:cxnSpLocks/>
            <a:stCxn id="954" idx="3"/>
            <a:endCxn id="450" idx="1"/>
          </p:cNvCxnSpPr>
          <p:nvPr/>
        </p:nvCxnSpPr>
        <p:spPr>
          <a:xfrm>
            <a:off x="6020747" y="4778029"/>
            <a:ext cx="272360" cy="1159"/>
          </a:xfrm>
          <a:prstGeom prst="straightConnector1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sp>
        <p:nvSpPr>
          <p:cNvPr id="958" name="TextBox 957">
            <a:extLst>
              <a:ext uri="{FF2B5EF4-FFF2-40B4-BE49-F238E27FC236}">
                <a16:creationId xmlns:a16="http://schemas.microsoft.com/office/drawing/2014/main" id="{577A4D50-3036-2BEB-9E7E-772AA8E18473}"/>
              </a:ext>
            </a:extLst>
          </p:cNvPr>
          <p:cNvSpPr txBox="1"/>
          <p:nvPr/>
        </p:nvSpPr>
        <p:spPr>
          <a:xfrm>
            <a:off x="4699508" y="5167279"/>
            <a:ext cx="1321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If fraud, block/re-issue card as needed</a:t>
            </a:r>
          </a:p>
        </p:txBody>
      </p:sp>
      <p:cxnSp>
        <p:nvCxnSpPr>
          <p:cNvPr id="959" name="ar433">
            <a:extLst>
              <a:ext uri="{FF2B5EF4-FFF2-40B4-BE49-F238E27FC236}">
                <a16:creationId xmlns:a16="http://schemas.microsoft.com/office/drawing/2014/main" id="{F48AD8A6-F698-5490-E004-24CA325F636B}"/>
              </a:ext>
            </a:extLst>
          </p:cNvPr>
          <p:cNvCxnSpPr>
            <a:cxnSpLocks/>
            <a:stCxn id="406" idx="3"/>
            <a:endCxn id="938" idx="1"/>
          </p:cNvCxnSpPr>
          <p:nvPr/>
        </p:nvCxnSpPr>
        <p:spPr>
          <a:xfrm flipV="1">
            <a:off x="2129575" y="4778029"/>
            <a:ext cx="337271" cy="3315"/>
          </a:xfrm>
          <a:prstGeom prst="straightConnector1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sp>
        <p:nvSpPr>
          <p:cNvPr id="450" name="fx413">
            <a:extLst>
              <a:ext uri="{FF2B5EF4-FFF2-40B4-BE49-F238E27FC236}">
                <a16:creationId xmlns:a16="http://schemas.microsoft.com/office/drawing/2014/main" id="{778987CA-54BC-BEE7-A024-511A0A33C26C}"/>
              </a:ext>
            </a:extLst>
          </p:cNvPr>
          <p:cNvSpPr/>
          <p:nvPr/>
        </p:nvSpPr>
        <p:spPr>
          <a:xfrm>
            <a:off x="6293107" y="4419188"/>
            <a:ext cx="126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 wrap="square" lIns="45720" tIns="36576" rIns="45720" bIns="36576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 records reason, dates, amount, and narrative</a:t>
            </a:r>
          </a:p>
        </p:txBody>
      </p:sp>
      <p:cxnSp>
        <p:nvCxnSpPr>
          <p:cNvPr id="453" name="lnk906">
            <a:extLst>
              <a:ext uri="{FF2B5EF4-FFF2-40B4-BE49-F238E27FC236}">
                <a16:creationId xmlns:a16="http://schemas.microsoft.com/office/drawing/2014/main" id="{B2BCB8F8-7FAA-7312-D482-B18EFF11759E}"/>
              </a:ext>
            </a:extLst>
          </p:cNvPr>
          <p:cNvCxnSpPr>
            <a:cxnSpLocks/>
            <a:stCxn id="450" idx="3"/>
            <a:endCxn id="942" idx="1"/>
          </p:cNvCxnSpPr>
          <p:nvPr/>
        </p:nvCxnSpPr>
        <p:spPr>
          <a:xfrm flipV="1">
            <a:off x="7553107" y="4774922"/>
            <a:ext cx="300683" cy="4266"/>
          </a:xfrm>
          <a:prstGeom prst="straightConnector1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graphicFrame>
        <p:nvGraphicFramePr>
          <p:cNvPr id="462" name="Table 461">
            <a:extLst>
              <a:ext uri="{FF2B5EF4-FFF2-40B4-BE49-F238E27FC236}">
                <a16:creationId xmlns:a16="http://schemas.microsoft.com/office/drawing/2014/main" id="{E97F9228-A41E-57D7-5CF9-DB8A66E36D15}"/>
              </a:ext>
            </a:extLst>
          </p:cNvPr>
          <p:cNvGraphicFramePr>
            <a:graphicFrameLocks noGrp="1"/>
          </p:cNvGraphicFramePr>
          <p:nvPr/>
        </p:nvGraphicFramePr>
        <p:xfrm>
          <a:off x="2031997" y="3402"/>
          <a:ext cx="812800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830593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112702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35173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90377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49916565"/>
                    </a:ext>
                  </a:extLst>
                </a:gridCol>
              </a:tblGrid>
              <a:tr h="3348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DISPUTE INITIATION &amp; TRIAGE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CASE PREPARATION &amp; DOCUMENT ASSESSMENT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PROVISIONAL CREDIT ISSUANCE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NETWORK SUBMISSION &amp; RESPONSE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RESOLUTION &amp; RECOVERY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3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498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3254E-1763-7DAE-1013-232CE0B3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Placeholder 3">
            <a:extLst>
              <a:ext uri="{FF2B5EF4-FFF2-40B4-BE49-F238E27FC236}">
                <a16:creationId xmlns:a16="http://schemas.microsoft.com/office/drawing/2014/main" id="{B2EE9C83-94B3-0F70-F21C-A20CA1708D6B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63547" y="832490"/>
            <a:ext cx="11264900" cy="464060"/>
          </a:xfrm>
          <a:prstGeom prst="rect">
            <a:avLst/>
          </a:prstGeom>
        </p:spPr>
        <p:txBody>
          <a:bodyPr/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/>
              <a:buNone/>
              <a:def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9863" indent="-169863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4163" indent="-1143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00050" indent="-115888" algn="l" defTabSz="1064657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rPr>
              <a:t>An end-to-end issuer process for resolving cardholder disputes, from initial intake through final resolution and recovery</a:t>
            </a:r>
          </a:p>
        </p:txBody>
      </p:sp>
      <p:sp>
        <p:nvSpPr>
          <p:cNvPr id="181" name="Title 3">
            <a:extLst>
              <a:ext uri="{FF2B5EF4-FFF2-40B4-BE49-F238E27FC236}">
                <a16:creationId xmlns:a16="http://schemas.microsoft.com/office/drawing/2014/main" id="{8870B0BF-4455-EAB6-EEB3-4587109505B9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57200" y="430082"/>
            <a:ext cx="11281285" cy="340136"/>
          </a:xfrm>
        </p:spPr>
        <p:txBody>
          <a:bodyPr/>
          <a:lstStyle>
            <a:lvl1pPr algn="l" defTabSz="1219170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Disputes Resolution – Case Preparation &amp; Document Assessment</a:t>
            </a:r>
          </a:p>
        </p:txBody>
      </p:sp>
      <p:sp>
        <p:nvSpPr>
          <p:cNvPr id="2" name="lg950">
            <a:extLst>
              <a:ext uri="{FF2B5EF4-FFF2-40B4-BE49-F238E27FC236}">
                <a16:creationId xmlns:a16="http://schemas.microsoft.com/office/drawing/2014/main" id="{D95946DB-E9CD-5031-CE4E-D20AB062B49C}"/>
              </a:ext>
            </a:extLst>
          </p:cNvPr>
          <p:cNvSpPr/>
          <p:nvPr/>
        </p:nvSpPr>
        <p:spPr>
          <a:xfrm>
            <a:off x="10637755" y="715753"/>
            <a:ext cx="274320" cy="182880"/>
          </a:xfrm>
          <a:prstGeom prst="roundRect">
            <a:avLst/>
          </a:prstGeom>
          <a:solidFill>
            <a:srgbClr val="EDDBFB">
              <a:alpha val="56863"/>
            </a:srgbClr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lg951">
            <a:extLst>
              <a:ext uri="{FF2B5EF4-FFF2-40B4-BE49-F238E27FC236}">
                <a16:creationId xmlns:a16="http://schemas.microsoft.com/office/drawing/2014/main" id="{CCE12EB5-7E59-6BBC-647A-F990604F9C17}"/>
              </a:ext>
            </a:extLst>
          </p:cNvPr>
          <p:cNvSpPr txBox="1"/>
          <p:nvPr/>
        </p:nvSpPr>
        <p:spPr>
          <a:xfrm>
            <a:off x="10972519" y="706609"/>
            <a:ext cx="1325880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 journey</a:t>
            </a:r>
          </a:p>
        </p:txBody>
      </p:sp>
      <p:sp>
        <p:nvSpPr>
          <p:cNvPr id="4" name="lg952">
            <a:extLst>
              <a:ext uri="{FF2B5EF4-FFF2-40B4-BE49-F238E27FC236}">
                <a16:creationId xmlns:a16="http://schemas.microsoft.com/office/drawing/2014/main" id="{24856979-37FF-7FE7-667C-86E52709F0B9}"/>
              </a:ext>
            </a:extLst>
          </p:cNvPr>
          <p:cNvSpPr/>
          <p:nvPr/>
        </p:nvSpPr>
        <p:spPr>
          <a:xfrm>
            <a:off x="10637755" y="990073"/>
            <a:ext cx="27432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53" name="lg953">
            <a:extLst>
              <a:ext uri="{FF2B5EF4-FFF2-40B4-BE49-F238E27FC236}">
                <a16:creationId xmlns:a16="http://schemas.microsoft.com/office/drawing/2014/main" id="{211D82AA-2A9A-F77C-DE25-2CF2E0DE637E}"/>
              </a:ext>
            </a:extLst>
          </p:cNvPr>
          <p:cNvSpPr txBox="1"/>
          <p:nvPr/>
        </p:nvSpPr>
        <p:spPr>
          <a:xfrm>
            <a:off x="10972519" y="980929"/>
            <a:ext cx="1143000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Issuer journey</a:t>
            </a:r>
          </a:p>
        </p:txBody>
      </p:sp>
      <p:grpSp>
        <p:nvGrpSpPr>
          <p:cNvPr id="760" name="Group 759">
            <a:extLst>
              <a:ext uri="{FF2B5EF4-FFF2-40B4-BE49-F238E27FC236}">
                <a16:creationId xmlns:a16="http://schemas.microsoft.com/office/drawing/2014/main" id="{B50FFFD9-6397-EC71-8FC4-C12B97F5A3B3}"/>
              </a:ext>
            </a:extLst>
          </p:cNvPr>
          <p:cNvGrpSpPr/>
          <p:nvPr/>
        </p:nvGrpSpPr>
        <p:grpSpPr>
          <a:xfrm>
            <a:off x="10685728" y="1247437"/>
            <a:ext cx="210312" cy="210312"/>
            <a:chOff x="10674331" y="1239428"/>
            <a:chExt cx="210312" cy="210312"/>
          </a:xfrm>
        </p:grpSpPr>
        <p:sp>
          <p:nvSpPr>
            <p:cNvPr id="968" name="hoff968">
              <a:extLst>
                <a:ext uri="{FF2B5EF4-FFF2-40B4-BE49-F238E27FC236}">
                  <a16:creationId xmlns:a16="http://schemas.microsoft.com/office/drawing/2014/main" id="{CB20A590-9881-C3B6-32F0-F962F6D0AFA3}"/>
                </a:ext>
              </a:extLst>
            </p:cNvPr>
            <p:cNvSpPr/>
            <p:nvPr/>
          </p:nvSpPr>
          <p:spPr>
            <a:xfrm>
              <a:off x="10674331" y="1239428"/>
              <a:ext cx="210312" cy="210312"/>
            </a:xfrm>
            <a:prstGeom prst="ellipse">
              <a:avLst/>
            </a:prstGeom>
            <a:solidFill>
              <a:srgbClr val="9DD4C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69" name="hoffa969">
              <a:extLst>
                <a:ext uri="{FF2B5EF4-FFF2-40B4-BE49-F238E27FC236}">
                  <a16:creationId xmlns:a16="http://schemas.microsoft.com/office/drawing/2014/main" id="{5380F23D-FEEC-93D6-16EE-7EA922DDB5D9}"/>
                </a:ext>
              </a:extLst>
            </p:cNvPr>
            <p:cNvSpPr/>
            <p:nvPr/>
          </p:nvSpPr>
          <p:spPr>
            <a:xfrm>
              <a:off x="10728097" y="1304737"/>
              <a:ext cx="109362" cy="8412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972" name="lg972">
            <a:extLst>
              <a:ext uri="{FF2B5EF4-FFF2-40B4-BE49-F238E27FC236}">
                <a16:creationId xmlns:a16="http://schemas.microsoft.com/office/drawing/2014/main" id="{19209481-0C66-7947-682D-C03674853E1A}"/>
              </a:ext>
            </a:extLst>
          </p:cNvPr>
          <p:cNvSpPr txBox="1"/>
          <p:nvPr/>
        </p:nvSpPr>
        <p:spPr>
          <a:xfrm>
            <a:off x="10972519" y="1198280"/>
            <a:ext cx="1207008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Next stage handoff</a:t>
            </a:r>
          </a:p>
        </p:txBody>
      </p:sp>
      <p:cxnSp>
        <p:nvCxnSpPr>
          <p:cNvPr id="763" name="Elbow Connector 762">
            <a:extLst>
              <a:ext uri="{FF2B5EF4-FFF2-40B4-BE49-F238E27FC236}">
                <a16:creationId xmlns:a16="http://schemas.microsoft.com/office/drawing/2014/main" id="{B7A9FDAD-35EA-D1FD-7705-59BCDA3DEAD5}"/>
              </a:ext>
            </a:extLst>
          </p:cNvPr>
          <p:cNvCxnSpPr>
            <a:cxnSpLocks/>
          </p:cNvCxnSpPr>
          <p:nvPr/>
        </p:nvCxnSpPr>
        <p:spPr>
          <a:xfrm>
            <a:off x="-2926264" y="9638719"/>
            <a:ext cx="589990" cy="45249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graphicFrame>
        <p:nvGraphicFramePr>
          <p:cNvPr id="462" name="Table 461">
            <a:extLst>
              <a:ext uri="{FF2B5EF4-FFF2-40B4-BE49-F238E27FC236}">
                <a16:creationId xmlns:a16="http://schemas.microsoft.com/office/drawing/2014/main" id="{2765808C-4E2F-5163-DD2A-0F0690D8CE2A}"/>
              </a:ext>
            </a:extLst>
          </p:cNvPr>
          <p:cNvGraphicFramePr>
            <a:graphicFrameLocks noGrp="1"/>
          </p:cNvGraphicFramePr>
          <p:nvPr/>
        </p:nvGraphicFramePr>
        <p:xfrm>
          <a:off x="2031997" y="3402"/>
          <a:ext cx="812800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830593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112702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35173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90377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49916565"/>
                    </a:ext>
                  </a:extLst>
                </a:gridCol>
              </a:tblGrid>
              <a:tr h="3348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DISPUTE INITIATION &amp; TRIAGE</a:t>
                      </a:r>
                    </a:p>
                  </a:txBody>
                  <a:tcPr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CASE PREPARATION &amp; DOCUMENT ASSESSMENT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PROVISIONAL CREDIT ISSUANCE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NETWORK SUBMISSION &amp; RESPONSE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RESOLUTION &amp; RECOVERY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36574"/>
                  </a:ext>
                </a:extLst>
              </a:tr>
            </a:tbl>
          </a:graphicData>
        </a:graphic>
      </p:graphicFrame>
      <p:sp>
        <p:nvSpPr>
          <p:cNvPr id="973" name="Rounded Rectangle 972"/>
          <p:cNvSpPr/>
          <p:nvPr/>
        </p:nvSpPr>
        <p:spPr>
          <a:xfrm>
            <a:off x="460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Receive case from Stage 1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2110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Review cardholder statement &amp; transaction data</a:t>
            </a:r>
          </a:p>
        </p:txBody>
      </p:sp>
      <p:sp>
        <p:nvSpPr>
          <p:cNvPr id="975" name="Diamond 974"/>
          <p:cNvSpPr/>
          <p:nvPr/>
        </p:nvSpPr>
        <p:spPr>
          <a:xfrm>
            <a:off x="3760000" y="2425660"/>
            <a:ext cx="1296000" cy="8686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Evidence needed?</a:t>
            </a:r>
          </a:p>
        </p:txBody>
      </p:sp>
      <p:sp>
        <p:nvSpPr>
          <p:cNvPr id="976" name="Rounded Rectangle 975"/>
          <p:cNvSpPr/>
          <p:nvPr/>
        </p:nvSpPr>
        <p:spPr>
          <a:xfrm>
            <a:off x="5580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Validate dispute eligibility &amp; assign reason code</a:t>
            </a:r>
          </a:p>
        </p:txBody>
      </p:sp>
      <p:sp>
        <p:nvSpPr>
          <p:cNvPr id="977" name="Diamond 976"/>
          <p:cNvSpPr/>
          <p:nvPr/>
        </p:nvSpPr>
        <p:spPr>
          <a:xfrm>
            <a:off x="7400000" y="2425660"/>
            <a:ext cx="1296000" cy="8686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Eligible under reason code?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9400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Assess potential liability &amp; recovery options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3660000" y="4000000"/>
            <a:ext cx="1260000" cy="720000"/>
          </a:xfrm>
          <a:prstGeom prst="roundRect">
            <a:avLst>
              <a:gd name="adj" fmla="val 10000"/>
            </a:avLst>
          </a:prstGeom>
          <a:solidFill>
            <a:srgbClr val="EDDBFB">
              <a:alpha val="56863"/>
            </a:srgbClr>
          </a:solidFill>
          <a:ln w="12700">
            <a:solidFill>
              <a:srgbClr val="9B4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Request missing info &amp; evidence from cardholder</a:t>
            </a:r>
          </a:p>
        </p:txBody>
      </p:sp>
      <p:sp>
        <p:nvSpPr>
          <p:cNvPr id="980" name="Oval 979"/>
          <p:cNvSpPr/>
          <p:nvPr/>
        </p:nvSpPr>
        <p:spPr>
          <a:xfrm>
            <a:off x="7904000" y="4060000"/>
            <a:ext cx="288000" cy="28800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TextBox 980"/>
          <p:cNvSpPr txBox="1"/>
          <p:nvPr/>
        </p:nvSpPr>
        <p:spPr>
          <a:xfrm>
            <a:off x="8284000" y="4010000"/>
            <a:ext cx="1700000" cy="43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Not eligible; deny and
communicate to cardholder</a:t>
            </a:r>
          </a:p>
        </p:txBody>
      </p:sp>
      <p:grpSp>
        <p:nvGrpSpPr>
          <p:cNvPr id="9001" name="Handoff"/>
          <p:cNvGrpSpPr/>
          <p:nvPr/>
        </p:nvGrpSpPr>
        <p:grpSpPr>
          <a:xfrm>
            <a:off x="10960000" y="2734000"/>
            <a:ext cx="252000" cy="252000"/>
            <a:chOff x="10960000" y="2734000"/>
            <a:chExt cx="252000" cy="252000"/>
          </a:xfrm>
        </p:grpSpPr>
        <p:sp>
          <p:nvSpPr>
            <p:cNvPr id="9002" name="hoffc"/>
            <p:cNvSpPr/>
            <p:nvPr/>
          </p:nvSpPr>
          <p:spPr>
            <a:xfrm>
              <a:off x="10960000" y="2734000"/>
              <a:ext cx="252000" cy="252000"/>
            </a:xfrm>
            <a:prstGeom prst="ellipse">
              <a:avLst/>
            </a:prstGeom>
            <a:solidFill>
              <a:srgbClr val="9DD4C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03" name="hoffa"/>
            <p:cNvSpPr/>
            <p:nvPr/>
          </p:nvSpPr>
          <p:spPr>
            <a:xfrm>
              <a:off x="11010316" y="2797821"/>
              <a:ext cx="161665" cy="12435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9004" name="Connector 9003"/>
          <p:cNvCxnSpPr/>
          <p:nvPr/>
        </p:nvCxnSpPr>
        <p:spPr>
          <a:xfrm>
            <a:off x="1720000" y="2860000"/>
            <a:ext cx="39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5" name="Connector 9004"/>
          <p:cNvCxnSpPr/>
          <p:nvPr/>
        </p:nvCxnSpPr>
        <p:spPr>
          <a:xfrm>
            <a:off x="3370000" y="2860000"/>
            <a:ext cx="39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6" name="Connector 9005"/>
          <p:cNvCxnSpPr/>
          <p:nvPr/>
        </p:nvCxnSpPr>
        <p:spPr>
          <a:xfrm flipH="1">
            <a:off x="4290000" y="3294340"/>
            <a:ext cx="118000" cy="70566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7" name="TextBox 9006"/>
          <p:cNvSpPr txBox="1"/>
          <p:nvPr/>
        </p:nvSpPr>
        <p:spPr>
          <a:xfrm>
            <a:off x="4448000" y="3324340"/>
            <a:ext cx="620000" cy="26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009A44"/>
                </a:solidFill>
                <a:latin typeface="Segoe UI"/>
              </a:rPr>
              <a:t>Yes</a:t>
            </a:r>
          </a:p>
        </p:txBody>
      </p:sp>
      <p:cxnSp>
        <p:nvCxnSpPr>
          <p:cNvPr id="9008" name="Connector 9007"/>
          <p:cNvCxnSpPr/>
          <p:nvPr/>
        </p:nvCxnSpPr>
        <p:spPr>
          <a:xfrm>
            <a:off x="5056000" y="2860000"/>
            <a:ext cx="524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9" name="TextBox 9008"/>
          <p:cNvSpPr txBox="1"/>
          <p:nvPr/>
        </p:nvSpPr>
        <p:spPr>
          <a:xfrm>
            <a:off x="5096000" y="2580000"/>
            <a:ext cx="620000" cy="26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Segoe UI"/>
              </a:rPr>
              <a:t>No</a:t>
            </a:r>
          </a:p>
        </p:txBody>
      </p:sp>
      <p:cxnSp>
        <p:nvCxnSpPr>
          <p:cNvPr id="9010" name="Connector 9009"/>
          <p:cNvCxnSpPr/>
          <p:nvPr/>
        </p:nvCxnSpPr>
        <p:spPr>
          <a:xfrm flipV="1">
            <a:off x="4920000" y="2860000"/>
            <a:ext cx="660000" cy="150000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Connector 9010"/>
          <p:cNvCxnSpPr/>
          <p:nvPr/>
        </p:nvCxnSpPr>
        <p:spPr>
          <a:xfrm>
            <a:off x="6840000" y="2860000"/>
            <a:ext cx="56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2" name="Connector 9011"/>
          <p:cNvCxnSpPr/>
          <p:nvPr/>
        </p:nvCxnSpPr>
        <p:spPr>
          <a:xfrm>
            <a:off x="8696000" y="2860000"/>
            <a:ext cx="704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3" name="TextBox 9012"/>
          <p:cNvSpPr txBox="1"/>
          <p:nvPr/>
        </p:nvSpPr>
        <p:spPr>
          <a:xfrm>
            <a:off x="8798000" y="2580000"/>
            <a:ext cx="620000" cy="26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009A44"/>
                </a:solidFill>
                <a:latin typeface="Segoe UI"/>
              </a:rPr>
              <a:t>Yes</a:t>
            </a:r>
          </a:p>
        </p:txBody>
      </p:sp>
      <p:cxnSp>
        <p:nvCxnSpPr>
          <p:cNvPr id="9014" name="Connector 9013"/>
          <p:cNvCxnSpPr/>
          <p:nvPr/>
        </p:nvCxnSpPr>
        <p:spPr>
          <a:xfrm>
            <a:off x="8048000" y="3294340"/>
            <a:ext cx="0" cy="76566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5" name="TextBox 9014"/>
          <p:cNvSpPr txBox="1"/>
          <p:nvPr/>
        </p:nvSpPr>
        <p:spPr>
          <a:xfrm>
            <a:off x="8088000" y="3324340"/>
            <a:ext cx="620000" cy="26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Segoe UI"/>
              </a:rPr>
              <a:t>No</a:t>
            </a:r>
          </a:p>
        </p:txBody>
      </p:sp>
      <p:cxnSp>
        <p:nvCxnSpPr>
          <p:cNvPr id="9016" name="Connector 9015"/>
          <p:cNvCxnSpPr/>
          <p:nvPr/>
        </p:nvCxnSpPr>
        <p:spPr>
          <a:xfrm>
            <a:off x="10660000" y="2860000"/>
            <a:ext cx="30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509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AAE5-48E5-9F44-1E4C-F6D3AE7D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Placeholder 3">
            <a:extLst>
              <a:ext uri="{FF2B5EF4-FFF2-40B4-BE49-F238E27FC236}">
                <a16:creationId xmlns:a16="http://schemas.microsoft.com/office/drawing/2014/main" id="{1AA1F9FD-3E34-9721-91DC-AC6115BB780C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63547" y="832490"/>
            <a:ext cx="11264900" cy="464060"/>
          </a:xfrm>
          <a:prstGeom prst="rect">
            <a:avLst/>
          </a:prstGeom>
        </p:spPr>
        <p:txBody>
          <a:bodyPr/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/>
              <a:buNone/>
              <a:def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9863" indent="-169863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4163" indent="-1143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00050" indent="-115888" algn="l" defTabSz="1064657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rPr>
              <a:t>An end-to-end issuer process for resolving cardholder disputes, from initial intake through final resolution and recovery</a:t>
            </a:r>
          </a:p>
        </p:txBody>
      </p:sp>
      <p:sp>
        <p:nvSpPr>
          <p:cNvPr id="181" name="Title 3">
            <a:extLst>
              <a:ext uri="{FF2B5EF4-FFF2-40B4-BE49-F238E27FC236}">
                <a16:creationId xmlns:a16="http://schemas.microsoft.com/office/drawing/2014/main" id="{3BE74E13-0508-0A25-811D-8CB069183F8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57200" y="430082"/>
            <a:ext cx="11281285" cy="340136"/>
          </a:xfrm>
        </p:spPr>
        <p:txBody>
          <a:bodyPr/>
          <a:lstStyle>
            <a:lvl1pPr algn="l" defTabSz="1219170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Disputes Resolution – Provisional Credit Issuance</a:t>
            </a:r>
          </a:p>
        </p:txBody>
      </p:sp>
      <p:sp>
        <p:nvSpPr>
          <p:cNvPr id="2" name="lg950">
            <a:extLst>
              <a:ext uri="{FF2B5EF4-FFF2-40B4-BE49-F238E27FC236}">
                <a16:creationId xmlns:a16="http://schemas.microsoft.com/office/drawing/2014/main" id="{A8764A41-F3CB-F60F-0E1C-CE2E37066B7C}"/>
              </a:ext>
            </a:extLst>
          </p:cNvPr>
          <p:cNvSpPr/>
          <p:nvPr/>
        </p:nvSpPr>
        <p:spPr>
          <a:xfrm>
            <a:off x="10637755" y="715753"/>
            <a:ext cx="274320" cy="182880"/>
          </a:xfrm>
          <a:prstGeom prst="roundRect">
            <a:avLst/>
          </a:prstGeom>
          <a:solidFill>
            <a:srgbClr val="EDDBFB">
              <a:alpha val="56863"/>
            </a:srgbClr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lg951">
            <a:extLst>
              <a:ext uri="{FF2B5EF4-FFF2-40B4-BE49-F238E27FC236}">
                <a16:creationId xmlns:a16="http://schemas.microsoft.com/office/drawing/2014/main" id="{943F82F5-234A-9633-3C9D-4D9D5191DC1A}"/>
              </a:ext>
            </a:extLst>
          </p:cNvPr>
          <p:cNvSpPr txBox="1"/>
          <p:nvPr/>
        </p:nvSpPr>
        <p:spPr>
          <a:xfrm>
            <a:off x="10972519" y="706609"/>
            <a:ext cx="1325880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 journey</a:t>
            </a:r>
          </a:p>
        </p:txBody>
      </p:sp>
      <p:sp>
        <p:nvSpPr>
          <p:cNvPr id="4" name="lg952">
            <a:extLst>
              <a:ext uri="{FF2B5EF4-FFF2-40B4-BE49-F238E27FC236}">
                <a16:creationId xmlns:a16="http://schemas.microsoft.com/office/drawing/2014/main" id="{86A8C28E-D92E-6CA9-C57C-0EC981205996}"/>
              </a:ext>
            </a:extLst>
          </p:cNvPr>
          <p:cNvSpPr/>
          <p:nvPr/>
        </p:nvSpPr>
        <p:spPr>
          <a:xfrm>
            <a:off x="10637755" y="990073"/>
            <a:ext cx="27432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53" name="lg953">
            <a:extLst>
              <a:ext uri="{FF2B5EF4-FFF2-40B4-BE49-F238E27FC236}">
                <a16:creationId xmlns:a16="http://schemas.microsoft.com/office/drawing/2014/main" id="{AA093BBC-D5B8-4B85-1145-DA1D56291224}"/>
              </a:ext>
            </a:extLst>
          </p:cNvPr>
          <p:cNvSpPr txBox="1"/>
          <p:nvPr/>
        </p:nvSpPr>
        <p:spPr>
          <a:xfrm>
            <a:off x="10972519" y="980929"/>
            <a:ext cx="1143000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Issuer journey</a:t>
            </a:r>
          </a:p>
        </p:txBody>
      </p:sp>
      <p:grpSp>
        <p:nvGrpSpPr>
          <p:cNvPr id="760" name="Group 759">
            <a:extLst>
              <a:ext uri="{FF2B5EF4-FFF2-40B4-BE49-F238E27FC236}">
                <a16:creationId xmlns:a16="http://schemas.microsoft.com/office/drawing/2014/main" id="{F694EDA9-F6B1-ED51-8A16-7CC33828FBB3}"/>
              </a:ext>
            </a:extLst>
          </p:cNvPr>
          <p:cNvGrpSpPr/>
          <p:nvPr/>
        </p:nvGrpSpPr>
        <p:grpSpPr>
          <a:xfrm>
            <a:off x="10685728" y="1247437"/>
            <a:ext cx="210312" cy="210312"/>
            <a:chOff x="10674331" y="1239428"/>
            <a:chExt cx="210312" cy="210312"/>
          </a:xfrm>
        </p:grpSpPr>
        <p:sp>
          <p:nvSpPr>
            <p:cNvPr id="968" name="hoff968">
              <a:extLst>
                <a:ext uri="{FF2B5EF4-FFF2-40B4-BE49-F238E27FC236}">
                  <a16:creationId xmlns:a16="http://schemas.microsoft.com/office/drawing/2014/main" id="{F708E8AE-BC0F-5899-7083-78382E87E6E7}"/>
                </a:ext>
              </a:extLst>
            </p:cNvPr>
            <p:cNvSpPr/>
            <p:nvPr/>
          </p:nvSpPr>
          <p:spPr>
            <a:xfrm>
              <a:off x="10674331" y="1239428"/>
              <a:ext cx="210312" cy="210312"/>
            </a:xfrm>
            <a:prstGeom prst="ellipse">
              <a:avLst/>
            </a:prstGeom>
            <a:solidFill>
              <a:srgbClr val="9DD4C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69" name="hoffa969">
              <a:extLst>
                <a:ext uri="{FF2B5EF4-FFF2-40B4-BE49-F238E27FC236}">
                  <a16:creationId xmlns:a16="http://schemas.microsoft.com/office/drawing/2014/main" id="{42524B5B-C673-DFD5-CB68-101E8E2CA4D1}"/>
                </a:ext>
              </a:extLst>
            </p:cNvPr>
            <p:cNvSpPr/>
            <p:nvPr/>
          </p:nvSpPr>
          <p:spPr>
            <a:xfrm>
              <a:off x="10728097" y="1304737"/>
              <a:ext cx="109362" cy="8412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972" name="lg972">
            <a:extLst>
              <a:ext uri="{FF2B5EF4-FFF2-40B4-BE49-F238E27FC236}">
                <a16:creationId xmlns:a16="http://schemas.microsoft.com/office/drawing/2014/main" id="{D5604F33-6EBE-C675-2164-C01EEB291502}"/>
              </a:ext>
            </a:extLst>
          </p:cNvPr>
          <p:cNvSpPr txBox="1"/>
          <p:nvPr/>
        </p:nvSpPr>
        <p:spPr>
          <a:xfrm>
            <a:off x="10972519" y="1198280"/>
            <a:ext cx="1207008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Next stage handoff</a:t>
            </a:r>
          </a:p>
        </p:txBody>
      </p:sp>
      <p:cxnSp>
        <p:nvCxnSpPr>
          <p:cNvPr id="763" name="Elbow Connector 762">
            <a:extLst>
              <a:ext uri="{FF2B5EF4-FFF2-40B4-BE49-F238E27FC236}">
                <a16:creationId xmlns:a16="http://schemas.microsoft.com/office/drawing/2014/main" id="{14601E61-A420-7534-9773-F2DE82C24CC5}"/>
              </a:ext>
            </a:extLst>
          </p:cNvPr>
          <p:cNvCxnSpPr>
            <a:cxnSpLocks/>
          </p:cNvCxnSpPr>
          <p:nvPr/>
        </p:nvCxnSpPr>
        <p:spPr>
          <a:xfrm>
            <a:off x="-2926264" y="9638719"/>
            <a:ext cx="589990" cy="45249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graphicFrame>
        <p:nvGraphicFramePr>
          <p:cNvPr id="462" name="Table 461">
            <a:extLst>
              <a:ext uri="{FF2B5EF4-FFF2-40B4-BE49-F238E27FC236}">
                <a16:creationId xmlns:a16="http://schemas.microsoft.com/office/drawing/2014/main" id="{8829DB02-2221-DA2A-733D-B16FCFC51809}"/>
              </a:ext>
            </a:extLst>
          </p:cNvPr>
          <p:cNvGraphicFramePr>
            <a:graphicFrameLocks noGrp="1"/>
          </p:cNvGraphicFramePr>
          <p:nvPr/>
        </p:nvGraphicFramePr>
        <p:xfrm>
          <a:off x="2031997" y="3402"/>
          <a:ext cx="812800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830593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112702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35173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90377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49916565"/>
                    </a:ext>
                  </a:extLst>
                </a:gridCol>
              </a:tblGrid>
              <a:tr h="3348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DISPUTE INITIATION &amp; TRIAGE</a:t>
                      </a:r>
                    </a:p>
                  </a:txBody>
                  <a:tcPr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CASE PREPARATION &amp; DOCUMENT ASSESSMENT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PROVISIONAL CREDIT ISSUANCE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NETWORK SUBMISSION &amp; RESPONSE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RESOLUTION &amp; RECOVERY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36574"/>
                  </a:ext>
                </a:extLst>
              </a:tr>
            </a:tbl>
          </a:graphicData>
        </a:graphic>
      </p:graphicFrame>
      <p:sp>
        <p:nvSpPr>
          <p:cNvPr id="973" name="Rounded Rectangle 972"/>
          <p:cNvSpPr/>
          <p:nvPr/>
        </p:nvSpPr>
        <p:spPr>
          <a:xfrm>
            <a:off x="500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Confirm dispute amount &amp; customer account</a:t>
            </a:r>
          </a:p>
        </p:txBody>
      </p:sp>
      <p:sp>
        <p:nvSpPr>
          <p:cNvPr id="974" name="Rounded Rectangle 973"/>
          <p:cNvSpPr/>
          <p:nvPr/>
        </p:nvSpPr>
        <p:spPr>
          <a:xfrm>
            <a:off x="2400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Document rationale &amp; approval</a:t>
            </a:r>
          </a:p>
        </p:txBody>
      </p:sp>
      <p:sp>
        <p:nvSpPr>
          <p:cNvPr id="975" name="Rounded Rectangle 974"/>
          <p:cNvSpPr/>
          <p:nvPr/>
        </p:nvSpPr>
        <p:spPr>
          <a:xfrm>
            <a:off x="4300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Post provisional credit within Visa SLA</a:t>
            </a:r>
          </a:p>
        </p:txBody>
      </p:sp>
      <p:sp>
        <p:nvSpPr>
          <p:cNvPr id="976" name="Rounded Rectangle 975"/>
          <p:cNvSpPr/>
          <p:nvPr/>
        </p:nvSpPr>
        <p:spPr>
          <a:xfrm>
            <a:off x="6200000" y="2500000"/>
            <a:ext cx="1260000" cy="720000"/>
          </a:xfrm>
          <a:prstGeom prst="roundRect">
            <a:avLst>
              <a:gd name="adj" fmla="val 10000"/>
            </a:avLst>
          </a:prstGeom>
          <a:solidFill>
            <a:srgbClr val="EDDBFB">
              <a:alpha val="56863"/>
            </a:srgbClr>
          </a:solidFill>
          <a:ln w="12700">
            <a:solidFill>
              <a:srgbClr val="9B4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Notify customer of provisional credit issued</a:t>
            </a:r>
          </a:p>
        </p:txBody>
      </p:sp>
      <p:sp>
        <p:nvSpPr>
          <p:cNvPr id="977" name="Rounded Rectangle 976"/>
          <p:cNvSpPr/>
          <p:nvPr/>
        </p:nvSpPr>
        <p:spPr>
          <a:xfrm>
            <a:off x="8100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Track provisional credit aging &amp; reversal</a:t>
            </a:r>
          </a:p>
        </p:txBody>
      </p:sp>
      <p:grpSp>
        <p:nvGrpSpPr>
          <p:cNvPr id="9001" name="Handoff"/>
          <p:cNvGrpSpPr/>
          <p:nvPr/>
        </p:nvGrpSpPr>
        <p:grpSpPr>
          <a:xfrm>
            <a:off x="9660000" y="2734000"/>
            <a:ext cx="252000" cy="252000"/>
            <a:chOff x="9660000" y="2734000"/>
            <a:chExt cx="252000" cy="252000"/>
          </a:xfrm>
        </p:grpSpPr>
        <p:sp>
          <p:nvSpPr>
            <p:cNvPr id="9002" name="hoffc"/>
            <p:cNvSpPr/>
            <p:nvPr/>
          </p:nvSpPr>
          <p:spPr>
            <a:xfrm>
              <a:off x="9660000" y="2734000"/>
              <a:ext cx="252000" cy="252000"/>
            </a:xfrm>
            <a:prstGeom prst="ellipse">
              <a:avLst/>
            </a:prstGeom>
            <a:solidFill>
              <a:srgbClr val="9DD4C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03" name="hoffa"/>
            <p:cNvSpPr/>
            <p:nvPr/>
          </p:nvSpPr>
          <p:spPr>
            <a:xfrm>
              <a:off x="9710316" y="2797821"/>
              <a:ext cx="161665" cy="12435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9004" name="Connector 9003"/>
          <p:cNvCxnSpPr/>
          <p:nvPr/>
        </p:nvCxnSpPr>
        <p:spPr>
          <a:xfrm>
            <a:off x="1760000" y="2860000"/>
            <a:ext cx="64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5" name="Connector 9004"/>
          <p:cNvCxnSpPr/>
          <p:nvPr/>
        </p:nvCxnSpPr>
        <p:spPr>
          <a:xfrm>
            <a:off x="3660000" y="2860000"/>
            <a:ext cx="64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6" name="Connector 9005"/>
          <p:cNvCxnSpPr/>
          <p:nvPr/>
        </p:nvCxnSpPr>
        <p:spPr>
          <a:xfrm>
            <a:off x="5560000" y="2860000"/>
            <a:ext cx="64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7" name="Connector 9006"/>
          <p:cNvCxnSpPr/>
          <p:nvPr/>
        </p:nvCxnSpPr>
        <p:spPr>
          <a:xfrm>
            <a:off x="7460000" y="2860000"/>
            <a:ext cx="64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8" name="Connector 9007"/>
          <p:cNvCxnSpPr/>
          <p:nvPr/>
        </p:nvCxnSpPr>
        <p:spPr>
          <a:xfrm>
            <a:off x="9360000" y="2860000"/>
            <a:ext cx="30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9" name="TextBox 9008"/>
          <p:cNvSpPr txBox="1"/>
          <p:nvPr/>
        </p:nvSpPr>
        <p:spPr>
          <a:xfrm>
            <a:off x="4280000" y="3260000"/>
            <a:ext cx="1300000" cy="43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700" b="0" i="1">
                <a:solidFill>
                  <a:srgbClr val="404040"/>
                </a:solidFill>
                <a:latin typeface="Segoe UI"/>
              </a:rPr>
              <a:t>Per Visa dispute\nresolution SLA and\nBeem's cardholder agreement</a:t>
            </a:r>
          </a:p>
        </p:txBody>
      </p:sp>
    </p:spTree>
    <p:extLst>
      <p:ext uri="{BB962C8B-B14F-4D97-AF65-F5344CB8AC3E}">
        <p14:creationId xmlns:p14="http://schemas.microsoft.com/office/powerpoint/2010/main" val="948872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243F2-BDED-E91A-AFEE-31829F01C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Placeholder 3">
            <a:extLst>
              <a:ext uri="{FF2B5EF4-FFF2-40B4-BE49-F238E27FC236}">
                <a16:creationId xmlns:a16="http://schemas.microsoft.com/office/drawing/2014/main" id="{54EE86CB-E619-0071-B6D4-A2600B40D12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63547" y="832490"/>
            <a:ext cx="11264900" cy="464060"/>
          </a:xfrm>
          <a:prstGeom prst="rect">
            <a:avLst/>
          </a:prstGeom>
        </p:spPr>
        <p:txBody>
          <a:bodyPr/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/>
              <a:buNone/>
              <a:def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9863" indent="-169863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4163" indent="-1143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00050" indent="-115888" algn="l" defTabSz="1064657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rPr>
              <a:t>An end-to-end issuer process for resolving cardholder disputes, from initial intake through final resolution and recovery</a:t>
            </a:r>
          </a:p>
        </p:txBody>
      </p:sp>
      <p:sp>
        <p:nvSpPr>
          <p:cNvPr id="181" name="Title 3">
            <a:extLst>
              <a:ext uri="{FF2B5EF4-FFF2-40B4-BE49-F238E27FC236}">
                <a16:creationId xmlns:a16="http://schemas.microsoft.com/office/drawing/2014/main" id="{D850B6A9-7099-531A-3F65-FA5E613C8C3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57200" y="430082"/>
            <a:ext cx="11281285" cy="340136"/>
          </a:xfrm>
        </p:spPr>
        <p:txBody>
          <a:bodyPr/>
          <a:lstStyle>
            <a:lvl1pPr algn="l" defTabSz="1219170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Disputes Resolution – Network Submission &amp; Response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lg950">
            <a:extLst>
              <a:ext uri="{FF2B5EF4-FFF2-40B4-BE49-F238E27FC236}">
                <a16:creationId xmlns:a16="http://schemas.microsoft.com/office/drawing/2014/main" id="{96F89520-C2A0-F12C-C5DF-1E8CA6F64D1E}"/>
              </a:ext>
            </a:extLst>
          </p:cNvPr>
          <p:cNvSpPr/>
          <p:nvPr/>
        </p:nvSpPr>
        <p:spPr>
          <a:xfrm>
            <a:off x="10637755" y="715753"/>
            <a:ext cx="274320" cy="182880"/>
          </a:xfrm>
          <a:prstGeom prst="roundRect">
            <a:avLst/>
          </a:prstGeom>
          <a:solidFill>
            <a:srgbClr val="EDDBFB">
              <a:alpha val="56863"/>
            </a:srgbClr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lg951">
            <a:extLst>
              <a:ext uri="{FF2B5EF4-FFF2-40B4-BE49-F238E27FC236}">
                <a16:creationId xmlns:a16="http://schemas.microsoft.com/office/drawing/2014/main" id="{5A71B97B-F303-67C5-E24C-0581CBEEBB52}"/>
              </a:ext>
            </a:extLst>
          </p:cNvPr>
          <p:cNvSpPr txBox="1"/>
          <p:nvPr/>
        </p:nvSpPr>
        <p:spPr>
          <a:xfrm>
            <a:off x="10972519" y="706609"/>
            <a:ext cx="1325880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 journey</a:t>
            </a:r>
          </a:p>
        </p:txBody>
      </p:sp>
      <p:sp>
        <p:nvSpPr>
          <p:cNvPr id="4" name="lg952">
            <a:extLst>
              <a:ext uri="{FF2B5EF4-FFF2-40B4-BE49-F238E27FC236}">
                <a16:creationId xmlns:a16="http://schemas.microsoft.com/office/drawing/2014/main" id="{1C1C1B58-59DE-118C-987E-598EC27A0CDB}"/>
              </a:ext>
            </a:extLst>
          </p:cNvPr>
          <p:cNvSpPr/>
          <p:nvPr/>
        </p:nvSpPr>
        <p:spPr>
          <a:xfrm>
            <a:off x="10637755" y="990073"/>
            <a:ext cx="27432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53" name="lg953">
            <a:extLst>
              <a:ext uri="{FF2B5EF4-FFF2-40B4-BE49-F238E27FC236}">
                <a16:creationId xmlns:a16="http://schemas.microsoft.com/office/drawing/2014/main" id="{51E54BAF-2174-B9C8-106D-702352FC854F}"/>
              </a:ext>
            </a:extLst>
          </p:cNvPr>
          <p:cNvSpPr txBox="1"/>
          <p:nvPr/>
        </p:nvSpPr>
        <p:spPr>
          <a:xfrm>
            <a:off x="10972519" y="980929"/>
            <a:ext cx="1143000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Issuer journey</a:t>
            </a:r>
          </a:p>
        </p:txBody>
      </p:sp>
      <p:grpSp>
        <p:nvGrpSpPr>
          <p:cNvPr id="760" name="Group 759">
            <a:extLst>
              <a:ext uri="{FF2B5EF4-FFF2-40B4-BE49-F238E27FC236}">
                <a16:creationId xmlns:a16="http://schemas.microsoft.com/office/drawing/2014/main" id="{89F94A8F-2C60-92CC-5A27-273B218DE8DA}"/>
              </a:ext>
            </a:extLst>
          </p:cNvPr>
          <p:cNvGrpSpPr/>
          <p:nvPr/>
        </p:nvGrpSpPr>
        <p:grpSpPr>
          <a:xfrm>
            <a:off x="10685728" y="1247437"/>
            <a:ext cx="210312" cy="210312"/>
            <a:chOff x="10674331" y="1239428"/>
            <a:chExt cx="210312" cy="210312"/>
          </a:xfrm>
        </p:grpSpPr>
        <p:sp>
          <p:nvSpPr>
            <p:cNvPr id="968" name="hoff968">
              <a:extLst>
                <a:ext uri="{FF2B5EF4-FFF2-40B4-BE49-F238E27FC236}">
                  <a16:creationId xmlns:a16="http://schemas.microsoft.com/office/drawing/2014/main" id="{8AD06C64-96D5-D84B-6DC6-5DFCD659C3E3}"/>
                </a:ext>
              </a:extLst>
            </p:cNvPr>
            <p:cNvSpPr/>
            <p:nvPr/>
          </p:nvSpPr>
          <p:spPr>
            <a:xfrm>
              <a:off x="10674331" y="1239428"/>
              <a:ext cx="210312" cy="210312"/>
            </a:xfrm>
            <a:prstGeom prst="ellipse">
              <a:avLst/>
            </a:prstGeom>
            <a:solidFill>
              <a:srgbClr val="9DD4C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69" name="hoffa969">
              <a:extLst>
                <a:ext uri="{FF2B5EF4-FFF2-40B4-BE49-F238E27FC236}">
                  <a16:creationId xmlns:a16="http://schemas.microsoft.com/office/drawing/2014/main" id="{6FB3FB59-19D6-EB84-A30E-4A8FD785D9F0}"/>
                </a:ext>
              </a:extLst>
            </p:cNvPr>
            <p:cNvSpPr/>
            <p:nvPr/>
          </p:nvSpPr>
          <p:spPr>
            <a:xfrm>
              <a:off x="10728097" y="1304737"/>
              <a:ext cx="109362" cy="8412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972" name="lg972">
            <a:extLst>
              <a:ext uri="{FF2B5EF4-FFF2-40B4-BE49-F238E27FC236}">
                <a16:creationId xmlns:a16="http://schemas.microsoft.com/office/drawing/2014/main" id="{D585B83A-19C0-F6D3-1603-0464AF5D0860}"/>
              </a:ext>
            </a:extLst>
          </p:cNvPr>
          <p:cNvSpPr txBox="1"/>
          <p:nvPr/>
        </p:nvSpPr>
        <p:spPr>
          <a:xfrm>
            <a:off x="10972519" y="1198280"/>
            <a:ext cx="1207008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Next stage handoff</a:t>
            </a:r>
          </a:p>
        </p:txBody>
      </p:sp>
      <p:cxnSp>
        <p:nvCxnSpPr>
          <p:cNvPr id="763" name="Elbow Connector 762">
            <a:extLst>
              <a:ext uri="{FF2B5EF4-FFF2-40B4-BE49-F238E27FC236}">
                <a16:creationId xmlns:a16="http://schemas.microsoft.com/office/drawing/2014/main" id="{3DAB3E59-BB76-9798-D46E-1AB0023ADE54}"/>
              </a:ext>
            </a:extLst>
          </p:cNvPr>
          <p:cNvCxnSpPr>
            <a:cxnSpLocks/>
          </p:cNvCxnSpPr>
          <p:nvPr/>
        </p:nvCxnSpPr>
        <p:spPr>
          <a:xfrm>
            <a:off x="-2926264" y="9638719"/>
            <a:ext cx="589990" cy="45249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graphicFrame>
        <p:nvGraphicFramePr>
          <p:cNvPr id="462" name="Table 461">
            <a:extLst>
              <a:ext uri="{FF2B5EF4-FFF2-40B4-BE49-F238E27FC236}">
                <a16:creationId xmlns:a16="http://schemas.microsoft.com/office/drawing/2014/main" id="{A73E1E50-8A21-E777-AF38-BC51937EDB86}"/>
              </a:ext>
            </a:extLst>
          </p:cNvPr>
          <p:cNvGraphicFramePr>
            <a:graphicFrameLocks noGrp="1"/>
          </p:cNvGraphicFramePr>
          <p:nvPr/>
        </p:nvGraphicFramePr>
        <p:xfrm>
          <a:off x="2031997" y="3402"/>
          <a:ext cx="812800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830593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112702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35173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90377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49916565"/>
                    </a:ext>
                  </a:extLst>
                </a:gridCol>
              </a:tblGrid>
              <a:tr h="3348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DISPUTE INITIATION &amp; TRIAGE</a:t>
                      </a:r>
                    </a:p>
                  </a:txBody>
                  <a:tcPr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CASE PREPARATION &amp; DOCUMENT ASSESSMENT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PROVISIONAL CREDIT ISSUANCE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NETWORK SUBMISSION &amp; RESPONSE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RESOLUTION &amp; RECOVERY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36574"/>
                  </a:ext>
                </a:extLst>
              </a:tr>
            </a:tbl>
          </a:graphicData>
        </a:graphic>
      </p:graphicFrame>
      <p:sp>
        <p:nvSpPr>
          <p:cNvPr id="973" name="Rounded Rectangle 972"/>
          <p:cNvSpPr/>
          <p:nvPr/>
        </p:nvSpPr>
        <p:spPr>
          <a:xfrm>
            <a:off x="300000" y="2500000"/>
            <a:ext cx="155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Submit dispute to Central 1 (Visa VROL) &amp; monitor Acquirer response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280000" y="3260000"/>
            <a:ext cx="1550000" cy="43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700" b="0" i="1">
                <a:solidFill>
                  <a:srgbClr val="404040"/>
                </a:solidFill>
                <a:latin typeface="Segoe UI"/>
              </a:rPr>
              <a:t>120 days from transaction date (75 days in specific conditions)*</a:t>
            </a:r>
          </a:p>
        </p:txBody>
      </p:sp>
      <p:sp>
        <p:nvSpPr>
          <p:cNvPr id="975" name="Diamond 974"/>
          <p:cNvSpPr/>
          <p:nvPr/>
        </p:nvSpPr>
        <p:spPr>
          <a:xfrm>
            <a:off x="2250000" y="2425660"/>
            <a:ext cx="1296000" cy="8686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Acquirer accepts liability?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2230000" y="3334340"/>
            <a:ext cx="1300000" cy="30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700" b="0" i="1">
                <a:solidFill>
                  <a:srgbClr val="404040"/>
                </a:solidFill>
                <a:latin typeface="Segoe UI"/>
              </a:rPr>
              <a:t>Acquirer response: 30 days</a:t>
            </a:r>
          </a:p>
        </p:txBody>
      </p:sp>
      <p:sp>
        <p:nvSpPr>
          <p:cNvPr id="977" name="Rounded Rectangle 976"/>
          <p:cNvSpPr/>
          <p:nvPr/>
        </p:nvSpPr>
        <p:spPr>
          <a:xfrm>
            <a:off x="3946000" y="2500000"/>
            <a:ext cx="155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Beem submits Pre-Arbitration (pushes back) &amp; Acquirer responds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3926000" y="3260000"/>
            <a:ext cx="1300000" cy="25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700" b="0" i="1">
                <a:solidFill>
                  <a:srgbClr val="404040"/>
                </a:solidFill>
                <a:latin typeface="Segoe UI"/>
              </a:rPr>
              <a:t>30 days each</a:t>
            </a:r>
          </a:p>
        </p:txBody>
      </p:sp>
      <p:sp>
        <p:nvSpPr>
          <p:cNvPr id="979" name="Diamond 978"/>
          <p:cNvSpPr/>
          <p:nvPr/>
        </p:nvSpPr>
        <p:spPr>
          <a:xfrm>
            <a:off x="5896000" y="2425660"/>
            <a:ext cx="1296000" cy="8686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800" b="1" i="0">
                <a:solidFill>
                  <a:srgbClr val="404040"/>
                </a:solidFill>
                <a:latin typeface="Segoe UI"/>
              </a:rPr>
              <a:t>Compelling Evidence provided?</a:t>
            </a:r>
          </a:p>
        </p:txBody>
      </p:sp>
      <p:sp>
        <p:nvSpPr>
          <p:cNvPr id="980" name="Diamond 979"/>
          <p:cNvSpPr/>
          <p:nvPr/>
        </p:nvSpPr>
        <p:spPr>
          <a:xfrm>
            <a:off x="7592000" y="2425660"/>
            <a:ext cx="1296000" cy="8686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Resolved at pre-arb?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9288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Escalate to Arbitration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9248000" y="3260000"/>
            <a:ext cx="1500000" cy="65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700" b="0" i="1">
                <a:solidFill>
                  <a:srgbClr val="404040"/>
                </a:solidFill>
                <a:latin typeface="Segoe UI"/>
              </a:rPr>
              <a:t>Beem's filing deadline: 10 days from Acquirer's Pre-Arbitration response. Submit VROL Questionnaire &amp; supporting documentation.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5836000" y="4000000"/>
            <a:ext cx="1260000" cy="720000"/>
          </a:xfrm>
          <a:prstGeom prst="roundRect">
            <a:avLst>
              <a:gd name="adj" fmla="val 10000"/>
            </a:avLst>
          </a:prstGeom>
          <a:solidFill>
            <a:srgbClr val="EDDBFB">
              <a:alpha val="56863"/>
            </a:srgbClr>
          </a:solidFill>
          <a:ln w="12700">
            <a:solidFill>
              <a:srgbClr val="9B4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Contact cardholder to review evidence &amp; obtain explanation</a:t>
            </a:r>
          </a:p>
        </p:txBody>
      </p:sp>
      <p:grpSp>
        <p:nvGrpSpPr>
          <p:cNvPr id="9001" name="Handoff"/>
          <p:cNvGrpSpPr/>
          <p:nvPr/>
        </p:nvGrpSpPr>
        <p:grpSpPr>
          <a:xfrm>
            <a:off x="10848000" y="1900000"/>
            <a:ext cx="252000" cy="252000"/>
            <a:chOff x="10848000" y="1900000"/>
            <a:chExt cx="252000" cy="252000"/>
          </a:xfrm>
        </p:grpSpPr>
        <p:sp>
          <p:nvSpPr>
            <p:cNvPr id="9002" name="hoffc"/>
            <p:cNvSpPr/>
            <p:nvPr/>
          </p:nvSpPr>
          <p:spPr>
            <a:xfrm>
              <a:off x="10848000" y="1900000"/>
              <a:ext cx="252000" cy="252000"/>
            </a:xfrm>
            <a:prstGeom prst="ellipse">
              <a:avLst/>
            </a:prstGeom>
            <a:solidFill>
              <a:srgbClr val="9DD4C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03" name="hoffa"/>
            <p:cNvSpPr/>
            <p:nvPr/>
          </p:nvSpPr>
          <p:spPr>
            <a:xfrm>
              <a:off x="10898316" y="1963821"/>
              <a:ext cx="161665" cy="12435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9004" name="Connector 9003"/>
          <p:cNvCxnSpPr/>
          <p:nvPr/>
        </p:nvCxnSpPr>
        <p:spPr>
          <a:xfrm>
            <a:off x="1850000" y="2860000"/>
            <a:ext cx="40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5" name="Connector 9004"/>
          <p:cNvCxnSpPr/>
          <p:nvPr/>
        </p:nvCxnSpPr>
        <p:spPr>
          <a:xfrm>
            <a:off x="3546000" y="2860000"/>
            <a:ext cx="40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6" name="TextBox 9005"/>
          <p:cNvSpPr txBox="1"/>
          <p:nvPr/>
        </p:nvSpPr>
        <p:spPr>
          <a:xfrm>
            <a:off x="3586000" y="2580000"/>
            <a:ext cx="620000" cy="26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Segoe UI"/>
              </a:rPr>
              <a:t>No</a:t>
            </a:r>
          </a:p>
        </p:txBody>
      </p:sp>
      <p:cxnSp>
        <p:nvCxnSpPr>
          <p:cNvPr id="9007" name="Connector 9006"/>
          <p:cNvCxnSpPr/>
          <p:nvPr/>
        </p:nvCxnSpPr>
        <p:spPr>
          <a:xfrm flipV="1">
            <a:off x="2898000" y="2152000"/>
            <a:ext cx="8076000" cy="27366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8" name="TextBox 9007"/>
          <p:cNvSpPr txBox="1"/>
          <p:nvPr/>
        </p:nvSpPr>
        <p:spPr>
          <a:xfrm>
            <a:off x="2578000" y="2145660"/>
            <a:ext cx="620000" cy="26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009A44"/>
                </a:solidFill>
                <a:latin typeface="Segoe UI"/>
              </a:rPr>
              <a:t>Yes</a:t>
            </a:r>
          </a:p>
        </p:txBody>
      </p:sp>
      <p:cxnSp>
        <p:nvCxnSpPr>
          <p:cNvPr id="9009" name="Connector 9008"/>
          <p:cNvCxnSpPr/>
          <p:nvPr/>
        </p:nvCxnSpPr>
        <p:spPr>
          <a:xfrm>
            <a:off x="5496000" y="2860000"/>
            <a:ext cx="40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Connector 9009"/>
          <p:cNvCxnSpPr/>
          <p:nvPr/>
        </p:nvCxnSpPr>
        <p:spPr>
          <a:xfrm flipH="1">
            <a:off x="6466000" y="3294340"/>
            <a:ext cx="78000" cy="70566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1" name="TextBox 9010"/>
          <p:cNvSpPr txBox="1"/>
          <p:nvPr/>
        </p:nvSpPr>
        <p:spPr>
          <a:xfrm>
            <a:off x="6584000" y="3324340"/>
            <a:ext cx="620000" cy="26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009A44"/>
                </a:solidFill>
                <a:latin typeface="Segoe UI"/>
              </a:rPr>
              <a:t>Yes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7192000" y="2860000"/>
            <a:ext cx="40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3" name="TextBox 9012"/>
          <p:cNvSpPr txBox="1"/>
          <p:nvPr/>
        </p:nvSpPr>
        <p:spPr>
          <a:xfrm>
            <a:off x="7232000" y="2580000"/>
            <a:ext cx="620000" cy="26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Segoe UI"/>
              </a:rPr>
              <a:t>No</a:t>
            </a:r>
          </a:p>
        </p:txBody>
      </p:sp>
      <p:cxnSp>
        <p:nvCxnSpPr>
          <p:cNvPr id="9014" name="Connector 9013"/>
          <p:cNvCxnSpPr/>
          <p:nvPr/>
        </p:nvCxnSpPr>
        <p:spPr>
          <a:xfrm flipV="1">
            <a:off x="7096000" y="2860000"/>
            <a:ext cx="496000" cy="150000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5" name="Connector 9014"/>
          <p:cNvCxnSpPr/>
          <p:nvPr/>
        </p:nvCxnSpPr>
        <p:spPr>
          <a:xfrm flipV="1">
            <a:off x="8240000" y="2152000"/>
            <a:ext cx="2734000" cy="27366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6" name="TextBox 9015"/>
          <p:cNvSpPr txBox="1"/>
          <p:nvPr/>
        </p:nvSpPr>
        <p:spPr>
          <a:xfrm>
            <a:off x="7920000" y="2145660"/>
            <a:ext cx="620000" cy="26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009A44"/>
                </a:solidFill>
                <a:latin typeface="Segoe UI"/>
              </a:rPr>
              <a:t>Yes</a:t>
            </a:r>
          </a:p>
        </p:txBody>
      </p:sp>
      <p:cxnSp>
        <p:nvCxnSpPr>
          <p:cNvPr id="9017" name="Connector 9016"/>
          <p:cNvCxnSpPr/>
          <p:nvPr/>
        </p:nvCxnSpPr>
        <p:spPr>
          <a:xfrm>
            <a:off x="8888000" y="2860000"/>
            <a:ext cx="40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8" name="TextBox 9017"/>
          <p:cNvSpPr txBox="1"/>
          <p:nvPr/>
        </p:nvSpPr>
        <p:spPr>
          <a:xfrm>
            <a:off x="8928000" y="2580000"/>
            <a:ext cx="620000" cy="26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Segoe UI"/>
              </a:rPr>
              <a:t>No</a:t>
            </a:r>
          </a:p>
        </p:txBody>
      </p:sp>
      <p:cxnSp>
        <p:nvCxnSpPr>
          <p:cNvPr id="9019" name="Connector 9018"/>
          <p:cNvCxnSpPr/>
          <p:nvPr/>
        </p:nvCxnSpPr>
        <p:spPr>
          <a:xfrm flipV="1">
            <a:off x="9918000" y="2152000"/>
            <a:ext cx="1056000" cy="34800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0" name="TextBox 9019"/>
          <p:cNvSpPr txBox="1"/>
          <p:nvPr/>
        </p:nvSpPr>
        <p:spPr>
          <a:xfrm>
            <a:off x="300000" y="4870000"/>
            <a:ext cx="2600000" cy="30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700" b="0" i="1">
                <a:solidFill>
                  <a:srgbClr val="404040"/>
                </a:solidFill>
                <a:latin typeface="Segoe UI"/>
              </a:rPr>
              <a:t>Complete case audit trail is maintained throughout Stage 4</a:t>
            </a:r>
          </a:p>
        </p:txBody>
      </p:sp>
    </p:spTree>
    <p:extLst>
      <p:ext uri="{BB962C8B-B14F-4D97-AF65-F5344CB8AC3E}">
        <p14:creationId xmlns:p14="http://schemas.microsoft.com/office/powerpoint/2010/main" val="193487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FB8B2-0493-D275-3A29-2B20E625B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Placeholder 3">
            <a:extLst>
              <a:ext uri="{FF2B5EF4-FFF2-40B4-BE49-F238E27FC236}">
                <a16:creationId xmlns:a16="http://schemas.microsoft.com/office/drawing/2014/main" id="{2BFC1CBE-5F3E-D6FB-7DD9-7E6A33D29DD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63547" y="832490"/>
            <a:ext cx="11264900" cy="464060"/>
          </a:xfrm>
          <a:prstGeom prst="rect">
            <a:avLst/>
          </a:prstGeom>
        </p:spPr>
        <p:txBody>
          <a:bodyPr/>
          <a:lstStyle>
            <a:lvl1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SzPct val="100000"/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/>
              <a:buNone/>
              <a:def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9863" indent="-169863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4163" indent="-114300" algn="l" defTabSz="121917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00050" indent="-115888" algn="l" defTabSz="1064657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0382" indent="-235194" algn="l" defTabSz="1219170" rtl="0" eaLnBrk="1" latinLnBrk="0" hangingPunct="1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/>
                <a:ea typeface="Open Sans" panose="020B0606030504020204" pitchFamily="34" charset="0"/>
                <a:cs typeface="Open Sans" panose="020B0606030504020204" pitchFamily="34" charset="0"/>
              </a:rPr>
              <a:t>An end-to-end issuer process for resolving cardholder disputes, from initial intake through final resolution and recovery</a:t>
            </a:r>
          </a:p>
        </p:txBody>
      </p:sp>
      <p:sp>
        <p:nvSpPr>
          <p:cNvPr id="181" name="Title 3">
            <a:extLst>
              <a:ext uri="{FF2B5EF4-FFF2-40B4-BE49-F238E27FC236}">
                <a16:creationId xmlns:a16="http://schemas.microsoft.com/office/drawing/2014/main" id="{AADD12FD-F996-DD14-8776-2B4C033AED2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57200" y="430082"/>
            <a:ext cx="11281285" cy="340136"/>
          </a:xfrm>
        </p:spPr>
        <p:txBody>
          <a:bodyPr/>
          <a:lstStyle>
            <a:lvl1pPr algn="l" defTabSz="1219170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Disputes Resolution – Resolution &amp; Recovery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lg950">
            <a:extLst>
              <a:ext uri="{FF2B5EF4-FFF2-40B4-BE49-F238E27FC236}">
                <a16:creationId xmlns:a16="http://schemas.microsoft.com/office/drawing/2014/main" id="{695C545D-3421-7D94-8CFA-45B02CA6AE22}"/>
              </a:ext>
            </a:extLst>
          </p:cNvPr>
          <p:cNvSpPr/>
          <p:nvPr/>
        </p:nvSpPr>
        <p:spPr>
          <a:xfrm>
            <a:off x="10637755" y="715753"/>
            <a:ext cx="274320" cy="182880"/>
          </a:xfrm>
          <a:prstGeom prst="roundRect">
            <a:avLst/>
          </a:prstGeom>
          <a:solidFill>
            <a:srgbClr val="EDDBFB">
              <a:alpha val="56863"/>
            </a:srgbClr>
          </a:solidFill>
          <a:ln w="12700">
            <a:solidFill>
              <a:schemeClr val="accent1"/>
            </a:solidFill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lg951">
            <a:extLst>
              <a:ext uri="{FF2B5EF4-FFF2-40B4-BE49-F238E27FC236}">
                <a16:creationId xmlns:a16="http://schemas.microsoft.com/office/drawing/2014/main" id="{7AF303FE-E1C5-3E22-5AA8-3BA703CDC86A}"/>
              </a:ext>
            </a:extLst>
          </p:cNvPr>
          <p:cNvSpPr txBox="1"/>
          <p:nvPr/>
        </p:nvSpPr>
        <p:spPr>
          <a:xfrm>
            <a:off x="10972519" y="706609"/>
            <a:ext cx="1325880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 journey</a:t>
            </a:r>
          </a:p>
        </p:txBody>
      </p:sp>
      <p:sp>
        <p:nvSpPr>
          <p:cNvPr id="4" name="lg952">
            <a:extLst>
              <a:ext uri="{FF2B5EF4-FFF2-40B4-BE49-F238E27FC236}">
                <a16:creationId xmlns:a16="http://schemas.microsoft.com/office/drawing/2014/main" id="{E5090F6F-C9AA-D261-4B02-C0D59CB17359}"/>
              </a:ext>
            </a:extLst>
          </p:cNvPr>
          <p:cNvSpPr/>
          <p:nvPr/>
        </p:nvSpPr>
        <p:spPr>
          <a:xfrm>
            <a:off x="10637755" y="990073"/>
            <a:ext cx="27432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53" name="lg953">
            <a:extLst>
              <a:ext uri="{FF2B5EF4-FFF2-40B4-BE49-F238E27FC236}">
                <a16:creationId xmlns:a16="http://schemas.microsoft.com/office/drawing/2014/main" id="{3BA83ED8-E42B-DDE2-234D-13B54F5E73BF}"/>
              </a:ext>
            </a:extLst>
          </p:cNvPr>
          <p:cNvSpPr txBox="1"/>
          <p:nvPr/>
        </p:nvSpPr>
        <p:spPr>
          <a:xfrm>
            <a:off x="10972519" y="980929"/>
            <a:ext cx="1143000" cy="20116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Issuer journey</a:t>
            </a:r>
          </a:p>
        </p:txBody>
      </p:sp>
      <p:grpSp>
        <p:nvGrpSpPr>
          <p:cNvPr id="760" name="Group 759">
            <a:extLst>
              <a:ext uri="{FF2B5EF4-FFF2-40B4-BE49-F238E27FC236}">
                <a16:creationId xmlns:a16="http://schemas.microsoft.com/office/drawing/2014/main" id="{F6D2ADE0-DAD5-8AFE-83C4-32DF640C19E9}"/>
              </a:ext>
            </a:extLst>
          </p:cNvPr>
          <p:cNvGrpSpPr/>
          <p:nvPr/>
        </p:nvGrpSpPr>
        <p:grpSpPr>
          <a:xfrm>
            <a:off x="10685728" y="1247437"/>
            <a:ext cx="210312" cy="210312"/>
            <a:chOff x="10674331" y="1239428"/>
            <a:chExt cx="210312" cy="210312"/>
          </a:xfrm>
        </p:grpSpPr>
        <p:sp>
          <p:nvSpPr>
            <p:cNvPr id="968" name="hoff968">
              <a:extLst>
                <a:ext uri="{FF2B5EF4-FFF2-40B4-BE49-F238E27FC236}">
                  <a16:creationId xmlns:a16="http://schemas.microsoft.com/office/drawing/2014/main" id="{4F9DC2DD-2BF9-569E-390C-3580D4D4C92A}"/>
                </a:ext>
              </a:extLst>
            </p:cNvPr>
            <p:cNvSpPr/>
            <p:nvPr/>
          </p:nvSpPr>
          <p:spPr>
            <a:xfrm>
              <a:off x="10674331" y="1239428"/>
              <a:ext cx="210312" cy="210312"/>
            </a:xfrm>
            <a:prstGeom prst="ellipse">
              <a:avLst/>
            </a:prstGeom>
            <a:solidFill>
              <a:srgbClr val="9DD4C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69" name="hoffa969">
              <a:extLst>
                <a:ext uri="{FF2B5EF4-FFF2-40B4-BE49-F238E27FC236}">
                  <a16:creationId xmlns:a16="http://schemas.microsoft.com/office/drawing/2014/main" id="{D37FBEAC-DAA6-F84E-17B4-DB48DE698DE1}"/>
                </a:ext>
              </a:extLst>
            </p:cNvPr>
            <p:cNvSpPr/>
            <p:nvPr/>
          </p:nvSpPr>
          <p:spPr>
            <a:xfrm>
              <a:off x="10728097" y="1304737"/>
              <a:ext cx="109362" cy="8412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972" name="lg972">
            <a:extLst>
              <a:ext uri="{FF2B5EF4-FFF2-40B4-BE49-F238E27FC236}">
                <a16:creationId xmlns:a16="http://schemas.microsoft.com/office/drawing/2014/main" id="{E76B23DA-5152-77DF-D0CA-46FECA7A2A09}"/>
              </a:ext>
            </a:extLst>
          </p:cNvPr>
          <p:cNvSpPr txBox="1"/>
          <p:nvPr/>
        </p:nvSpPr>
        <p:spPr>
          <a:xfrm>
            <a:off x="10972519" y="1198280"/>
            <a:ext cx="1207008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Next stage handoff</a:t>
            </a:r>
          </a:p>
        </p:txBody>
      </p:sp>
      <p:cxnSp>
        <p:nvCxnSpPr>
          <p:cNvPr id="763" name="Elbow Connector 762">
            <a:extLst>
              <a:ext uri="{FF2B5EF4-FFF2-40B4-BE49-F238E27FC236}">
                <a16:creationId xmlns:a16="http://schemas.microsoft.com/office/drawing/2014/main" id="{6A7E9E80-05C6-66E4-3FE0-17E4A1F36687}"/>
              </a:ext>
            </a:extLst>
          </p:cNvPr>
          <p:cNvCxnSpPr>
            <a:cxnSpLocks/>
          </p:cNvCxnSpPr>
          <p:nvPr/>
        </p:nvCxnSpPr>
        <p:spPr>
          <a:xfrm>
            <a:off x="-2926264" y="9638719"/>
            <a:ext cx="589990" cy="45249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</p:cxnSp>
      <p:graphicFrame>
        <p:nvGraphicFramePr>
          <p:cNvPr id="462" name="Table 461">
            <a:extLst>
              <a:ext uri="{FF2B5EF4-FFF2-40B4-BE49-F238E27FC236}">
                <a16:creationId xmlns:a16="http://schemas.microsoft.com/office/drawing/2014/main" id="{B8B3D0E4-1E16-C2EC-1F58-D6C1FE51836D}"/>
              </a:ext>
            </a:extLst>
          </p:cNvPr>
          <p:cNvGraphicFramePr>
            <a:graphicFrameLocks noGrp="1"/>
          </p:cNvGraphicFramePr>
          <p:nvPr/>
        </p:nvGraphicFramePr>
        <p:xfrm>
          <a:off x="2031997" y="3402"/>
          <a:ext cx="812800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830593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112702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35173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390377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49916565"/>
                    </a:ext>
                  </a:extLst>
                </a:gridCol>
              </a:tblGrid>
              <a:tr h="33480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DISPUTE INITIATION &amp; TRIAGE</a:t>
                      </a:r>
                    </a:p>
                  </a:txBody>
                  <a:tcPr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CASE PREPARATION &amp; DOCUMENT ASSESSMENT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PROVISIONAL CREDIT ISSUANCE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NETWORK SUBMISSION &amp; RESPONSE</a:t>
                      </a:r>
                    </a:p>
                  </a:txBody>
                  <a:tcPr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RESOLUTION &amp; RECOVERY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36574"/>
                  </a:ext>
                </a:extLst>
              </a:tr>
            </a:tbl>
          </a:graphicData>
        </a:graphic>
      </p:graphicFrame>
      <p:sp>
        <p:nvSpPr>
          <p:cNvPr id="973" name="Rounded Rectangle 972"/>
          <p:cNvSpPr/>
          <p:nvPr/>
        </p:nvSpPr>
        <p:spPr>
          <a:xfrm>
            <a:off x="300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Visa Arbitration Committee ruling (if escalated)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280000" y="3260000"/>
            <a:ext cx="1500000" cy="43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700" b="0" i="1">
                <a:solidFill>
                  <a:srgbClr val="404040"/>
                </a:solidFill>
                <a:latin typeface="Segoe UI"/>
              </a:rPr>
              <a:t>Timeframe set by Visa; not specified in Visa Rules</a:t>
            </a:r>
          </a:p>
        </p:txBody>
      </p:sp>
      <p:sp>
        <p:nvSpPr>
          <p:cNvPr id="975" name="Diamond 974"/>
          <p:cNvSpPr/>
          <p:nvPr/>
        </p:nvSpPr>
        <p:spPr>
          <a:xfrm>
            <a:off x="2010000" y="2425660"/>
            <a:ext cx="1296000" cy="8686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Ruled in Beem's favor?</a:t>
            </a:r>
          </a:p>
        </p:txBody>
      </p:sp>
      <p:sp>
        <p:nvSpPr>
          <p:cNvPr id="976" name="Rounded Rectangle 975"/>
          <p:cNvSpPr/>
          <p:nvPr/>
        </p:nvSpPr>
        <p:spPr>
          <a:xfrm>
            <a:off x="3756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Finalize or reverse the provisional credit, as applicable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3716000" y="3260000"/>
            <a:ext cx="1340000" cy="43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700" b="0" i="1">
                <a:solidFill>
                  <a:srgbClr val="404040"/>
                </a:solidFill>
                <a:latin typeface="Segoe UI"/>
              </a:rPr>
              <a:t>Retain credit if ruled in Beem's favor; reverse if ruled against Beem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5316000" y="2500000"/>
            <a:ext cx="1260000" cy="720000"/>
          </a:xfrm>
          <a:prstGeom prst="roundRect">
            <a:avLst>
              <a:gd name="adj" fmla="val 10000"/>
            </a:avLst>
          </a:prstGeom>
          <a:solidFill>
            <a:srgbClr val="EDDBFB">
              <a:alpha val="56863"/>
            </a:srgbClr>
          </a:solidFill>
          <a:ln w="12700">
            <a:solidFill>
              <a:srgbClr val="9B4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Notify cardholder of the decision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6876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Record recoveries, losses, fees &amp; GL entries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8436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Archive supporting evidence &amp; close case</a:t>
            </a:r>
          </a:p>
        </p:txBody>
      </p:sp>
      <p:sp>
        <p:nvSpPr>
          <p:cNvPr id="981" name="Rounded Rectangle 980"/>
          <p:cNvSpPr/>
          <p:nvPr/>
        </p:nvSpPr>
        <p:spPr>
          <a:xfrm>
            <a:off x="9996000" y="2500000"/>
            <a:ext cx="1260000" cy="7200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900" b="1" i="0">
                <a:solidFill>
                  <a:srgbClr val="404040"/>
                </a:solidFill>
                <a:latin typeface="Segoe UI"/>
              </a:rPr>
              <a:t>Prepare reporting &amp; trend analysis</a:t>
            </a:r>
          </a:p>
        </p:txBody>
      </p:sp>
      <p:cxnSp>
        <p:nvCxnSpPr>
          <p:cNvPr id="982" name="Connector 981"/>
          <p:cNvCxnSpPr/>
          <p:nvPr/>
        </p:nvCxnSpPr>
        <p:spPr>
          <a:xfrm>
            <a:off x="1560000" y="2860000"/>
            <a:ext cx="45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>
            <a:off x="3306000" y="2770000"/>
            <a:ext cx="45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4" name="TextBox 983"/>
          <p:cNvSpPr txBox="1"/>
          <p:nvPr/>
        </p:nvSpPr>
        <p:spPr>
          <a:xfrm>
            <a:off x="3046000" y="2480000"/>
            <a:ext cx="620000" cy="26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009A44"/>
                </a:solidFill>
                <a:latin typeface="Segoe UI"/>
              </a:rPr>
              <a:t>Yes</a:t>
            </a:r>
          </a:p>
        </p:txBody>
      </p:sp>
      <p:cxnSp>
        <p:nvCxnSpPr>
          <p:cNvPr id="985" name="Connector 984"/>
          <p:cNvCxnSpPr/>
          <p:nvPr/>
        </p:nvCxnSpPr>
        <p:spPr>
          <a:xfrm flipV="1">
            <a:off x="2658000" y="3220000"/>
            <a:ext cx="1728000" cy="74340"/>
          </a:xfrm>
          <a:prstGeom prst="bentConnector3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6" name="TextBox 985"/>
          <p:cNvSpPr txBox="1"/>
          <p:nvPr/>
        </p:nvSpPr>
        <p:spPr>
          <a:xfrm>
            <a:off x="2698000" y="3324340"/>
            <a:ext cx="620000" cy="26000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Segoe UI"/>
              </a:rPr>
              <a:t>No</a:t>
            </a:r>
          </a:p>
        </p:txBody>
      </p:sp>
      <p:cxnSp>
        <p:nvCxnSpPr>
          <p:cNvPr id="987" name="Connector 986"/>
          <p:cNvCxnSpPr/>
          <p:nvPr/>
        </p:nvCxnSpPr>
        <p:spPr>
          <a:xfrm>
            <a:off x="5016000" y="2860000"/>
            <a:ext cx="30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>
            <a:off x="6576000" y="2860000"/>
            <a:ext cx="30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>
            <a:off x="8136000" y="2860000"/>
            <a:ext cx="30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>
            <a:off x="9696000" y="2860000"/>
            <a:ext cx="300000" cy="0"/>
          </a:xfrm>
          <a:prstGeom prst="line">
            <a:avLst/>
          </a:prstGeom>
          <a:ln w="19050">
            <a:solidFill>
              <a:srgbClr val="9B9B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062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89635-0242-9F51-E2CA-4EBA27A65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3">
            <a:extLst>
              <a:ext uri="{FF2B5EF4-FFF2-40B4-BE49-F238E27FC236}">
                <a16:creationId xmlns:a16="http://schemas.microsoft.com/office/drawing/2014/main" id="{6892CB57-03BA-8623-6D5C-8189B41B2C75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7200" y="430082"/>
            <a:ext cx="11281285" cy="340136"/>
          </a:xfrm>
        </p:spPr>
        <p:txBody>
          <a:bodyPr/>
          <a:lstStyle>
            <a:lvl1pPr algn="l" defTabSz="1219170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Disputes Resolution – Visa SLAs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ACC6F0-81DF-3C92-9054-D27A7C599FE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026053"/>
          <a:ext cx="10044000" cy="38551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8000">
                  <a:extLst>
                    <a:ext uri="{9D8B030D-6E8A-4147-A177-3AD203B41FA5}">
                      <a16:colId xmlns:a16="http://schemas.microsoft.com/office/drawing/2014/main" val="1147480579"/>
                    </a:ext>
                  </a:extLst>
                </a:gridCol>
                <a:gridCol w="3348000">
                  <a:extLst>
                    <a:ext uri="{9D8B030D-6E8A-4147-A177-3AD203B41FA5}">
                      <a16:colId xmlns:a16="http://schemas.microsoft.com/office/drawing/2014/main" val="641916666"/>
                    </a:ext>
                  </a:extLst>
                </a:gridCol>
                <a:gridCol w="3348000">
                  <a:extLst>
                    <a:ext uri="{9D8B030D-6E8A-4147-A177-3AD203B41FA5}">
                      <a16:colId xmlns:a16="http://schemas.microsoft.com/office/drawing/2014/main" val="3317509737"/>
                    </a:ext>
                  </a:extLst>
                </a:gridCol>
              </a:tblGrid>
              <a:tr h="435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>
                          <a:solidFill>
                            <a:schemeClr val="bg1"/>
                          </a:solidFill>
                        </a:rPr>
                        <a:t>Step</a:t>
                      </a:r>
                    </a:p>
                  </a:txBody>
                  <a:tcPr marL="87027" marR="87027" marT="43513" marB="4351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>
                          <a:solidFill>
                            <a:schemeClr val="bg1"/>
                          </a:solidFill>
                        </a:rPr>
                        <a:t>Who</a:t>
                      </a:r>
                    </a:p>
                  </a:txBody>
                  <a:tcPr marL="87027" marR="87027" marT="43513" marB="4351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>
                          <a:solidFill>
                            <a:schemeClr val="bg1"/>
                          </a:solidFill>
                        </a:rPr>
                        <a:t>Time limit per Visa Rules</a:t>
                      </a:r>
                    </a:p>
                  </a:txBody>
                  <a:tcPr marL="87027" marR="87027" marT="43513" marB="43513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5981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1. File the dispute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Issuer (Beem)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b="1"/>
                        <a:t>120 days or 75 days in some cases*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546131893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2. Dispute Response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Acquirer responds with evidence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b="1"/>
                        <a:t>30 days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607409373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3. Pre-Arbitration attempt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Issuer (Beem) pushes back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b="1"/>
                        <a:t>30 days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76367852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4. Pre-Arbitration response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Acquirer responds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b="1"/>
                        <a:t>30 days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619464224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5. Arbitration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/>
                        <a:t>Issuer (Beem) escalates to Visa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600" b="1"/>
                        <a:t>10 days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8886099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6CAE2B3-0BE1-FA45-5FD6-5BF2A3555CFC}"/>
              </a:ext>
            </a:extLst>
          </p:cNvPr>
          <p:cNvSpPr txBox="1"/>
          <p:nvPr/>
        </p:nvSpPr>
        <p:spPr>
          <a:xfrm>
            <a:off x="272374" y="5402919"/>
            <a:ext cx="9328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*75 days apply if the following conditions met:</a:t>
            </a:r>
          </a:p>
          <a:p>
            <a:pPr marL="171450" marR="0" lvl="0" indent="-1714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Condition 11.1</a:t>
            </a: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— Card on the blocklist but merchant accepted it anyway </a:t>
            </a:r>
            <a:r>
              <a:rPr kumimoji="0" lang="en-CA" sz="1200" b="0" i="1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(Ref: 11.8.1)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171450" marR="0" lvl="0" indent="-1714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Condition 11.2</a:t>
            </a: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— Beem declined the transaction but merchant processed it anyway </a:t>
            </a:r>
            <a:r>
              <a:rPr kumimoji="0" lang="en-CA" sz="1200" b="0" i="1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(Ref: 11.8.2)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171450" marR="0" lvl="0" indent="-1714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Condition 11.3</a:t>
            </a: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— Merchant never requested authorization, or submitted the transaction too late </a:t>
            </a:r>
            <a:r>
              <a:rPr kumimoji="0" lang="en-CA" sz="1200" b="0" i="1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(Ref: 11.8.3)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171450" marR="0" lvl="0" indent="-1714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Condition 12.7</a:t>
            </a: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— Merchant/Acquirer submitted invalid or non-compliant transaction data </a:t>
            </a:r>
            <a:r>
              <a:rPr kumimoji="0" lang="en-CA" sz="1200" b="0" i="1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(Ref: 11.9.6)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171450" marR="0" lvl="0" indent="-1714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1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Condition 13.8</a:t>
            </a: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— An incoming OCT (push payment) wasn't accepted or posted </a:t>
            </a:r>
            <a:r>
              <a:rPr kumimoji="0" lang="en-CA" sz="1200" b="0" i="1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(Ref: 11.10.8)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1331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2_Brave New Market">
  <a:themeElements>
    <a:clrScheme name="Personnalisé 6">
      <a:dk1>
        <a:srgbClr val="53565A"/>
      </a:dk1>
      <a:lt1>
        <a:sysClr val="window" lastClr="FFFFFF"/>
      </a:lt1>
      <a:dk2>
        <a:srgbClr val="53565A"/>
      </a:dk2>
      <a:lt2>
        <a:srgbClr val="D0D0CE"/>
      </a:lt2>
      <a:accent1>
        <a:srgbClr val="9B40EA"/>
      </a:accent1>
      <a:accent2>
        <a:srgbClr val="C2E2E3"/>
      </a:accent2>
      <a:accent3>
        <a:srgbClr val="53565A"/>
      </a:accent3>
      <a:accent4>
        <a:srgbClr val="8CC7C6"/>
      </a:accent4>
      <a:accent5>
        <a:srgbClr val="F2EFEB"/>
      </a:accent5>
      <a:accent6>
        <a:srgbClr val="303434"/>
      </a:accent6>
      <a:hlink>
        <a:srgbClr val="53565A"/>
      </a:hlink>
      <a:folHlink>
        <a:srgbClr val="FFFFFF"/>
      </a:folHlink>
    </a:clrScheme>
    <a:fontScheme name="Custom 9">
      <a:majorFont>
        <a:latin typeface="Chronicle Display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Presentation1" id="{81437FCE-F9C7-42CA-A8FF-0402FCD34AF0}" vid="{44A9CB49-6606-4E4B-9548-672F385C8F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1015</Words>
  <Application>Microsoft Office PowerPoint</Application>
  <PresentationFormat>Widescreen</PresentationFormat>
  <Paragraphs>188</Paragraphs>
  <Slides>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Open Sans</vt:lpstr>
      <vt:lpstr>Segoe UI</vt:lpstr>
      <vt:lpstr>Verdana</vt:lpstr>
      <vt:lpstr>Wingdings 2</vt:lpstr>
      <vt:lpstr>2_Brave New Market</vt:lpstr>
      <vt:lpstr>think-cell Slide</vt:lpstr>
      <vt:lpstr>Dispute Resolution Documentation Review &amp; Assessment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Lin, David</dc:creator>
  <cp:lastModifiedBy>Lin, David</cp:lastModifiedBy>
  <cp:revision>1</cp:revision>
  <dcterms:created xsi:type="dcterms:W3CDTF">2026-09-16T19:20:00Z</dcterms:created>
  <dcterms:modified xsi:type="dcterms:W3CDTF">2026-09-16T19:20:37Z</dcterms:modified>
</cp:coreProperties>
</file>